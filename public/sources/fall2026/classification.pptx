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6" r:id="rId1"/>
  </p:sldMasterIdLst>
  <p:notesMasterIdLst>
    <p:notesMasterId r:id="rId23"/>
  </p:notesMasterIdLst>
  <p:handoutMasterIdLst>
    <p:handoutMasterId r:id="rId24"/>
  </p:handoutMasterIdLst>
  <p:sldIdLst>
    <p:sldId id="417" r:id="rId2"/>
    <p:sldId id="402" r:id="rId3"/>
    <p:sldId id="355" r:id="rId4"/>
    <p:sldId id="356" r:id="rId5"/>
    <p:sldId id="357" r:id="rId6"/>
    <p:sldId id="358" r:id="rId7"/>
    <p:sldId id="418" r:id="rId8"/>
    <p:sldId id="419" r:id="rId9"/>
    <p:sldId id="420" r:id="rId10"/>
    <p:sldId id="421" r:id="rId11"/>
    <p:sldId id="422" r:id="rId12"/>
    <p:sldId id="410" r:id="rId13"/>
    <p:sldId id="412" r:id="rId14"/>
    <p:sldId id="423" r:id="rId15"/>
    <p:sldId id="411" r:id="rId16"/>
    <p:sldId id="384" r:id="rId17"/>
    <p:sldId id="385" r:id="rId18"/>
    <p:sldId id="386" r:id="rId19"/>
    <p:sldId id="387" r:id="rId20"/>
    <p:sldId id="388" r:id="rId21"/>
    <p:sldId id="424" r:id="rId22"/>
  </p:sldIdLst>
  <p:sldSz cx="9144000" cy="6858000" type="screen4x3"/>
  <p:notesSz cx="6735763" cy="9866313"/>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08">
          <p15:clr>
            <a:srgbClr val="A4A3A4"/>
          </p15:clr>
        </p15:guide>
        <p15:guide id="2" pos="212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9900FF"/>
    <a:srgbClr val="FF33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65385" autoAdjust="0"/>
  </p:normalViewPr>
  <p:slideViewPr>
    <p:cSldViewPr>
      <p:cViewPr varScale="1">
        <p:scale>
          <a:sx n="71" d="100"/>
          <a:sy n="71" d="100"/>
        </p:scale>
        <p:origin x="1380"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708"/>
    </p:cViewPr>
  </p:sorterViewPr>
  <p:notesViewPr>
    <p:cSldViewPr>
      <p:cViewPr varScale="1">
        <p:scale>
          <a:sx n="63" d="100"/>
          <a:sy n="63" d="100"/>
        </p:scale>
        <p:origin x="-1674" y="-90"/>
      </p:cViewPr>
      <p:guideLst>
        <p:guide orient="horz" pos="3108"/>
        <p:guide pos="2122"/>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2146" name="Rectangle 2"/>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262147" name="Rectangle 3"/>
          <p:cNvSpPr>
            <a:spLocks noGrp="1" noChangeArrowheads="1"/>
          </p:cNvSpPr>
          <p:nvPr>
            <p:ph type="dt" sz="quarter" idx="1"/>
          </p:nvPr>
        </p:nvSpPr>
        <p:spPr bwMode="auto">
          <a:xfrm>
            <a:off x="3814763" y="0"/>
            <a:ext cx="2919412"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262148" name="Rectangle 4"/>
          <p:cNvSpPr>
            <a:spLocks noGrp="1" noChangeArrowheads="1"/>
          </p:cNvSpPr>
          <p:nvPr>
            <p:ph type="ftr" sz="quarter" idx="2"/>
          </p:nvPr>
        </p:nvSpPr>
        <p:spPr bwMode="auto">
          <a:xfrm>
            <a:off x="0" y="9371013"/>
            <a:ext cx="2919413"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262149" name="Rectangle 5"/>
          <p:cNvSpPr>
            <a:spLocks noGrp="1" noChangeArrowheads="1"/>
          </p:cNvSpPr>
          <p:nvPr>
            <p:ph type="sldNum" sz="quarter" idx="3"/>
          </p:nvPr>
        </p:nvSpPr>
        <p:spPr bwMode="auto">
          <a:xfrm>
            <a:off x="3814763" y="9371013"/>
            <a:ext cx="2919412"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32F5C09B-7114-44A7-B824-E795B36A49E0}" type="slidenum">
              <a:rPr lang="en-US"/>
              <a:pPr>
                <a:defRPr/>
              </a:pPr>
              <a:t>‹#›</a:t>
            </a:fld>
            <a:endParaRPr lang="en-US"/>
          </a:p>
        </p:txBody>
      </p:sp>
    </p:spTree>
    <p:extLst>
      <p:ext uri="{BB962C8B-B14F-4D97-AF65-F5344CB8AC3E}">
        <p14:creationId xmlns:p14="http://schemas.microsoft.com/office/powerpoint/2010/main" val="14604293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12291" name="Rectangle 3"/>
          <p:cNvSpPr>
            <a:spLocks noGrp="1" noChangeArrowheads="1"/>
          </p:cNvSpPr>
          <p:nvPr>
            <p:ph type="dt" idx="1"/>
          </p:nvPr>
        </p:nvSpPr>
        <p:spPr bwMode="auto">
          <a:xfrm>
            <a:off x="3814763" y="0"/>
            <a:ext cx="2919412"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37892" name="Rectangle 4"/>
          <p:cNvSpPr>
            <a:spLocks noGrp="1" noRot="1" noChangeAspect="1" noChangeArrowheads="1" noTextEdit="1"/>
          </p:cNvSpPr>
          <p:nvPr>
            <p:ph type="sldImg" idx="2"/>
          </p:nvPr>
        </p:nvSpPr>
        <p:spPr bwMode="auto">
          <a:xfrm>
            <a:off x="901700" y="739775"/>
            <a:ext cx="4933950" cy="3700463"/>
          </a:xfrm>
          <a:prstGeom prst="rect">
            <a:avLst/>
          </a:prstGeom>
          <a:noFill/>
          <a:ln w="9525">
            <a:solidFill>
              <a:srgbClr val="000000"/>
            </a:solidFill>
            <a:miter lim="800000"/>
            <a:headEnd/>
            <a:tailEnd/>
          </a:ln>
        </p:spPr>
      </p:sp>
      <p:sp>
        <p:nvSpPr>
          <p:cNvPr id="12293" name="Rectangle 5"/>
          <p:cNvSpPr>
            <a:spLocks noGrp="1" noChangeArrowheads="1"/>
          </p:cNvSpPr>
          <p:nvPr>
            <p:ph type="body" sz="quarter" idx="3"/>
          </p:nvPr>
        </p:nvSpPr>
        <p:spPr bwMode="auto">
          <a:xfrm>
            <a:off x="673100" y="4686300"/>
            <a:ext cx="5389563" cy="44402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294" name="Rectangle 6"/>
          <p:cNvSpPr>
            <a:spLocks noGrp="1" noChangeArrowheads="1"/>
          </p:cNvSpPr>
          <p:nvPr>
            <p:ph type="ftr" sz="quarter" idx="4"/>
          </p:nvPr>
        </p:nvSpPr>
        <p:spPr bwMode="auto">
          <a:xfrm>
            <a:off x="0" y="9371013"/>
            <a:ext cx="2919413"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12295" name="Rectangle 7"/>
          <p:cNvSpPr>
            <a:spLocks noGrp="1" noChangeArrowheads="1"/>
          </p:cNvSpPr>
          <p:nvPr>
            <p:ph type="sldNum" sz="quarter" idx="5"/>
          </p:nvPr>
        </p:nvSpPr>
        <p:spPr bwMode="auto">
          <a:xfrm>
            <a:off x="3814763" y="9371013"/>
            <a:ext cx="2919412"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8B4A288A-1D9D-4B22-A394-954FF91E2A81}" type="slidenum">
              <a:rPr lang="en-US"/>
              <a:pPr>
                <a:defRPr/>
              </a:pPr>
              <a:t>‹#›</a:t>
            </a:fld>
            <a:endParaRPr lang="en-US"/>
          </a:p>
        </p:txBody>
      </p:sp>
    </p:spTree>
    <p:extLst>
      <p:ext uri="{BB962C8B-B14F-4D97-AF65-F5344CB8AC3E}">
        <p14:creationId xmlns:p14="http://schemas.microsoft.com/office/powerpoint/2010/main" val="374870356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fontScale="92500" lnSpcReduction="10000"/>
          </a:bodyPr>
          <a:lstStyle/>
          <a:p>
            <a:pPr>
              <a:defRPr/>
            </a:pPr>
            <a:r>
              <a:rPr lang="en-GB" dirty="0"/>
              <a:t>Biologists believe that there may be over </a:t>
            </a:r>
            <a:r>
              <a:rPr lang="en-GB" b="1" dirty="0"/>
              <a:t>two million</a:t>
            </a:r>
            <a:r>
              <a:rPr lang="en-GB" dirty="0"/>
              <a:t> (2,000,000) different kinds of organisms. Already over </a:t>
            </a:r>
            <a:r>
              <a:rPr lang="en-GB" b="1" dirty="0"/>
              <a:t>1.5 million</a:t>
            </a:r>
            <a:r>
              <a:rPr lang="en-GB" dirty="0"/>
              <a:t> (1,500,000) different kinds have been identified and new ones are still being discovered. One biologist estimates that for each kind of organism now alive, another </a:t>
            </a:r>
            <a:r>
              <a:rPr lang="en-GB" b="1" dirty="0"/>
              <a:t>400 kinds</a:t>
            </a:r>
            <a:r>
              <a:rPr lang="en-GB" dirty="0"/>
              <a:t> once lived but have since become extinct. Therefore, as many as one billion (1,000,000,000) different kinds of living things may have existed on the earth at one time or another.</a:t>
            </a:r>
            <a:endParaRPr lang="en-US" dirty="0"/>
          </a:p>
          <a:p>
            <a:pPr>
              <a:defRPr/>
            </a:pPr>
            <a:r>
              <a:rPr lang="en-GB" dirty="0"/>
              <a:t> </a:t>
            </a:r>
            <a:endParaRPr lang="en-US" dirty="0"/>
          </a:p>
          <a:p>
            <a:pPr>
              <a:defRPr/>
            </a:pPr>
            <a:r>
              <a:rPr lang="en-GB" i="1" dirty="0"/>
              <a:t>How ca we keep track of such a bewildering number of organisms? How can we even name the organisms now alive when no known language has two million words in it?</a:t>
            </a:r>
            <a:r>
              <a:rPr lang="en-GB" dirty="0"/>
              <a:t> Biologists have answers to these questions.</a:t>
            </a:r>
            <a:endParaRPr lang="en-US" dirty="0"/>
          </a:p>
          <a:p>
            <a:pPr>
              <a:defRPr/>
            </a:pPr>
            <a:endParaRPr lang="en-US" dirty="0"/>
          </a:p>
        </p:txBody>
      </p:sp>
      <p:sp>
        <p:nvSpPr>
          <p:cNvPr id="48132" name="Slide Number Placeholder 3"/>
          <p:cNvSpPr>
            <a:spLocks noGrp="1"/>
          </p:cNvSpPr>
          <p:nvPr>
            <p:ph type="sldNum" sz="quarter" idx="5"/>
          </p:nvPr>
        </p:nvSpPr>
        <p:spPr>
          <a:noFill/>
        </p:spPr>
        <p:txBody>
          <a:bodyPr/>
          <a:lstStyle/>
          <a:p>
            <a:fld id="{AF1C1BCD-D435-4F1C-94C1-9969DA96D26D}" type="slidenum">
              <a:rPr lang="en-US" smtClean="0"/>
              <a:pPr/>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ln/>
        </p:spPr>
      </p:sp>
      <p:sp>
        <p:nvSpPr>
          <p:cNvPr id="49155" name="Notes Placeholder 2"/>
          <p:cNvSpPr>
            <a:spLocks noGrp="1"/>
          </p:cNvSpPr>
          <p:nvPr>
            <p:ph type="body" idx="1"/>
          </p:nvPr>
        </p:nvSpPr>
        <p:spPr>
          <a:noFill/>
          <a:ln/>
        </p:spPr>
        <p:txBody>
          <a:bodyPr/>
          <a:lstStyle/>
          <a:p>
            <a:r>
              <a:rPr lang="en-GB" b="1"/>
              <a:t>What is Classification?</a:t>
            </a:r>
            <a:endParaRPr lang="en-US" b="1"/>
          </a:p>
          <a:p>
            <a:r>
              <a:rPr lang="en-GB"/>
              <a:t>Whenever we work with a large number and variety of things, we usually sort them into groups. Each group contains those things that are similar to one another. We may then separate each of those groups into smaller groups that are even more alike.</a:t>
            </a:r>
            <a:endParaRPr lang="en-US"/>
          </a:p>
          <a:p>
            <a:r>
              <a:rPr lang="en-GB"/>
              <a:t> </a:t>
            </a:r>
            <a:endParaRPr lang="en-US"/>
          </a:p>
          <a:p>
            <a:r>
              <a:rPr lang="en-GB" i="1"/>
              <a:t>The grouping of similar things for a specific purpose is called </a:t>
            </a:r>
            <a:r>
              <a:rPr lang="en-GB" b="1" i="1"/>
              <a:t>classification</a:t>
            </a:r>
            <a:r>
              <a:rPr lang="en-GB"/>
              <a:t>. Although it may be instinctive for human to classify things, there are also practical reasons for doing this. For example, a </a:t>
            </a:r>
            <a:r>
              <a:rPr lang="en-GB" b="1"/>
              <a:t>supermarket manager</a:t>
            </a:r>
            <a:r>
              <a:rPr lang="en-GB"/>
              <a:t> classifies the foods in his/her store by storing all the cereals together, all the meats together, all the cookies together, and so on. </a:t>
            </a:r>
            <a:r>
              <a:rPr lang="en-GB" b="1"/>
              <a:t>Stamp collectors</a:t>
            </a:r>
            <a:r>
              <a:rPr lang="en-GB"/>
              <a:t> classify their stamps. They place all the Canadian stamps in one page and all the American stamps in another. The words in a </a:t>
            </a:r>
            <a:r>
              <a:rPr lang="en-GB" b="1"/>
              <a:t>dictionary</a:t>
            </a:r>
            <a:r>
              <a:rPr lang="en-GB"/>
              <a:t> are classified by alphabetical listings. Clearly, we classify things to make it easier to keep track of what we have, and to find particular items.</a:t>
            </a:r>
            <a:endParaRPr lang="en-US"/>
          </a:p>
          <a:p>
            <a:endParaRPr lang="en-US"/>
          </a:p>
          <a:p>
            <a:endParaRPr lang="en-US"/>
          </a:p>
          <a:p>
            <a:endParaRPr lang="en-US"/>
          </a:p>
        </p:txBody>
      </p:sp>
      <p:sp>
        <p:nvSpPr>
          <p:cNvPr id="49156" name="Slide Number Placeholder 3"/>
          <p:cNvSpPr>
            <a:spLocks noGrp="1"/>
          </p:cNvSpPr>
          <p:nvPr>
            <p:ph type="sldNum" sz="quarter" idx="5"/>
          </p:nvPr>
        </p:nvSpPr>
        <p:spPr>
          <a:noFill/>
        </p:spPr>
        <p:txBody>
          <a:bodyPr/>
          <a:lstStyle/>
          <a:p>
            <a:fld id="{F65152CD-4B84-42E7-B2A7-D24F90790A18}" type="slidenum">
              <a:rPr lang="en-US" smtClean="0"/>
              <a:pPr/>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lnSpcReduction="10000"/>
          </a:bodyPr>
          <a:lstStyle/>
          <a:p>
            <a:pPr>
              <a:defRPr/>
            </a:pPr>
            <a:r>
              <a:rPr lang="en-GB" b="1" dirty="0"/>
              <a:t>Early Biological Classification</a:t>
            </a:r>
            <a:endParaRPr lang="en-US" b="1" dirty="0"/>
          </a:p>
          <a:p>
            <a:pPr>
              <a:defRPr/>
            </a:pPr>
            <a:r>
              <a:rPr lang="en-GB" dirty="0"/>
              <a:t>Biologists have long recognized the need to classify living things. In fact, humans have been classifying living things for thousands of years. The earliest humans probably classified organisms as plants and animals. They may have further classified plants as edible or poisonous, and the animals as harmful or harmless. However, it was 300 BC before the first serious attempt was made to classify all the organisms known. This attempt was made by the Greek philosopher and scientist, </a:t>
            </a:r>
            <a:r>
              <a:rPr lang="en-GB" b="1" dirty="0"/>
              <a:t>Aristotle</a:t>
            </a:r>
            <a:r>
              <a:rPr lang="en-GB" dirty="0"/>
              <a:t> and his students.</a:t>
            </a:r>
            <a:endParaRPr lang="en-US" dirty="0"/>
          </a:p>
          <a:p>
            <a:pPr>
              <a:defRPr/>
            </a:pPr>
            <a:endParaRPr lang="en-US" dirty="0"/>
          </a:p>
          <a:p>
            <a:pPr>
              <a:defRPr/>
            </a:pPr>
            <a:r>
              <a:rPr lang="en-GB" b="1" i="1" dirty="0"/>
              <a:t>Aristotle’s Classification System </a:t>
            </a:r>
            <a:endParaRPr lang="en-US" dirty="0"/>
          </a:p>
          <a:p>
            <a:pPr>
              <a:defRPr/>
            </a:pPr>
            <a:r>
              <a:rPr lang="en-GB" dirty="0"/>
              <a:t>Since only about 1000 kinds of organisms were known at that time, a very simple classification scheme could be used. Aristotle and his students first classified the organisms as plant or animal. They then classified the animals according to where they lived. This resulted in three groupings: </a:t>
            </a:r>
            <a:r>
              <a:rPr lang="en-GB" b="1" dirty="0"/>
              <a:t>air animals</a:t>
            </a:r>
            <a:r>
              <a:rPr lang="en-GB" dirty="0"/>
              <a:t>, </a:t>
            </a:r>
            <a:r>
              <a:rPr lang="en-GB" b="1" dirty="0"/>
              <a:t>water animals</a:t>
            </a:r>
            <a:r>
              <a:rPr lang="en-GB" dirty="0"/>
              <a:t>, and </a:t>
            </a:r>
            <a:r>
              <a:rPr lang="en-GB" b="1" dirty="0"/>
              <a:t>land animals</a:t>
            </a:r>
            <a:r>
              <a:rPr lang="en-GB" dirty="0"/>
              <a:t>. They classified the plants according to the structure of stems. Those with soft stems were called </a:t>
            </a:r>
            <a:r>
              <a:rPr lang="en-GB" b="1" dirty="0"/>
              <a:t>herbs</a:t>
            </a:r>
            <a:r>
              <a:rPr lang="en-GB" dirty="0"/>
              <a:t>; those with a single woody stem were called </a:t>
            </a:r>
            <a:r>
              <a:rPr lang="en-GB" b="1" dirty="0"/>
              <a:t>trees</a:t>
            </a:r>
            <a:r>
              <a:rPr lang="en-GB" dirty="0"/>
              <a:t>; and those with many small woody stems were called </a:t>
            </a:r>
            <a:r>
              <a:rPr lang="en-GB" b="1" dirty="0"/>
              <a:t>shrubs</a:t>
            </a:r>
            <a:r>
              <a:rPr lang="en-GB" dirty="0"/>
              <a:t>.</a:t>
            </a:r>
            <a:endParaRPr lang="en-US" dirty="0"/>
          </a:p>
          <a:p>
            <a:pPr>
              <a:defRPr/>
            </a:pPr>
            <a:endParaRPr lang="en-US" dirty="0"/>
          </a:p>
          <a:p>
            <a:pPr>
              <a:defRPr/>
            </a:pPr>
            <a:r>
              <a:rPr lang="en-GB" dirty="0"/>
              <a:t>Aristotle’s classification system survived for almost two thousand years. However, by the beginning of the 18</a:t>
            </a:r>
            <a:r>
              <a:rPr lang="en-GB" baseline="30000" dirty="0"/>
              <a:t>th</a:t>
            </a:r>
            <a:r>
              <a:rPr lang="en-GB" dirty="0"/>
              <a:t> century, over 10,000 kinds of organisms were known and Aristotle’s system was unable to classify them all. Many of newly discovered organisms would not fit into any category of Aristotle’s simple system. A new system was obviously needed.</a:t>
            </a:r>
            <a:endParaRPr lang="en-US" dirty="0"/>
          </a:p>
          <a:p>
            <a:pPr>
              <a:defRPr/>
            </a:pPr>
            <a:endParaRPr lang="en-US" dirty="0"/>
          </a:p>
        </p:txBody>
      </p:sp>
      <p:sp>
        <p:nvSpPr>
          <p:cNvPr id="50180" name="Slide Number Placeholder 3"/>
          <p:cNvSpPr>
            <a:spLocks noGrp="1"/>
          </p:cNvSpPr>
          <p:nvPr>
            <p:ph type="sldNum" sz="quarter" idx="5"/>
          </p:nvPr>
        </p:nvSpPr>
        <p:spPr>
          <a:noFill/>
        </p:spPr>
        <p:txBody>
          <a:bodyPr/>
          <a:lstStyle/>
          <a:p>
            <a:fld id="{30191406-C1ED-4223-9A58-C635EFC89CE3}" type="slidenum">
              <a:rPr lang="en-US" smtClean="0"/>
              <a:pPr/>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fontScale="92500" lnSpcReduction="20000"/>
          </a:bodyPr>
          <a:lstStyle/>
          <a:p>
            <a:pPr>
              <a:defRPr/>
            </a:pPr>
            <a:r>
              <a:rPr lang="en-GB" b="1" dirty="0"/>
              <a:t>Modern Biological Classification</a:t>
            </a:r>
            <a:endParaRPr lang="en-US" b="1" dirty="0"/>
          </a:p>
          <a:p>
            <a:pPr>
              <a:defRPr/>
            </a:pPr>
            <a:r>
              <a:rPr lang="en-GB" b="1" i="1" dirty="0"/>
              <a:t>Taxonomy</a:t>
            </a:r>
            <a:endParaRPr lang="en-US" dirty="0"/>
          </a:p>
          <a:p>
            <a:pPr>
              <a:defRPr/>
            </a:pPr>
            <a:r>
              <a:rPr lang="en-GB" i="1" dirty="0"/>
              <a:t>Taxonomy is the science that deals with the classification of organisms</a:t>
            </a:r>
            <a:r>
              <a:rPr lang="en-GB" dirty="0"/>
              <a:t>.</a:t>
            </a:r>
            <a:endParaRPr lang="en-US" dirty="0"/>
          </a:p>
          <a:p>
            <a:pPr>
              <a:defRPr/>
            </a:pPr>
            <a:r>
              <a:rPr lang="en-GB" dirty="0"/>
              <a:t> </a:t>
            </a:r>
            <a:endParaRPr lang="en-US" dirty="0"/>
          </a:p>
          <a:p>
            <a:pPr>
              <a:defRPr/>
            </a:pPr>
            <a:r>
              <a:rPr lang="en-GB" b="1" i="1" dirty="0"/>
              <a:t>The Contribution of </a:t>
            </a:r>
            <a:r>
              <a:rPr lang="en-GB" b="1" i="1" dirty="0" err="1"/>
              <a:t>Carolus</a:t>
            </a:r>
            <a:r>
              <a:rPr lang="en-GB" b="1" i="1" dirty="0"/>
              <a:t> Linnaeus</a:t>
            </a:r>
            <a:endParaRPr lang="en-US" dirty="0"/>
          </a:p>
          <a:p>
            <a:pPr>
              <a:defRPr/>
            </a:pPr>
            <a:r>
              <a:rPr lang="en-GB" dirty="0" err="1"/>
              <a:t>Carolus</a:t>
            </a:r>
            <a:r>
              <a:rPr lang="en-GB" dirty="0"/>
              <a:t> Linnaeus, a Swedish botanist, developed a simple classification system that forms the basis of our modern method of classification. At the start of the 18</a:t>
            </a:r>
            <a:r>
              <a:rPr lang="en-GB" baseline="30000" dirty="0"/>
              <a:t>th</a:t>
            </a:r>
            <a:r>
              <a:rPr lang="en-GB" dirty="0"/>
              <a:t> century about </a:t>
            </a:r>
            <a:r>
              <a:rPr lang="en-GB" b="1" dirty="0"/>
              <a:t>10,000</a:t>
            </a:r>
            <a:r>
              <a:rPr lang="en-GB" dirty="0"/>
              <a:t> kinds of organisms were known. By the end of that century over </a:t>
            </a:r>
            <a:r>
              <a:rPr lang="en-GB" b="1" dirty="0"/>
              <a:t>70,000</a:t>
            </a:r>
            <a:r>
              <a:rPr lang="en-GB" dirty="0"/>
              <a:t> kinds were known. Linnaeus tried to develop a classification system for this large number of organisms. By </a:t>
            </a:r>
            <a:r>
              <a:rPr lang="en-GB" b="1" dirty="0"/>
              <a:t>1753</a:t>
            </a:r>
            <a:r>
              <a:rPr lang="en-GB" dirty="0"/>
              <a:t> his system was well developed and modern taxonomy began.</a:t>
            </a:r>
            <a:endParaRPr lang="en-US" dirty="0"/>
          </a:p>
          <a:p>
            <a:pPr>
              <a:defRPr/>
            </a:pPr>
            <a:r>
              <a:rPr lang="en-GB" dirty="0"/>
              <a:t> </a:t>
            </a:r>
            <a:endParaRPr lang="en-US" dirty="0"/>
          </a:p>
          <a:p>
            <a:pPr>
              <a:defRPr/>
            </a:pPr>
            <a:r>
              <a:rPr lang="en-GB" b="1" i="1" dirty="0"/>
              <a:t>The Basis for Linnaeus Classification</a:t>
            </a:r>
            <a:endParaRPr lang="en-US" dirty="0"/>
          </a:p>
          <a:p>
            <a:pPr>
              <a:defRPr/>
            </a:pPr>
            <a:r>
              <a:rPr lang="en-GB" i="1" dirty="0"/>
              <a:t>Biologists use the word </a:t>
            </a:r>
            <a:r>
              <a:rPr lang="en-GB" b="1" i="1" dirty="0"/>
              <a:t>diversity</a:t>
            </a:r>
            <a:r>
              <a:rPr lang="en-GB" i="1" dirty="0"/>
              <a:t> to mean differences, or the number of kinds of living things</a:t>
            </a:r>
            <a:r>
              <a:rPr lang="en-GB" dirty="0"/>
              <a:t>. </a:t>
            </a:r>
            <a:endParaRPr lang="en-US" dirty="0"/>
          </a:p>
          <a:p>
            <a:pPr>
              <a:defRPr/>
            </a:pPr>
            <a:r>
              <a:rPr lang="en-GB" dirty="0"/>
              <a:t> </a:t>
            </a:r>
            <a:endParaRPr lang="en-US" dirty="0"/>
          </a:p>
          <a:p>
            <a:pPr>
              <a:defRPr/>
            </a:pPr>
            <a:r>
              <a:rPr lang="en-GB" dirty="0"/>
              <a:t>There seem to be so many kinds of living things and they seem to be so different from one another. Yet, if we study them closely, we can see many likenesses. For example, at first glance lions, horses, humans, and mice seem to have little in common. A closer look however, shows that all have hair, a distinct head, four limbs, two ears, and warm blood. That is, they have similar </a:t>
            </a:r>
            <a:r>
              <a:rPr lang="en-GB" b="1" dirty="0"/>
              <a:t>structural features</a:t>
            </a:r>
            <a:r>
              <a:rPr lang="en-GB" dirty="0"/>
              <a:t>.</a:t>
            </a:r>
            <a:endParaRPr lang="en-US" dirty="0"/>
          </a:p>
          <a:p>
            <a:pPr>
              <a:defRPr/>
            </a:pPr>
            <a:r>
              <a:rPr lang="en-GB" dirty="0"/>
              <a:t> </a:t>
            </a:r>
            <a:endParaRPr lang="en-US" dirty="0"/>
          </a:p>
          <a:p>
            <a:pPr>
              <a:defRPr/>
            </a:pPr>
            <a:r>
              <a:rPr lang="en-GB" dirty="0"/>
              <a:t>Linnaeus decided to use structural features as the basis for his classification system. Therefore, he grouped organisms according to their structural similarities. These organisms with very similar structural features were considered to be the same </a:t>
            </a:r>
            <a:r>
              <a:rPr lang="en-GB" b="1" dirty="0"/>
              <a:t>species</a:t>
            </a:r>
            <a:r>
              <a:rPr lang="en-GB" dirty="0"/>
              <a:t>. Thus all modern-day humans belong to one species, all house cats belong to one species, and all sugar maple trees belong to one species.</a:t>
            </a:r>
            <a:endParaRPr lang="en-US" dirty="0"/>
          </a:p>
          <a:p>
            <a:pPr>
              <a:defRPr/>
            </a:pPr>
            <a:endParaRPr lang="en-US" dirty="0"/>
          </a:p>
        </p:txBody>
      </p:sp>
      <p:sp>
        <p:nvSpPr>
          <p:cNvPr id="51204" name="Slide Number Placeholder 3"/>
          <p:cNvSpPr>
            <a:spLocks noGrp="1"/>
          </p:cNvSpPr>
          <p:nvPr>
            <p:ph type="sldNum" sz="quarter" idx="5"/>
          </p:nvPr>
        </p:nvSpPr>
        <p:spPr>
          <a:noFill/>
        </p:spPr>
        <p:txBody>
          <a:bodyPr/>
          <a:lstStyle/>
          <a:p>
            <a:fld id="{AC33565D-A399-43E2-8880-AA6B095F9605}" type="slidenum">
              <a:rPr lang="en-US" smtClean="0"/>
              <a:pPr/>
              <a:t>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GB" b="1" i="1" dirty="0"/>
              <a:t>The Genus Concept</a:t>
            </a:r>
            <a:endParaRPr lang="en-US" dirty="0"/>
          </a:p>
          <a:p>
            <a:r>
              <a:rPr lang="en-GB" i="1" dirty="0"/>
              <a:t>A </a:t>
            </a:r>
            <a:r>
              <a:rPr lang="en-GB" b="1" i="1" dirty="0"/>
              <a:t>genus</a:t>
            </a:r>
            <a:r>
              <a:rPr lang="en-GB" i="1" dirty="0"/>
              <a:t> (plural genera) groups species that are similar</a:t>
            </a:r>
            <a:r>
              <a:rPr lang="en-GB" dirty="0"/>
              <a:t>. For example, humans belong to the genus </a:t>
            </a:r>
            <a:r>
              <a:rPr lang="en-GB" i="1" dirty="0"/>
              <a:t>Homo</a:t>
            </a:r>
            <a:r>
              <a:rPr lang="en-GB" dirty="0"/>
              <a:t>. Thus handy-man (have long hands)  (</a:t>
            </a:r>
            <a:r>
              <a:rPr lang="en-US" b="1" i="1" dirty="0"/>
              <a:t>Homo </a:t>
            </a:r>
            <a:r>
              <a:rPr lang="en-US" b="1" i="1" dirty="0" err="1"/>
              <a:t>habilis</a:t>
            </a:r>
            <a:r>
              <a:rPr lang="en-US" b="1" i="1" dirty="0"/>
              <a:t> )</a:t>
            </a:r>
            <a:r>
              <a:rPr lang="en-GB" dirty="0"/>
              <a:t>, </a:t>
            </a:r>
            <a:r>
              <a:rPr lang="en-US" dirty="0"/>
              <a:t>upright man</a:t>
            </a:r>
            <a:r>
              <a:rPr lang="en-GB" dirty="0"/>
              <a:t>(</a:t>
            </a:r>
            <a:r>
              <a:rPr lang="en-US" b="1" i="1" dirty="0"/>
              <a:t>H. </a:t>
            </a:r>
            <a:r>
              <a:rPr lang="en-US" b="1" i="1" dirty="0" err="1"/>
              <a:t>ergaster</a:t>
            </a:r>
            <a:r>
              <a:rPr lang="en-US" b="1" i="1" dirty="0"/>
              <a:t> </a:t>
            </a:r>
            <a:r>
              <a:rPr lang="en-GB" dirty="0"/>
              <a:t>), and </a:t>
            </a:r>
            <a:r>
              <a:rPr lang="en-US" dirty="0"/>
              <a:t>modern humans  </a:t>
            </a:r>
            <a:r>
              <a:rPr lang="en-GB" dirty="0"/>
              <a:t>(</a:t>
            </a:r>
            <a:r>
              <a:rPr lang="en-US" b="1" i="1" dirty="0"/>
              <a:t>H. sapiens</a:t>
            </a:r>
            <a:r>
              <a:rPr lang="en-GB" dirty="0"/>
              <a:t>) belong to the same genus </a:t>
            </a:r>
            <a:r>
              <a:rPr lang="en-GB" b="1" i="1" dirty="0"/>
              <a:t>Homo</a:t>
            </a:r>
            <a:r>
              <a:rPr lang="en-GB" dirty="0"/>
              <a:t>. Their structure are similar and other features are similar but not identical. Every genus has characteristics that make it stand out clearly from other living things.</a:t>
            </a:r>
            <a:endParaRPr lang="en-US" dirty="0"/>
          </a:p>
          <a:p>
            <a:r>
              <a:rPr lang="en-GB" dirty="0"/>
              <a:t> </a:t>
            </a:r>
            <a:endParaRPr lang="en-US" dirty="0"/>
          </a:p>
          <a:p>
            <a:r>
              <a:rPr lang="en-GB" b="1" i="1" dirty="0"/>
              <a:t>The Species Concept</a:t>
            </a:r>
            <a:endParaRPr lang="en-US" dirty="0"/>
          </a:p>
          <a:p>
            <a:r>
              <a:rPr lang="en-GB" i="1" dirty="0"/>
              <a:t>Linnaeus grouped as a </a:t>
            </a:r>
            <a:r>
              <a:rPr lang="en-GB" b="1" i="1" dirty="0"/>
              <a:t>species</a:t>
            </a:r>
            <a:r>
              <a:rPr lang="en-GB" i="1" dirty="0"/>
              <a:t> those organisms that he felt were very similar in structural features</a:t>
            </a:r>
            <a:r>
              <a:rPr lang="en-GB" dirty="0"/>
              <a:t>. In simple terms, a single species is a distinct kind of organism, with a characteristic shape, size, behaviour, and habitat that remains constant from year to year. </a:t>
            </a:r>
            <a:endParaRPr lang="en-US" dirty="0"/>
          </a:p>
          <a:p>
            <a:r>
              <a:rPr lang="en-GB" dirty="0"/>
              <a:t> </a:t>
            </a:r>
          </a:p>
          <a:p>
            <a:r>
              <a:rPr lang="en-GB" dirty="0"/>
              <a:t>Potato (</a:t>
            </a:r>
            <a:r>
              <a:rPr lang="en-GB" b="1" i="1" dirty="0" err="1"/>
              <a:t>Solanum</a:t>
            </a:r>
            <a:r>
              <a:rPr lang="en-GB" b="1" i="1" dirty="0"/>
              <a:t> </a:t>
            </a:r>
            <a:r>
              <a:rPr lang="en-GB" b="1" i="1" dirty="0" err="1"/>
              <a:t>tuberosum</a:t>
            </a:r>
            <a:r>
              <a:rPr lang="en-GB" dirty="0"/>
              <a:t>) and the eggplant (</a:t>
            </a:r>
            <a:r>
              <a:rPr lang="en-GB" b="1" i="1" dirty="0" err="1"/>
              <a:t>Solanum</a:t>
            </a:r>
            <a:r>
              <a:rPr lang="en-GB" b="1" i="1" dirty="0"/>
              <a:t> </a:t>
            </a:r>
            <a:r>
              <a:rPr lang="en-GB" b="1" i="1" dirty="0" err="1"/>
              <a:t>melongena</a:t>
            </a:r>
            <a:r>
              <a:rPr lang="en-GB" dirty="0"/>
              <a:t>) belong to the same genus because they are similar in many ways. However, they belong to two different species because they are not identical and they have reproductive barrier, that is, they cannot mate (cross or breed) with one another to produce fertile offspring. The members within a species can mate or cross. Thus all varieties of potatoes are in the species because they can interbreed to produce fertile offspring</a:t>
            </a:r>
          </a:p>
          <a:p>
            <a:endParaRPr lang="en-US" dirty="0"/>
          </a:p>
          <a:p>
            <a:r>
              <a:rPr lang="en-US" b="1" dirty="0"/>
              <a:t>Modern definition of species</a:t>
            </a:r>
          </a:p>
          <a:p>
            <a:r>
              <a:rPr lang="en-GB" i="1" dirty="0"/>
              <a:t>A </a:t>
            </a:r>
            <a:r>
              <a:rPr lang="en-GB" b="1" i="1" dirty="0"/>
              <a:t>species</a:t>
            </a:r>
            <a:r>
              <a:rPr lang="en-GB" i="1" dirty="0"/>
              <a:t> (plural also species) is defined as a group of individuals that are alike in many ways and interbreed under natural conditions to produce fertile offspring (children)</a:t>
            </a:r>
            <a:r>
              <a:rPr lang="en-GB" dirty="0"/>
              <a:t>. </a:t>
            </a:r>
            <a:endParaRPr lang="en-US" dirty="0"/>
          </a:p>
          <a:p>
            <a:endParaRPr lang="en-GB" dirty="0"/>
          </a:p>
          <a:p>
            <a:endParaRPr lang="en-US" dirty="0"/>
          </a:p>
          <a:p>
            <a:endParaRPr lang="en-GB" dirty="0"/>
          </a:p>
          <a:p>
            <a:endParaRPr lang="en-GB" dirty="0"/>
          </a:p>
          <a:p>
            <a:endParaRPr lang="en-US" dirty="0"/>
          </a:p>
          <a:p>
            <a:r>
              <a:rPr lang="en-GB" dirty="0"/>
              <a:t> </a:t>
            </a:r>
            <a:endParaRPr lang="en-US" dirty="0"/>
          </a:p>
          <a:p>
            <a:br>
              <a:rPr lang="en-US" dirty="0"/>
            </a:br>
            <a:br>
              <a:rPr lang="en-US" dirty="0"/>
            </a:br>
            <a:endParaRPr lang="en-US" dirty="0"/>
          </a:p>
          <a:p>
            <a:endParaRPr lang="en-US" dirty="0"/>
          </a:p>
        </p:txBody>
      </p:sp>
      <p:sp>
        <p:nvSpPr>
          <p:cNvPr id="4" name="Slide Number Placeholder 3"/>
          <p:cNvSpPr>
            <a:spLocks noGrp="1"/>
          </p:cNvSpPr>
          <p:nvPr>
            <p:ph type="sldNum" sz="quarter" idx="10"/>
          </p:nvPr>
        </p:nvSpPr>
        <p:spPr/>
        <p:txBody>
          <a:bodyPr/>
          <a:lstStyle/>
          <a:p>
            <a:pPr>
              <a:defRPr/>
            </a:pPr>
            <a:fld id="{8B4A288A-1D9D-4B22-A394-954FF91E2A81}" type="slidenum">
              <a:rPr lang="en-US" smtClean="0"/>
              <a:pPr>
                <a:defRPr/>
              </a:pPr>
              <a:t>8</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r>
              <a:rPr lang="en-GB" dirty="0"/>
              <a:t>One reason for using Latin scientific name instead of common names is that common names can be confusing or misleading. For example </a:t>
            </a:r>
            <a:r>
              <a:rPr lang="en-GB" b="1" i="1" dirty="0" err="1"/>
              <a:t>Felis</a:t>
            </a:r>
            <a:r>
              <a:rPr lang="en-GB" b="1" i="1" dirty="0"/>
              <a:t> </a:t>
            </a:r>
            <a:r>
              <a:rPr lang="en-GB" b="1" i="1" dirty="0" err="1"/>
              <a:t>concolor</a:t>
            </a:r>
            <a:r>
              <a:rPr lang="en-GB" dirty="0"/>
              <a:t> is called a cougar, mountain lion, puma, panther, painter, and many names. The common name for a domestic cow is “</a:t>
            </a:r>
            <a:r>
              <a:rPr lang="en-GB" b="1" dirty="0"/>
              <a:t>la </a:t>
            </a:r>
            <a:r>
              <a:rPr lang="en-GB" b="1" dirty="0" err="1"/>
              <a:t>vache</a:t>
            </a:r>
            <a:r>
              <a:rPr lang="en-GB" dirty="0"/>
              <a:t>” in French, ‘</a:t>
            </a:r>
            <a:r>
              <a:rPr lang="en-GB" b="1" dirty="0"/>
              <a:t>die </a:t>
            </a:r>
            <a:r>
              <a:rPr lang="en-GB" b="1" dirty="0" err="1"/>
              <a:t>Kuh</a:t>
            </a:r>
            <a:r>
              <a:rPr lang="en-GB" dirty="0"/>
              <a:t>” in German, “</a:t>
            </a:r>
            <a:r>
              <a:rPr lang="en-GB" b="1" dirty="0"/>
              <a:t>la </a:t>
            </a:r>
            <a:r>
              <a:rPr lang="en-GB" b="1" dirty="0" err="1"/>
              <a:t>vaca</a:t>
            </a:r>
            <a:r>
              <a:rPr lang="en-GB" dirty="0"/>
              <a:t>” in Spanish, and “</a:t>
            </a:r>
            <a:r>
              <a:rPr lang="en-GB" b="1" dirty="0" err="1"/>
              <a:t>garoo</a:t>
            </a:r>
            <a:r>
              <a:rPr lang="en-GB" dirty="0"/>
              <a:t>” in Bengali. However, in all languages the scientific name is the same, and there is no confusion if we call the cow </a:t>
            </a:r>
            <a:r>
              <a:rPr lang="en-GB" b="1" i="1" dirty="0" err="1"/>
              <a:t>Bos</a:t>
            </a:r>
            <a:r>
              <a:rPr lang="en-GB" b="1" i="1" dirty="0"/>
              <a:t> </a:t>
            </a:r>
            <a:r>
              <a:rPr lang="en-GB" b="1" i="1" dirty="0" err="1"/>
              <a:t>taurus</a:t>
            </a:r>
            <a:r>
              <a:rPr lang="en-GB" dirty="0"/>
              <a:t>.</a:t>
            </a:r>
            <a:endParaRPr lang="en-US" dirty="0"/>
          </a:p>
          <a:p>
            <a:endParaRPr lang="en-US" dirty="0"/>
          </a:p>
        </p:txBody>
      </p:sp>
      <p:sp>
        <p:nvSpPr>
          <p:cNvPr id="62468" name="Slide Number Placeholder 3"/>
          <p:cNvSpPr>
            <a:spLocks noGrp="1"/>
          </p:cNvSpPr>
          <p:nvPr>
            <p:ph type="sldNum" sz="quarter" idx="5"/>
          </p:nvPr>
        </p:nvSpPr>
        <p:spPr>
          <a:noFill/>
        </p:spPr>
        <p:txBody>
          <a:bodyPr/>
          <a:lstStyle/>
          <a:p>
            <a:fld id="{FA815541-C106-4FAB-AE8C-42E76C154BD4}" type="slidenum">
              <a:rPr lang="en-US" smtClean="0"/>
              <a:pPr/>
              <a:t>9</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dirty="0"/>
              <a:t>This system of classification can be compared to a tree. Many leaves (</a:t>
            </a:r>
            <a:r>
              <a:rPr lang="en-GB" b="1" i="1" dirty="0"/>
              <a:t>species</a:t>
            </a:r>
            <a:r>
              <a:rPr lang="en-GB" dirty="0"/>
              <a:t>) are on a tiny twig (</a:t>
            </a:r>
            <a:r>
              <a:rPr lang="en-GB" b="1" i="1" dirty="0"/>
              <a:t>genus</a:t>
            </a:r>
            <a:r>
              <a:rPr lang="en-GB" dirty="0"/>
              <a:t>). Several tiny </a:t>
            </a:r>
            <a:r>
              <a:rPr lang="en-GB" dirty="0" err="1"/>
              <a:t>twigis</a:t>
            </a:r>
            <a:r>
              <a:rPr lang="en-GB" dirty="0"/>
              <a:t> (genera) are on a larger twig (</a:t>
            </a:r>
            <a:r>
              <a:rPr lang="en-GB" b="1" i="1" dirty="0"/>
              <a:t>family</a:t>
            </a:r>
            <a:r>
              <a:rPr lang="en-GB" dirty="0"/>
              <a:t>). Several larger twigs (families) are on a little branch (</a:t>
            </a:r>
            <a:r>
              <a:rPr lang="en-GB" b="1" i="1" dirty="0"/>
              <a:t>order</a:t>
            </a:r>
            <a:r>
              <a:rPr lang="en-GB" dirty="0"/>
              <a:t>). Some little branches (orders) are on a larger branch (</a:t>
            </a:r>
            <a:r>
              <a:rPr lang="en-GB" b="1" i="1" dirty="0"/>
              <a:t>class</a:t>
            </a:r>
            <a:r>
              <a:rPr lang="en-GB" dirty="0"/>
              <a:t>). Some larger branches (classes) are on a main limb of the tree (</a:t>
            </a:r>
            <a:r>
              <a:rPr lang="en-GB" b="1" i="1" dirty="0"/>
              <a:t>phylum</a:t>
            </a:r>
            <a:r>
              <a:rPr lang="en-GB" dirty="0"/>
              <a:t>). The few main limbs (phyla) make up the whole tree (</a:t>
            </a:r>
            <a:r>
              <a:rPr lang="en-GB" b="1" i="1" dirty="0"/>
              <a:t>kingdom</a:t>
            </a:r>
            <a:r>
              <a:rPr lang="en-GB" dirty="0"/>
              <a:t>).</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8B4A288A-1D9D-4B22-A394-954FF91E2A81}" type="slidenum">
              <a:rPr lang="en-US" smtClean="0"/>
              <a:pPr>
                <a:defRPr/>
              </a:pPr>
              <a:t>10</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fontScale="85000" lnSpcReduction="10000"/>
          </a:bodyPr>
          <a:lstStyle/>
          <a:p>
            <a:pPr>
              <a:defRPr/>
            </a:pPr>
            <a:r>
              <a:rPr lang="en-GB" b="1" i="1" dirty="0"/>
              <a:t>Homologous Structure</a:t>
            </a:r>
            <a:endParaRPr lang="en-US" dirty="0"/>
          </a:p>
          <a:p>
            <a:pPr>
              <a:defRPr/>
            </a:pPr>
            <a:r>
              <a:rPr lang="en-GB" b="1" dirty="0" err="1"/>
              <a:t>Carolus</a:t>
            </a:r>
            <a:r>
              <a:rPr lang="en-GB" b="1" dirty="0"/>
              <a:t> Linnaeus</a:t>
            </a:r>
            <a:r>
              <a:rPr lang="en-GB" dirty="0"/>
              <a:t> used structural features as the basis for his classification system. He grouped organisms according to their structural similarities. Today, taxonomists still use structural similarities as a basis for classification. They look for homologous structures just as </a:t>
            </a:r>
            <a:r>
              <a:rPr lang="en-GB" dirty="0" err="1"/>
              <a:t>Linneaus</a:t>
            </a:r>
            <a:r>
              <a:rPr lang="en-GB" dirty="0"/>
              <a:t> did. </a:t>
            </a:r>
            <a:endParaRPr lang="en-US" dirty="0"/>
          </a:p>
          <a:p>
            <a:pPr>
              <a:defRPr/>
            </a:pPr>
            <a:r>
              <a:rPr lang="en-GB" dirty="0"/>
              <a:t> </a:t>
            </a:r>
            <a:endParaRPr lang="en-US" dirty="0"/>
          </a:p>
          <a:p>
            <a:pPr>
              <a:defRPr/>
            </a:pPr>
            <a:r>
              <a:rPr lang="en-GB" b="1" i="1" dirty="0"/>
              <a:t>Homologous structures</a:t>
            </a:r>
            <a:r>
              <a:rPr lang="en-GB" i="1" dirty="0"/>
              <a:t> are structures that show the same basic pattern, the same general relationship to other parts, and the same pattern of development</a:t>
            </a:r>
            <a:r>
              <a:rPr lang="en-GB" dirty="0"/>
              <a:t>. </a:t>
            </a:r>
            <a:endParaRPr lang="en-US" dirty="0"/>
          </a:p>
          <a:p>
            <a:pPr>
              <a:defRPr/>
            </a:pPr>
            <a:r>
              <a:rPr lang="en-GB" dirty="0"/>
              <a:t> </a:t>
            </a:r>
            <a:endParaRPr lang="en-US" dirty="0"/>
          </a:p>
          <a:p>
            <a:pPr>
              <a:defRPr/>
            </a:pPr>
            <a:r>
              <a:rPr lang="en-GB" dirty="0"/>
              <a:t>However, they </a:t>
            </a:r>
            <a:r>
              <a:rPr lang="en-GB" u="sng" dirty="0"/>
              <a:t>need not have the same function</a:t>
            </a:r>
            <a:r>
              <a:rPr lang="en-GB" dirty="0"/>
              <a:t>. For example, the </a:t>
            </a:r>
            <a:r>
              <a:rPr lang="en-GB" b="1" dirty="0"/>
              <a:t>human arm</a:t>
            </a:r>
            <a:r>
              <a:rPr lang="en-GB" dirty="0"/>
              <a:t>, the </a:t>
            </a:r>
            <a:r>
              <a:rPr lang="en-GB" b="1" dirty="0"/>
              <a:t>whale flipper</a:t>
            </a:r>
            <a:r>
              <a:rPr lang="en-GB" dirty="0"/>
              <a:t>, and the </a:t>
            </a:r>
            <a:r>
              <a:rPr lang="en-GB" b="1" dirty="0"/>
              <a:t>bat’s wing</a:t>
            </a:r>
            <a:r>
              <a:rPr lang="en-GB" dirty="0"/>
              <a:t>, all these appendages are homologous structures that show the same basic pattern. Also, all three appendages are found in the same part of the body. Finally, the bones in all three appendages develop in similar ways. Although their functions are different, they are homologous structures.</a:t>
            </a:r>
            <a:endParaRPr lang="en-US" dirty="0"/>
          </a:p>
          <a:p>
            <a:pPr>
              <a:defRPr/>
            </a:pPr>
            <a:r>
              <a:rPr lang="en-GB" dirty="0"/>
              <a:t> </a:t>
            </a:r>
            <a:endParaRPr lang="en-US" dirty="0"/>
          </a:p>
          <a:p>
            <a:pPr>
              <a:defRPr/>
            </a:pPr>
            <a:r>
              <a:rPr lang="en-GB" b="1" i="1" dirty="0"/>
              <a:t>Similar Biochemistry</a:t>
            </a:r>
            <a:endParaRPr lang="en-US" dirty="0"/>
          </a:p>
          <a:p>
            <a:pPr>
              <a:defRPr/>
            </a:pPr>
            <a:r>
              <a:rPr lang="en-GB" i="1" dirty="0"/>
              <a:t>Biochemistry is the study of the chemical compounds formed by living things</a:t>
            </a:r>
            <a:r>
              <a:rPr lang="en-GB" dirty="0"/>
              <a:t>. Many biologists believe that closely related organisms form similar chemical compounds in their body. They use this belief to help classify organisms. For example, the horseshoe crab was, at one time, classified as a close relative of the true crab. However, chemical analysis showed that its blood was more like spider’s blood than crab’s blood. Thus, the horseshoe crab is now classified as a close relative of spiders.</a:t>
            </a:r>
            <a:endParaRPr lang="en-US" dirty="0"/>
          </a:p>
          <a:p>
            <a:pPr>
              <a:defRPr/>
            </a:pPr>
            <a:r>
              <a:rPr lang="en-GB" dirty="0"/>
              <a:t> </a:t>
            </a:r>
            <a:endParaRPr lang="en-US" dirty="0"/>
          </a:p>
          <a:p>
            <a:pPr>
              <a:defRPr/>
            </a:pPr>
            <a:r>
              <a:rPr lang="en-GB" b="1" i="1" dirty="0"/>
              <a:t>Genetic Similarity</a:t>
            </a:r>
            <a:endParaRPr lang="en-US" dirty="0"/>
          </a:p>
          <a:p>
            <a:pPr>
              <a:defRPr/>
            </a:pPr>
            <a:r>
              <a:rPr lang="en-GB" dirty="0"/>
              <a:t>Most biologists agree that </a:t>
            </a:r>
            <a:r>
              <a:rPr lang="en-GB" b="1" i="1" dirty="0"/>
              <a:t>genetic similarity</a:t>
            </a:r>
            <a:r>
              <a:rPr lang="en-GB" i="1" dirty="0"/>
              <a:t> is the best evidence that organisms are closely related</a:t>
            </a:r>
            <a:r>
              <a:rPr lang="en-GB" dirty="0"/>
              <a:t>. Every organism makes a special compound called DNA that bears hereditary characters. Thus it seems reasonable to assume that </a:t>
            </a:r>
            <a:r>
              <a:rPr lang="en-GB" i="1" dirty="0"/>
              <a:t>the greater the similarity of DNA among organisms, the more closely they may be related</a:t>
            </a:r>
            <a:r>
              <a:rPr lang="en-GB" dirty="0"/>
              <a:t>.</a:t>
            </a:r>
            <a:endParaRPr lang="en-US" dirty="0"/>
          </a:p>
          <a:p>
            <a:pPr>
              <a:defRPr/>
            </a:pPr>
            <a:endParaRPr lang="en-US" dirty="0"/>
          </a:p>
        </p:txBody>
      </p:sp>
      <p:sp>
        <p:nvSpPr>
          <p:cNvPr id="52228" name="Slide Number Placeholder 3"/>
          <p:cNvSpPr>
            <a:spLocks noGrp="1"/>
          </p:cNvSpPr>
          <p:nvPr>
            <p:ph type="sldNum" sz="quarter" idx="5"/>
          </p:nvPr>
        </p:nvSpPr>
        <p:spPr>
          <a:noFill/>
        </p:spPr>
        <p:txBody>
          <a:bodyPr/>
          <a:lstStyle/>
          <a:p>
            <a:fld id="{21EF9F36-5D74-47F3-920E-269319514D06}" type="slidenum">
              <a:rPr lang="en-US" smtClean="0"/>
              <a:pPr/>
              <a:t>12</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ln/>
        </p:spPr>
      </p:sp>
      <p:sp>
        <p:nvSpPr>
          <p:cNvPr id="56323" name="Notes Placeholder 2"/>
          <p:cNvSpPr>
            <a:spLocks noGrp="1"/>
          </p:cNvSpPr>
          <p:nvPr>
            <p:ph type="body" idx="1"/>
          </p:nvPr>
        </p:nvSpPr>
        <p:spPr>
          <a:noFill/>
          <a:ln/>
        </p:spPr>
        <p:txBody>
          <a:bodyPr/>
          <a:lstStyle/>
          <a:p>
            <a:r>
              <a:rPr lang="en-US" dirty="0"/>
              <a:t>Each successive category refines the characteristics of "human" to the point where only humans are classified in the final category, </a:t>
            </a:r>
            <a:r>
              <a:rPr lang="en-US" i="1" dirty="0"/>
              <a:t>Homo sapiens.</a:t>
            </a:r>
          </a:p>
          <a:p>
            <a:endParaRPr lang="en-US" b="1" i="1" dirty="0"/>
          </a:p>
          <a:p>
            <a:endParaRPr lang="en-US" b="1" i="1" dirty="0"/>
          </a:p>
          <a:p>
            <a:r>
              <a:rPr lang="en-US" b="1" dirty="0"/>
              <a:t>Learn the properties of each </a:t>
            </a:r>
            <a:r>
              <a:rPr lang="en-US" b="1" dirty="0" err="1"/>
              <a:t>taxa</a:t>
            </a:r>
            <a:r>
              <a:rPr lang="en-US" b="1" dirty="0"/>
              <a:t> (for example </a:t>
            </a:r>
            <a:r>
              <a:rPr lang="en-US" b="1" dirty="0" err="1"/>
              <a:t>Animalia</a:t>
            </a:r>
            <a:r>
              <a:rPr lang="en-US" b="1" dirty="0"/>
              <a:t>, Vertebrata etc) from the slides.</a:t>
            </a:r>
          </a:p>
          <a:p>
            <a:endParaRPr lang="en-US" dirty="0"/>
          </a:p>
        </p:txBody>
      </p:sp>
      <p:sp>
        <p:nvSpPr>
          <p:cNvPr id="56324" name="Slide Number Placeholder 3"/>
          <p:cNvSpPr>
            <a:spLocks noGrp="1"/>
          </p:cNvSpPr>
          <p:nvPr>
            <p:ph type="sldNum" sz="quarter" idx="5"/>
          </p:nvPr>
        </p:nvSpPr>
        <p:spPr>
          <a:noFill/>
        </p:spPr>
        <p:txBody>
          <a:bodyPr/>
          <a:lstStyle/>
          <a:p>
            <a:fld id="{D48E0F13-6DD0-4E91-8229-36B276185066}" type="slidenum">
              <a:rPr lang="en-US" smtClean="0"/>
              <a:pPr/>
              <a:t>16</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p:spPr>
        <p:txBody>
          <a:bodyPr/>
          <a:lstStyle/>
          <a:p>
            <a:endParaRPr lang="en-US"/>
          </a:p>
        </p:txBody>
      </p:sp>
      <p:sp>
        <p:nvSpPr>
          <p:cNvPr id="57348" name="Slide Number Placeholder 3"/>
          <p:cNvSpPr>
            <a:spLocks noGrp="1"/>
          </p:cNvSpPr>
          <p:nvPr>
            <p:ph type="sldNum" sz="quarter" idx="5"/>
          </p:nvPr>
        </p:nvSpPr>
        <p:spPr>
          <a:noFill/>
        </p:spPr>
        <p:txBody>
          <a:bodyPr/>
          <a:lstStyle/>
          <a:p>
            <a:fld id="{AF4F76F3-335C-46D5-8B21-883AC32FDFA3}" type="slidenum">
              <a:rPr lang="en-US" smtClean="0"/>
              <a:pPr/>
              <a:t>17</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a:ln/>
        </p:spPr>
        <p:txBody>
          <a:bodyPr/>
          <a:lstStyle/>
          <a:p>
            <a:endParaRPr lang="en-US"/>
          </a:p>
        </p:txBody>
      </p:sp>
      <p:sp>
        <p:nvSpPr>
          <p:cNvPr id="58372" name="Slide Number Placeholder 3"/>
          <p:cNvSpPr>
            <a:spLocks noGrp="1"/>
          </p:cNvSpPr>
          <p:nvPr>
            <p:ph type="sldNum" sz="quarter" idx="5"/>
          </p:nvPr>
        </p:nvSpPr>
        <p:spPr>
          <a:noFill/>
        </p:spPr>
        <p:txBody>
          <a:bodyPr/>
          <a:lstStyle/>
          <a:p>
            <a:fld id="{6802573A-F120-4C74-B2C5-183E366FA015}" type="slidenum">
              <a:rPr lang="en-US" smtClean="0"/>
              <a:pPr/>
              <a:t>18</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endParaRPr lang="en-US" dirty="0"/>
          </a:p>
        </p:txBody>
      </p:sp>
      <p:sp>
        <p:nvSpPr>
          <p:cNvPr id="59396" name="Slide Number Placeholder 3"/>
          <p:cNvSpPr>
            <a:spLocks noGrp="1"/>
          </p:cNvSpPr>
          <p:nvPr>
            <p:ph type="sldNum" sz="quarter" idx="5"/>
          </p:nvPr>
        </p:nvSpPr>
        <p:spPr>
          <a:noFill/>
        </p:spPr>
        <p:txBody>
          <a:bodyPr/>
          <a:lstStyle/>
          <a:p>
            <a:fld id="{56B12939-7D88-4980-8EB0-EB1992839CC3}" type="slidenum">
              <a:rPr lang="en-US" smtClean="0"/>
              <a:pPr/>
              <a:t>19</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p:spPr>
        <p:txBody>
          <a:bodyPr/>
          <a:lstStyle/>
          <a:p>
            <a:r>
              <a:rPr lang="en-US" dirty="0"/>
              <a:t>Despite the amazingly complex and pervasive cultural differences that exist between populations of humans, we are all members of the same species.</a:t>
            </a:r>
          </a:p>
        </p:txBody>
      </p:sp>
      <p:sp>
        <p:nvSpPr>
          <p:cNvPr id="60420" name="Slide Number Placeholder 3"/>
          <p:cNvSpPr>
            <a:spLocks noGrp="1"/>
          </p:cNvSpPr>
          <p:nvPr>
            <p:ph type="sldNum" sz="quarter" idx="5"/>
          </p:nvPr>
        </p:nvSpPr>
        <p:spPr>
          <a:noFill/>
        </p:spPr>
        <p:txBody>
          <a:bodyPr/>
          <a:lstStyle/>
          <a:p>
            <a:fld id="{A3985CFC-735A-4268-9B05-AA31306E0DFF}" type="slidenum">
              <a:rPr lang="en-US" smtClean="0"/>
              <a:pPr/>
              <a:t>20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r>
              <a:rPr lang="en-US" altLang="en-US"/>
              <a:t>BBT101/KLQ/L2</a:t>
            </a:r>
          </a:p>
        </p:txBody>
      </p:sp>
      <p:sp>
        <p:nvSpPr>
          <p:cNvPr id="6" name="Slide Number Placeholder 5"/>
          <p:cNvSpPr>
            <a:spLocks noGrp="1"/>
          </p:cNvSpPr>
          <p:nvPr>
            <p:ph type="sldNum" sz="quarter" idx="12"/>
          </p:nvPr>
        </p:nvSpPr>
        <p:spPr/>
        <p:txBody>
          <a:bodyPr/>
          <a:lstStyle/>
          <a:p>
            <a:pPr>
              <a:defRPr/>
            </a:pPr>
            <a:fld id="{8A356791-64A2-499E-8C38-BD274F961FA1}" type="slidenum">
              <a:rPr lang="en-US" altLang="en-US" smtClean="0"/>
              <a:pPr>
                <a:defRPr/>
              </a:pPr>
              <a:t>‹#›</a:t>
            </a:fld>
            <a:endParaRPr lang="en-US" alt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47A1322-8FE6-42F8-891D-CC6510A9F287}" type="datetimeFigureOut">
              <a:rPr lang="en-US" smtClean="0"/>
              <a:pPr/>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61E648-9154-4093-8365-BA9B3F403F8A}" type="slidenum">
              <a:rPr lang="en-US" smtClean="0"/>
              <a:pPr/>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7A1322-8FE6-42F8-891D-CC6510A9F287}" type="datetimeFigureOut">
              <a:rPr lang="en-US" smtClean="0"/>
              <a:pPr/>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61E648-9154-4093-8365-BA9B3F403F8A}" type="slidenum">
              <a:rPr lang="en-US" smtClean="0"/>
              <a:pPr/>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47A1322-8FE6-42F8-891D-CC6510A9F287}" type="datetimeFigureOut">
              <a:rPr lang="en-US" smtClean="0"/>
              <a:pPr/>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61E648-9154-4093-8365-BA9B3F403F8A}" type="slidenum">
              <a:rPr lang="en-US" smtClean="0"/>
              <a:pPr/>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47A1322-8FE6-42F8-891D-CC6510A9F287}" type="datetimeFigureOut">
              <a:rPr lang="en-US" smtClean="0"/>
              <a:pPr/>
              <a:t>5/31/2026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961E648-9154-4093-8365-BA9B3F403F8A}" type="slidenum">
              <a:rPr lang="en-US" smtClean="0"/>
              <a:pPr/>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47A1322-8FE6-42F8-891D-CC6510A9F287}" type="datetimeFigureOut">
              <a:rPr lang="en-US" smtClean="0"/>
              <a:pPr/>
              <a:t>5/31/2026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961E648-9154-4093-8365-BA9B3F403F8A}" type="slidenum">
              <a:rPr lang="en-US" smtClean="0"/>
              <a:pPr/>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7A1322-8FE6-42F8-891D-CC6510A9F287}" type="datetimeFigureOut">
              <a:rPr lang="en-US" smtClean="0"/>
              <a:pPr/>
              <a:t>5/31/2026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961E648-9154-4093-8365-BA9B3F403F8A}" type="slidenum">
              <a:rPr lang="en-US" smtClean="0"/>
              <a:pPr/>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47A1322-8FE6-42F8-891D-CC6510A9F287}" type="datetimeFigureOut">
              <a:rPr lang="en-US" smtClean="0"/>
              <a:pPr/>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61E648-9154-4093-8365-BA9B3F403F8A}" type="slidenum">
              <a:rPr lang="en-US" smtClean="0"/>
              <a:pPr/>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47A1322-8FE6-42F8-891D-CC6510A9F287}" type="datetimeFigureOut">
              <a:rPr lang="en-US" smtClean="0"/>
              <a:pPr/>
              <a:t>5/31/2026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61E648-9154-4093-8365-BA9B3F403F8A}" type="slidenum">
              <a:rPr lang="en-US" smtClean="0"/>
              <a:pPr/>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47A1322-8FE6-42F8-891D-CC6510A9F287}" type="datetimeFigureOut">
              <a:rPr lang="en-US" smtClean="0"/>
              <a:pPr/>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61E648-9154-4093-8365-BA9B3F403F8A}" type="slidenum">
              <a:rPr lang="en-US" smtClean="0"/>
              <a:pPr/>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47A1322-8FE6-42F8-891D-CC6510A9F287}" type="datetimeFigureOut">
              <a:rPr lang="en-US" smtClean="0"/>
              <a:pPr/>
              <a:t>5/31/2026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61E648-9154-4093-8365-BA9B3F403F8A}" type="slidenum">
              <a:rPr lang="en-US" smtClean="0"/>
              <a:pPr/>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7A1322-8FE6-42F8-891D-CC6510A9F287}" type="datetimeFigureOut">
              <a:rPr lang="en-US" smtClean="0"/>
              <a:pPr/>
              <a:t>5/31/2026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61E648-9154-4093-8365-BA9B3F403F8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97" r:id="rId1"/>
    <p:sldLayoutId id="2147483798" r:id="rId2"/>
    <p:sldLayoutId id="2147483799" r:id="rId3"/>
    <p:sldLayoutId id="2147483800" r:id="rId4"/>
    <p:sldLayoutId id="2147483801" r:id="rId5"/>
    <p:sldLayoutId id="2147483802" r:id="rId6"/>
    <p:sldLayoutId id="2147483803" r:id="rId7"/>
    <p:sldLayoutId id="2147483804" r:id="rId8"/>
    <p:sldLayoutId id="2147483805" r:id="rId9"/>
    <p:sldLayoutId id="2147483806" r:id="rId10"/>
    <p:sldLayoutId id="2147483807"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GB" spc="50" dirty="0">
                <a:ln w="11430"/>
                <a:solidFill>
                  <a:srgbClr val="002060"/>
                </a:solidFill>
                <a:latin typeface="Albertus Extra Bold" pitchFamily="34" charset="0"/>
              </a:rPr>
              <a:t>Classification of Living Things </a:t>
            </a:r>
          </a:p>
        </p:txBody>
      </p:sp>
      <p:sp>
        <p:nvSpPr>
          <p:cNvPr id="3" name="Subtitle 2"/>
          <p:cNvSpPr>
            <a:spLocks noGrp="1"/>
          </p:cNvSpPr>
          <p:nvPr>
            <p:ph type="subTitle" idx="1"/>
          </p:nvPr>
        </p:nvSpPr>
        <p:spPr>
          <a:xfrm>
            <a:off x="1371600" y="4114800"/>
            <a:ext cx="6400800" cy="1752600"/>
          </a:xfrm>
        </p:spPr>
        <p:txBody>
          <a:bodyPr>
            <a:scene3d>
              <a:camera prst="orthographicFront"/>
              <a:lightRig rig="soft" dir="tl">
                <a:rot lat="0" lon="0" rev="0"/>
              </a:lightRig>
            </a:scene3d>
            <a:sp3d contourW="25400" prstMaterial="matte">
              <a:bevelT w="25400" h="55880" prst="artDeco"/>
              <a:contourClr>
                <a:schemeClr val="accent2">
                  <a:tint val="20000"/>
                </a:schemeClr>
              </a:contourClr>
            </a:sp3d>
          </a:bodyPr>
          <a:lstStyle/>
          <a:p>
            <a:r>
              <a:rPr lang="en-GB" b="1" spc="50" dirty="0">
                <a:ln w="11430"/>
                <a:solidFill>
                  <a:schemeClr val="tx1"/>
                </a:solidFill>
                <a:latin typeface="Arial Narrow" pitchFamily="34" charset="0"/>
              </a:rPr>
              <a:t>Prof. </a:t>
            </a:r>
            <a:r>
              <a:rPr lang="en-GB" b="1" spc="50" dirty="0" err="1">
                <a:ln w="11430"/>
                <a:solidFill>
                  <a:schemeClr val="tx1"/>
                </a:solidFill>
                <a:latin typeface="Arial Narrow" pitchFamily="34" charset="0"/>
              </a:rPr>
              <a:t>Dr.</a:t>
            </a:r>
            <a:r>
              <a:rPr lang="en-GB" b="1" spc="50" dirty="0">
                <a:ln w="11430"/>
                <a:solidFill>
                  <a:schemeClr val="tx1"/>
                </a:solidFill>
                <a:latin typeface="Arial Narrow" pitchFamily="34" charset="0"/>
              </a:rPr>
              <a:t> Md. </a:t>
            </a:r>
            <a:r>
              <a:rPr lang="en-GB" b="1" spc="50" dirty="0" err="1">
                <a:ln w="11430"/>
                <a:solidFill>
                  <a:schemeClr val="tx1"/>
                </a:solidFill>
                <a:latin typeface="Arial Narrow" pitchFamily="34" charset="0"/>
              </a:rPr>
              <a:t>Mahbubul</a:t>
            </a:r>
            <a:r>
              <a:rPr lang="en-GB" b="1" spc="50" dirty="0">
                <a:ln w="11430"/>
                <a:solidFill>
                  <a:schemeClr val="tx1"/>
                </a:solidFill>
                <a:latin typeface="Arial Narrow" pitchFamily="34" charset="0"/>
              </a:rPr>
              <a:t> Morshed</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33400"/>
            <a:ext cx="9144000" cy="685800"/>
          </a:xfrm>
        </p:spPr>
        <p:txBody>
          <a:bodyPr/>
          <a:lstStyle/>
          <a:p>
            <a:pPr algn="ctr"/>
            <a:r>
              <a:rPr lang="en-US" sz="3600" dirty="0">
                <a:solidFill>
                  <a:schemeClr val="accent2"/>
                </a:solidFill>
              </a:rPr>
              <a:t>Take Home points</a:t>
            </a:r>
          </a:p>
        </p:txBody>
      </p:sp>
      <p:sp>
        <p:nvSpPr>
          <p:cNvPr id="4" name="TextBox 3"/>
          <p:cNvSpPr txBox="1"/>
          <p:nvPr/>
        </p:nvSpPr>
        <p:spPr>
          <a:xfrm>
            <a:off x="685800" y="1179016"/>
            <a:ext cx="8077200" cy="5170646"/>
          </a:xfrm>
          <a:prstGeom prst="rect">
            <a:avLst/>
          </a:prstGeom>
          <a:noFill/>
        </p:spPr>
        <p:txBody>
          <a:bodyPr wrap="square" rtlCol="0">
            <a:spAutoFit/>
          </a:bodyPr>
          <a:lstStyle/>
          <a:p>
            <a:pPr>
              <a:lnSpc>
                <a:spcPct val="150000"/>
              </a:lnSpc>
            </a:pPr>
            <a:r>
              <a:rPr lang="en-US" sz="2000" dirty="0">
                <a:solidFill>
                  <a:schemeClr val="accent1">
                    <a:lumMod val="50000"/>
                  </a:schemeClr>
                </a:solidFill>
              </a:rPr>
              <a:t> </a:t>
            </a:r>
          </a:p>
          <a:p>
            <a:pPr marL="457200" indent="-457200">
              <a:lnSpc>
                <a:spcPct val="150000"/>
              </a:lnSpc>
              <a:buFont typeface="Wingdings" pitchFamily="2" charset="2"/>
              <a:buChar char="q"/>
            </a:pPr>
            <a:r>
              <a:rPr lang="en-US" sz="2000" dirty="0">
                <a:solidFill>
                  <a:schemeClr val="accent1">
                    <a:lumMod val="50000"/>
                  </a:schemeClr>
                </a:solidFill>
              </a:rPr>
              <a:t>What is classification</a:t>
            </a:r>
          </a:p>
          <a:p>
            <a:pPr marL="457200" indent="-457200">
              <a:lnSpc>
                <a:spcPct val="150000"/>
              </a:lnSpc>
              <a:buFont typeface="Wingdings" pitchFamily="2" charset="2"/>
              <a:buChar char="q"/>
            </a:pPr>
            <a:r>
              <a:rPr lang="en-US" sz="2000" dirty="0">
                <a:solidFill>
                  <a:schemeClr val="accent1">
                    <a:lumMod val="50000"/>
                  </a:schemeClr>
                </a:solidFill>
              </a:rPr>
              <a:t>Early biological classification</a:t>
            </a:r>
          </a:p>
          <a:p>
            <a:pPr marL="457200" indent="-457200">
              <a:lnSpc>
                <a:spcPct val="150000"/>
              </a:lnSpc>
              <a:buFont typeface="Wingdings" pitchFamily="2" charset="2"/>
              <a:buChar char="q"/>
            </a:pPr>
            <a:r>
              <a:rPr lang="en-US" sz="2000" dirty="0">
                <a:solidFill>
                  <a:schemeClr val="accent1">
                    <a:lumMod val="50000"/>
                  </a:schemeClr>
                </a:solidFill>
              </a:rPr>
              <a:t>Modern biological classification </a:t>
            </a:r>
          </a:p>
          <a:p>
            <a:pPr marL="457200" indent="-457200">
              <a:lnSpc>
                <a:spcPct val="150000"/>
              </a:lnSpc>
              <a:buFont typeface="Wingdings" pitchFamily="2" charset="2"/>
              <a:buChar char="q"/>
            </a:pPr>
            <a:r>
              <a:rPr lang="en-US" sz="2000" dirty="0">
                <a:solidFill>
                  <a:schemeClr val="accent1">
                    <a:lumMod val="50000"/>
                  </a:schemeClr>
                </a:solidFill>
              </a:rPr>
              <a:t>Binomial nomenclature</a:t>
            </a:r>
          </a:p>
          <a:p>
            <a:pPr marL="457200" indent="-457200">
              <a:lnSpc>
                <a:spcPct val="150000"/>
              </a:lnSpc>
              <a:buFont typeface="Wingdings" pitchFamily="2" charset="2"/>
              <a:buChar char="q"/>
            </a:pPr>
            <a:r>
              <a:rPr lang="en-US" sz="2000" dirty="0">
                <a:solidFill>
                  <a:schemeClr val="accent1">
                    <a:lumMod val="50000"/>
                  </a:schemeClr>
                </a:solidFill>
              </a:rPr>
              <a:t>The genus and species concept</a:t>
            </a:r>
          </a:p>
          <a:p>
            <a:pPr marL="457200" indent="-457200">
              <a:lnSpc>
                <a:spcPct val="150000"/>
              </a:lnSpc>
              <a:buFont typeface="Wingdings" pitchFamily="2" charset="2"/>
              <a:buChar char="q"/>
            </a:pPr>
            <a:r>
              <a:rPr lang="en-US" sz="2000" dirty="0">
                <a:solidFill>
                  <a:schemeClr val="accent1">
                    <a:lumMod val="50000"/>
                  </a:schemeClr>
                </a:solidFill>
              </a:rPr>
              <a:t>Why use scientific names</a:t>
            </a:r>
          </a:p>
          <a:p>
            <a:pPr marL="457200" indent="-457200">
              <a:lnSpc>
                <a:spcPct val="150000"/>
              </a:lnSpc>
              <a:buFont typeface="Wingdings" pitchFamily="2" charset="2"/>
              <a:buChar char="q"/>
            </a:pPr>
            <a:r>
              <a:rPr lang="en-US" sz="2000" dirty="0">
                <a:solidFill>
                  <a:schemeClr val="accent1">
                    <a:lumMod val="50000"/>
                  </a:schemeClr>
                </a:solidFill>
              </a:rPr>
              <a:t>The main classification groups (</a:t>
            </a:r>
            <a:r>
              <a:rPr lang="en-US" sz="2000" dirty="0" err="1">
                <a:solidFill>
                  <a:schemeClr val="accent1">
                    <a:lumMod val="50000"/>
                  </a:schemeClr>
                </a:solidFill>
              </a:rPr>
              <a:t>Taxa</a:t>
            </a:r>
            <a:r>
              <a:rPr lang="en-US" sz="2000" dirty="0">
                <a:solidFill>
                  <a:schemeClr val="accent1">
                    <a:lumMod val="50000"/>
                  </a:schemeClr>
                </a:solidFill>
              </a:rPr>
              <a:t>)</a:t>
            </a:r>
          </a:p>
          <a:p>
            <a:pPr marL="457200" indent="-457200">
              <a:lnSpc>
                <a:spcPct val="150000"/>
              </a:lnSpc>
              <a:buFont typeface="Wingdings" pitchFamily="2" charset="2"/>
              <a:buChar char="q"/>
            </a:pPr>
            <a:r>
              <a:rPr lang="en-US" sz="2000" dirty="0">
                <a:solidFill>
                  <a:schemeClr val="accent1">
                    <a:lumMod val="50000"/>
                  </a:schemeClr>
                </a:solidFill>
              </a:rPr>
              <a:t>Various classification system</a:t>
            </a:r>
          </a:p>
          <a:p>
            <a:pPr marL="457200" indent="-457200">
              <a:lnSpc>
                <a:spcPct val="150000"/>
              </a:lnSpc>
              <a:buFont typeface="Wingdings" pitchFamily="2" charset="2"/>
              <a:buChar char="q"/>
            </a:pPr>
            <a:r>
              <a:rPr lang="en-US" sz="2000" dirty="0">
                <a:solidFill>
                  <a:schemeClr val="accent1">
                    <a:lumMod val="50000"/>
                  </a:schemeClr>
                </a:solidFill>
              </a:rPr>
              <a:t>Phylogenetic system</a:t>
            </a:r>
          </a:p>
          <a:p>
            <a:pPr marL="457200" indent="-457200">
              <a:lnSpc>
                <a:spcPct val="150000"/>
              </a:lnSpc>
              <a:buFont typeface="Wingdings" pitchFamily="2" charset="2"/>
              <a:buChar char="q"/>
            </a:pPr>
            <a:endParaRPr lang="en-US" sz="2000" dirty="0">
              <a:solidFill>
                <a:schemeClr val="accent1">
                  <a:lumMod val="50000"/>
                </a:schemeClr>
              </a:solidFill>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152400" y="581025"/>
            <a:ext cx="8839200" cy="561975"/>
          </a:xfrm>
        </p:spPr>
        <p:txBody>
          <a:bodyPr>
            <a:noAutofit/>
          </a:bodyPr>
          <a:lstStyle/>
          <a:p>
            <a:r>
              <a:rPr lang="en-GB" sz="3600" b="1" dirty="0">
                <a:solidFill>
                  <a:schemeClr val="accent2"/>
                </a:solidFill>
              </a:rPr>
              <a:t>Classification of Living Things</a:t>
            </a:r>
            <a:br>
              <a:rPr lang="en-US" sz="3600" b="1" dirty="0">
                <a:solidFill>
                  <a:schemeClr val="accent2"/>
                </a:solidFill>
              </a:rPr>
            </a:br>
            <a:endParaRPr lang="en-US" sz="3600" b="1" dirty="0">
              <a:solidFill>
                <a:schemeClr val="accent2"/>
              </a:solidFill>
            </a:endParaRPr>
          </a:p>
        </p:txBody>
      </p:sp>
      <p:sp>
        <p:nvSpPr>
          <p:cNvPr id="18435" name="Content Placeholder 2"/>
          <p:cNvSpPr>
            <a:spLocks noGrp="1"/>
          </p:cNvSpPr>
          <p:nvPr>
            <p:ph idx="1"/>
          </p:nvPr>
        </p:nvSpPr>
        <p:spPr>
          <a:xfrm>
            <a:off x="152400" y="1295400"/>
            <a:ext cx="8763000" cy="4267200"/>
          </a:xfrm>
        </p:spPr>
        <p:txBody>
          <a:bodyPr>
            <a:normAutofit/>
          </a:bodyPr>
          <a:lstStyle/>
          <a:p>
            <a:pPr>
              <a:buFont typeface="Wingdings" pitchFamily="2" charset="2"/>
              <a:buChar char="q"/>
            </a:pPr>
            <a:r>
              <a:rPr lang="en-US" sz="2400" dirty="0"/>
              <a:t>Over </a:t>
            </a:r>
            <a:r>
              <a:rPr lang="en-US" sz="2400" b="1" dirty="0"/>
              <a:t>two million</a:t>
            </a:r>
            <a:r>
              <a:rPr lang="en-US" sz="2400" dirty="0"/>
              <a:t> (2,000,000) different kinds of organisms exists</a:t>
            </a:r>
          </a:p>
          <a:p>
            <a:pPr>
              <a:buFont typeface="Wingdings" pitchFamily="2" charset="2"/>
              <a:buChar char="q"/>
            </a:pPr>
            <a:endParaRPr lang="en-US" sz="2400" dirty="0"/>
          </a:p>
          <a:p>
            <a:pPr>
              <a:buFont typeface="Wingdings" pitchFamily="2" charset="2"/>
              <a:buChar char="q"/>
            </a:pPr>
            <a:r>
              <a:rPr lang="en-US" sz="2400" b="1" dirty="0"/>
              <a:t>1.5 million</a:t>
            </a:r>
            <a:r>
              <a:rPr lang="en-US" sz="2400" dirty="0"/>
              <a:t> (1,500,000) different kinds have been identified </a:t>
            </a:r>
          </a:p>
          <a:p>
            <a:pPr>
              <a:buFont typeface="Wingdings" pitchFamily="2" charset="2"/>
              <a:buChar char="q"/>
            </a:pPr>
            <a:endParaRPr lang="en-US" sz="2400" dirty="0"/>
          </a:p>
          <a:p>
            <a:pPr>
              <a:buFont typeface="Wingdings" pitchFamily="2" charset="2"/>
              <a:buChar char="q"/>
            </a:pPr>
            <a:r>
              <a:rPr lang="en-US" sz="2400" dirty="0"/>
              <a:t>It has been estimated that for each kind of organism now alive, another </a:t>
            </a:r>
            <a:r>
              <a:rPr lang="en-US" sz="2400" b="1" dirty="0"/>
              <a:t>400 kinds</a:t>
            </a:r>
            <a:r>
              <a:rPr lang="en-US" sz="2400" dirty="0"/>
              <a:t> once lived but have since become extinct. </a:t>
            </a:r>
          </a:p>
          <a:p>
            <a:pPr>
              <a:buFont typeface="Wingdings" pitchFamily="2" charset="2"/>
              <a:buChar char="q"/>
            </a:pPr>
            <a:endParaRPr lang="en-GB" sz="2400" dirty="0"/>
          </a:p>
          <a:p>
            <a:pPr>
              <a:buFont typeface="Wingdings" pitchFamily="2" charset="2"/>
              <a:buChar char="q"/>
            </a:pPr>
            <a:r>
              <a:rPr lang="en-GB" sz="2400" dirty="0"/>
              <a:t>One billion (1,000,000,000) different kinds of living things may have existed on the earth at one time or another.</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304800" y="200025"/>
            <a:ext cx="5181600" cy="561975"/>
          </a:xfrm>
        </p:spPr>
        <p:txBody>
          <a:bodyPr>
            <a:noAutofit/>
          </a:bodyPr>
          <a:lstStyle/>
          <a:p>
            <a:r>
              <a:rPr lang="en-US" sz="3200" b="1" dirty="0">
                <a:solidFill>
                  <a:schemeClr val="accent2"/>
                </a:solidFill>
              </a:rPr>
              <a:t>What is Classification?</a:t>
            </a:r>
          </a:p>
        </p:txBody>
      </p:sp>
      <p:sp>
        <p:nvSpPr>
          <p:cNvPr id="3" name="Content Placeholder 2"/>
          <p:cNvSpPr>
            <a:spLocks noGrp="1"/>
          </p:cNvSpPr>
          <p:nvPr>
            <p:ph idx="1"/>
          </p:nvPr>
        </p:nvSpPr>
        <p:spPr>
          <a:xfrm>
            <a:off x="152400" y="828675"/>
            <a:ext cx="8763000" cy="5943600"/>
          </a:xfrm>
        </p:spPr>
        <p:txBody>
          <a:bodyPr>
            <a:normAutofit/>
          </a:bodyPr>
          <a:lstStyle/>
          <a:p>
            <a:pPr lvl="1">
              <a:lnSpc>
                <a:spcPct val="150000"/>
              </a:lnSpc>
            </a:pPr>
            <a:r>
              <a:rPr lang="en-GB" sz="2400" b="1" dirty="0"/>
              <a:t>Supermarket manager</a:t>
            </a:r>
            <a:r>
              <a:rPr lang="en-GB" sz="2400" dirty="0"/>
              <a:t>  </a:t>
            </a:r>
          </a:p>
          <a:p>
            <a:pPr lvl="1">
              <a:lnSpc>
                <a:spcPct val="150000"/>
              </a:lnSpc>
            </a:pPr>
            <a:r>
              <a:rPr lang="en-GB" sz="2400" b="1" dirty="0"/>
              <a:t>Stamp collectors</a:t>
            </a:r>
            <a:r>
              <a:rPr lang="en-GB" sz="2400" dirty="0"/>
              <a:t> </a:t>
            </a:r>
          </a:p>
          <a:p>
            <a:pPr lvl="1">
              <a:lnSpc>
                <a:spcPct val="150000"/>
              </a:lnSpc>
            </a:pPr>
            <a:r>
              <a:rPr lang="en-GB" sz="2400" b="1" dirty="0"/>
              <a:t>Word listings in a dictionary</a:t>
            </a:r>
          </a:p>
          <a:p>
            <a:pPr lvl="1">
              <a:lnSpc>
                <a:spcPct val="150000"/>
              </a:lnSpc>
              <a:buFont typeface="Wingdings" pitchFamily="2" charset="2"/>
              <a:buNone/>
            </a:pPr>
            <a:endParaRPr lang="en-GB" sz="2400" b="1" dirty="0"/>
          </a:p>
          <a:p>
            <a:r>
              <a:rPr lang="en-GB" sz="2400" i="1" dirty="0"/>
              <a:t>The grouping of similar things for a </a:t>
            </a:r>
            <a:br>
              <a:rPr lang="en-GB" sz="2400" i="1" dirty="0"/>
            </a:br>
            <a:r>
              <a:rPr lang="en-GB" sz="2400" i="1" dirty="0"/>
              <a:t>specific purpose is called </a:t>
            </a:r>
            <a:br>
              <a:rPr lang="en-GB" sz="2400" i="1" dirty="0"/>
            </a:br>
            <a:r>
              <a:rPr lang="en-GB" sz="2400" b="1" i="1" dirty="0"/>
              <a:t>classification</a:t>
            </a:r>
            <a:endParaRPr lang="en-GB" sz="2400" dirty="0"/>
          </a:p>
          <a:p>
            <a:pPr>
              <a:buFont typeface="Wingdings" pitchFamily="2" charset="2"/>
              <a:buNone/>
            </a:pPr>
            <a:endParaRPr lang="en-US" sz="2800" dirty="0"/>
          </a:p>
          <a:p>
            <a:r>
              <a:rPr lang="en-GB" sz="2800" b="1" dirty="0">
                <a:solidFill>
                  <a:srgbClr val="FF0000"/>
                </a:solidFill>
              </a:rPr>
              <a:t>Early</a:t>
            </a:r>
            <a:r>
              <a:rPr lang="en-GB" sz="2800" b="1" dirty="0"/>
              <a:t> Biological Classification</a:t>
            </a:r>
            <a:endParaRPr lang="en-US" sz="2800" b="1" dirty="0"/>
          </a:p>
          <a:p>
            <a:r>
              <a:rPr lang="en-GB" sz="2800" b="1" dirty="0">
                <a:solidFill>
                  <a:srgbClr val="00B050"/>
                </a:solidFill>
              </a:rPr>
              <a:t>Modern</a:t>
            </a:r>
            <a:r>
              <a:rPr lang="en-GB" sz="2800" b="1" dirty="0"/>
              <a:t> Biological Classification</a:t>
            </a:r>
            <a:endParaRPr lang="en-US" sz="2800" b="1" dirty="0"/>
          </a:p>
          <a:p>
            <a:pPr>
              <a:buFont typeface="Wingdings" pitchFamily="2" charset="2"/>
              <a:buNone/>
            </a:pPr>
            <a:endParaRPr lang="en-US" sz="2800" dirty="0"/>
          </a:p>
        </p:txBody>
      </p:sp>
      <p:pic>
        <p:nvPicPr>
          <p:cNvPr id="4" name="Picture 2" descr="http://farm4.static.flickr.com/3249/2934127521_5ed70c01ea.jpg"/>
          <p:cNvPicPr>
            <a:picLocks noChangeAspect="1" noChangeArrowheads="1"/>
          </p:cNvPicPr>
          <p:nvPr/>
        </p:nvPicPr>
        <p:blipFill>
          <a:blip cstate="print"/>
          <a:srcRect/>
          <a:stretch>
            <a:fillRect/>
          </a:stretch>
        </p:blipFill>
        <p:spPr bwMode="auto">
          <a:xfrm>
            <a:off x="6629400" y="0"/>
            <a:ext cx="2514600" cy="2209800"/>
          </a:xfrm>
          <a:prstGeom prst="rect">
            <a:avLst/>
          </a:prstGeom>
          <a:ln w="228600" cap="sq" cmpd="thickThin">
            <a:noFill/>
            <a:prstDash val="solid"/>
            <a:miter lim="800000"/>
          </a:ln>
          <a:effectLst>
            <a:innerShdw blurRad="76200">
              <a:srgbClr val="000000"/>
            </a:innerShdw>
          </a:effectLst>
        </p:spPr>
      </p:pic>
      <p:pic>
        <p:nvPicPr>
          <p:cNvPr id="6" name="Picture 3"/>
          <p:cNvPicPr>
            <a:picLocks noChangeAspect="1" noChangeArrowheads="1"/>
          </p:cNvPicPr>
          <p:nvPr/>
        </p:nvPicPr>
        <p:blipFill>
          <a:blip cstate="print">
            <a:lum contrast="30000"/>
          </a:blip>
          <a:srcRect/>
          <a:stretch>
            <a:fillRect/>
          </a:stretch>
        </p:blipFill>
        <p:spPr bwMode="auto">
          <a:xfrm>
            <a:off x="6629958" y="2286000"/>
            <a:ext cx="2514042" cy="1828800"/>
          </a:xfrm>
          <a:prstGeom prst="rect">
            <a:avLst/>
          </a:prstGeom>
          <a:solidFill>
            <a:srgbClr val="FFFFFF">
              <a:shade val="85000"/>
            </a:srgbClr>
          </a:solidFill>
          <a:ln w="190500" cap="rnd">
            <a:no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7" name="Picture 4"/>
          <p:cNvPicPr>
            <a:picLocks noChangeAspect="1" noChangeArrowheads="1"/>
          </p:cNvPicPr>
          <p:nvPr/>
        </p:nvPicPr>
        <p:blipFill>
          <a:blip r:embed="rId3" cstate="print">
            <a:lum contrast="20000"/>
          </a:blip>
          <a:srcRect/>
          <a:stretch>
            <a:fillRect/>
          </a:stretch>
        </p:blipFill>
        <p:spPr bwMode="auto">
          <a:xfrm>
            <a:off x="6596536" y="4214333"/>
            <a:ext cx="2504128" cy="1348268"/>
          </a:xfrm>
          <a:prstGeom prst="rect">
            <a:avLst/>
          </a:prstGeom>
          <a:solidFill>
            <a:srgbClr val="FFFFFF">
              <a:shade val="85000"/>
            </a:srgbClr>
          </a:solidFill>
          <a:ln w="190500" cap="rnd">
            <a:no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152400" y="352425"/>
            <a:ext cx="8839200" cy="561975"/>
          </a:xfrm>
        </p:spPr>
        <p:txBody>
          <a:bodyPr>
            <a:noAutofit/>
          </a:bodyPr>
          <a:lstStyle/>
          <a:p>
            <a:r>
              <a:rPr lang="en-GB" sz="3600" b="1" dirty="0">
                <a:solidFill>
                  <a:schemeClr val="accent2"/>
                </a:solidFill>
              </a:rPr>
              <a:t>Early Biological Classification</a:t>
            </a:r>
            <a:br>
              <a:rPr lang="en-US" sz="3600" b="1" dirty="0">
                <a:solidFill>
                  <a:schemeClr val="accent2"/>
                </a:solidFill>
              </a:rPr>
            </a:br>
            <a:endParaRPr lang="en-US" sz="3600" b="1" dirty="0">
              <a:solidFill>
                <a:schemeClr val="accent2"/>
              </a:solidFill>
            </a:endParaRPr>
          </a:p>
        </p:txBody>
      </p:sp>
      <p:sp>
        <p:nvSpPr>
          <p:cNvPr id="3" name="Content Placeholder 2"/>
          <p:cNvSpPr>
            <a:spLocks noGrp="1"/>
          </p:cNvSpPr>
          <p:nvPr>
            <p:ph idx="1"/>
          </p:nvPr>
        </p:nvSpPr>
        <p:spPr>
          <a:xfrm>
            <a:off x="152400" y="828675"/>
            <a:ext cx="8839200" cy="5495925"/>
          </a:xfrm>
        </p:spPr>
        <p:txBody>
          <a:bodyPr>
            <a:normAutofit/>
          </a:bodyPr>
          <a:lstStyle/>
          <a:p>
            <a:r>
              <a:rPr lang="en-US" sz="2400" dirty="0"/>
              <a:t>How Earliest Humans classify living things</a:t>
            </a:r>
          </a:p>
          <a:p>
            <a:pPr lvl="1"/>
            <a:r>
              <a:rPr lang="en-US" sz="2000" dirty="0"/>
              <a:t>Plant Vs Animals or Edible Vs Poisonous Plants or Harmful Vs Harmless animals </a:t>
            </a:r>
          </a:p>
          <a:p>
            <a:r>
              <a:rPr lang="en-US" sz="2800" dirty="0"/>
              <a:t>300 BC, </a:t>
            </a:r>
            <a:r>
              <a:rPr lang="en-GB" sz="2800" b="1" i="1" dirty="0">
                <a:solidFill>
                  <a:srgbClr val="0070C0"/>
                </a:solidFill>
              </a:rPr>
              <a:t>Aristotle’s Classification System </a:t>
            </a:r>
          </a:p>
          <a:p>
            <a:pPr lvl="1"/>
            <a:r>
              <a:rPr lang="en-GB" sz="2400" dirty="0"/>
              <a:t>Only about 1000 kinds of organisms were known</a:t>
            </a:r>
          </a:p>
          <a:p>
            <a:pPr lvl="1"/>
            <a:r>
              <a:rPr lang="en-GB" sz="1800" dirty="0"/>
              <a:t>This classification system</a:t>
            </a:r>
          </a:p>
          <a:p>
            <a:pPr lvl="1">
              <a:buFont typeface="Wingdings" pitchFamily="2" charset="2"/>
              <a:buNone/>
            </a:pPr>
            <a:r>
              <a:rPr lang="en-GB" sz="1800" dirty="0"/>
              <a:t>survived almost 2000 </a:t>
            </a:r>
            <a:r>
              <a:rPr lang="en-US" sz="1800" dirty="0"/>
              <a:t>years</a:t>
            </a:r>
          </a:p>
          <a:p>
            <a:pPr lvl="1">
              <a:buFont typeface="Wingdings" pitchFamily="2" charset="2"/>
              <a:buNone/>
            </a:pPr>
            <a:endParaRPr lang="en-US" sz="1800" dirty="0"/>
          </a:p>
          <a:p>
            <a:pPr lvl="1">
              <a:buFont typeface="Wingdings" pitchFamily="2" charset="2"/>
              <a:buNone/>
            </a:pPr>
            <a:endParaRPr lang="en-US" sz="1800" dirty="0"/>
          </a:p>
          <a:p>
            <a:pPr lvl="1">
              <a:buFont typeface="Wingdings" pitchFamily="2" charset="2"/>
              <a:buNone/>
            </a:pPr>
            <a:endParaRPr lang="en-US" sz="1800" dirty="0"/>
          </a:p>
          <a:p>
            <a:pPr lvl="1">
              <a:buFont typeface="Wingdings" pitchFamily="2" charset="2"/>
              <a:buNone/>
            </a:pPr>
            <a:endParaRPr lang="en-US" sz="1800" dirty="0"/>
          </a:p>
          <a:p>
            <a:pPr lvl="1">
              <a:buFont typeface="Wingdings" pitchFamily="2" charset="2"/>
              <a:buNone/>
            </a:pPr>
            <a:endParaRPr lang="en-US" sz="1800" dirty="0"/>
          </a:p>
          <a:p>
            <a:pPr lvl="1">
              <a:buFont typeface="Wingdings" pitchFamily="2" charset="2"/>
              <a:buNone/>
            </a:pPr>
            <a:endParaRPr lang="en-US" sz="1800" dirty="0"/>
          </a:p>
          <a:p>
            <a:pPr lvl="1">
              <a:buFont typeface="Wingdings" pitchFamily="2" charset="2"/>
              <a:buNone/>
            </a:pPr>
            <a:r>
              <a:rPr lang="en-GB" sz="1800" dirty="0"/>
              <a:t>By the beginning of the 18</a:t>
            </a:r>
            <a:r>
              <a:rPr lang="en-GB" sz="1800" baseline="30000" dirty="0"/>
              <a:t>th</a:t>
            </a:r>
            <a:r>
              <a:rPr lang="en-GB" sz="1800" dirty="0"/>
              <a:t> century, over 10,000 kinds of organisms were known and Aristotle’s system was unable to classify them all.</a:t>
            </a:r>
          </a:p>
        </p:txBody>
      </p:sp>
      <p:pic>
        <p:nvPicPr>
          <p:cNvPr id="10242" name="Picture 2" descr="http://scienceprojectideasforkids.com/wp-content/uploads/2010/06/classification-aristotle.jpg"/>
          <p:cNvPicPr>
            <a:picLocks noChangeAspect="1" noChangeArrowheads="1"/>
          </p:cNvPicPr>
          <p:nvPr/>
        </p:nvPicPr>
        <p:blipFill>
          <a:blip r:embed="rId3" cstate="print"/>
          <a:srcRect/>
          <a:stretch>
            <a:fillRect/>
          </a:stretch>
        </p:blipFill>
        <p:spPr bwMode="auto">
          <a:xfrm>
            <a:off x="4800600" y="2895600"/>
            <a:ext cx="3086100" cy="2678113"/>
          </a:xfrm>
          <a:prstGeom prst="rect">
            <a:avLst/>
          </a:prstGeom>
          <a:noFill/>
          <a:ln w="9525">
            <a:noFill/>
            <a:miter lim="800000"/>
            <a:headEnd/>
            <a:tailEnd/>
          </a:ln>
        </p:spPr>
      </p:pic>
      <p:sp>
        <p:nvSpPr>
          <p:cNvPr id="6" name="Rectangle 5"/>
          <p:cNvSpPr/>
          <p:nvPr/>
        </p:nvSpPr>
        <p:spPr>
          <a:xfrm>
            <a:off x="0" y="6172200"/>
            <a:ext cx="9144000" cy="430887"/>
          </a:xfrm>
          <a:prstGeom prst="rect">
            <a:avLst/>
          </a:prstGeom>
        </p:spPr>
        <p:txBody>
          <a:bodyPr wrap="square">
            <a:spAutoFit/>
          </a:bodyPr>
          <a:lstStyle/>
          <a:p>
            <a:pPr lvl="1" algn="ctr">
              <a:buFont typeface="Wingdings" pitchFamily="2" charset="2"/>
              <a:buNone/>
            </a:pPr>
            <a:r>
              <a:rPr lang="en-GB" sz="2200" b="1" dirty="0">
                <a:solidFill>
                  <a:schemeClr val="accent3">
                    <a:lumMod val="75000"/>
                  </a:schemeClr>
                </a:solidFill>
              </a:rPr>
              <a:t>A new system was obviously needed.</a:t>
            </a:r>
            <a:endParaRPr lang="en-US" sz="2200" b="1" dirty="0">
              <a:solidFill>
                <a:schemeClr val="accent3">
                  <a:lumMod val="75000"/>
                </a:schemeClr>
              </a:solidFill>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152400" y="352425"/>
            <a:ext cx="8839200" cy="561975"/>
          </a:xfrm>
        </p:spPr>
        <p:txBody>
          <a:bodyPr>
            <a:noAutofit/>
          </a:bodyPr>
          <a:lstStyle/>
          <a:p>
            <a:r>
              <a:rPr lang="en-GB" sz="3600" b="1" dirty="0">
                <a:solidFill>
                  <a:schemeClr val="accent2"/>
                </a:solidFill>
              </a:rPr>
              <a:t>Modern Biological Classification</a:t>
            </a:r>
            <a:br>
              <a:rPr lang="en-US" sz="3600" b="1" dirty="0">
                <a:solidFill>
                  <a:schemeClr val="accent2"/>
                </a:solidFill>
              </a:rPr>
            </a:br>
            <a:endParaRPr lang="en-US" sz="3600" b="1" dirty="0">
              <a:solidFill>
                <a:schemeClr val="accent2"/>
              </a:solidFill>
            </a:endParaRPr>
          </a:p>
        </p:txBody>
      </p:sp>
      <p:sp>
        <p:nvSpPr>
          <p:cNvPr id="3" name="Content Placeholder 2"/>
          <p:cNvSpPr>
            <a:spLocks noGrp="1"/>
          </p:cNvSpPr>
          <p:nvPr>
            <p:ph idx="1"/>
          </p:nvPr>
        </p:nvSpPr>
        <p:spPr>
          <a:xfrm>
            <a:off x="152400" y="990600"/>
            <a:ext cx="8839200" cy="5486400"/>
          </a:xfrm>
        </p:spPr>
        <p:txBody>
          <a:bodyPr>
            <a:normAutofit/>
          </a:bodyPr>
          <a:lstStyle/>
          <a:p>
            <a:pPr>
              <a:defRPr/>
            </a:pPr>
            <a:r>
              <a:rPr lang="en-GB" sz="2400" b="1" i="1" dirty="0"/>
              <a:t>Taxonomy: </a:t>
            </a:r>
            <a:r>
              <a:rPr lang="en-GB" sz="2400" i="1" dirty="0"/>
              <a:t>Taxonomy is the science that deals with the classification of organisms</a:t>
            </a:r>
            <a:r>
              <a:rPr lang="en-GB" sz="2400" dirty="0"/>
              <a:t>.</a:t>
            </a:r>
          </a:p>
          <a:p>
            <a:pPr>
              <a:defRPr/>
            </a:pPr>
            <a:r>
              <a:rPr lang="en-GB" sz="2400" b="1" i="1" dirty="0"/>
              <a:t>The Contribution of </a:t>
            </a:r>
            <a:r>
              <a:rPr lang="en-GB" sz="2400" b="1" i="1" dirty="0" err="1"/>
              <a:t>Carolus</a:t>
            </a:r>
            <a:r>
              <a:rPr lang="en-GB" sz="2400" b="1" i="1" dirty="0"/>
              <a:t> Linnaeus</a:t>
            </a:r>
          </a:p>
          <a:p>
            <a:pPr lvl="1">
              <a:defRPr/>
            </a:pPr>
            <a:r>
              <a:rPr lang="en-GB" sz="2000" b="1" i="1" dirty="0"/>
              <a:t>Diversity: </a:t>
            </a:r>
            <a:r>
              <a:rPr lang="en-GB" sz="2000" i="1" dirty="0"/>
              <a:t>the number of kinds of living things</a:t>
            </a:r>
            <a:r>
              <a:rPr lang="en-GB" sz="2000" dirty="0"/>
              <a:t>. </a:t>
            </a:r>
            <a:endParaRPr lang="en-GB" sz="2000" b="1" dirty="0"/>
          </a:p>
          <a:p>
            <a:pPr>
              <a:defRPr/>
            </a:pPr>
            <a:r>
              <a:rPr lang="en-GB" sz="2400" b="1" i="1" dirty="0"/>
              <a:t>Linnaeus</a:t>
            </a:r>
            <a:r>
              <a:rPr lang="en-GB" sz="2400" dirty="0"/>
              <a:t> grouped organisms according </a:t>
            </a:r>
            <a:br>
              <a:rPr lang="en-GB" sz="2400" dirty="0"/>
            </a:br>
            <a:r>
              <a:rPr lang="en-GB" sz="2400" dirty="0"/>
              <a:t>to their </a:t>
            </a:r>
            <a:r>
              <a:rPr lang="en-GB" sz="2400" b="1" dirty="0">
                <a:solidFill>
                  <a:srgbClr val="FF0000"/>
                </a:solidFill>
                <a:effectLst>
                  <a:outerShdw blurRad="38100" dist="38100" dir="2700000" algn="tl">
                    <a:srgbClr val="000000">
                      <a:alpha val="43137"/>
                    </a:srgbClr>
                  </a:outerShdw>
                </a:effectLst>
              </a:rPr>
              <a:t>structural similarities</a:t>
            </a:r>
          </a:p>
          <a:p>
            <a:pPr lvl="1">
              <a:defRPr/>
            </a:pPr>
            <a:endParaRPr lang="en-GB" sz="1100" b="1" dirty="0">
              <a:solidFill>
                <a:srgbClr val="FF0000"/>
              </a:solidFill>
              <a:effectLst>
                <a:outerShdw blurRad="38100" dist="38100" dir="2700000" algn="tl">
                  <a:srgbClr val="000000">
                    <a:alpha val="43137"/>
                  </a:srgbClr>
                </a:outerShdw>
              </a:effectLst>
            </a:endParaRPr>
          </a:p>
          <a:p>
            <a:pPr lvl="1">
              <a:defRPr/>
            </a:pPr>
            <a:r>
              <a:rPr lang="en-GB" sz="2400" dirty="0"/>
              <a:t>Organisms with very similar structural features were considered to be the same </a:t>
            </a:r>
            <a:r>
              <a:rPr lang="en-GB" sz="2400" b="1" dirty="0">
                <a:solidFill>
                  <a:srgbClr val="FF0000"/>
                </a:solidFill>
              </a:rPr>
              <a:t>species</a:t>
            </a:r>
          </a:p>
          <a:p>
            <a:pPr lvl="1">
              <a:buFont typeface="Wingdings" pitchFamily="2" charset="2"/>
              <a:buNone/>
              <a:defRPr/>
            </a:pPr>
            <a:endParaRPr lang="en-GB" sz="2000" b="1" dirty="0">
              <a:solidFill>
                <a:srgbClr val="FF0000"/>
              </a:solidFill>
            </a:endParaRPr>
          </a:p>
          <a:p>
            <a:pPr algn="ctr">
              <a:defRPr/>
            </a:pPr>
            <a:r>
              <a:rPr lang="en-GB" sz="2400" dirty="0"/>
              <a:t>Thus all modern-day humans belong to one species, all house cats belong to one species, and all sugar maple trees belong to one species.</a:t>
            </a:r>
            <a:endParaRPr lang="en-US" sz="2400" dirty="0"/>
          </a:p>
        </p:txBody>
      </p:sp>
      <p:pic>
        <p:nvPicPr>
          <p:cNvPr id="21508" name="Picture 2" descr="http://upload.wikimedia.org/wikipedia/commons/thumb/6/68/Carl_von_Linn%C3%A9.jpg/240px-Carl_von_Linn%C3%A9.jpg"/>
          <p:cNvPicPr>
            <a:picLocks noChangeAspect="1" noChangeArrowheads="1"/>
          </p:cNvPicPr>
          <p:nvPr/>
        </p:nvPicPr>
        <p:blipFill>
          <a:blip r:embed="rId3" cstate="print"/>
          <a:srcRect/>
          <a:stretch>
            <a:fillRect/>
          </a:stretch>
        </p:blipFill>
        <p:spPr bwMode="auto">
          <a:xfrm>
            <a:off x="6934200" y="1447800"/>
            <a:ext cx="1735470" cy="2152650"/>
          </a:xfrm>
          <a:prstGeom prst="rect">
            <a:avLst/>
          </a:prstGeom>
          <a:noFill/>
          <a:ln w="9525">
            <a:noFill/>
            <a:miter lim="800000"/>
            <a:headEnd/>
            <a:tailEnd/>
          </a:ln>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85800"/>
          </a:xfrm>
        </p:spPr>
        <p:txBody>
          <a:bodyPr/>
          <a:lstStyle/>
          <a:p>
            <a:r>
              <a:rPr lang="en-US" sz="3600" dirty="0">
                <a:effectLst>
                  <a:outerShdw blurRad="38100" dist="38100" dir="2700000" algn="tl">
                    <a:srgbClr val="000000">
                      <a:alpha val="43137"/>
                    </a:srgbClr>
                  </a:outerShdw>
                </a:effectLst>
              </a:rPr>
              <a:t>Binomial nomenclature</a:t>
            </a:r>
          </a:p>
        </p:txBody>
      </p:sp>
      <p:sp>
        <p:nvSpPr>
          <p:cNvPr id="3" name="TextBox 2"/>
          <p:cNvSpPr txBox="1"/>
          <p:nvPr/>
        </p:nvSpPr>
        <p:spPr>
          <a:xfrm>
            <a:off x="112225" y="1158419"/>
            <a:ext cx="8915400" cy="4708981"/>
          </a:xfrm>
          <a:prstGeom prst="rect">
            <a:avLst/>
          </a:prstGeom>
          <a:noFill/>
        </p:spPr>
        <p:txBody>
          <a:bodyPr wrap="square" rtlCol="0">
            <a:spAutoFit/>
          </a:bodyPr>
          <a:lstStyle/>
          <a:p>
            <a:pPr>
              <a:buFont typeface="Arial" pitchFamily="34" charset="0"/>
              <a:buChar char="•"/>
            </a:pPr>
            <a:r>
              <a:rPr lang="en-US" sz="2000" dirty="0"/>
              <a:t> After classifying, Linnaeus decided to name all the organism.</a:t>
            </a:r>
          </a:p>
          <a:p>
            <a:pPr>
              <a:buFont typeface="Arial" pitchFamily="34" charset="0"/>
              <a:buChar char="•"/>
            </a:pPr>
            <a:endParaRPr lang="en-US" sz="2000" dirty="0"/>
          </a:p>
          <a:p>
            <a:pPr>
              <a:buFont typeface="Arial" pitchFamily="34" charset="0"/>
              <a:buChar char="•"/>
            </a:pPr>
            <a:r>
              <a:rPr lang="en-US" sz="2000" dirty="0"/>
              <a:t>Every organism’s name is consist of </a:t>
            </a:r>
            <a:br>
              <a:rPr lang="en-US" sz="2000" dirty="0"/>
            </a:br>
            <a:r>
              <a:rPr lang="en-US" sz="2000" b="1" dirty="0"/>
              <a:t>two words</a:t>
            </a:r>
            <a:r>
              <a:rPr lang="en-US" sz="2000" dirty="0">
                <a:sym typeface="Wingdings" pitchFamily="2" charset="2"/>
              </a:rPr>
              <a:t> Binomial Nomenclature</a:t>
            </a:r>
          </a:p>
          <a:p>
            <a:endParaRPr lang="en-US" sz="2000" dirty="0">
              <a:sym typeface="Wingdings" pitchFamily="2" charset="2"/>
            </a:endParaRPr>
          </a:p>
          <a:p>
            <a:pPr>
              <a:buFont typeface="Arial" pitchFamily="34" charset="0"/>
              <a:buChar char="•"/>
            </a:pPr>
            <a:r>
              <a:rPr lang="en-US" sz="2000" dirty="0">
                <a:sym typeface="Wingdings" pitchFamily="2" charset="2"/>
              </a:rPr>
              <a:t>He decided to write all names in </a:t>
            </a:r>
            <a:r>
              <a:rPr lang="en-US" sz="2000" i="1" dirty="0">
                <a:sym typeface="Wingdings" pitchFamily="2" charset="2"/>
              </a:rPr>
              <a:t>Latin</a:t>
            </a:r>
            <a:r>
              <a:rPr lang="en-US" sz="2000" dirty="0">
                <a:sym typeface="Wingdings" pitchFamily="2" charset="2"/>
              </a:rPr>
              <a:t>.</a:t>
            </a:r>
          </a:p>
          <a:p>
            <a:endParaRPr lang="en-US" sz="2000" dirty="0">
              <a:sym typeface="Wingdings" pitchFamily="2" charset="2"/>
            </a:endParaRPr>
          </a:p>
          <a:p>
            <a:pPr>
              <a:buFont typeface="Arial" pitchFamily="34" charset="0"/>
              <a:buChar char="•"/>
            </a:pPr>
            <a:r>
              <a:rPr lang="en-US" sz="2000" dirty="0">
                <a:sym typeface="Wingdings" pitchFamily="2" charset="2"/>
              </a:rPr>
              <a:t>Example:  </a:t>
            </a:r>
            <a:r>
              <a:rPr lang="en-US" sz="2000" b="1" dirty="0">
                <a:sym typeface="Wingdings" pitchFamily="2" charset="2"/>
              </a:rPr>
              <a:t>Common name</a:t>
            </a:r>
            <a:r>
              <a:rPr lang="en-US" sz="2000" dirty="0">
                <a:sym typeface="Wingdings" pitchFamily="2" charset="2"/>
              </a:rPr>
              <a:t>: Human</a:t>
            </a:r>
          </a:p>
          <a:p>
            <a:pPr>
              <a:buFont typeface="Arial" pitchFamily="34" charset="0"/>
              <a:buChar char="•"/>
            </a:pPr>
            <a:r>
              <a:rPr lang="en-US" sz="2000" b="1" dirty="0">
                <a:sym typeface="Wingdings" pitchFamily="2" charset="2"/>
              </a:rPr>
              <a:t>Scientific name</a:t>
            </a:r>
            <a:r>
              <a:rPr lang="en-US" sz="2000" dirty="0">
                <a:sym typeface="Wingdings" pitchFamily="2" charset="2"/>
              </a:rPr>
              <a:t>: </a:t>
            </a:r>
          </a:p>
          <a:p>
            <a:r>
              <a:rPr lang="en-US" sz="2000" i="1" dirty="0">
                <a:sym typeface="Wingdings" pitchFamily="2" charset="2"/>
              </a:rPr>
              <a:t>Homo sapiens </a:t>
            </a:r>
            <a:r>
              <a:rPr lang="en-US" sz="2000" dirty="0">
                <a:sym typeface="Wingdings" pitchFamily="2" charset="2"/>
              </a:rPr>
              <a:t>(</a:t>
            </a:r>
            <a:r>
              <a:rPr lang="en-US" sz="2000" dirty="0">
                <a:effectLst>
                  <a:outerShdw blurRad="38100" dist="38100" dir="2700000" algn="tl">
                    <a:srgbClr val="000000">
                      <a:alpha val="43137"/>
                    </a:srgbClr>
                  </a:outerShdw>
                </a:effectLst>
                <a:sym typeface="Wingdings" pitchFamily="2" charset="2"/>
              </a:rPr>
              <a:t>Italic if printed</a:t>
            </a:r>
            <a:r>
              <a:rPr lang="en-US" sz="2000" dirty="0">
                <a:sym typeface="Wingdings" pitchFamily="2" charset="2"/>
              </a:rPr>
              <a:t>)</a:t>
            </a:r>
          </a:p>
          <a:p>
            <a:r>
              <a:rPr lang="en-US" sz="2000" u="sng" dirty="0">
                <a:sym typeface="Wingdings" pitchFamily="2" charset="2"/>
              </a:rPr>
              <a:t>Homo</a:t>
            </a:r>
            <a:r>
              <a:rPr lang="en-US" sz="2000" dirty="0">
                <a:sym typeface="Wingdings" pitchFamily="2" charset="2"/>
              </a:rPr>
              <a:t> </a:t>
            </a:r>
            <a:r>
              <a:rPr lang="en-US" sz="2000" u="sng" dirty="0">
                <a:sym typeface="Wingdings" pitchFamily="2" charset="2"/>
              </a:rPr>
              <a:t>sapiens</a:t>
            </a:r>
            <a:r>
              <a:rPr lang="en-US" sz="2000" dirty="0">
                <a:sym typeface="Wingdings" pitchFamily="2" charset="2"/>
              </a:rPr>
              <a:t> (</a:t>
            </a:r>
            <a:r>
              <a:rPr lang="en-US" sz="2000" dirty="0">
                <a:effectLst>
                  <a:outerShdw blurRad="38100" dist="38100" dir="2700000" algn="tl">
                    <a:srgbClr val="000000">
                      <a:alpha val="43137"/>
                    </a:srgbClr>
                  </a:outerShdw>
                </a:effectLst>
                <a:sym typeface="Wingdings" pitchFamily="2" charset="2"/>
              </a:rPr>
              <a:t>separate underlines if </a:t>
            </a:r>
            <a:br>
              <a:rPr lang="en-US" sz="2000" dirty="0">
                <a:effectLst>
                  <a:outerShdw blurRad="38100" dist="38100" dir="2700000" algn="tl">
                    <a:srgbClr val="000000">
                      <a:alpha val="43137"/>
                    </a:srgbClr>
                  </a:outerShdw>
                </a:effectLst>
                <a:sym typeface="Wingdings" pitchFamily="2" charset="2"/>
              </a:rPr>
            </a:br>
            <a:r>
              <a:rPr lang="en-US" sz="2000" dirty="0">
                <a:effectLst>
                  <a:outerShdw blurRad="38100" dist="38100" dir="2700000" algn="tl">
                    <a:srgbClr val="000000">
                      <a:alpha val="43137"/>
                    </a:srgbClr>
                  </a:outerShdw>
                </a:effectLst>
                <a:sym typeface="Wingdings" pitchFamily="2" charset="2"/>
              </a:rPr>
              <a:t>handwritten</a:t>
            </a:r>
            <a:r>
              <a:rPr lang="en-US" sz="2000" dirty="0">
                <a:sym typeface="Wingdings" pitchFamily="2" charset="2"/>
              </a:rPr>
              <a:t>)</a:t>
            </a:r>
          </a:p>
          <a:p>
            <a:r>
              <a:rPr lang="en-US" sz="2000" dirty="0">
                <a:sym typeface="Wingdings" pitchFamily="2" charset="2"/>
              </a:rPr>
              <a:t>		</a:t>
            </a:r>
          </a:p>
          <a:p>
            <a:r>
              <a:rPr lang="en-US" sz="2000" b="1" dirty="0">
                <a:sym typeface="Wingdings" pitchFamily="2" charset="2"/>
              </a:rPr>
              <a:t>Common name</a:t>
            </a:r>
            <a:r>
              <a:rPr lang="en-US" sz="2000" dirty="0">
                <a:sym typeface="Wingdings" pitchFamily="2" charset="2"/>
              </a:rPr>
              <a:t>: Cat</a:t>
            </a:r>
          </a:p>
          <a:p>
            <a:pPr marL="0" lvl="4"/>
            <a:r>
              <a:rPr lang="en-US" sz="2000" b="1" dirty="0">
                <a:sym typeface="Wingdings" pitchFamily="2" charset="2"/>
              </a:rPr>
              <a:t>Scientific name</a:t>
            </a:r>
            <a:r>
              <a:rPr lang="en-US" sz="2000" dirty="0">
                <a:sym typeface="Wingdings" pitchFamily="2" charset="2"/>
              </a:rPr>
              <a:t>: </a:t>
            </a:r>
            <a:r>
              <a:rPr lang="en-GB" sz="2000" i="1" dirty="0" err="1"/>
              <a:t>Felis</a:t>
            </a:r>
            <a:r>
              <a:rPr lang="en-GB" sz="2000" i="1" dirty="0"/>
              <a:t> </a:t>
            </a:r>
            <a:r>
              <a:rPr lang="en-GB" sz="2000" i="1" dirty="0" err="1"/>
              <a:t>domesticus</a:t>
            </a:r>
            <a:endParaRPr lang="en-US" sz="2000" dirty="0"/>
          </a:p>
        </p:txBody>
      </p:sp>
      <p:pic>
        <p:nvPicPr>
          <p:cNvPr id="6" name="Picture 4" descr="http://www.greenmeadowscarecenter.com/hemo-dialysis-unit/fullsize/house-cat-640x480.jpg"/>
          <p:cNvPicPr>
            <a:picLocks noChangeAspect="1" noChangeArrowheads="1"/>
          </p:cNvPicPr>
          <p:nvPr/>
        </p:nvPicPr>
        <p:blipFill>
          <a:blip r:embed="rId2" cstate="print"/>
          <a:srcRect/>
          <a:stretch>
            <a:fillRect/>
          </a:stretch>
        </p:blipFill>
        <p:spPr bwMode="auto">
          <a:xfrm>
            <a:off x="5181600" y="2209800"/>
            <a:ext cx="3556000" cy="2667000"/>
          </a:xfrm>
          <a:prstGeom prst="rect">
            <a:avLst/>
          </a:prstGeom>
          <a:noFill/>
          <a:ln w="9525">
            <a:noFill/>
            <a:miter lim="800000"/>
            <a:headEnd/>
            <a:tailEnd/>
          </a:ln>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val 8"/>
          <p:cNvSpPr/>
          <p:nvPr/>
        </p:nvSpPr>
        <p:spPr>
          <a:xfrm>
            <a:off x="4114800" y="990600"/>
            <a:ext cx="1295400" cy="609600"/>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 name="Oval 4"/>
          <p:cNvSpPr/>
          <p:nvPr/>
        </p:nvSpPr>
        <p:spPr>
          <a:xfrm>
            <a:off x="3276600" y="1066800"/>
            <a:ext cx="9144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3276600" y="1066800"/>
            <a:ext cx="2154757" cy="461665"/>
          </a:xfrm>
          <a:prstGeom prst="rect">
            <a:avLst/>
          </a:prstGeom>
          <a:noFill/>
        </p:spPr>
        <p:txBody>
          <a:bodyPr wrap="none" rtlCol="0">
            <a:spAutoFit/>
          </a:bodyPr>
          <a:lstStyle/>
          <a:p>
            <a:r>
              <a:rPr lang="en-US" sz="2400" i="1" dirty="0"/>
              <a:t>Homo</a:t>
            </a:r>
            <a:r>
              <a:rPr lang="en-US" sz="2400" i="1" dirty="0">
                <a:solidFill>
                  <a:schemeClr val="bg1"/>
                </a:solidFill>
              </a:rPr>
              <a:t> sapiens</a:t>
            </a:r>
          </a:p>
        </p:txBody>
      </p:sp>
      <p:cxnSp>
        <p:nvCxnSpPr>
          <p:cNvPr id="7" name="Straight Arrow Connector 6"/>
          <p:cNvCxnSpPr/>
          <p:nvPr/>
        </p:nvCxnSpPr>
        <p:spPr>
          <a:xfrm rot="10800000" flipV="1">
            <a:off x="2590801" y="1371600"/>
            <a:ext cx="609600" cy="533400"/>
          </a:xfrm>
          <a:prstGeom prst="straightConnector1">
            <a:avLst/>
          </a:prstGeom>
          <a:ln w="38100">
            <a:prstDash val="dash"/>
            <a:tailEnd type="arrow"/>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1600200" y="1981200"/>
            <a:ext cx="17526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Genus</a:t>
            </a:r>
          </a:p>
        </p:txBody>
      </p:sp>
      <p:cxnSp>
        <p:nvCxnSpPr>
          <p:cNvPr id="11" name="Straight Arrow Connector 10"/>
          <p:cNvCxnSpPr/>
          <p:nvPr/>
        </p:nvCxnSpPr>
        <p:spPr>
          <a:xfrm>
            <a:off x="5486400" y="1371600"/>
            <a:ext cx="685800" cy="457200"/>
          </a:xfrm>
          <a:prstGeom prst="straightConnector1">
            <a:avLst/>
          </a:prstGeom>
          <a:ln>
            <a:prstDash val="dash"/>
            <a:tailEnd type="arrow"/>
          </a:ln>
        </p:spPr>
        <p:style>
          <a:lnRef idx="2">
            <a:schemeClr val="accent4"/>
          </a:lnRef>
          <a:fillRef idx="0">
            <a:schemeClr val="accent4"/>
          </a:fillRef>
          <a:effectRef idx="1">
            <a:schemeClr val="accent4"/>
          </a:effectRef>
          <a:fontRef idx="minor">
            <a:schemeClr val="tx1"/>
          </a:fontRef>
        </p:style>
      </p:cxnSp>
      <p:sp>
        <p:nvSpPr>
          <p:cNvPr id="12" name="Rectangle 11"/>
          <p:cNvSpPr/>
          <p:nvPr/>
        </p:nvSpPr>
        <p:spPr>
          <a:xfrm>
            <a:off x="5638800" y="1905000"/>
            <a:ext cx="1828800" cy="5334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400" b="1" dirty="0"/>
              <a:t>Species</a:t>
            </a:r>
          </a:p>
        </p:txBody>
      </p:sp>
      <p:sp>
        <p:nvSpPr>
          <p:cNvPr id="16" name="Rectangle 15"/>
          <p:cNvSpPr/>
          <p:nvPr/>
        </p:nvSpPr>
        <p:spPr>
          <a:xfrm>
            <a:off x="457200" y="2514600"/>
            <a:ext cx="4038600" cy="40386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buFont typeface="Courier New" pitchFamily="49" charset="0"/>
              <a:buChar char="o"/>
            </a:pPr>
            <a:r>
              <a:rPr lang="en-US" b="1" dirty="0">
                <a:latin typeface="Arial" pitchFamily="34" charset="0"/>
                <a:cs typeface="Arial" pitchFamily="34" charset="0"/>
              </a:rPr>
              <a:t> Group of species that are similar.</a:t>
            </a:r>
          </a:p>
          <a:p>
            <a:pPr>
              <a:buFont typeface="Courier New" pitchFamily="49" charset="0"/>
              <a:buChar char="o"/>
            </a:pPr>
            <a:endParaRPr lang="en-US" b="1" dirty="0">
              <a:latin typeface="Arial" pitchFamily="34" charset="0"/>
              <a:cs typeface="Arial" pitchFamily="34" charset="0"/>
            </a:endParaRPr>
          </a:p>
          <a:p>
            <a:pPr>
              <a:buFont typeface="Courier New" pitchFamily="49" charset="0"/>
              <a:buChar char="o"/>
            </a:pPr>
            <a:r>
              <a:rPr lang="en-US" b="1" dirty="0">
                <a:latin typeface="Arial" pitchFamily="34" charset="0"/>
                <a:cs typeface="Arial" pitchFamily="34" charset="0"/>
              </a:rPr>
              <a:t> Plural is ‘genera’.</a:t>
            </a:r>
          </a:p>
          <a:p>
            <a:pPr>
              <a:buFont typeface="Courier New" pitchFamily="49" charset="0"/>
              <a:buChar char="o"/>
            </a:pPr>
            <a:endParaRPr lang="en-US" b="1" dirty="0">
              <a:latin typeface="Arial" pitchFamily="34" charset="0"/>
              <a:cs typeface="Arial" pitchFamily="34" charset="0"/>
            </a:endParaRPr>
          </a:p>
          <a:p>
            <a:pPr>
              <a:buFont typeface="Courier New" pitchFamily="49" charset="0"/>
              <a:buChar char="o"/>
            </a:pPr>
            <a:r>
              <a:rPr lang="en-US" b="1" u="sng" dirty="0">
                <a:latin typeface="Arial" pitchFamily="34" charset="0"/>
                <a:cs typeface="Arial" pitchFamily="34" charset="0"/>
              </a:rPr>
              <a:t>Example</a:t>
            </a:r>
            <a:r>
              <a:rPr lang="en-US" b="1" dirty="0">
                <a:latin typeface="Arial" pitchFamily="34" charset="0"/>
                <a:cs typeface="Arial" pitchFamily="34" charset="0"/>
              </a:rPr>
              <a:t>: Maple trees are from genus </a:t>
            </a:r>
            <a:r>
              <a:rPr lang="en-US" b="1" i="1" dirty="0">
                <a:latin typeface="Arial" pitchFamily="34" charset="0"/>
                <a:cs typeface="Arial" pitchFamily="34" charset="0"/>
              </a:rPr>
              <a:t>Acer</a:t>
            </a:r>
            <a:r>
              <a:rPr lang="en-US" b="1" dirty="0">
                <a:latin typeface="Arial" pitchFamily="34" charset="0"/>
                <a:cs typeface="Arial" pitchFamily="34" charset="0"/>
              </a:rPr>
              <a:t>. So,</a:t>
            </a:r>
          </a:p>
          <a:p>
            <a:pPr>
              <a:lnSpc>
                <a:spcPct val="150000"/>
              </a:lnSpc>
              <a:buFont typeface="Courier New" pitchFamily="49" charset="0"/>
              <a:buChar char="o"/>
            </a:pPr>
            <a:r>
              <a:rPr lang="en-US" b="1" dirty="0">
                <a:latin typeface="Arial" pitchFamily="34" charset="0"/>
                <a:cs typeface="Arial" pitchFamily="34" charset="0"/>
              </a:rPr>
              <a:t>Sugar maple</a:t>
            </a:r>
            <a:r>
              <a:rPr lang="en-US" b="1" i="1" dirty="0">
                <a:latin typeface="Arial" pitchFamily="34" charset="0"/>
                <a:cs typeface="Arial" pitchFamily="34" charset="0"/>
              </a:rPr>
              <a:t>: Acer </a:t>
            </a:r>
            <a:r>
              <a:rPr lang="en-US" b="1" i="1" dirty="0" err="1">
                <a:latin typeface="Arial" pitchFamily="34" charset="0"/>
                <a:cs typeface="Arial" pitchFamily="34" charset="0"/>
              </a:rPr>
              <a:t>saccharum</a:t>
            </a:r>
            <a:endParaRPr lang="en-US" b="1" i="1" dirty="0">
              <a:latin typeface="Arial" pitchFamily="34" charset="0"/>
              <a:cs typeface="Arial" pitchFamily="34" charset="0"/>
            </a:endParaRPr>
          </a:p>
          <a:p>
            <a:pPr>
              <a:lnSpc>
                <a:spcPct val="150000"/>
              </a:lnSpc>
              <a:buFont typeface="Courier New" pitchFamily="49" charset="0"/>
              <a:buChar char="o"/>
            </a:pPr>
            <a:r>
              <a:rPr lang="en-US" b="1" dirty="0">
                <a:latin typeface="Arial" pitchFamily="34" charset="0"/>
                <a:cs typeface="Arial" pitchFamily="34" charset="0"/>
              </a:rPr>
              <a:t>Silver maple</a:t>
            </a:r>
            <a:r>
              <a:rPr lang="en-US" b="1" i="1" dirty="0">
                <a:latin typeface="Arial" pitchFamily="34" charset="0"/>
                <a:cs typeface="Arial" pitchFamily="34" charset="0"/>
              </a:rPr>
              <a:t>: Acer </a:t>
            </a:r>
            <a:r>
              <a:rPr lang="en-US" b="1" i="1" dirty="0" err="1">
                <a:latin typeface="Arial" pitchFamily="34" charset="0"/>
                <a:cs typeface="Arial" pitchFamily="34" charset="0"/>
              </a:rPr>
              <a:t>saccharinum</a:t>
            </a:r>
            <a:endParaRPr lang="en-US" b="1" i="1" dirty="0">
              <a:latin typeface="Arial" pitchFamily="34" charset="0"/>
              <a:cs typeface="Arial" pitchFamily="34" charset="0"/>
            </a:endParaRPr>
          </a:p>
          <a:p>
            <a:pPr>
              <a:lnSpc>
                <a:spcPct val="150000"/>
              </a:lnSpc>
              <a:buFont typeface="Courier New" pitchFamily="49" charset="0"/>
              <a:buChar char="o"/>
            </a:pPr>
            <a:r>
              <a:rPr lang="en-US" b="1" dirty="0">
                <a:latin typeface="Arial" pitchFamily="34" charset="0"/>
                <a:cs typeface="Arial" pitchFamily="34" charset="0"/>
              </a:rPr>
              <a:t>Red maple: </a:t>
            </a:r>
            <a:r>
              <a:rPr lang="en-US" b="1" i="1" dirty="0">
                <a:latin typeface="Arial" pitchFamily="34" charset="0"/>
                <a:cs typeface="Arial" pitchFamily="34" charset="0"/>
              </a:rPr>
              <a:t>Acer </a:t>
            </a:r>
            <a:r>
              <a:rPr lang="en-US" b="1" i="1" dirty="0" err="1">
                <a:latin typeface="Arial" pitchFamily="34" charset="0"/>
                <a:cs typeface="Arial" pitchFamily="34" charset="0"/>
              </a:rPr>
              <a:t>rubrum</a:t>
            </a:r>
            <a:r>
              <a:rPr lang="en-US" b="1" i="1" dirty="0">
                <a:latin typeface="Arial" pitchFamily="34" charset="0"/>
                <a:cs typeface="Arial" pitchFamily="34" charset="0"/>
              </a:rPr>
              <a:t> </a:t>
            </a:r>
          </a:p>
          <a:p>
            <a:pPr>
              <a:lnSpc>
                <a:spcPct val="150000"/>
              </a:lnSpc>
            </a:pPr>
            <a:r>
              <a:rPr lang="en-US" b="1" i="1" dirty="0">
                <a:latin typeface="Arial" pitchFamily="34" charset="0"/>
                <a:cs typeface="Arial" pitchFamily="34" charset="0"/>
              </a:rPr>
              <a:t>etc.</a:t>
            </a:r>
          </a:p>
        </p:txBody>
      </p:sp>
      <p:sp>
        <p:nvSpPr>
          <p:cNvPr id="20" name="Rectangle 19"/>
          <p:cNvSpPr/>
          <p:nvPr/>
        </p:nvSpPr>
        <p:spPr>
          <a:xfrm>
            <a:off x="4724400" y="2514600"/>
            <a:ext cx="3886200" cy="40386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marL="342900" indent="-342900">
              <a:buFont typeface="Courier New" pitchFamily="49" charset="0"/>
              <a:buChar char="o"/>
            </a:pPr>
            <a:endParaRPr lang="en-US" b="1" dirty="0"/>
          </a:p>
          <a:p>
            <a:pPr marL="342900" indent="-342900">
              <a:buFont typeface="Courier New" pitchFamily="49" charset="0"/>
              <a:buChar char="o"/>
            </a:pPr>
            <a:endParaRPr lang="en-US" b="1" dirty="0"/>
          </a:p>
          <a:p>
            <a:pPr marL="342900" indent="-342900">
              <a:buFont typeface="Courier New" pitchFamily="49" charset="0"/>
              <a:buChar char="o"/>
            </a:pPr>
            <a:endParaRPr lang="en-US" b="1" dirty="0">
              <a:latin typeface="Arial" pitchFamily="34" charset="0"/>
              <a:cs typeface="Arial" pitchFamily="34" charset="0"/>
            </a:endParaRPr>
          </a:p>
          <a:p>
            <a:pPr marL="342900" indent="-342900">
              <a:buFont typeface="Courier New" pitchFamily="49" charset="0"/>
              <a:buChar char="o"/>
            </a:pPr>
            <a:r>
              <a:rPr lang="en-US" b="1" dirty="0">
                <a:latin typeface="Arial" pitchFamily="34" charset="0"/>
                <a:cs typeface="Arial" pitchFamily="34" charset="0"/>
              </a:rPr>
              <a:t>Organisms that are structurally very similar.</a:t>
            </a:r>
          </a:p>
          <a:p>
            <a:pPr marL="342900" indent="-342900"/>
            <a:endParaRPr lang="en-US" b="1" dirty="0">
              <a:latin typeface="Arial" pitchFamily="34" charset="0"/>
              <a:cs typeface="Arial" pitchFamily="34" charset="0"/>
            </a:endParaRPr>
          </a:p>
          <a:p>
            <a:pPr marL="342900" indent="-342900">
              <a:buFont typeface="Courier New" pitchFamily="49" charset="0"/>
              <a:buChar char="o"/>
            </a:pPr>
            <a:r>
              <a:rPr lang="en-US" b="1" dirty="0">
                <a:latin typeface="Arial" pitchFamily="34" charset="0"/>
                <a:cs typeface="Arial" pitchFamily="34" charset="0"/>
              </a:rPr>
              <a:t>Plural is also ‘species’</a:t>
            </a:r>
          </a:p>
          <a:p>
            <a:pPr marL="342900" indent="-342900">
              <a:buFont typeface="Courier New" pitchFamily="49" charset="0"/>
              <a:buChar char="o"/>
            </a:pPr>
            <a:endParaRPr lang="en-US" b="1" dirty="0">
              <a:latin typeface="Arial" pitchFamily="34" charset="0"/>
              <a:cs typeface="Arial" pitchFamily="34" charset="0"/>
            </a:endParaRPr>
          </a:p>
          <a:p>
            <a:pPr marL="342900" indent="-342900">
              <a:buFont typeface="Courier New" pitchFamily="49" charset="0"/>
              <a:buChar char="o"/>
            </a:pPr>
            <a:r>
              <a:rPr lang="en-US" b="1" dirty="0">
                <a:latin typeface="Arial" pitchFamily="34" charset="0"/>
                <a:cs typeface="Arial" pitchFamily="34" charset="0"/>
              </a:rPr>
              <a:t>Interbreed under natural condition to produce fertile offspring (children) . </a:t>
            </a:r>
          </a:p>
          <a:p>
            <a:pPr marL="342900" indent="-342900">
              <a:buFont typeface="Courier New" pitchFamily="49" charset="0"/>
              <a:buChar char="o"/>
            </a:pPr>
            <a:endParaRPr lang="en-US" b="1" dirty="0">
              <a:latin typeface="Arial" pitchFamily="34" charset="0"/>
              <a:cs typeface="Arial" pitchFamily="34" charset="0"/>
            </a:endParaRPr>
          </a:p>
          <a:p>
            <a:pPr marL="342900" indent="-342900">
              <a:buFont typeface="Courier New" pitchFamily="49" charset="0"/>
              <a:buChar char="o"/>
            </a:pPr>
            <a:r>
              <a:rPr lang="en-US" b="1" dirty="0">
                <a:latin typeface="Arial" pitchFamily="34" charset="0"/>
                <a:cs typeface="Arial" pitchFamily="34" charset="0"/>
              </a:rPr>
              <a:t>Example: </a:t>
            </a:r>
          </a:p>
          <a:p>
            <a:pPr marL="342900" indent="-342900"/>
            <a:r>
              <a:rPr lang="en-US" b="1" dirty="0">
                <a:latin typeface="Arial" pitchFamily="34" charset="0"/>
                <a:cs typeface="Arial" pitchFamily="34" charset="0"/>
              </a:rPr>
              <a:t>Red maple: </a:t>
            </a:r>
            <a:r>
              <a:rPr lang="en-US" b="1" i="1" dirty="0">
                <a:latin typeface="Arial" pitchFamily="34" charset="0"/>
                <a:cs typeface="Arial" pitchFamily="34" charset="0"/>
              </a:rPr>
              <a:t>Acer </a:t>
            </a:r>
            <a:r>
              <a:rPr lang="en-US" b="1" i="1" dirty="0" err="1">
                <a:latin typeface="Arial" pitchFamily="34" charset="0"/>
                <a:cs typeface="Arial" pitchFamily="34" charset="0"/>
              </a:rPr>
              <a:t>rubrum</a:t>
            </a:r>
            <a:r>
              <a:rPr lang="en-US" b="1" i="1" dirty="0">
                <a:latin typeface="Arial" pitchFamily="34" charset="0"/>
                <a:cs typeface="Arial" pitchFamily="34" charset="0"/>
              </a:rPr>
              <a:t> </a:t>
            </a:r>
          </a:p>
          <a:p>
            <a:pPr marL="342900" indent="-342900">
              <a:buFont typeface="Courier New" pitchFamily="49" charset="0"/>
              <a:buChar char="o"/>
            </a:pPr>
            <a:endParaRPr lang="en-US" dirty="0"/>
          </a:p>
          <a:p>
            <a:endParaRPr lang="en-US" dirty="0"/>
          </a:p>
          <a:p>
            <a:endParaRPr lang="en-US" dirty="0"/>
          </a:p>
          <a:p>
            <a:endParaRPr lang="en-US" dirty="0"/>
          </a:p>
        </p:txBody>
      </p:sp>
      <p:sp>
        <p:nvSpPr>
          <p:cNvPr id="13" name="Rectangle 12"/>
          <p:cNvSpPr/>
          <p:nvPr/>
        </p:nvSpPr>
        <p:spPr>
          <a:xfrm>
            <a:off x="0" y="0"/>
            <a:ext cx="9144000" cy="646331"/>
          </a:xfrm>
          <a:prstGeom prst="rect">
            <a:avLst/>
          </a:prstGeom>
        </p:spPr>
        <p:txBody>
          <a:bodyPr wrap="square">
            <a:spAutoFit/>
          </a:bodyPr>
          <a:lstStyle/>
          <a:p>
            <a:pPr algn="ctr"/>
            <a:r>
              <a:rPr lang="en-US" sz="3600" b="1" dirty="0">
                <a:solidFill>
                  <a:schemeClr val="accent2"/>
                </a:solidFill>
              </a:rPr>
              <a:t>Genus and species concept</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457200" y="381000"/>
            <a:ext cx="8229600" cy="1143000"/>
          </a:xfrm>
        </p:spPr>
        <p:txBody>
          <a:bodyPr>
            <a:noAutofit/>
          </a:bodyPr>
          <a:lstStyle/>
          <a:p>
            <a:r>
              <a:rPr lang="en-GB" sz="4000" b="1" i="1" dirty="0">
                <a:solidFill>
                  <a:schemeClr val="accent2"/>
                </a:solidFill>
              </a:rPr>
              <a:t>Why Use Scientific Names?</a:t>
            </a:r>
            <a:br>
              <a:rPr lang="en-US" sz="4800" b="1" dirty="0">
                <a:solidFill>
                  <a:schemeClr val="accent2"/>
                </a:solidFill>
              </a:rPr>
            </a:br>
            <a:endParaRPr lang="en-US" sz="4800" b="1" dirty="0">
              <a:solidFill>
                <a:schemeClr val="accent2"/>
              </a:solidFill>
            </a:endParaRPr>
          </a:p>
        </p:txBody>
      </p:sp>
      <p:sp>
        <p:nvSpPr>
          <p:cNvPr id="3" name="Content Placeholder 2"/>
          <p:cNvSpPr>
            <a:spLocks noGrp="1"/>
          </p:cNvSpPr>
          <p:nvPr>
            <p:ph idx="1"/>
          </p:nvPr>
        </p:nvSpPr>
        <p:spPr/>
        <p:txBody>
          <a:bodyPr>
            <a:normAutofit/>
          </a:bodyPr>
          <a:lstStyle/>
          <a:p>
            <a:pPr>
              <a:defRPr/>
            </a:pPr>
            <a:r>
              <a:rPr lang="en-GB" sz="2800" kern="1200" dirty="0"/>
              <a:t>Common names can be confusing or misleading</a:t>
            </a:r>
          </a:p>
          <a:p>
            <a:pPr lvl="1">
              <a:defRPr/>
            </a:pPr>
            <a:r>
              <a:rPr lang="en-GB" sz="2400" b="1" i="1" kern="1200" dirty="0" err="1"/>
              <a:t>Felis</a:t>
            </a:r>
            <a:r>
              <a:rPr lang="en-GB" sz="2400" b="1" i="1" kern="1200" dirty="0"/>
              <a:t> </a:t>
            </a:r>
            <a:r>
              <a:rPr lang="en-GB" sz="2400" b="1" i="1" kern="1200" dirty="0" err="1"/>
              <a:t>concolor</a:t>
            </a:r>
            <a:r>
              <a:rPr lang="en-GB" sz="2400" kern="1200" dirty="0"/>
              <a:t> is called a cougar, mountain lion, puma, panther, painter, and many names</a:t>
            </a:r>
          </a:p>
          <a:p>
            <a:pPr lvl="1">
              <a:defRPr/>
            </a:pPr>
            <a:endParaRPr lang="en-GB" sz="2400" kern="1200" dirty="0"/>
          </a:p>
          <a:p>
            <a:pPr lvl="1">
              <a:defRPr/>
            </a:pPr>
            <a:r>
              <a:rPr lang="en-GB" sz="2400" kern="1200" dirty="0"/>
              <a:t>Domestic cow is </a:t>
            </a:r>
          </a:p>
          <a:p>
            <a:pPr lvl="3">
              <a:defRPr/>
            </a:pPr>
            <a:r>
              <a:rPr lang="en-GB" kern="1200" dirty="0"/>
              <a:t>“</a:t>
            </a:r>
            <a:r>
              <a:rPr lang="en-GB" b="1" kern="1200" dirty="0"/>
              <a:t>la </a:t>
            </a:r>
            <a:r>
              <a:rPr lang="en-GB" b="1" kern="1200" dirty="0" err="1"/>
              <a:t>vache</a:t>
            </a:r>
            <a:r>
              <a:rPr lang="en-GB" kern="1200" dirty="0"/>
              <a:t>” in French, </a:t>
            </a:r>
          </a:p>
          <a:p>
            <a:pPr lvl="3">
              <a:defRPr/>
            </a:pPr>
            <a:r>
              <a:rPr lang="en-GB" kern="1200" dirty="0"/>
              <a:t>‘</a:t>
            </a:r>
            <a:r>
              <a:rPr lang="en-GB" b="1" kern="1200" dirty="0"/>
              <a:t>die </a:t>
            </a:r>
            <a:r>
              <a:rPr lang="en-GB" b="1" kern="1200" dirty="0" err="1"/>
              <a:t>Kuh</a:t>
            </a:r>
            <a:r>
              <a:rPr lang="en-GB" kern="1200" dirty="0"/>
              <a:t>” in German, </a:t>
            </a:r>
          </a:p>
          <a:p>
            <a:pPr lvl="3">
              <a:defRPr/>
            </a:pPr>
            <a:r>
              <a:rPr lang="en-GB" kern="1200" dirty="0"/>
              <a:t>“</a:t>
            </a:r>
            <a:r>
              <a:rPr lang="en-GB" b="1" kern="1200" dirty="0"/>
              <a:t>la </a:t>
            </a:r>
            <a:r>
              <a:rPr lang="en-GB" b="1" kern="1200" dirty="0" err="1"/>
              <a:t>vaca</a:t>
            </a:r>
            <a:r>
              <a:rPr lang="en-GB" kern="1200" dirty="0"/>
              <a:t>” in Spanish, and </a:t>
            </a:r>
          </a:p>
          <a:p>
            <a:pPr lvl="3">
              <a:defRPr/>
            </a:pPr>
            <a:r>
              <a:rPr lang="en-GB" kern="1200" dirty="0"/>
              <a:t>“</a:t>
            </a:r>
            <a:r>
              <a:rPr lang="en-GB" b="1" kern="1200" dirty="0" err="1"/>
              <a:t>gOrU</a:t>
            </a:r>
            <a:r>
              <a:rPr lang="en-GB" kern="1200" dirty="0"/>
              <a:t>” in Bengali</a:t>
            </a:r>
          </a:p>
          <a:p>
            <a:pPr lvl="2">
              <a:defRPr/>
            </a:pPr>
            <a:r>
              <a:rPr lang="en-GB" sz="2800" b="1" i="1" kern="1200" dirty="0">
                <a:solidFill>
                  <a:schemeClr val="accent1"/>
                </a:solidFill>
              </a:rPr>
              <a:t>Scientific Name: </a:t>
            </a:r>
            <a:r>
              <a:rPr lang="en-GB" sz="2800" b="1" i="1" kern="1200" dirty="0" err="1">
                <a:solidFill>
                  <a:schemeClr val="accent1"/>
                </a:solidFill>
              </a:rPr>
              <a:t>Bos</a:t>
            </a:r>
            <a:r>
              <a:rPr lang="en-GB" sz="2800" b="1" i="1" kern="1200" dirty="0">
                <a:solidFill>
                  <a:schemeClr val="accent1"/>
                </a:solidFill>
              </a:rPr>
              <a:t> </a:t>
            </a:r>
            <a:r>
              <a:rPr lang="en-GB" sz="2800" b="1" i="1" kern="1200" dirty="0" err="1">
                <a:solidFill>
                  <a:schemeClr val="accent1"/>
                </a:solidFill>
              </a:rPr>
              <a:t>taurus</a:t>
            </a:r>
            <a:r>
              <a:rPr lang="en-GB" sz="2800" kern="1200" dirty="0">
                <a:solidFill>
                  <a:schemeClr val="accent1"/>
                </a:solidFill>
              </a:rPr>
              <a:t> </a:t>
            </a:r>
          </a:p>
          <a:p>
            <a:pPr>
              <a:defRPr/>
            </a:pPr>
            <a:endParaRPr lang="en-US" sz="2800"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pPr algn="ctr"/>
            <a:r>
              <a:rPr lang="en-US" b="1" dirty="0">
                <a:solidFill>
                  <a:schemeClr val="accent2"/>
                </a:solidFill>
              </a:rPr>
              <a:t>Main classification groups(</a:t>
            </a:r>
            <a:r>
              <a:rPr lang="en-US" b="1" dirty="0" err="1">
                <a:solidFill>
                  <a:schemeClr val="accent2"/>
                </a:solidFill>
              </a:rPr>
              <a:t>taxa</a:t>
            </a:r>
            <a:r>
              <a:rPr lang="en-US" b="1" dirty="0">
                <a:solidFill>
                  <a:schemeClr val="accent2"/>
                </a:solidFill>
              </a:rPr>
              <a:t>)</a:t>
            </a:r>
          </a:p>
        </p:txBody>
      </p:sp>
      <p:grpSp>
        <p:nvGrpSpPr>
          <p:cNvPr id="3" name="Group 10"/>
          <p:cNvGrpSpPr/>
          <p:nvPr/>
        </p:nvGrpSpPr>
        <p:grpSpPr>
          <a:xfrm>
            <a:off x="1600200" y="2133600"/>
            <a:ext cx="6096000" cy="3663698"/>
            <a:chOff x="914400" y="2209800"/>
            <a:chExt cx="6454163" cy="3968498"/>
          </a:xfrm>
        </p:grpSpPr>
        <p:pic>
          <p:nvPicPr>
            <p:cNvPr id="1026" name="Picture 2" descr="http://images.tutorvista.com/content/modern-classification/linnaean-hierarchy-classification.jpeg"/>
            <p:cNvPicPr>
              <a:picLocks noChangeAspect="1" noChangeArrowheads="1"/>
            </p:cNvPicPr>
            <p:nvPr/>
          </p:nvPicPr>
          <p:blipFill>
            <a:blip r:embed="rId3" cstate="print"/>
            <a:srcRect/>
            <a:stretch>
              <a:fillRect/>
            </a:stretch>
          </p:blipFill>
          <p:spPr bwMode="auto">
            <a:xfrm>
              <a:off x="914400" y="2209800"/>
              <a:ext cx="6279265" cy="3968498"/>
            </a:xfrm>
            <a:prstGeom prst="rect">
              <a:avLst/>
            </a:prstGeom>
            <a:ln w="228600" cap="sq" cmpd="thickThin">
              <a:solidFill>
                <a:srgbClr val="000000"/>
              </a:solidFill>
              <a:prstDash val="solid"/>
              <a:miter lim="800000"/>
            </a:ln>
            <a:effectLst>
              <a:innerShdw blurRad="76200">
                <a:srgbClr val="000000"/>
              </a:innerShdw>
            </a:effectLst>
          </p:spPr>
        </p:pic>
        <p:grpSp>
          <p:nvGrpSpPr>
            <p:cNvPr id="10" name="Group 9"/>
            <p:cNvGrpSpPr/>
            <p:nvPr/>
          </p:nvGrpSpPr>
          <p:grpSpPr>
            <a:xfrm>
              <a:off x="4033014" y="2285763"/>
              <a:ext cx="3335549" cy="3582763"/>
              <a:chOff x="4033014" y="2285763"/>
              <a:chExt cx="3335549" cy="3582763"/>
            </a:xfrm>
          </p:grpSpPr>
          <p:sp>
            <p:nvSpPr>
              <p:cNvPr id="4" name="Curved Up Arrow 3"/>
              <p:cNvSpPr/>
              <p:nvPr/>
            </p:nvSpPr>
            <p:spPr>
              <a:xfrm rot="13856713">
                <a:off x="6247768" y="4639385"/>
                <a:ext cx="769750" cy="485554"/>
              </a:xfrm>
              <a:prstGeom prst="curvedUpArrow">
                <a:avLst>
                  <a:gd name="adj1" fmla="val 25000"/>
                  <a:gd name="adj2" fmla="val 50000"/>
                  <a:gd name="adj3" fmla="val 5909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Curved Up Arrow 4"/>
              <p:cNvSpPr/>
              <p:nvPr/>
            </p:nvSpPr>
            <p:spPr>
              <a:xfrm rot="14089039">
                <a:off x="6740911" y="5240874"/>
                <a:ext cx="769750" cy="485554"/>
              </a:xfrm>
              <a:prstGeom prst="curvedUpArrow">
                <a:avLst>
                  <a:gd name="adj1" fmla="val 25000"/>
                  <a:gd name="adj2" fmla="val 50000"/>
                  <a:gd name="adj3" fmla="val 5909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Curved Up Arrow 5"/>
              <p:cNvSpPr/>
              <p:nvPr/>
            </p:nvSpPr>
            <p:spPr>
              <a:xfrm rot="13856713">
                <a:off x="5643915" y="4007785"/>
                <a:ext cx="797417" cy="499367"/>
              </a:xfrm>
              <a:prstGeom prst="curvedUpArrow">
                <a:avLst>
                  <a:gd name="adj1" fmla="val 25000"/>
                  <a:gd name="adj2" fmla="val 50000"/>
                  <a:gd name="adj3" fmla="val 5909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Curved Up Arrow 6"/>
              <p:cNvSpPr/>
              <p:nvPr/>
            </p:nvSpPr>
            <p:spPr>
              <a:xfrm rot="13856713">
                <a:off x="5099789" y="3398185"/>
                <a:ext cx="797417" cy="499367"/>
              </a:xfrm>
              <a:prstGeom prst="curvedUpArrow">
                <a:avLst>
                  <a:gd name="adj1" fmla="val 25000"/>
                  <a:gd name="adj2" fmla="val 50000"/>
                  <a:gd name="adj3" fmla="val 5909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Curved Up Arrow 7"/>
              <p:cNvSpPr/>
              <p:nvPr/>
            </p:nvSpPr>
            <p:spPr>
              <a:xfrm rot="13856713">
                <a:off x="4642589" y="2788585"/>
                <a:ext cx="797417" cy="499367"/>
              </a:xfrm>
              <a:prstGeom prst="curvedUpArrow">
                <a:avLst>
                  <a:gd name="adj1" fmla="val 25000"/>
                  <a:gd name="adj2" fmla="val 50000"/>
                  <a:gd name="adj3" fmla="val 5909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Curved Up Arrow 8"/>
              <p:cNvSpPr/>
              <p:nvPr/>
            </p:nvSpPr>
            <p:spPr>
              <a:xfrm rot="12959994">
                <a:off x="4033014" y="2285763"/>
                <a:ext cx="797417" cy="499367"/>
              </a:xfrm>
              <a:prstGeom prst="curvedUpArrow">
                <a:avLst>
                  <a:gd name="adj1" fmla="val 25000"/>
                  <a:gd name="adj2" fmla="val 50000"/>
                  <a:gd name="adj3" fmla="val 5909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sp>
        <p:nvSpPr>
          <p:cNvPr id="12" name="Rectangle 11"/>
          <p:cNvSpPr/>
          <p:nvPr/>
        </p:nvSpPr>
        <p:spPr>
          <a:xfrm>
            <a:off x="914400" y="1062335"/>
            <a:ext cx="7162800" cy="461665"/>
          </a:xfrm>
          <a:prstGeom prst="rect">
            <a:avLst/>
          </a:prstGeom>
        </p:spPr>
        <p:txBody>
          <a:bodyPr wrap="square">
            <a:spAutoFit/>
          </a:bodyPr>
          <a:lstStyle/>
          <a:p>
            <a:pPr>
              <a:defRPr/>
            </a:pPr>
            <a:r>
              <a:rPr lang="en-GB" sz="2400" dirty="0"/>
              <a:t>There are seven main </a:t>
            </a:r>
            <a:r>
              <a:rPr lang="en-GB" sz="2400" b="1" i="1" dirty="0" err="1"/>
              <a:t>taxa</a:t>
            </a:r>
            <a:r>
              <a:rPr lang="en-GB" sz="2400" dirty="0"/>
              <a:t> or classification groups.</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1244025"/>
            <a:ext cx="2016899" cy="584775"/>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3200" dirty="0"/>
              <a:t>Example: </a:t>
            </a:r>
          </a:p>
        </p:txBody>
      </p:sp>
      <p:graphicFrame>
        <p:nvGraphicFramePr>
          <p:cNvPr id="4" name="Table 3"/>
          <p:cNvGraphicFramePr>
            <a:graphicFrameLocks noGrp="1"/>
          </p:cNvGraphicFramePr>
          <p:nvPr/>
        </p:nvGraphicFramePr>
        <p:xfrm>
          <a:off x="3352800" y="1524000"/>
          <a:ext cx="5486400" cy="3520695"/>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441703">
                <a:tc>
                  <a:txBody>
                    <a:bodyPr/>
                    <a:lstStyle/>
                    <a:p>
                      <a:pPr algn="ctr"/>
                      <a:r>
                        <a:rPr lang="en-US" sz="2400" dirty="0" err="1"/>
                        <a:t>Taxon</a:t>
                      </a:r>
                      <a:endParaRPr lang="en-US" sz="2400" dirty="0"/>
                    </a:p>
                  </a:txBody>
                  <a:tcPr/>
                </a:tc>
                <a:tc>
                  <a:txBody>
                    <a:bodyPr/>
                    <a:lstStyle/>
                    <a:p>
                      <a:pPr algn="ctr"/>
                      <a:r>
                        <a:rPr lang="en-US" sz="2400" dirty="0"/>
                        <a:t>Human</a:t>
                      </a:r>
                    </a:p>
                  </a:txBody>
                  <a:tcPr/>
                </a:tc>
                <a:tc>
                  <a:txBody>
                    <a:bodyPr/>
                    <a:lstStyle/>
                    <a:p>
                      <a:pPr algn="ctr"/>
                      <a:r>
                        <a:rPr lang="en-US" sz="2400" dirty="0"/>
                        <a:t>Gorilla</a:t>
                      </a:r>
                    </a:p>
                  </a:txBody>
                  <a:tcPr/>
                </a:tc>
                <a:extLst>
                  <a:ext uri="{0D108BD9-81ED-4DB2-BD59-A6C34878D82A}">
                    <a16:rowId xmlns:a16="http://schemas.microsoft.com/office/drawing/2014/main" val="10000"/>
                  </a:ext>
                </a:extLst>
              </a:tr>
              <a:tr h="396516">
                <a:tc>
                  <a:txBody>
                    <a:bodyPr/>
                    <a:lstStyle/>
                    <a:p>
                      <a:pPr algn="ctr"/>
                      <a:r>
                        <a:rPr lang="en-US" sz="1800" b="1" dirty="0">
                          <a:latin typeface="+mj-lt"/>
                        </a:rPr>
                        <a:t>Kingdom</a:t>
                      </a:r>
                    </a:p>
                  </a:txBody>
                  <a:tcPr/>
                </a:tc>
                <a:tc>
                  <a:txBody>
                    <a:bodyPr/>
                    <a:lstStyle/>
                    <a:p>
                      <a:pPr algn="ctr"/>
                      <a:r>
                        <a:rPr kumimoji="0" lang="en-GB" sz="1800" b="0" i="0" u="none" strike="noStrike" cap="none" normalizeH="0" baseline="0" dirty="0" err="1">
                          <a:ln>
                            <a:noFill/>
                          </a:ln>
                          <a:solidFill>
                            <a:schemeClr val="tx1"/>
                          </a:solidFill>
                          <a:effectLst/>
                          <a:latin typeface="+mj-lt"/>
                          <a:ea typeface="Times New Roman" pitchFamily="18" charset="0"/>
                          <a:cs typeface="Arial" pitchFamily="34" charset="0"/>
                        </a:rPr>
                        <a:t>Animalia</a:t>
                      </a:r>
                      <a:endParaRPr lang="en-US" sz="1800" dirty="0">
                        <a:latin typeface="+mj-lt"/>
                      </a:endParaRPr>
                    </a:p>
                  </a:txBody>
                  <a:tcPr/>
                </a:tc>
                <a:tc>
                  <a:txBody>
                    <a:bodyPr/>
                    <a:lstStyle/>
                    <a:p>
                      <a:pPr algn="ctr"/>
                      <a:r>
                        <a:rPr kumimoji="0" lang="en-GB" sz="1800" b="0" i="0" u="none" strike="noStrike" cap="none" normalizeH="0" baseline="0" dirty="0" err="1">
                          <a:ln>
                            <a:noFill/>
                          </a:ln>
                          <a:solidFill>
                            <a:schemeClr val="tx1"/>
                          </a:solidFill>
                          <a:effectLst/>
                          <a:latin typeface="+mj-lt"/>
                          <a:ea typeface="Times New Roman" pitchFamily="18" charset="0"/>
                          <a:cs typeface="Arial" pitchFamily="34" charset="0"/>
                        </a:rPr>
                        <a:t>Animalia</a:t>
                      </a:r>
                      <a:endParaRPr lang="en-US" sz="1800" dirty="0">
                        <a:latin typeface="+mj-lt"/>
                      </a:endParaRPr>
                    </a:p>
                  </a:txBody>
                  <a:tcPr/>
                </a:tc>
                <a:extLst>
                  <a:ext uri="{0D108BD9-81ED-4DB2-BD59-A6C34878D82A}">
                    <a16:rowId xmlns:a16="http://schemas.microsoft.com/office/drawing/2014/main" val="10001"/>
                  </a:ext>
                </a:extLst>
              </a:tr>
              <a:tr h="684399">
                <a:tc>
                  <a:txBody>
                    <a:bodyPr/>
                    <a:lstStyle/>
                    <a:p>
                      <a:pPr algn="ctr"/>
                      <a:r>
                        <a:rPr kumimoji="0" lang="en-GB" sz="1800" b="1" i="0" u="none" strike="noStrike" cap="none" normalizeH="0" baseline="0" dirty="0">
                          <a:ln>
                            <a:noFill/>
                          </a:ln>
                          <a:solidFill>
                            <a:schemeClr val="tx1"/>
                          </a:solidFill>
                          <a:effectLst/>
                          <a:latin typeface="+mj-lt"/>
                          <a:ea typeface="Times New Roman" pitchFamily="18" charset="0"/>
                          <a:cs typeface="Arial" pitchFamily="34" charset="0"/>
                        </a:rPr>
                        <a:t>Phylum or Division	</a:t>
                      </a:r>
                      <a:endParaRPr lang="en-US" sz="1800" b="1" dirty="0">
                        <a:latin typeface="+mj-lt"/>
                      </a:endParaRPr>
                    </a:p>
                  </a:txBody>
                  <a:tcPr/>
                </a:tc>
                <a:tc>
                  <a:txBody>
                    <a:bodyPr/>
                    <a:lstStyle/>
                    <a:p>
                      <a:pPr algn="ctr"/>
                      <a:r>
                        <a:rPr kumimoji="0" lang="en-GB" sz="1800" b="0" i="0" u="none" strike="noStrike" cap="none" normalizeH="0" baseline="0" dirty="0" err="1">
                          <a:ln>
                            <a:noFill/>
                          </a:ln>
                          <a:solidFill>
                            <a:schemeClr val="tx1"/>
                          </a:solidFill>
                          <a:effectLst/>
                          <a:latin typeface="+mj-lt"/>
                          <a:ea typeface="Times New Roman" pitchFamily="18" charset="0"/>
                          <a:cs typeface="Arial" pitchFamily="34" charset="0"/>
                        </a:rPr>
                        <a:t>Chordata</a:t>
                      </a:r>
                      <a:endParaRPr lang="en-US" sz="1800" dirty="0">
                        <a:latin typeface="+mj-lt"/>
                      </a:endParaRPr>
                    </a:p>
                  </a:txBody>
                  <a:tcPr/>
                </a:tc>
                <a:tc>
                  <a:txBody>
                    <a:bodyPr/>
                    <a:lstStyle/>
                    <a:p>
                      <a:pPr algn="ctr"/>
                      <a:r>
                        <a:rPr kumimoji="0" lang="en-GB" sz="1800" b="0" i="0" u="none" strike="noStrike" cap="none" normalizeH="0" baseline="0" dirty="0" err="1">
                          <a:ln>
                            <a:noFill/>
                          </a:ln>
                          <a:solidFill>
                            <a:schemeClr val="tx1"/>
                          </a:solidFill>
                          <a:effectLst/>
                          <a:latin typeface="+mj-lt"/>
                          <a:ea typeface="Times New Roman" pitchFamily="18" charset="0"/>
                          <a:cs typeface="Arial" pitchFamily="34" charset="0"/>
                        </a:rPr>
                        <a:t>Chordata</a:t>
                      </a:r>
                      <a:endParaRPr lang="en-US" sz="1800" dirty="0">
                        <a:latin typeface="+mj-lt"/>
                      </a:endParaRPr>
                    </a:p>
                  </a:txBody>
                  <a:tcPr/>
                </a:tc>
                <a:extLst>
                  <a:ext uri="{0D108BD9-81ED-4DB2-BD59-A6C34878D82A}">
                    <a16:rowId xmlns:a16="http://schemas.microsoft.com/office/drawing/2014/main" val="10002"/>
                  </a:ext>
                </a:extLst>
              </a:tr>
              <a:tr h="396516">
                <a:tc>
                  <a:txBody>
                    <a:bodyPr/>
                    <a:lstStyle/>
                    <a:p>
                      <a:pPr algn="ctr"/>
                      <a:r>
                        <a:rPr kumimoji="0" lang="en-GB" sz="1800" b="1" i="0" u="none" strike="noStrike" cap="none" normalizeH="0" baseline="0" dirty="0">
                          <a:ln>
                            <a:noFill/>
                          </a:ln>
                          <a:solidFill>
                            <a:schemeClr val="tx1"/>
                          </a:solidFill>
                          <a:effectLst/>
                          <a:latin typeface="+mj-lt"/>
                          <a:ea typeface="Times New Roman" pitchFamily="18" charset="0"/>
                          <a:cs typeface="Arial" pitchFamily="34" charset="0"/>
                        </a:rPr>
                        <a:t>Class</a:t>
                      </a:r>
                      <a:endParaRPr lang="en-US" sz="1800" b="1" dirty="0">
                        <a:latin typeface="+mj-lt"/>
                      </a:endParaRPr>
                    </a:p>
                  </a:txBody>
                  <a:tcPr/>
                </a:tc>
                <a:tc>
                  <a:txBody>
                    <a:bodyPr/>
                    <a:lstStyle/>
                    <a:p>
                      <a:pPr algn="ctr"/>
                      <a:r>
                        <a:rPr kumimoji="0" lang="en-GB" sz="1800" b="0" i="0" u="none" strike="noStrike" cap="none" normalizeH="0" baseline="0" dirty="0" err="1">
                          <a:ln>
                            <a:noFill/>
                          </a:ln>
                          <a:solidFill>
                            <a:schemeClr val="tx1"/>
                          </a:solidFill>
                          <a:effectLst/>
                          <a:latin typeface="+mj-lt"/>
                          <a:ea typeface="Times New Roman" pitchFamily="18" charset="0"/>
                          <a:cs typeface="Arial" pitchFamily="34" charset="0"/>
                        </a:rPr>
                        <a:t>Mammalia</a:t>
                      </a:r>
                      <a:endParaRPr lang="en-US" sz="1800" dirty="0">
                        <a:latin typeface="+mj-lt"/>
                      </a:endParaRPr>
                    </a:p>
                  </a:txBody>
                  <a:tcPr/>
                </a:tc>
                <a:tc>
                  <a:txBody>
                    <a:bodyPr/>
                    <a:lstStyle/>
                    <a:p>
                      <a:pPr algn="ctr"/>
                      <a:r>
                        <a:rPr kumimoji="0" lang="en-GB" sz="1800" b="0" i="0" u="none" strike="noStrike" cap="none" normalizeH="0" baseline="0" dirty="0" err="1">
                          <a:ln>
                            <a:noFill/>
                          </a:ln>
                          <a:solidFill>
                            <a:schemeClr val="tx1"/>
                          </a:solidFill>
                          <a:effectLst/>
                          <a:latin typeface="+mj-lt"/>
                          <a:ea typeface="Times New Roman" pitchFamily="18" charset="0"/>
                          <a:cs typeface="Arial" pitchFamily="34" charset="0"/>
                        </a:rPr>
                        <a:t>Mammalia</a:t>
                      </a:r>
                      <a:endParaRPr lang="en-US" sz="1800" dirty="0">
                        <a:latin typeface="+mj-lt"/>
                      </a:endParaRPr>
                    </a:p>
                  </a:txBody>
                  <a:tcPr/>
                </a:tc>
                <a:extLst>
                  <a:ext uri="{0D108BD9-81ED-4DB2-BD59-A6C34878D82A}">
                    <a16:rowId xmlns:a16="http://schemas.microsoft.com/office/drawing/2014/main" val="10003"/>
                  </a:ext>
                </a:extLst>
              </a:tr>
              <a:tr h="396516">
                <a:tc>
                  <a:txBody>
                    <a:bodyPr/>
                    <a:lstStyle/>
                    <a:p>
                      <a:pPr algn="ctr"/>
                      <a:r>
                        <a:rPr kumimoji="0" lang="en-GB" sz="1800" b="1" i="0" u="none" strike="noStrike" cap="none" normalizeH="0" baseline="0" dirty="0">
                          <a:ln>
                            <a:noFill/>
                          </a:ln>
                          <a:solidFill>
                            <a:schemeClr val="tx1"/>
                          </a:solidFill>
                          <a:effectLst/>
                          <a:latin typeface="+mj-lt"/>
                          <a:ea typeface="Times New Roman" pitchFamily="18" charset="0"/>
                          <a:cs typeface="Arial" pitchFamily="34" charset="0"/>
                        </a:rPr>
                        <a:t>Order</a:t>
                      </a:r>
                      <a:endParaRPr lang="en-US" sz="1800" b="1" dirty="0">
                        <a:latin typeface="+mj-lt"/>
                      </a:endParaRPr>
                    </a:p>
                  </a:txBody>
                  <a:tcPr/>
                </a:tc>
                <a:tc>
                  <a:txBody>
                    <a:bodyPr/>
                    <a:lstStyle/>
                    <a:p>
                      <a:pPr algn="ctr"/>
                      <a:r>
                        <a:rPr kumimoji="0" lang="en-GB" sz="1800" b="0" i="0" u="none" strike="noStrike" cap="none" normalizeH="0" baseline="0" dirty="0">
                          <a:ln>
                            <a:noFill/>
                          </a:ln>
                          <a:solidFill>
                            <a:schemeClr val="tx1"/>
                          </a:solidFill>
                          <a:effectLst/>
                          <a:latin typeface="+mj-lt"/>
                          <a:ea typeface="Times New Roman" pitchFamily="18" charset="0"/>
                          <a:cs typeface="Arial" pitchFamily="34" charset="0"/>
                        </a:rPr>
                        <a:t>Primates</a:t>
                      </a:r>
                      <a:endParaRPr lang="en-US" sz="1800" dirty="0">
                        <a:latin typeface="+mj-lt"/>
                      </a:endParaRPr>
                    </a:p>
                  </a:txBody>
                  <a:tcPr/>
                </a:tc>
                <a:tc>
                  <a:txBody>
                    <a:bodyPr/>
                    <a:lstStyle/>
                    <a:p>
                      <a:pPr algn="ctr"/>
                      <a:r>
                        <a:rPr kumimoji="0" lang="en-GB" sz="1800" b="0" i="0" u="none" strike="noStrike" cap="none" normalizeH="0" baseline="0" dirty="0">
                          <a:ln>
                            <a:noFill/>
                          </a:ln>
                          <a:solidFill>
                            <a:schemeClr val="tx1"/>
                          </a:solidFill>
                          <a:effectLst/>
                          <a:latin typeface="+mj-lt"/>
                          <a:ea typeface="Times New Roman" pitchFamily="18" charset="0"/>
                          <a:cs typeface="Arial" pitchFamily="34" charset="0"/>
                        </a:rPr>
                        <a:t>Primates</a:t>
                      </a:r>
                      <a:endParaRPr lang="en-US" sz="1800" dirty="0">
                        <a:latin typeface="+mj-lt"/>
                      </a:endParaRPr>
                    </a:p>
                  </a:txBody>
                  <a:tcPr/>
                </a:tc>
                <a:extLst>
                  <a:ext uri="{0D108BD9-81ED-4DB2-BD59-A6C34878D82A}">
                    <a16:rowId xmlns:a16="http://schemas.microsoft.com/office/drawing/2014/main" val="10004"/>
                  </a:ext>
                </a:extLst>
              </a:tr>
              <a:tr h="396516">
                <a:tc>
                  <a:txBody>
                    <a:bodyPr/>
                    <a:lstStyle/>
                    <a:p>
                      <a:pPr algn="ctr"/>
                      <a:r>
                        <a:rPr kumimoji="0" lang="en-GB" sz="1800" b="1" i="0" u="none" strike="noStrike" cap="none" normalizeH="0" baseline="0" dirty="0">
                          <a:ln>
                            <a:noFill/>
                          </a:ln>
                          <a:solidFill>
                            <a:schemeClr val="tx1"/>
                          </a:solidFill>
                          <a:effectLst/>
                          <a:latin typeface="+mj-lt"/>
                          <a:ea typeface="Times New Roman" pitchFamily="18" charset="0"/>
                          <a:cs typeface="Arial" pitchFamily="34" charset="0"/>
                        </a:rPr>
                        <a:t>Family</a:t>
                      </a:r>
                      <a:endParaRPr lang="en-US" sz="1800" b="1" dirty="0">
                        <a:latin typeface="+mj-lt"/>
                      </a:endParaRPr>
                    </a:p>
                  </a:txBody>
                  <a:tcPr/>
                </a:tc>
                <a:tc>
                  <a:txBody>
                    <a:bodyPr/>
                    <a:lstStyle/>
                    <a:p>
                      <a:pPr algn="ctr"/>
                      <a:r>
                        <a:rPr kumimoji="0" lang="en-GB" sz="1800" b="0" i="0" u="none" strike="noStrike" cap="none" normalizeH="0" baseline="0" dirty="0" err="1">
                          <a:ln>
                            <a:noFill/>
                          </a:ln>
                          <a:solidFill>
                            <a:schemeClr val="tx1"/>
                          </a:solidFill>
                          <a:effectLst/>
                          <a:latin typeface="+mj-lt"/>
                          <a:ea typeface="Times New Roman" pitchFamily="18" charset="0"/>
                          <a:cs typeface="Arial" pitchFamily="34" charset="0"/>
                        </a:rPr>
                        <a:t>Homonidae</a:t>
                      </a:r>
                      <a:endParaRPr lang="en-US" sz="1800" dirty="0">
                        <a:latin typeface="+mj-lt"/>
                      </a:endParaRPr>
                    </a:p>
                  </a:txBody>
                  <a:tcPr/>
                </a:tc>
                <a:tc>
                  <a:txBody>
                    <a:bodyPr/>
                    <a:lstStyle/>
                    <a:p>
                      <a:pPr algn="ctr"/>
                      <a:r>
                        <a:rPr kumimoji="0" lang="en-GB" sz="1800" b="0" i="0" u="none" strike="noStrike" cap="none" normalizeH="0" baseline="0" dirty="0" err="1">
                          <a:ln>
                            <a:noFill/>
                          </a:ln>
                          <a:solidFill>
                            <a:schemeClr val="tx1"/>
                          </a:solidFill>
                          <a:effectLst/>
                          <a:latin typeface="+mj-lt"/>
                          <a:ea typeface="Times New Roman" pitchFamily="18" charset="0"/>
                          <a:cs typeface="Arial" pitchFamily="34" charset="0"/>
                        </a:rPr>
                        <a:t>Pongidae</a:t>
                      </a:r>
                      <a:endParaRPr lang="en-US" sz="1800" dirty="0">
                        <a:latin typeface="+mj-lt"/>
                      </a:endParaRPr>
                    </a:p>
                  </a:txBody>
                  <a:tcPr/>
                </a:tc>
                <a:extLst>
                  <a:ext uri="{0D108BD9-81ED-4DB2-BD59-A6C34878D82A}">
                    <a16:rowId xmlns:a16="http://schemas.microsoft.com/office/drawing/2014/main" val="10005"/>
                  </a:ext>
                </a:extLst>
              </a:tr>
              <a:tr h="396516">
                <a:tc>
                  <a:txBody>
                    <a:bodyPr/>
                    <a:lstStyle/>
                    <a:p>
                      <a:pPr algn="ctr"/>
                      <a:r>
                        <a:rPr kumimoji="0" lang="en-GB" sz="1800" b="1" i="0" u="none" strike="noStrike" cap="none" normalizeH="0" baseline="0" dirty="0">
                          <a:ln>
                            <a:noFill/>
                          </a:ln>
                          <a:solidFill>
                            <a:schemeClr val="tx1"/>
                          </a:solidFill>
                          <a:effectLst/>
                          <a:latin typeface="+mj-lt"/>
                          <a:ea typeface="Times New Roman" pitchFamily="18" charset="0"/>
                          <a:cs typeface="Arial" pitchFamily="34" charset="0"/>
                        </a:rPr>
                        <a:t>Genus</a:t>
                      </a:r>
                      <a:endParaRPr lang="en-US" sz="1800" b="1" dirty="0">
                        <a:latin typeface="+mj-lt"/>
                      </a:endParaRPr>
                    </a:p>
                  </a:txBody>
                  <a:tcPr/>
                </a:tc>
                <a:tc>
                  <a:txBody>
                    <a:bodyPr/>
                    <a:lstStyle/>
                    <a:p>
                      <a:pPr algn="ctr"/>
                      <a:r>
                        <a:rPr kumimoji="0" lang="en-GB" sz="1800" b="0" i="1" u="none" strike="noStrike" cap="none" normalizeH="0" baseline="0" dirty="0">
                          <a:ln>
                            <a:noFill/>
                          </a:ln>
                          <a:solidFill>
                            <a:schemeClr val="tx1"/>
                          </a:solidFill>
                          <a:effectLst/>
                          <a:latin typeface="+mj-lt"/>
                          <a:ea typeface="Times New Roman" pitchFamily="18" charset="0"/>
                          <a:cs typeface="Arial" pitchFamily="34" charset="0"/>
                        </a:rPr>
                        <a:t>Homo</a:t>
                      </a:r>
                      <a:endParaRPr lang="en-US" sz="1800" dirty="0">
                        <a:latin typeface="+mj-lt"/>
                      </a:endParaRPr>
                    </a:p>
                  </a:txBody>
                  <a:tcPr/>
                </a:tc>
                <a:tc>
                  <a:txBody>
                    <a:bodyPr/>
                    <a:lstStyle/>
                    <a:p>
                      <a:pPr algn="ctr"/>
                      <a:r>
                        <a:rPr kumimoji="0" lang="en-GB" sz="1800" b="0" i="1" u="none" strike="noStrike" cap="none" normalizeH="0" baseline="0" dirty="0">
                          <a:ln>
                            <a:noFill/>
                          </a:ln>
                          <a:solidFill>
                            <a:schemeClr val="tx1"/>
                          </a:solidFill>
                          <a:effectLst/>
                          <a:latin typeface="+mj-lt"/>
                          <a:ea typeface="Times New Roman" pitchFamily="18" charset="0"/>
                          <a:cs typeface="Arial" pitchFamily="34" charset="0"/>
                        </a:rPr>
                        <a:t>Gorilla</a:t>
                      </a:r>
                      <a:endParaRPr lang="en-US" sz="1800" dirty="0">
                        <a:latin typeface="+mj-lt"/>
                      </a:endParaRPr>
                    </a:p>
                  </a:txBody>
                  <a:tcPr/>
                </a:tc>
                <a:extLst>
                  <a:ext uri="{0D108BD9-81ED-4DB2-BD59-A6C34878D82A}">
                    <a16:rowId xmlns:a16="http://schemas.microsoft.com/office/drawing/2014/main" val="10006"/>
                  </a:ext>
                </a:extLst>
              </a:tr>
              <a:tr h="396516">
                <a:tc>
                  <a:txBody>
                    <a:bodyPr/>
                    <a:lstStyle/>
                    <a:p>
                      <a:pPr algn="ctr"/>
                      <a:r>
                        <a:rPr kumimoji="0" lang="en-GB" sz="1800" b="1" i="0" u="none" strike="noStrike" cap="none" normalizeH="0" baseline="0" dirty="0">
                          <a:ln>
                            <a:noFill/>
                          </a:ln>
                          <a:solidFill>
                            <a:schemeClr val="tx1"/>
                          </a:solidFill>
                          <a:effectLst/>
                          <a:latin typeface="+mj-lt"/>
                          <a:ea typeface="Times New Roman" pitchFamily="18" charset="0"/>
                          <a:cs typeface="Arial" pitchFamily="34" charset="0"/>
                        </a:rPr>
                        <a:t>Species</a:t>
                      </a:r>
                      <a:endParaRPr lang="en-US" sz="1800" b="1" dirty="0">
                        <a:latin typeface="+mj-lt"/>
                      </a:endParaRPr>
                    </a:p>
                  </a:txBody>
                  <a:tcPr/>
                </a:tc>
                <a:tc>
                  <a:txBody>
                    <a:bodyPr/>
                    <a:lstStyle/>
                    <a:p>
                      <a:pPr algn="ctr"/>
                      <a:r>
                        <a:rPr kumimoji="0" lang="en-GB" sz="1800" b="0" i="1" u="none" strike="noStrike" cap="none" normalizeH="0" baseline="0" dirty="0">
                          <a:ln>
                            <a:noFill/>
                          </a:ln>
                          <a:solidFill>
                            <a:schemeClr val="tx1"/>
                          </a:solidFill>
                          <a:effectLst/>
                          <a:latin typeface="+mj-lt"/>
                          <a:ea typeface="Times New Roman" pitchFamily="18" charset="0"/>
                          <a:cs typeface="Arial" pitchFamily="34" charset="0"/>
                        </a:rPr>
                        <a:t>sapiens</a:t>
                      </a:r>
                      <a:endParaRPr lang="en-US" sz="1800" dirty="0">
                        <a:latin typeface="+mj-lt"/>
                      </a:endParaRPr>
                    </a:p>
                  </a:txBody>
                  <a:tcPr/>
                </a:tc>
                <a:tc>
                  <a:txBody>
                    <a:bodyPr/>
                    <a:lstStyle/>
                    <a:p>
                      <a:pPr algn="ctr"/>
                      <a:r>
                        <a:rPr kumimoji="0" lang="en-GB" sz="1800" b="0" i="1" u="none" strike="noStrike" cap="none" normalizeH="0" baseline="0" dirty="0">
                          <a:ln>
                            <a:noFill/>
                          </a:ln>
                          <a:solidFill>
                            <a:schemeClr val="tx1"/>
                          </a:solidFill>
                          <a:effectLst/>
                          <a:latin typeface="+mj-lt"/>
                          <a:ea typeface="Times New Roman" pitchFamily="18" charset="0"/>
                          <a:cs typeface="Arial" pitchFamily="34" charset="0"/>
                        </a:rPr>
                        <a:t>gorilla</a:t>
                      </a:r>
                      <a:endParaRPr lang="en-US" sz="1800" dirty="0">
                        <a:latin typeface="+mj-lt"/>
                      </a:endParaRPr>
                    </a:p>
                  </a:txBody>
                  <a:tcPr/>
                </a:tc>
                <a:extLst>
                  <a:ext uri="{0D108BD9-81ED-4DB2-BD59-A6C34878D82A}">
                    <a16:rowId xmlns:a16="http://schemas.microsoft.com/office/drawing/2014/main" val="10007"/>
                  </a:ext>
                </a:extLst>
              </a:tr>
            </a:tbl>
          </a:graphicData>
        </a:graphic>
      </p:graphicFrame>
      <p:cxnSp>
        <p:nvCxnSpPr>
          <p:cNvPr id="7" name="Straight Connector 6"/>
          <p:cNvCxnSpPr/>
          <p:nvPr/>
        </p:nvCxnSpPr>
        <p:spPr>
          <a:xfrm>
            <a:off x="3733800" y="3048000"/>
            <a:ext cx="5295378" cy="1588"/>
          </a:xfrm>
          <a:prstGeom prst="line">
            <a:avLst/>
          </a:prstGeom>
        </p:spPr>
        <p:style>
          <a:lnRef idx="3">
            <a:schemeClr val="accent1"/>
          </a:lnRef>
          <a:fillRef idx="0">
            <a:schemeClr val="accent1"/>
          </a:fillRef>
          <a:effectRef idx="2">
            <a:schemeClr val="accent1"/>
          </a:effectRef>
          <a:fontRef idx="minor">
            <a:schemeClr val="tx1"/>
          </a:fontRef>
        </p:style>
      </p:cxnSp>
      <p:sp>
        <p:nvSpPr>
          <p:cNvPr id="6" name="Title 1"/>
          <p:cNvSpPr txBox="1">
            <a:spLocks/>
          </p:cNvSpPr>
          <p:nvPr/>
        </p:nvSpPr>
        <p:spPr>
          <a:xfrm>
            <a:off x="371475" y="76200"/>
            <a:ext cx="8543925" cy="609600"/>
          </a:xfrm>
          <a:prstGeom prst="rect">
            <a:avLst/>
          </a:prstGeom>
        </p:spPr>
        <p:txBody>
          <a:bodyPr>
            <a:normAutofit fontScale="90000" lnSpcReduction="20000"/>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4200" b="1" i="0" u="none" strike="noStrike" kern="0" cap="none" spc="0" normalizeH="0" baseline="0" noProof="0">
                <a:ln>
                  <a:noFill/>
                </a:ln>
                <a:solidFill>
                  <a:schemeClr val="accent2"/>
                </a:solidFill>
                <a:effectLst/>
                <a:uLnTx/>
                <a:uFillTx/>
                <a:latin typeface="+mj-lt"/>
                <a:ea typeface="+mj-ea"/>
                <a:cs typeface="+mj-cs"/>
              </a:rPr>
              <a:t>Main classification groups(taxa)</a:t>
            </a:r>
            <a:endParaRPr kumimoji="0" lang="en-US" sz="4200" b="1" i="0" u="none" strike="noStrike" kern="0" cap="none" spc="0" normalizeH="0" baseline="0" noProof="0" dirty="0">
              <a:ln>
                <a:noFill/>
              </a:ln>
              <a:solidFill>
                <a:schemeClr val="accent2"/>
              </a:solidFill>
              <a:effectLst/>
              <a:uLnTx/>
              <a:uFillTx/>
              <a:latin typeface="+mj-lt"/>
              <a:ea typeface="+mj-ea"/>
              <a:cs typeface="+mj-cs"/>
            </a:endParaRPr>
          </a:p>
        </p:txBody>
      </p:sp>
      <p:pic>
        <p:nvPicPr>
          <p:cNvPr id="9" name="Picture 8" descr="Western_Lowland_Gorilla.jpg"/>
          <p:cNvPicPr>
            <a:picLocks noChangeAspect="1"/>
          </p:cNvPicPr>
          <p:nvPr/>
        </p:nvPicPr>
        <p:blipFill>
          <a:blip r:embed="rId2" cstate="print"/>
          <a:stretch>
            <a:fillRect/>
          </a:stretch>
        </p:blipFill>
        <p:spPr>
          <a:xfrm>
            <a:off x="75156" y="2033392"/>
            <a:ext cx="2671402" cy="2438400"/>
          </a:xfrm>
          <a:prstGeom prst="rect">
            <a:avLst/>
          </a:prstGeom>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371475" y="381000"/>
            <a:ext cx="8543925" cy="609600"/>
          </a:xfrm>
        </p:spPr>
        <p:txBody>
          <a:bodyPr>
            <a:normAutofit fontScale="90000"/>
          </a:bodyPr>
          <a:lstStyle/>
          <a:p>
            <a:pPr algn="ctr"/>
            <a:r>
              <a:rPr lang="en-GB" b="1" dirty="0">
                <a:solidFill>
                  <a:schemeClr val="accent2"/>
                </a:solidFill>
              </a:rPr>
              <a:t>Modern Basis for Classification</a:t>
            </a:r>
            <a:br>
              <a:rPr lang="en-US" b="1" dirty="0">
                <a:solidFill>
                  <a:schemeClr val="accent2"/>
                </a:solidFill>
              </a:rPr>
            </a:br>
            <a:endParaRPr lang="en-US" b="1" dirty="0">
              <a:solidFill>
                <a:schemeClr val="accent2"/>
              </a:solidFill>
            </a:endParaRPr>
          </a:p>
        </p:txBody>
      </p:sp>
      <p:sp>
        <p:nvSpPr>
          <p:cNvPr id="3075" name="Content Placeholder 2"/>
          <p:cNvSpPr>
            <a:spLocks noGrp="1"/>
          </p:cNvSpPr>
          <p:nvPr>
            <p:ph idx="1"/>
          </p:nvPr>
        </p:nvSpPr>
        <p:spPr>
          <a:xfrm>
            <a:off x="0" y="838200"/>
            <a:ext cx="4572000" cy="6019800"/>
          </a:xfrm>
        </p:spPr>
        <p:txBody>
          <a:bodyPr>
            <a:normAutofit fontScale="77500" lnSpcReduction="20000"/>
          </a:bodyPr>
          <a:lstStyle/>
          <a:p>
            <a:pPr>
              <a:lnSpc>
                <a:spcPct val="150000"/>
              </a:lnSpc>
              <a:defRPr/>
            </a:pPr>
            <a:r>
              <a:rPr lang="en-GB" b="1" dirty="0"/>
              <a:t>Homologous Structure</a:t>
            </a:r>
          </a:p>
          <a:p>
            <a:pPr lvl="1">
              <a:defRPr/>
            </a:pPr>
            <a:r>
              <a:rPr lang="en-GB" i="1" dirty="0"/>
              <a:t>show the same basic pattern, the same general relationship to other parts, and the same pattern of development</a:t>
            </a:r>
            <a:r>
              <a:rPr lang="en-GB" dirty="0"/>
              <a:t>. </a:t>
            </a:r>
            <a:endParaRPr lang="en-US" b="1" dirty="0"/>
          </a:p>
          <a:p>
            <a:pPr>
              <a:lnSpc>
                <a:spcPct val="150000"/>
              </a:lnSpc>
              <a:defRPr/>
            </a:pPr>
            <a:r>
              <a:rPr lang="en-GB" b="1" dirty="0"/>
              <a:t>Similar Biochemistry</a:t>
            </a:r>
          </a:p>
          <a:p>
            <a:pPr lvl="1">
              <a:defRPr/>
            </a:pPr>
            <a:r>
              <a:rPr lang="en-GB" i="1" dirty="0"/>
              <a:t>closely related organisms form similar chemical compounds in their body. They use this belief to help classify organisms</a:t>
            </a:r>
            <a:endParaRPr lang="en-US" b="1" i="1" dirty="0"/>
          </a:p>
          <a:p>
            <a:pPr>
              <a:lnSpc>
                <a:spcPct val="150000"/>
              </a:lnSpc>
              <a:defRPr/>
            </a:pPr>
            <a:r>
              <a:rPr lang="en-GB" b="1" dirty="0"/>
              <a:t>Genetic Similarity</a:t>
            </a:r>
          </a:p>
          <a:p>
            <a:pPr lvl="1">
              <a:lnSpc>
                <a:spcPct val="110000"/>
              </a:lnSpc>
              <a:defRPr/>
            </a:pPr>
            <a:r>
              <a:rPr lang="en-GB" i="1" dirty="0"/>
              <a:t>the greater the similarity of DNA among organisms, the more closely they may be related</a:t>
            </a:r>
            <a:r>
              <a:rPr lang="en-GB" dirty="0"/>
              <a:t>.</a:t>
            </a:r>
            <a:endParaRPr lang="en-US" b="1" dirty="0"/>
          </a:p>
          <a:p>
            <a:pPr>
              <a:buFont typeface="Wingdings" pitchFamily="2" charset="2"/>
              <a:buNone/>
              <a:defRPr/>
            </a:pPr>
            <a:endParaRPr lang="en-US" dirty="0"/>
          </a:p>
        </p:txBody>
      </p:sp>
      <p:pic>
        <p:nvPicPr>
          <p:cNvPr id="22533" name="Picture 5" descr="http://www.groupfortheeastend.org/wp/wp-content/uploads/2013/04/horseshoecrab.jpg"/>
          <p:cNvPicPr>
            <a:picLocks noChangeAspect="1" noChangeArrowheads="1"/>
          </p:cNvPicPr>
          <p:nvPr/>
        </p:nvPicPr>
        <p:blipFill>
          <a:blip r:embed="rId3" cstate="print"/>
          <a:srcRect/>
          <a:stretch>
            <a:fillRect/>
          </a:stretch>
        </p:blipFill>
        <p:spPr bwMode="auto">
          <a:xfrm>
            <a:off x="5181600" y="4114800"/>
            <a:ext cx="3622132" cy="2471659"/>
          </a:xfrm>
          <a:prstGeom prst="rect">
            <a:avLst/>
          </a:prstGeom>
          <a:noFill/>
          <a:ln w="9525">
            <a:noFill/>
            <a:miter lim="800000"/>
            <a:headEnd/>
            <a:tailEnd/>
          </a:ln>
        </p:spPr>
      </p:pic>
      <p:pic>
        <p:nvPicPr>
          <p:cNvPr id="22535" name="Picture 7" descr="http://upload.wikimedia.org/wikipedia/commons/1/1d/Anatomy_and_physiology_of_animals_Various_vertebrate_limbs.jpg"/>
          <p:cNvPicPr>
            <a:picLocks noChangeAspect="1" noChangeArrowheads="1"/>
          </p:cNvPicPr>
          <p:nvPr/>
        </p:nvPicPr>
        <p:blipFill>
          <a:blip r:embed="rId4" cstate="print"/>
          <a:srcRect/>
          <a:stretch>
            <a:fillRect/>
          </a:stretch>
        </p:blipFill>
        <p:spPr bwMode="auto">
          <a:xfrm>
            <a:off x="5105400" y="914400"/>
            <a:ext cx="3567079" cy="2819400"/>
          </a:xfrm>
          <a:prstGeom prst="rect">
            <a:avLst/>
          </a:prstGeom>
          <a:noFill/>
          <a:ln w="9525">
            <a:noFill/>
            <a:miter lim="800000"/>
            <a:headEnd/>
            <a:tailEnd/>
          </a:ln>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409575"/>
            <a:ext cx="8915400" cy="733425"/>
          </a:xfrm>
        </p:spPr>
        <p:txBody>
          <a:bodyPr>
            <a:normAutofit fontScale="90000"/>
          </a:bodyPr>
          <a:lstStyle/>
          <a:p>
            <a:r>
              <a:rPr lang="en-US" b="1" dirty="0" err="1">
                <a:solidFill>
                  <a:schemeClr val="accent2"/>
                </a:solidFill>
              </a:rPr>
              <a:t>Phylogenetic</a:t>
            </a:r>
            <a:r>
              <a:rPr lang="en-US" b="1" dirty="0">
                <a:solidFill>
                  <a:schemeClr val="accent2"/>
                </a:solidFill>
              </a:rPr>
              <a:t> System</a:t>
            </a:r>
          </a:p>
        </p:txBody>
      </p:sp>
      <p:sp>
        <p:nvSpPr>
          <p:cNvPr id="3" name="TextBox 2"/>
          <p:cNvSpPr txBox="1"/>
          <p:nvPr/>
        </p:nvSpPr>
        <p:spPr>
          <a:xfrm>
            <a:off x="762000" y="1560016"/>
            <a:ext cx="7848600" cy="4154984"/>
          </a:xfrm>
          <a:prstGeom prst="rect">
            <a:avLst/>
          </a:prstGeom>
          <a:noFill/>
        </p:spPr>
        <p:txBody>
          <a:bodyPr wrap="square" rtlCol="0">
            <a:spAutoFit/>
          </a:bodyPr>
          <a:lstStyle/>
          <a:p>
            <a:pPr>
              <a:buFont typeface="Arial" pitchFamily="34" charset="0"/>
              <a:buChar char="•"/>
            </a:pPr>
            <a:r>
              <a:rPr lang="en-US" sz="2200" b="1" dirty="0"/>
              <a:t>Carl R </a:t>
            </a:r>
            <a:r>
              <a:rPr lang="en-US" sz="2200" b="1" dirty="0" err="1"/>
              <a:t>Woese</a:t>
            </a:r>
            <a:r>
              <a:rPr lang="en-US" sz="2200" dirty="0">
                <a:sym typeface="Wingdings" pitchFamily="2" charset="2"/>
              </a:rPr>
              <a:t> </a:t>
            </a:r>
            <a:r>
              <a:rPr lang="en-US" sz="2200" dirty="0"/>
              <a:t> completely new approach in classification.</a:t>
            </a:r>
          </a:p>
          <a:p>
            <a:pPr>
              <a:buFont typeface="Arial" pitchFamily="34" charset="0"/>
              <a:buChar char="•"/>
            </a:pPr>
            <a:endParaRPr lang="en-US" sz="2200" dirty="0"/>
          </a:p>
          <a:p>
            <a:pPr>
              <a:buFont typeface="Arial" pitchFamily="34" charset="0"/>
              <a:buChar char="•"/>
            </a:pPr>
            <a:r>
              <a:rPr lang="en-US" sz="2200" dirty="0"/>
              <a:t>Used </a:t>
            </a:r>
            <a:r>
              <a:rPr lang="en-US" sz="2200" dirty="0" err="1"/>
              <a:t>rRNA</a:t>
            </a:r>
            <a:r>
              <a:rPr lang="en-US" sz="2200" dirty="0"/>
              <a:t> sequences which are very conserved.</a:t>
            </a:r>
          </a:p>
          <a:p>
            <a:pPr>
              <a:buFont typeface="Arial" pitchFamily="34" charset="0"/>
              <a:buChar char="•"/>
            </a:pPr>
            <a:endParaRPr lang="en-US" sz="2200" b="1" dirty="0"/>
          </a:p>
          <a:p>
            <a:pPr>
              <a:buFont typeface="Arial" pitchFamily="34" charset="0"/>
              <a:buChar char="•"/>
            </a:pPr>
            <a:r>
              <a:rPr lang="en-US" sz="2200" b="1" dirty="0"/>
              <a:t>Based on Evolution</a:t>
            </a:r>
            <a:r>
              <a:rPr lang="en-US" sz="2200" dirty="0"/>
              <a:t>: Genetic materials (</a:t>
            </a:r>
            <a:r>
              <a:rPr lang="en-US" sz="2200" dirty="0" err="1"/>
              <a:t>rRNA</a:t>
            </a:r>
            <a:r>
              <a:rPr lang="en-US" sz="2200" dirty="0"/>
              <a:t>) were examined and used in revealing evolutionary relationships.</a:t>
            </a:r>
          </a:p>
          <a:p>
            <a:pPr>
              <a:buFont typeface="Arial" pitchFamily="34" charset="0"/>
              <a:buChar char="•"/>
            </a:pPr>
            <a:endParaRPr lang="en-US" sz="2200" dirty="0"/>
          </a:p>
          <a:p>
            <a:pPr>
              <a:buFont typeface="Arial" pitchFamily="34" charset="0"/>
              <a:buChar char="•"/>
            </a:pPr>
            <a:r>
              <a:rPr lang="en-US" sz="2200" dirty="0"/>
              <a:t>Organisms are classified into three major </a:t>
            </a:r>
            <a:r>
              <a:rPr lang="en-US" sz="2200" b="1" dirty="0">
                <a:solidFill>
                  <a:srgbClr val="0070C0"/>
                </a:solidFill>
                <a:effectLst>
                  <a:outerShdw blurRad="38100" dist="38100" dir="2700000" algn="tl">
                    <a:srgbClr val="000000">
                      <a:alpha val="43137"/>
                    </a:srgbClr>
                  </a:outerShdw>
                </a:effectLst>
              </a:rPr>
              <a:t>D</a:t>
            </a:r>
            <a:r>
              <a:rPr lang="en-US" sz="2200" b="1" dirty="0">
                <a:solidFill>
                  <a:srgbClr val="0070C0"/>
                </a:solidFill>
              </a:rPr>
              <a:t>OMAINS</a:t>
            </a:r>
          </a:p>
          <a:p>
            <a:pPr>
              <a:buFont typeface="Arial" pitchFamily="34" charset="0"/>
              <a:buChar char="•"/>
            </a:pPr>
            <a:endParaRPr lang="en-US" sz="2200" b="1" dirty="0">
              <a:solidFill>
                <a:srgbClr val="0070C0"/>
              </a:solidFill>
            </a:endParaRPr>
          </a:p>
          <a:p>
            <a:pPr lvl="4"/>
            <a:r>
              <a:rPr lang="en-US" sz="2200" dirty="0"/>
              <a:t>	1. </a:t>
            </a:r>
            <a:r>
              <a:rPr lang="en-US" sz="2200" dirty="0" err="1"/>
              <a:t>Eukarya</a:t>
            </a:r>
            <a:endParaRPr lang="en-US" sz="2200" dirty="0"/>
          </a:p>
          <a:p>
            <a:pPr lvl="4"/>
            <a:r>
              <a:rPr lang="en-US" sz="2200" dirty="0"/>
              <a:t>	2. Bacteria</a:t>
            </a:r>
          </a:p>
          <a:p>
            <a:pPr lvl="4"/>
            <a:r>
              <a:rPr lang="en-US" sz="2200" dirty="0"/>
              <a:t>	3. </a:t>
            </a:r>
            <a:r>
              <a:rPr lang="en-US" sz="2200" dirty="0" err="1"/>
              <a:t>Archaea</a:t>
            </a:r>
            <a:endParaRPr lang="en-US" sz="2200" dirty="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AutoShape 2" descr="https://upload.wikimedia.org/wikipedia/commons/thumb/b/b7/PhylogeneticTree.png/1280px-PhylogeneticTree.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28" name="AutoShape 4" descr="https://upload.wikimedia.org/wikipedia/commons/thumb/b/b7/PhylogeneticTree.png/1280px-PhylogeneticTree.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5" name="Picture 4" descr="1280px-PhylogeneticTree.png"/>
          <p:cNvPicPr>
            <a:picLocks noChangeAspect="1"/>
          </p:cNvPicPr>
          <p:nvPr/>
        </p:nvPicPr>
        <p:blipFill>
          <a:blip r:embed="rId2"/>
          <a:stretch>
            <a:fillRect/>
          </a:stretch>
        </p:blipFill>
        <p:spPr>
          <a:xfrm>
            <a:off x="228600" y="518636"/>
            <a:ext cx="8839200" cy="6028611"/>
          </a:xfrm>
          <a:prstGeom prst="rect">
            <a:avLst/>
          </a:prstGeom>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1143000"/>
          </a:xfrm>
        </p:spPr>
        <p:txBody>
          <a:bodyPr>
            <a:normAutofit/>
          </a:bodyPr>
          <a:lstStyle/>
          <a:p>
            <a:r>
              <a:rPr lang="en-US" sz="3600" b="1" dirty="0">
                <a:solidFill>
                  <a:schemeClr val="accent2"/>
                </a:solidFill>
              </a:rPr>
              <a:t>Summary of Various classification system</a:t>
            </a:r>
          </a:p>
        </p:txBody>
      </p:sp>
      <p:graphicFrame>
        <p:nvGraphicFramePr>
          <p:cNvPr id="6" name="Table 5"/>
          <p:cNvGraphicFramePr>
            <a:graphicFrameLocks noGrp="1"/>
          </p:cNvGraphicFramePr>
          <p:nvPr/>
        </p:nvGraphicFramePr>
        <p:xfrm>
          <a:off x="990600" y="990600"/>
          <a:ext cx="7086600" cy="5673229"/>
        </p:xfrm>
        <a:graphic>
          <a:graphicData uri="http://schemas.openxmlformats.org/drawingml/2006/table">
            <a:tbl>
              <a:tblPr firstRow="1" bandRow="1">
                <a:tableStyleId>{5C22544A-7EE6-4342-B048-85BDC9FD1C3A}</a:tableStyleId>
              </a:tblPr>
              <a:tblGrid>
                <a:gridCol w="3543300">
                  <a:extLst>
                    <a:ext uri="{9D8B030D-6E8A-4147-A177-3AD203B41FA5}">
                      <a16:colId xmlns:a16="http://schemas.microsoft.com/office/drawing/2014/main" val="20000"/>
                    </a:ext>
                  </a:extLst>
                </a:gridCol>
                <a:gridCol w="3543300">
                  <a:extLst>
                    <a:ext uri="{9D8B030D-6E8A-4147-A177-3AD203B41FA5}">
                      <a16:colId xmlns:a16="http://schemas.microsoft.com/office/drawing/2014/main" val="20001"/>
                    </a:ext>
                  </a:extLst>
                </a:gridCol>
              </a:tblGrid>
              <a:tr h="337045">
                <a:tc>
                  <a:txBody>
                    <a:bodyPr/>
                    <a:lstStyle/>
                    <a:p>
                      <a:r>
                        <a:rPr lang="en-US" dirty="0"/>
                        <a:t>Classification</a:t>
                      </a:r>
                    </a:p>
                  </a:txBody>
                  <a:tcPr/>
                </a:tc>
                <a:tc>
                  <a:txBody>
                    <a:bodyPr/>
                    <a:lstStyle/>
                    <a:p>
                      <a:r>
                        <a:rPr lang="en-US" dirty="0"/>
                        <a:t>System Kingdom</a:t>
                      </a:r>
                    </a:p>
                  </a:txBody>
                  <a:tcPr/>
                </a:tc>
                <a:extLst>
                  <a:ext uri="{0D108BD9-81ED-4DB2-BD59-A6C34878D82A}">
                    <a16:rowId xmlns:a16="http://schemas.microsoft.com/office/drawing/2014/main" val="10000"/>
                  </a:ext>
                </a:extLst>
              </a:tr>
              <a:tr h="589828">
                <a:tc>
                  <a:txBody>
                    <a:bodyPr/>
                    <a:lstStyle/>
                    <a:p>
                      <a:r>
                        <a:rPr lang="en-US" dirty="0"/>
                        <a:t>2- Kingdom System</a:t>
                      </a:r>
                    </a:p>
                  </a:txBody>
                  <a:tcPr/>
                </a:tc>
                <a:tc>
                  <a:txBody>
                    <a:bodyPr/>
                    <a:lstStyle/>
                    <a:p>
                      <a:pPr marL="342900" indent="-342900">
                        <a:buAutoNum type="arabicPeriod"/>
                      </a:pPr>
                      <a:r>
                        <a:rPr lang="en-US" dirty="0" err="1"/>
                        <a:t>Plantae</a:t>
                      </a:r>
                      <a:endParaRPr lang="en-US" dirty="0"/>
                    </a:p>
                    <a:p>
                      <a:pPr marL="342900" indent="-342900">
                        <a:buAutoNum type="arabicPeriod"/>
                      </a:pPr>
                      <a:r>
                        <a:rPr lang="en-US" dirty="0" err="1"/>
                        <a:t>Animalia</a:t>
                      </a:r>
                      <a:endParaRPr lang="en-US" dirty="0"/>
                    </a:p>
                  </a:txBody>
                  <a:tcPr/>
                </a:tc>
                <a:extLst>
                  <a:ext uri="{0D108BD9-81ED-4DB2-BD59-A6C34878D82A}">
                    <a16:rowId xmlns:a16="http://schemas.microsoft.com/office/drawing/2014/main" val="10001"/>
                  </a:ext>
                </a:extLst>
              </a:tr>
              <a:tr h="842611">
                <a:tc>
                  <a:txBody>
                    <a:bodyPr/>
                    <a:lstStyle/>
                    <a:p>
                      <a:r>
                        <a:rPr lang="en-US" dirty="0"/>
                        <a:t>3- Kingdom System</a:t>
                      </a:r>
                    </a:p>
                  </a:txBody>
                  <a:tcPr/>
                </a:tc>
                <a:tc>
                  <a:txBody>
                    <a:bodyPr/>
                    <a:lstStyle/>
                    <a:p>
                      <a:pPr marL="342900" indent="-342900">
                        <a:buAutoNum type="arabicPeriod"/>
                      </a:pPr>
                      <a:r>
                        <a:rPr lang="en-US" dirty="0" err="1"/>
                        <a:t>Plantae</a:t>
                      </a:r>
                      <a:endParaRPr lang="en-US" dirty="0"/>
                    </a:p>
                    <a:p>
                      <a:pPr marL="342900" indent="-342900">
                        <a:buAutoNum type="arabicPeriod"/>
                      </a:pPr>
                      <a:r>
                        <a:rPr lang="en-US" dirty="0" err="1"/>
                        <a:t>Animalia</a:t>
                      </a:r>
                      <a:endParaRPr lang="en-US" dirty="0"/>
                    </a:p>
                    <a:p>
                      <a:pPr marL="342900" indent="-342900">
                        <a:buAutoNum type="arabicPeriod"/>
                      </a:pPr>
                      <a:r>
                        <a:rPr lang="en-US" dirty="0" err="1"/>
                        <a:t>Protista</a:t>
                      </a:r>
                      <a:endParaRPr lang="en-US" dirty="0"/>
                    </a:p>
                  </a:txBody>
                  <a:tcPr/>
                </a:tc>
                <a:extLst>
                  <a:ext uri="{0D108BD9-81ED-4DB2-BD59-A6C34878D82A}">
                    <a16:rowId xmlns:a16="http://schemas.microsoft.com/office/drawing/2014/main" val="10002"/>
                  </a:ext>
                </a:extLst>
              </a:tr>
              <a:tr h="1095395">
                <a:tc>
                  <a:txBody>
                    <a:bodyPr/>
                    <a:lstStyle/>
                    <a:p>
                      <a:r>
                        <a:rPr lang="en-US" dirty="0"/>
                        <a:t>4- Kingdom System</a:t>
                      </a:r>
                    </a:p>
                  </a:txBody>
                  <a:tcPr/>
                </a:tc>
                <a:tc>
                  <a:txBody>
                    <a:bodyPr/>
                    <a:lstStyle/>
                    <a:p>
                      <a:pPr marL="342900" indent="-342900">
                        <a:buAutoNum type="arabicPeriod"/>
                      </a:pPr>
                      <a:r>
                        <a:rPr lang="en-US" dirty="0" err="1"/>
                        <a:t>Plantae</a:t>
                      </a:r>
                      <a:endParaRPr lang="en-US" dirty="0"/>
                    </a:p>
                    <a:p>
                      <a:pPr marL="342900" indent="-342900">
                        <a:buAutoNum type="arabicPeriod"/>
                      </a:pPr>
                      <a:r>
                        <a:rPr lang="en-US" dirty="0" err="1"/>
                        <a:t>Animalia</a:t>
                      </a:r>
                      <a:endParaRPr lang="en-US" dirty="0"/>
                    </a:p>
                    <a:p>
                      <a:pPr marL="342900" indent="-342900">
                        <a:buAutoNum type="arabicPeriod"/>
                      </a:pPr>
                      <a:r>
                        <a:rPr lang="en-US" dirty="0" err="1"/>
                        <a:t>Protista</a:t>
                      </a:r>
                      <a:endParaRPr lang="en-US" dirty="0"/>
                    </a:p>
                    <a:p>
                      <a:pPr marL="342900" indent="-342900">
                        <a:buAutoNum type="arabicPeriod"/>
                      </a:pPr>
                      <a:r>
                        <a:rPr lang="en-US" dirty="0" err="1"/>
                        <a:t>Monera</a:t>
                      </a:r>
                      <a:endParaRPr lang="en-US" dirty="0"/>
                    </a:p>
                  </a:txBody>
                  <a:tcPr/>
                </a:tc>
                <a:extLst>
                  <a:ext uri="{0D108BD9-81ED-4DB2-BD59-A6C34878D82A}">
                    <a16:rowId xmlns:a16="http://schemas.microsoft.com/office/drawing/2014/main" val="10003"/>
                  </a:ext>
                </a:extLst>
              </a:tr>
              <a:tr h="1348178">
                <a:tc>
                  <a:txBody>
                    <a:bodyPr/>
                    <a:lstStyle/>
                    <a:p>
                      <a:r>
                        <a:rPr lang="en-US" dirty="0"/>
                        <a:t>5- Kingdom System</a:t>
                      </a:r>
                    </a:p>
                  </a:txBody>
                  <a:tcPr/>
                </a:tc>
                <a:tc>
                  <a:txBody>
                    <a:bodyPr/>
                    <a:lstStyle/>
                    <a:p>
                      <a:pPr marL="342900" indent="-342900">
                        <a:buAutoNum type="arabicPeriod"/>
                      </a:pPr>
                      <a:r>
                        <a:rPr lang="en-US" dirty="0" err="1"/>
                        <a:t>Plantae</a:t>
                      </a:r>
                      <a:endParaRPr lang="en-US" dirty="0"/>
                    </a:p>
                    <a:p>
                      <a:pPr marL="342900" indent="-342900">
                        <a:buAutoNum type="arabicPeriod"/>
                      </a:pPr>
                      <a:r>
                        <a:rPr lang="en-US" dirty="0" err="1"/>
                        <a:t>Animalia</a:t>
                      </a:r>
                      <a:endParaRPr lang="en-US" dirty="0"/>
                    </a:p>
                    <a:p>
                      <a:pPr marL="342900" indent="-342900">
                        <a:buAutoNum type="arabicPeriod"/>
                      </a:pPr>
                      <a:r>
                        <a:rPr lang="en-US" dirty="0"/>
                        <a:t>Fungi</a:t>
                      </a:r>
                    </a:p>
                    <a:p>
                      <a:pPr marL="342900" indent="-342900">
                        <a:buAutoNum type="arabicPeriod"/>
                      </a:pPr>
                      <a:r>
                        <a:rPr lang="en-US" dirty="0" err="1"/>
                        <a:t>Protista</a:t>
                      </a:r>
                      <a:endParaRPr lang="en-US" dirty="0"/>
                    </a:p>
                    <a:p>
                      <a:pPr marL="342900" indent="-342900">
                        <a:buAutoNum type="arabicPeriod"/>
                      </a:pPr>
                      <a:r>
                        <a:rPr lang="en-US" dirty="0" err="1"/>
                        <a:t>Monera</a:t>
                      </a:r>
                      <a:endParaRPr lang="en-US" dirty="0"/>
                    </a:p>
                  </a:txBody>
                  <a:tcPr/>
                </a:tc>
                <a:extLst>
                  <a:ext uri="{0D108BD9-81ED-4DB2-BD59-A6C34878D82A}">
                    <a16:rowId xmlns:a16="http://schemas.microsoft.com/office/drawing/2014/main" val="10004"/>
                  </a:ext>
                </a:extLst>
              </a:tr>
              <a:tr h="1101229">
                <a:tc>
                  <a:txBody>
                    <a:bodyPr/>
                    <a:lstStyle/>
                    <a:p>
                      <a:r>
                        <a:rPr lang="en-US" dirty="0"/>
                        <a:t>6-</a:t>
                      </a:r>
                      <a:r>
                        <a:rPr lang="en-US" baseline="0" dirty="0"/>
                        <a:t> Phylogenetic system</a:t>
                      </a:r>
                      <a:endParaRPr lang="en-US" dirty="0"/>
                    </a:p>
                  </a:txBody>
                  <a:tcPr/>
                </a:tc>
                <a:tc>
                  <a:txBody>
                    <a:bodyPr/>
                    <a:lstStyle/>
                    <a:p>
                      <a:pPr marL="342900" indent="-342900">
                        <a:buAutoNum type="arabicPeriod"/>
                      </a:pPr>
                      <a:r>
                        <a:rPr lang="en-US" dirty="0"/>
                        <a:t>Archaea</a:t>
                      </a:r>
                    </a:p>
                    <a:p>
                      <a:pPr marL="342900" indent="-342900">
                        <a:buAutoNum type="arabicPeriod"/>
                      </a:pPr>
                      <a:r>
                        <a:rPr lang="en-US" dirty="0"/>
                        <a:t>Bacteria</a:t>
                      </a:r>
                    </a:p>
                    <a:p>
                      <a:pPr marL="342900" indent="-342900">
                        <a:buAutoNum type="arabicPeriod"/>
                      </a:pPr>
                      <a:r>
                        <a:rPr lang="en-US" dirty="0" err="1"/>
                        <a:t>Eukarya</a:t>
                      </a:r>
                      <a:endParaRPr lang="en-US" dirty="0"/>
                    </a:p>
                  </a:txBody>
                  <a:tcPr/>
                </a:tc>
                <a:extLst>
                  <a:ext uri="{0D108BD9-81ED-4DB2-BD59-A6C34878D82A}">
                    <a16:rowId xmlns:a16="http://schemas.microsoft.com/office/drawing/2014/main" val="10005"/>
                  </a:ext>
                </a:extLst>
              </a:tr>
            </a:tbl>
          </a:graphicData>
        </a:graphic>
      </p:graphicFrame>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303213" y="90488"/>
            <a:ext cx="8543925" cy="609600"/>
          </a:xfrm>
        </p:spPr>
        <p:txBody>
          <a:bodyPr>
            <a:normAutofit fontScale="90000"/>
          </a:bodyPr>
          <a:lstStyle/>
          <a:p>
            <a:r>
              <a:rPr lang="en-US"/>
              <a:t>Meet your human taxonomy</a:t>
            </a:r>
          </a:p>
        </p:txBody>
      </p:sp>
      <p:pic>
        <p:nvPicPr>
          <p:cNvPr id="27651" name="Picture 3"/>
          <p:cNvPicPr>
            <a:picLocks noChangeAspect="1" noChangeArrowheads="1"/>
          </p:cNvPicPr>
          <p:nvPr/>
        </p:nvPicPr>
        <p:blipFill>
          <a:blip r:embed="rId3" cstate="print"/>
          <a:srcRect/>
          <a:stretch>
            <a:fillRect/>
          </a:stretch>
        </p:blipFill>
        <p:spPr bwMode="auto">
          <a:xfrm>
            <a:off x="423863" y="919163"/>
            <a:ext cx="8277225" cy="5743575"/>
          </a:xfrm>
          <a:prstGeom prst="rect">
            <a:avLst/>
          </a:prstGeom>
          <a:noFill/>
          <a:ln w="9525">
            <a:noFill/>
            <a:miter lim="800000"/>
            <a:headEnd/>
            <a:tailEnd/>
          </a:ln>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303213" y="90488"/>
            <a:ext cx="8543925" cy="609600"/>
          </a:xfrm>
        </p:spPr>
        <p:txBody>
          <a:bodyPr>
            <a:normAutofit fontScale="90000"/>
          </a:bodyPr>
          <a:lstStyle/>
          <a:p>
            <a:r>
              <a:rPr lang="en-US"/>
              <a:t>Meet your human taxonomy</a:t>
            </a:r>
          </a:p>
        </p:txBody>
      </p:sp>
      <p:pic>
        <p:nvPicPr>
          <p:cNvPr id="28675" name="Picture 2"/>
          <p:cNvPicPr>
            <a:picLocks noChangeAspect="1" noChangeArrowheads="1"/>
          </p:cNvPicPr>
          <p:nvPr/>
        </p:nvPicPr>
        <p:blipFill>
          <a:blip r:embed="rId3" cstate="print"/>
          <a:srcRect/>
          <a:stretch>
            <a:fillRect/>
          </a:stretch>
        </p:blipFill>
        <p:spPr bwMode="auto">
          <a:xfrm>
            <a:off x="415925" y="1066800"/>
            <a:ext cx="8296275" cy="5362575"/>
          </a:xfrm>
          <a:prstGeom prst="rect">
            <a:avLst/>
          </a:prstGeom>
          <a:noFill/>
          <a:ln w="9525">
            <a:noFill/>
            <a:miter lim="800000"/>
            <a:headEnd/>
            <a:tailEnd/>
          </a:ln>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303213" y="90488"/>
            <a:ext cx="8543925" cy="609600"/>
          </a:xfrm>
        </p:spPr>
        <p:txBody>
          <a:bodyPr>
            <a:normAutofit fontScale="90000"/>
          </a:bodyPr>
          <a:lstStyle/>
          <a:p>
            <a:r>
              <a:rPr lang="en-US"/>
              <a:t>Meet your human taxonomy</a:t>
            </a:r>
          </a:p>
        </p:txBody>
      </p:sp>
      <p:pic>
        <p:nvPicPr>
          <p:cNvPr id="29699" name="Picture 2"/>
          <p:cNvPicPr>
            <a:picLocks noChangeAspect="1" noChangeArrowheads="1"/>
          </p:cNvPicPr>
          <p:nvPr/>
        </p:nvPicPr>
        <p:blipFill>
          <a:blip r:embed="rId3" cstate="print"/>
          <a:srcRect/>
          <a:stretch>
            <a:fillRect/>
          </a:stretch>
        </p:blipFill>
        <p:spPr bwMode="auto">
          <a:xfrm>
            <a:off x="-6350" y="1074738"/>
            <a:ext cx="9150350" cy="3876675"/>
          </a:xfrm>
          <a:prstGeom prst="rect">
            <a:avLst/>
          </a:prstGeom>
          <a:noFill/>
          <a:ln w="9525">
            <a:noFill/>
            <a:miter lim="800000"/>
            <a:headEnd/>
            <a:tailEnd/>
          </a:ln>
        </p:spPr>
      </p:pic>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3" descr="Hominidae_panoply_by_unlobogris.jpg"/>
          <p:cNvPicPr>
            <a:picLocks noChangeAspect="1"/>
          </p:cNvPicPr>
          <p:nvPr/>
        </p:nvPicPr>
        <p:blipFill>
          <a:blip r:embed="rId3" cstate="print"/>
          <a:srcRect t="32004"/>
          <a:stretch>
            <a:fillRect/>
          </a:stretch>
        </p:blipFill>
        <p:spPr bwMode="auto">
          <a:xfrm>
            <a:off x="44450" y="838200"/>
            <a:ext cx="9069388" cy="4419600"/>
          </a:xfrm>
          <a:prstGeom prst="rect">
            <a:avLst/>
          </a:prstGeom>
          <a:noFill/>
          <a:ln w="9525">
            <a:noFill/>
            <a:miter lim="800000"/>
            <a:headEnd/>
            <a:tailEnd/>
          </a:ln>
        </p:spPr>
      </p:pic>
      <p:sp>
        <p:nvSpPr>
          <p:cNvPr id="30723" name="TextBox 4"/>
          <p:cNvSpPr txBox="1">
            <a:spLocks noChangeArrowheads="1"/>
          </p:cNvSpPr>
          <p:nvPr/>
        </p:nvSpPr>
        <p:spPr bwMode="auto">
          <a:xfrm>
            <a:off x="228600" y="5410200"/>
            <a:ext cx="8686800" cy="1200329"/>
          </a:xfrm>
          <a:prstGeom prst="rect">
            <a:avLst/>
          </a:prstGeom>
          <a:noFill/>
          <a:ln w="9525">
            <a:noFill/>
            <a:miter lim="800000"/>
            <a:headEnd/>
            <a:tailEnd/>
          </a:ln>
        </p:spPr>
        <p:txBody>
          <a:bodyPr>
            <a:spAutoFit/>
          </a:bodyPr>
          <a:lstStyle/>
          <a:p>
            <a:r>
              <a:rPr lang="en-US" b="1" i="1" dirty="0">
                <a:solidFill>
                  <a:srgbClr val="9900FF"/>
                </a:solidFill>
              </a:rPr>
              <a:t>-Homo </a:t>
            </a:r>
            <a:r>
              <a:rPr lang="en-US" b="1" i="1" dirty="0" err="1">
                <a:solidFill>
                  <a:srgbClr val="9900FF"/>
                </a:solidFill>
              </a:rPr>
              <a:t>habilis</a:t>
            </a:r>
            <a:r>
              <a:rPr lang="en-US" b="1" i="1" dirty="0">
                <a:solidFill>
                  <a:srgbClr val="9900FF"/>
                </a:solidFill>
              </a:rPr>
              <a:t> </a:t>
            </a:r>
            <a:r>
              <a:rPr lang="en-US" dirty="0">
                <a:solidFill>
                  <a:srgbClr val="9900FF"/>
                </a:solidFill>
              </a:rPr>
              <a:t>(</a:t>
            </a:r>
            <a:r>
              <a:rPr lang="en-GB" dirty="0">
                <a:solidFill>
                  <a:srgbClr val="9900FF"/>
                </a:solidFill>
              </a:rPr>
              <a:t>have long hands</a:t>
            </a:r>
            <a:r>
              <a:rPr lang="en-US" dirty="0">
                <a:solidFill>
                  <a:srgbClr val="9900FF"/>
                </a:solidFill>
              </a:rPr>
              <a:t>)</a:t>
            </a:r>
            <a:r>
              <a:rPr lang="en-US" b="1" i="1" dirty="0">
                <a:solidFill>
                  <a:srgbClr val="9900FF"/>
                </a:solidFill>
              </a:rPr>
              <a:t>-H. </a:t>
            </a:r>
            <a:r>
              <a:rPr lang="en-US" b="1" i="1" dirty="0" err="1">
                <a:solidFill>
                  <a:srgbClr val="9900FF"/>
                </a:solidFill>
              </a:rPr>
              <a:t>rudolfensis</a:t>
            </a:r>
            <a:r>
              <a:rPr lang="en-US" b="1" i="1" dirty="0">
                <a:solidFill>
                  <a:srgbClr val="9900FF"/>
                </a:solidFill>
              </a:rPr>
              <a:t> </a:t>
            </a:r>
            <a:r>
              <a:rPr lang="en-US" b="1" i="1" dirty="0"/>
              <a:t>-</a:t>
            </a:r>
            <a:r>
              <a:rPr lang="en-US" b="1" i="1" dirty="0">
                <a:solidFill>
                  <a:srgbClr val="FF0000"/>
                </a:solidFill>
              </a:rPr>
              <a:t>H. </a:t>
            </a:r>
            <a:r>
              <a:rPr lang="en-US" b="1" i="1" dirty="0" err="1">
                <a:solidFill>
                  <a:srgbClr val="FF0000"/>
                </a:solidFill>
              </a:rPr>
              <a:t>ergaster</a:t>
            </a:r>
            <a:r>
              <a:rPr lang="en-US" b="1" i="1" dirty="0">
                <a:solidFill>
                  <a:srgbClr val="FF0000"/>
                </a:solidFill>
              </a:rPr>
              <a:t> </a:t>
            </a:r>
            <a:r>
              <a:rPr lang="en-US" dirty="0">
                <a:solidFill>
                  <a:srgbClr val="FF0000"/>
                </a:solidFill>
              </a:rPr>
              <a:t>(African upright man)</a:t>
            </a:r>
            <a:r>
              <a:rPr lang="en-US" b="1" i="1" dirty="0">
                <a:solidFill>
                  <a:srgbClr val="FF0000"/>
                </a:solidFill>
              </a:rPr>
              <a:t> -H. erectus </a:t>
            </a:r>
            <a:r>
              <a:rPr lang="en-US" dirty="0">
                <a:solidFill>
                  <a:srgbClr val="FF0000"/>
                </a:solidFill>
              </a:rPr>
              <a:t>(upright man)</a:t>
            </a:r>
            <a:r>
              <a:rPr lang="en-US" b="1" i="1" dirty="0">
                <a:solidFill>
                  <a:srgbClr val="FF0000"/>
                </a:solidFill>
              </a:rPr>
              <a:t> </a:t>
            </a:r>
            <a:r>
              <a:rPr lang="en-US" b="1" i="1" dirty="0"/>
              <a:t>-</a:t>
            </a:r>
            <a:r>
              <a:rPr lang="en-US" b="1" i="1" dirty="0">
                <a:solidFill>
                  <a:srgbClr val="0000FF"/>
                </a:solidFill>
              </a:rPr>
              <a:t>H. </a:t>
            </a:r>
            <a:r>
              <a:rPr lang="en-US" b="1" i="1" dirty="0" err="1">
                <a:solidFill>
                  <a:srgbClr val="0000FF"/>
                </a:solidFill>
              </a:rPr>
              <a:t>heidelbergensis</a:t>
            </a:r>
            <a:r>
              <a:rPr lang="en-US" b="1" i="1" dirty="0">
                <a:solidFill>
                  <a:srgbClr val="0000FF"/>
                </a:solidFill>
              </a:rPr>
              <a:t> -H. </a:t>
            </a:r>
            <a:r>
              <a:rPr lang="en-US" b="1" i="1" dirty="0" err="1">
                <a:solidFill>
                  <a:srgbClr val="0000FF"/>
                </a:solidFill>
              </a:rPr>
              <a:t>rhodesiensis</a:t>
            </a:r>
            <a:r>
              <a:rPr lang="en-US" b="1" i="1" dirty="0">
                <a:solidFill>
                  <a:srgbClr val="0000FF"/>
                </a:solidFill>
              </a:rPr>
              <a:t> </a:t>
            </a:r>
            <a:r>
              <a:rPr lang="en-US" b="1" i="1" dirty="0"/>
              <a:t>–</a:t>
            </a:r>
            <a:br>
              <a:rPr lang="en-US" b="1" i="1" dirty="0"/>
            </a:br>
            <a:r>
              <a:rPr lang="en-US" b="1" i="1" dirty="0"/>
              <a:t>H. </a:t>
            </a:r>
            <a:r>
              <a:rPr lang="en-US" b="1" i="1" dirty="0" err="1"/>
              <a:t>neanderthalensis</a:t>
            </a:r>
            <a:r>
              <a:rPr lang="en-US" b="1" i="1" dirty="0"/>
              <a:t> -H. sapiens</a:t>
            </a:r>
            <a:br>
              <a:rPr lang="en-US" dirty="0"/>
            </a:br>
            <a:endParaRPr lang="en-US" dirty="0"/>
          </a:p>
        </p:txBody>
      </p:sp>
      <p:sp>
        <p:nvSpPr>
          <p:cNvPr id="30724" name="Title 1"/>
          <p:cNvSpPr>
            <a:spLocks noGrp="1"/>
          </p:cNvSpPr>
          <p:nvPr>
            <p:ph type="title"/>
          </p:nvPr>
        </p:nvSpPr>
        <p:spPr>
          <a:xfrm>
            <a:off x="303213" y="90488"/>
            <a:ext cx="8543925" cy="609600"/>
          </a:xfrm>
        </p:spPr>
        <p:txBody>
          <a:bodyPr>
            <a:normAutofit fontScale="90000"/>
          </a:bodyPr>
          <a:lstStyle/>
          <a:p>
            <a:r>
              <a:rPr lang="en-US"/>
              <a:t>Meet your human taxonomy</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303213" y="90488"/>
            <a:ext cx="8543925" cy="609600"/>
          </a:xfrm>
        </p:spPr>
        <p:txBody>
          <a:bodyPr>
            <a:normAutofit fontScale="90000"/>
          </a:bodyPr>
          <a:lstStyle/>
          <a:p>
            <a:r>
              <a:rPr lang="en-US"/>
              <a:t>Meet your human taxonomy</a:t>
            </a:r>
          </a:p>
        </p:txBody>
      </p:sp>
      <p:pic>
        <p:nvPicPr>
          <p:cNvPr id="32771" name="Picture 2"/>
          <p:cNvPicPr>
            <a:picLocks noChangeAspect="1" noChangeArrowheads="1"/>
          </p:cNvPicPr>
          <p:nvPr/>
        </p:nvPicPr>
        <p:blipFill>
          <a:blip r:embed="rId3" cstate="print"/>
          <a:srcRect/>
          <a:stretch>
            <a:fillRect/>
          </a:stretch>
        </p:blipFill>
        <p:spPr bwMode="auto">
          <a:xfrm>
            <a:off x="1947863" y="838200"/>
            <a:ext cx="5257800" cy="5789613"/>
          </a:xfrm>
          <a:prstGeom prst="rect">
            <a:avLst/>
          </a:prstGeom>
          <a:noFill/>
          <a:ln w="9525">
            <a:noFill/>
            <a:miter lim="800000"/>
            <a:headEnd/>
            <a:tailEnd/>
          </a:ln>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2" descr="Image result for thank you"/>
          <p:cNvPicPr>
            <a:picLocks noChangeAspect="1" noChangeArrowheads="1"/>
          </p:cNvPicPr>
          <p:nvPr/>
        </p:nvPicPr>
        <p:blipFill>
          <a:blip r:embed="rId2"/>
          <a:srcRect/>
          <a:stretch>
            <a:fillRect/>
          </a:stretch>
        </p:blipFill>
        <p:spPr bwMode="auto">
          <a:xfrm>
            <a:off x="990600" y="1600200"/>
            <a:ext cx="7115175" cy="3743325"/>
          </a:xfrm>
          <a:prstGeom prst="rect">
            <a:avLst/>
          </a:prstGeom>
          <a:noFill/>
        </p:spPr>
      </p:pic>
    </p:spTree>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2141</TotalTime>
  <Words>2515</Words>
  <Application>Microsoft Office PowerPoint</Application>
  <PresentationFormat>On-screen Show (4:3)</PresentationFormat>
  <Paragraphs>259</Paragraphs>
  <Slides>21</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Albertus Extra Bold</vt:lpstr>
      <vt:lpstr>Arial</vt:lpstr>
      <vt:lpstr>Arial Narrow</vt:lpstr>
      <vt:lpstr>Calibri</vt:lpstr>
      <vt:lpstr>Courier New</vt:lpstr>
      <vt:lpstr>Wingdings</vt:lpstr>
      <vt:lpstr>Office Theme</vt:lpstr>
      <vt:lpstr>Classification of Living Things </vt:lpstr>
      <vt:lpstr>Take Home points</vt:lpstr>
      <vt:lpstr>Classification of Living Things </vt:lpstr>
      <vt:lpstr>What is Classification?</vt:lpstr>
      <vt:lpstr>Early Biological Classification </vt:lpstr>
      <vt:lpstr>Modern Biological Classification </vt:lpstr>
      <vt:lpstr>Binomial nomenclature</vt:lpstr>
      <vt:lpstr>PowerPoint Presentation</vt:lpstr>
      <vt:lpstr>Why Use Scientific Names? </vt:lpstr>
      <vt:lpstr>Main classification groups(taxa)</vt:lpstr>
      <vt:lpstr>PowerPoint Presentation</vt:lpstr>
      <vt:lpstr>Modern Basis for Classification </vt:lpstr>
      <vt:lpstr>Phylogenetic System</vt:lpstr>
      <vt:lpstr>PowerPoint Presentation</vt:lpstr>
      <vt:lpstr>Summary of Various classification system</vt:lpstr>
      <vt:lpstr>Meet your human taxonomy</vt:lpstr>
      <vt:lpstr>Meet your human taxonomy</vt:lpstr>
      <vt:lpstr>Meet your human taxonomy</vt:lpstr>
      <vt:lpstr>Meet your human taxonomy</vt:lpstr>
      <vt:lpstr>Meet your human taxonomy</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mahbubul.morshed@gmail.com</cp:lastModifiedBy>
  <cp:revision>378</cp:revision>
  <dcterms:created xsi:type="dcterms:W3CDTF">2007-09-27T06:06:43Z</dcterms:created>
  <dcterms:modified xsi:type="dcterms:W3CDTF">2026-05-31T05:33:40Z</dcterms:modified>
</cp:coreProperties>
</file>