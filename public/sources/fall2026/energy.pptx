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62" r:id="rId10"/>
    <p:sldId id="263" r:id="rId11"/>
    <p:sldId id="264" r:id="rId12"/>
    <p:sldId id="265" r:id="rId13"/>
    <p:sldId id="266" r:id="rId14"/>
    <p:sldId id="280" r:id="rId15"/>
    <p:sldId id="267" r:id="rId16"/>
    <p:sldId id="270" r:id="rId17"/>
    <p:sldId id="272" r:id="rId18"/>
    <p:sldId id="275" r:id="rId19"/>
    <p:sldId id="276" r:id="rId20"/>
    <p:sldId id="281" r:id="rId21"/>
    <p:sldId id="291" r:id="rId22"/>
    <p:sldId id="271" r:id="rId23"/>
    <p:sldId id="284" r:id="rId24"/>
    <p:sldId id="283" r:id="rId25"/>
    <p:sldId id="282" r:id="rId26"/>
    <p:sldId id="285" r:id="rId27"/>
    <p:sldId id="286" r:id="rId28"/>
    <p:sldId id="287" r:id="rId29"/>
    <p:sldId id="288" r:id="rId30"/>
    <p:sldId id="289" r:id="rId31"/>
    <p:sldId id="29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45" autoAdjust="0"/>
  </p:normalViewPr>
  <p:slideViewPr>
    <p:cSldViewPr>
      <p:cViewPr varScale="1">
        <p:scale>
          <a:sx n="66" d="100"/>
          <a:sy n="66" d="100"/>
        </p:scale>
        <p:origin x="15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FF76E-0D66-4691-8798-8A5009A3E88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0D663-7587-4E96-BAC8-6102EB9945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8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89BD20C-0137-4B0C-A916-78428B8B169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5845BF8-272A-4FDC-AB52-0AB0DDC96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4090416"/>
            <a:ext cx="7406640" cy="1472184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</a:rPr>
              <a:t>BIO103</a:t>
            </a:r>
            <a:br>
              <a:rPr lang="en-US" b="1" dirty="0">
                <a:effectLst/>
              </a:rPr>
            </a:br>
            <a:br>
              <a:rPr lang="en-US" b="1" dirty="0">
                <a:effectLst/>
              </a:rPr>
            </a:br>
            <a:r>
              <a:rPr lang="en-US" b="1" dirty="0">
                <a:effectLst/>
              </a:rPr>
              <a:t>Energy of Life</a:t>
            </a:r>
            <a:br>
              <a:rPr lang="en-US" b="1" dirty="0">
                <a:effectLst/>
              </a:rPr>
            </a:br>
            <a:br>
              <a:rPr lang="en-US" b="1" dirty="0">
                <a:effectLst/>
              </a:rPr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514600" y="6172200"/>
            <a:ext cx="3496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Prof. Dr. Md. </a:t>
            </a:r>
            <a:r>
              <a:rPr lang="en-US" sz="2000" dirty="0" err="1"/>
              <a:t>Mahbubul</a:t>
            </a:r>
            <a:r>
              <a:rPr lang="en-US" sz="2000" dirty="0"/>
              <a:t> Morshed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Lecture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646237"/>
            <a:ext cx="7848600" cy="422116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GB" sz="3200" dirty="0"/>
              <a:t>What is cellular respiration? 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The summation equation for cellular respiration. 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Energy transfer by ATP. 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The role of ATP in cellular respiration.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 Anaerobic respiration. 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Enzymes</a:t>
            </a:r>
          </a:p>
          <a:p>
            <a:pPr>
              <a:lnSpc>
                <a:spcPct val="150000"/>
              </a:lnSpc>
            </a:pPr>
            <a:r>
              <a:rPr lang="en-GB" dirty="0"/>
              <a:t>Photosynthesis</a:t>
            </a:r>
          </a:p>
          <a:p>
            <a:pPr>
              <a:lnSpc>
                <a:spcPct val="150000"/>
              </a:lnSpc>
            </a:pPr>
            <a:r>
              <a:rPr lang="en-GB" sz="3200" dirty="0"/>
              <a:t>Take home message!</a:t>
            </a:r>
          </a:p>
          <a:p>
            <a:pPr>
              <a:lnSpc>
                <a:spcPct val="150000"/>
              </a:lnSpc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920" y="182562"/>
            <a:ext cx="7498080" cy="884238"/>
          </a:xfrm>
        </p:spPr>
        <p:txBody>
          <a:bodyPr>
            <a:normAutofit/>
          </a:bodyPr>
          <a:lstStyle/>
          <a:p>
            <a:r>
              <a:rPr lang="en-US" sz="4200" b="1" dirty="0">
                <a:effectLst/>
              </a:rPr>
              <a:t>What is Cellular Respiration?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81328"/>
            <a:ext cx="7924800" cy="537667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800" i="1" dirty="0"/>
              <a:t>The process by which living cells break down </a:t>
            </a:r>
            <a:r>
              <a:rPr lang="en-GB" sz="2800" b="1" i="1" dirty="0">
                <a:solidFill>
                  <a:schemeClr val="bg2">
                    <a:lumMod val="50000"/>
                  </a:schemeClr>
                </a:solidFill>
              </a:rPr>
              <a:t>glucose </a:t>
            </a:r>
            <a:r>
              <a:rPr lang="en-GB" sz="2800" i="1" dirty="0"/>
              <a:t>molecules and release stored chemical potential </a:t>
            </a:r>
            <a:r>
              <a:rPr lang="en-GB" sz="2800" b="1" i="1" dirty="0">
                <a:solidFill>
                  <a:schemeClr val="bg2">
                    <a:lumMod val="50000"/>
                  </a:schemeClr>
                </a:solidFill>
              </a:rPr>
              <a:t>energy</a:t>
            </a:r>
            <a:endParaRPr lang="en-GB" sz="2800" b="1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800" dirty="0"/>
              <a:t>Occurs in </a:t>
            </a:r>
            <a:r>
              <a:rPr lang="en-GB" sz="2800" b="1" dirty="0">
                <a:solidFill>
                  <a:schemeClr val="accent6"/>
                </a:solidFill>
              </a:rPr>
              <a:t>Mitochondria.</a:t>
            </a:r>
            <a:endParaRPr lang="en-US" sz="2800" b="1" dirty="0">
              <a:solidFill>
                <a:schemeClr val="accent6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“Burning” of Glucose </a:t>
            </a:r>
            <a:r>
              <a:rPr lang="en-US" sz="2800" dirty="0">
                <a:sym typeface="Wingdings" pitchFamily="2" charset="2"/>
              </a:rPr>
              <a:t> also called Oxidation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Don’t confuse respiration with breathing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80772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Breathing vs. Cellular Respiration</a:t>
            </a:r>
          </a:p>
        </p:txBody>
      </p:sp>
      <p:pic>
        <p:nvPicPr>
          <p:cNvPr id="12" name="Picture 11" descr="http://i.ytimg.com/vi/4YSgo5ennAI/hqdefault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676400"/>
            <a:ext cx="6781800" cy="51816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498080" cy="1143000"/>
          </a:xfrm>
        </p:spPr>
        <p:txBody>
          <a:bodyPr/>
          <a:lstStyle/>
          <a:p>
            <a:pPr algn="ctr"/>
            <a:r>
              <a:rPr lang="en-US" b="1" dirty="0">
                <a:effectLst/>
              </a:rPr>
              <a:t>Oxidation/Burning</a:t>
            </a:r>
          </a:p>
        </p:txBody>
      </p:sp>
      <p:pic>
        <p:nvPicPr>
          <p:cNvPr id="4" name="Content Placeholder 3" descr="Chubby St top.jpg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0" y="1722120"/>
            <a:ext cx="6035040" cy="452628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320"/>
            <a:ext cx="7943088" cy="1021080"/>
          </a:xfrm>
        </p:spPr>
        <p:txBody>
          <a:bodyPr>
            <a:normAutofit/>
          </a:bodyPr>
          <a:lstStyle/>
          <a:p>
            <a:r>
              <a:rPr lang="en-GB" b="1" dirty="0">
                <a:effectLst/>
              </a:rPr>
              <a:t>Equation for cellular respiratio</a:t>
            </a:r>
            <a:r>
              <a:rPr lang="en-GB" b="1" dirty="0"/>
              <a:t>n</a:t>
            </a:r>
            <a:endParaRPr lang="en-US" b="1" dirty="0"/>
          </a:p>
        </p:txBody>
      </p:sp>
      <p:pic>
        <p:nvPicPr>
          <p:cNvPr id="2058" name="Picture 10" descr="http://cronodon.com/sitebuilder/images/respiration_equation-600x12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524000"/>
            <a:ext cx="7858425" cy="1624076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838200" y="3049012"/>
            <a:ext cx="7772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i="1" dirty="0"/>
              <a:t>Enzymes modulate the reaction.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 This is the </a:t>
            </a:r>
            <a:r>
              <a:rPr lang="en-US" sz="2400" i="1" dirty="0"/>
              <a:t>‘Sum-up’ </a:t>
            </a:r>
            <a:r>
              <a:rPr lang="en-US" sz="2400" dirty="0"/>
              <a:t>of main process, tells us about the starting material and end-product of the process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But how this process occur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FF0000"/>
                </a:solidFill>
              </a:rPr>
              <a:t>		Anabolic or Catabolic?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1447800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Enzymes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208" y="121920"/>
            <a:ext cx="5803392" cy="944880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Catabolism VS. Anabolism</a:t>
            </a:r>
          </a:p>
        </p:txBody>
      </p:sp>
      <p:pic>
        <p:nvPicPr>
          <p:cNvPr id="3" name="Picture 2" descr="http://library.med.utah.edu/NetBiochem/bet/be02.gif"/>
          <p:cNvPicPr/>
          <p:nvPr/>
        </p:nvPicPr>
        <p:blipFill>
          <a:blip r:embed="rId2" cstate="print"/>
          <a:srcRect t="7246"/>
          <a:stretch>
            <a:fillRect/>
          </a:stretch>
        </p:blipFill>
        <p:spPr bwMode="auto">
          <a:xfrm>
            <a:off x="685800" y="1524000"/>
            <a:ext cx="8001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6200"/>
            <a:ext cx="5885688" cy="1143000"/>
          </a:xfrm>
        </p:spPr>
        <p:txBody>
          <a:bodyPr/>
          <a:lstStyle/>
          <a:p>
            <a:pPr algn="ctr"/>
            <a:r>
              <a:rPr lang="en-US" dirty="0">
                <a:effectLst/>
              </a:rPr>
              <a:t>Let’s learn it again…</a:t>
            </a:r>
          </a:p>
        </p:txBody>
      </p:sp>
      <p:pic>
        <p:nvPicPr>
          <p:cNvPr id="3" name="Picture 2" descr="http://general.utpb.edu/FAC/eldridge_j/Kine6360/Unit%202%20html%20file/Content%20Display%20%20Unit%202%20-%20Energy%20Metabolism_files/12G-catabolism&amp;anabolism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76400"/>
            <a:ext cx="5334000" cy="44196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7498080" cy="114300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ATP-The major energy currency</a:t>
            </a:r>
            <a:endParaRPr lang="en-US" dirty="0">
              <a:effectLst/>
            </a:endParaRPr>
          </a:p>
        </p:txBody>
      </p:sp>
      <p:pic>
        <p:nvPicPr>
          <p:cNvPr id="6" name="Content Placeholder 5" descr="ATP_chemical_structure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904815" y="2362200"/>
            <a:ext cx="8086785" cy="4495800"/>
          </a:xfrm>
        </p:spPr>
      </p:pic>
      <p:sp>
        <p:nvSpPr>
          <p:cNvPr id="7" name="TextBox 6"/>
          <p:cNvSpPr txBox="1"/>
          <p:nvPr/>
        </p:nvSpPr>
        <p:spPr>
          <a:xfrm>
            <a:off x="609600" y="1447800"/>
            <a:ext cx="7162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For boosting up –need energy.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/>
              <a:t> This substance can quickly store energy and release energy.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/>
              <a:t>Storage, transfer and release energy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45920" y="152400"/>
            <a:ext cx="7498080" cy="1143000"/>
          </a:xfrm>
        </p:spPr>
        <p:txBody>
          <a:bodyPr/>
          <a:lstStyle/>
          <a:p>
            <a:r>
              <a:rPr lang="en-GB" dirty="0">
                <a:effectLst/>
              </a:rPr>
              <a:t>Energy transfer by ATP. </a:t>
            </a:r>
            <a:endParaRPr lang="en-US" dirty="0">
              <a:effectLst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ATP has a complex structural formula. </a:t>
            </a:r>
            <a:r>
              <a:rPr lang="en-GB" b="1" dirty="0"/>
              <a:t>A</a:t>
            </a:r>
            <a:r>
              <a:rPr lang="en-GB" b="1" dirty="0">
                <a:sym typeface="Symbol"/>
              </a:rPr>
              <a:t></a:t>
            </a:r>
            <a:r>
              <a:rPr lang="en-GB" b="1" dirty="0">
                <a:sym typeface="Webdings"/>
              </a:rPr>
              <a:t></a:t>
            </a:r>
            <a:r>
              <a:rPr lang="en-GB" b="1" dirty="0"/>
              <a:t>~</a:t>
            </a:r>
            <a:r>
              <a:rPr lang="en-GB" b="1" dirty="0">
                <a:sym typeface="Webdings"/>
              </a:rPr>
              <a:t></a:t>
            </a:r>
            <a:r>
              <a:rPr lang="en-GB" b="1" dirty="0"/>
              <a:t>~</a:t>
            </a:r>
            <a:r>
              <a:rPr lang="en-GB" b="1" dirty="0">
                <a:sym typeface="Webdings"/>
              </a:rPr>
              <a:t></a:t>
            </a:r>
            <a:r>
              <a:rPr lang="en-GB" dirty="0"/>
              <a:t>.</a:t>
            </a:r>
            <a:endParaRPr lang="en-US" dirty="0"/>
          </a:p>
          <a:p>
            <a:r>
              <a:rPr lang="en-GB" dirty="0"/>
              <a:t>The </a:t>
            </a:r>
            <a:r>
              <a:rPr lang="en-GB" b="1" dirty="0"/>
              <a:t>A</a:t>
            </a:r>
            <a:r>
              <a:rPr lang="en-GB" dirty="0"/>
              <a:t> stands for adenosine and each </a:t>
            </a:r>
            <a:r>
              <a:rPr lang="en-GB" b="1" dirty="0">
                <a:sym typeface="Webdings"/>
              </a:rPr>
              <a:t></a:t>
            </a:r>
            <a:r>
              <a:rPr lang="en-GB" dirty="0"/>
              <a:t> stands for one phosphate group.</a:t>
            </a:r>
            <a:endParaRPr lang="en-US" dirty="0"/>
          </a:p>
          <a:p>
            <a:r>
              <a:rPr lang="en-GB" dirty="0"/>
              <a:t>The wavy lines (</a:t>
            </a:r>
            <a:r>
              <a:rPr lang="en-GB" b="1" dirty="0"/>
              <a:t>~</a:t>
            </a:r>
            <a:r>
              <a:rPr lang="en-GB" dirty="0"/>
              <a:t>) represent high-energy phosphate bonds.</a:t>
            </a:r>
          </a:p>
          <a:p>
            <a:r>
              <a:rPr lang="en-GB" dirty="0"/>
              <a:t>Breaking of each bond releases 7 kilo-calories of energy.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35608" y="76200"/>
            <a:ext cx="7498080" cy="838200"/>
          </a:xfrm>
        </p:spPr>
        <p:txBody>
          <a:bodyPr/>
          <a:lstStyle/>
          <a:p>
            <a:r>
              <a:rPr lang="en-GB" dirty="0">
                <a:effectLst/>
              </a:rPr>
              <a:t>Energy transfer by ATP. </a:t>
            </a:r>
            <a:endParaRPr lang="en-US" dirty="0">
              <a:effectLst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838200" y="1600200"/>
            <a:ext cx="7772400" cy="2286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sz="2800" b="1" dirty="0"/>
              <a:t>Summarized equation:</a:t>
            </a:r>
          </a:p>
          <a:p>
            <a:pPr>
              <a:buNone/>
            </a:pPr>
            <a:endParaRPr lang="en-GB" sz="2800" b="1" dirty="0"/>
          </a:p>
          <a:p>
            <a:pPr>
              <a:buNone/>
            </a:pPr>
            <a:r>
              <a:rPr lang="en-GB" sz="2800" b="1" dirty="0"/>
              <a:t>A</a:t>
            </a:r>
            <a:r>
              <a:rPr lang="en-GB" sz="2800" b="1" dirty="0">
                <a:sym typeface="Symbol"/>
              </a:rPr>
              <a:t></a:t>
            </a:r>
            <a:r>
              <a:rPr lang="en-GB" sz="2800" b="1" dirty="0">
                <a:sym typeface="Webdings"/>
              </a:rPr>
              <a:t></a:t>
            </a:r>
            <a:r>
              <a:rPr lang="en-GB" sz="2800" b="1" dirty="0"/>
              <a:t>~</a:t>
            </a:r>
            <a:r>
              <a:rPr lang="en-GB" sz="2800" b="1" dirty="0">
                <a:sym typeface="Webdings"/>
              </a:rPr>
              <a:t></a:t>
            </a:r>
            <a:r>
              <a:rPr lang="en-GB" sz="2800" b="1" dirty="0"/>
              <a:t>~</a:t>
            </a:r>
            <a:r>
              <a:rPr lang="en-GB" sz="2800" b="1" dirty="0">
                <a:sym typeface="Webdings"/>
              </a:rPr>
              <a:t></a:t>
            </a:r>
            <a:r>
              <a:rPr lang="en-GB" sz="2800" b="1" dirty="0"/>
              <a:t>    </a:t>
            </a:r>
            <a:r>
              <a:rPr lang="en-GB" sz="2800" b="1" dirty="0">
                <a:sym typeface="Wingdings 3"/>
              </a:rPr>
              <a:t></a:t>
            </a:r>
            <a:r>
              <a:rPr lang="en-GB" sz="2800" b="1" dirty="0"/>
              <a:t>     A</a:t>
            </a:r>
            <a:r>
              <a:rPr lang="en-GB" sz="2800" b="1" dirty="0">
                <a:sym typeface="Symbol"/>
              </a:rPr>
              <a:t></a:t>
            </a:r>
            <a:r>
              <a:rPr lang="en-GB" sz="2800" b="1" dirty="0">
                <a:sym typeface="Webdings"/>
              </a:rPr>
              <a:t></a:t>
            </a:r>
            <a:r>
              <a:rPr lang="en-GB" sz="2800" b="1" dirty="0"/>
              <a:t>~</a:t>
            </a:r>
            <a:r>
              <a:rPr lang="en-GB" sz="2800" b="1" dirty="0">
                <a:sym typeface="Webdings"/>
              </a:rPr>
              <a:t></a:t>
            </a:r>
            <a:r>
              <a:rPr lang="en-GB" sz="2800" b="1" dirty="0"/>
              <a:t>  +  </a:t>
            </a:r>
            <a:r>
              <a:rPr lang="en-GB" sz="2800" b="1" dirty="0">
                <a:sym typeface="Webdings"/>
              </a:rPr>
              <a:t></a:t>
            </a:r>
            <a:r>
              <a:rPr lang="en-GB" sz="2800" b="1" dirty="0"/>
              <a:t>  +  Energy</a:t>
            </a:r>
            <a:endParaRPr lang="en-US" sz="2800" dirty="0"/>
          </a:p>
          <a:p>
            <a:pPr>
              <a:buNone/>
            </a:pPr>
            <a:r>
              <a:rPr lang="en-GB" sz="2800" dirty="0"/>
              <a:t> </a:t>
            </a:r>
            <a:endParaRPr lang="en-US" sz="2800" dirty="0"/>
          </a:p>
          <a:p>
            <a:pPr>
              <a:buNone/>
            </a:pPr>
            <a:r>
              <a:rPr lang="en-GB" sz="2800" dirty="0"/>
              <a:t> 			</a:t>
            </a:r>
            <a:endParaRPr lang="en-US" sz="2800" i="1" dirty="0"/>
          </a:p>
          <a:p>
            <a:pPr lvl="4">
              <a:buNone/>
            </a:pPr>
            <a:r>
              <a:rPr lang="en-US" sz="2800" b="1" i="1" dirty="0"/>
              <a:t>ATP     </a:t>
            </a:r>
            <a:r>
              <a:rPr lang="en-US" sz="2800" b="1" i="1" dirty="0">
                <a:sym typeface="Wingdings 3"/>
              </a:rPr>
              <a:t></a:t>
            </a:r>
            <a:r>
              <a:rPr lang="en-US" sz="2800" b="1" i="1" dirty="0"/>
              <a:t>    ADP  +  </a:t>
            </a:r>
            <a:r>
              <a:rPr lang="en-US" sz="2800" b="1" i="1" dirty="0">
                <a:sym typeface="Webdings"/>
              </a:rPr>
              <a:t></a:t>
            </a:r>
            <a:r>
              <a:rPr lang="en-US" sz="2800" b="1" i="1" dirty="0"/>
              <a:t>  +  Energy</a:t>
            </a:r>
          </a:p>
          <a:p>
            <a:endParaRPr lang="en-US" sz="3600" b="1" dirty="0"/>
          </a:p>
        </p:txBody>
      </p:sp>
      <p:sp>
        <p:nvSpPr>
          <p:cNvPr id="6" name="Rectangle 5"/>
          <p:cNvSpPr/>
          <p:nvPr/>
        </p:nvSpPr>
        <p:spPr>
          <a:xfrm>
            <a:off x="762000" y="4038600"/>
            <a:ext cx="7924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GB" sz="2000" dirty="0"/>
              <a:t> Most of the energy-consuming reactions in cells are powered by the conversion of ATP to ADP</a:t>
            </a:r>
          </a:p>
          <a:p>
            <a:endParaRPr lang="en-GB" sz="2000" dirty="0"/>
          </a:p>
          <a:p>
            <a:pPr>
              <a:buFont typeface="Wingdings" pitchFamily="2" charset="2"/>
              <a:buChar char="§"/>
            </a:pPr>
            <a:r>
              <a:rPr lang="en-GB" sz="2000" dirty="0"/>
              <a:t> Energy requires for the nerve signals, the movement of muscles, the synthesis of protein, and cell division</a:t>
            </a:r>
          </a:p>
          <a:p>
            <a:endParaRPr lang="en-GB" sz="2000" dirty="0"/>
          </a:p>
          <a:p>
            <a:pPr>
              <a:buFont typeface="Wingdings" pitchFamily="2" charset="2"/>
              <a:buChar char="§"/>
            </a:pPr>
            <a:r>
              <a:rPr lang="en-GB" sz="2000" dirty="0"/>
              <a:t> ADP quickly regains the third phosphate unit by using food energy through the cellular respiration.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467600" cy="868362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effectLst/>
              </a:rPr>
              <a:t>The Role of ATP in Cellular Respiration</a:t>
            </a:r>
            <a:endParaRPr lang="en-US" sz="3600" b="1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1591270"/>
            <a:ext cx="6332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GB" b="1" dirty="0"/>
              <a:t>  ATP-ADP cycle</a:t>
            </a:r>
            <a:r>
              <a:rPr lang="en-GB" dirty="0"/>
              <a:t> connects with the process of cellular respiration.</a:t>
            </a:r>
          </a:p>
          <a:p>
            <a:pPr>
              <a:buFont typeface="Wingdings" pitchFamily="2" charset="2"/>
              <a:buChar char="q"/>
            </a:pPr>
            <a:r>
              <a:rPr lang="en-GB" dirty="0"/>
              <a:t>  Every molecule of Glucose is oxidized to 38 molecules of ATP.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25000" t="30208" r="28750" b="18750"/>
          <a:stretch>
            <a:fillRect/>
          </a:stretch>
        </p:blipFill>
        <p:spPr bwMode="auto">
          <a:xfrm>
            <a:off x="1368490" y="2181996"/>
            <a:ext cx="5794310" cy="3836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1000" y="6172200"/>
            <a:ext cx="8508868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>
                <a:latin typeface="Arial Narrow" pitchFamily="34" charset="0"/>
              </a:rPr>
              <a:t>Glucose + 6O</a:t>
            </a:r>
            <a:r>
              <a:rPr lang="en-US" sz="2800" b="1" baseline="-25000" dirty="0">
                <a:latin typeface="Arial Narrow" pitchFamily="34" charset="0"/>
              </a:rPr>
              <a:t>2</a:t>
            </a:r>
            <a:r>
              <a:rPr lang="en-US" sz="2800" b="1" dirty="0">
                <a:latin typeface="Arial Narrow" pitchFamily="34" charset="0"/>
              </a:rPr>
              <a:t> + 38 ADP + 38 P ---</a:t>
            </a:r>
            <a:r>
              <a:rPr lang="en-US" sz="2800" b="1" dirty="0">
                <a:latin typeface="Arial Narrow" pitchFamily="34" charset="0"/>
                <a:sym typeface="Wingdings" pitchFamily="2" charset="2"/>
              </a:rPr>
              <a:t> 6CO</a:t>
            </a:r>
            <a:r>
              <a:rPr lang="en-US" sz="2800" b="1" baseline="-25000" dirty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>
                <a:latin typeface="Arial Narrow" pitchFamily="34" charset="0"/>
                <a:sym typeface="Wingdings" pitchFamily="2" charset="2"/>
              </a:rPr>
              <a:t> + 6H</a:t>
            </a:r>
            <a:r>
              <a:rPr lang="en-US" sz="2800" b="1" baseline="-25000" dirty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>
                <a:latin typeface="Arial Narrow" pitchFamily="34" charset="0"/>
                <a:sym typeface="Wingdings" pitchFamily="2" charset="2"/>
              </a:rPr>
              <a:t>O + 38 ATP</a:t>
            </a:r>
            <a:endParaRPr lang="en-US" sz="2800" b="1" dirty="0">
              <a:latin typeface="Arial Narrow" pitchFamily="34" charset="0"/>
            </a:endParaRPr>
          </a:p>
        </p:txBody>
      </p:sp>
      <p:sp>
        <p:nvSpPr>
          <p:cNvPr id="7" name="Pentagon 6"/>
          <p:cNvSpPr/>
          <p:nvPr/>
        </p:nvSpPr>
        <p:spPr>
          <a:xfrm rot="5400000">
            <a:off x="7473696" y="4794504"/>
            <a:ext cx="1588008" cy="990600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Store Energy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76200" y="4495800"/>
            <a:ext cx="1295400" cy="1143000"/>
          </a:xfrm>
          <a:prstGeom prst="wedgeRectCallout">
            <a:avLst>
              <a:gd name="adj1" fmla="val -9539"/>
              <a:gd name="adj2" fmla="val 8829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Reaction</a:t>
            </a:r>
          </a:p>
          <a:p>
            <a:pPr algn="ctr"/>
            <a:r>
              <a:rPr lang="en-GB" b="1" dirty="0"/>
              <a:t>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8336280" cy="114300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Aerobic Vs. Anaerobic respiration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584960"/>
            <a:ext cx="3810000" cy="46634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B050"/>
                </a:solidFill>
              </a:rPr>
              <a:t>Aerobic respiration: </a:t>
            </a:r>
            <a:r>
              <a:rPr lang="en-US" sz="2800" dirty="0">
                <a:solidFill>
                  <a:srgbClr val="00B050"/>
                </a:solidFill>
              </a:rPr>
              <a:t>Reaction that needs free oxygen</a:t>
            </a: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rgbClr val="00B050"/>
                </a:solidFill>
              </a:rPr>
              <a:t>Cellular respiration is aerobic respiration</a:t>
            </a: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800600" y="1557529"/>
            <a:ext cx="4038600" cy="324307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70C0"/>
                </a:solidFill>
              </a:rPr>
              <a:t>Anaerobic Respiration: 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	Some organisms can live/ maintain their life process without free oxygen. </a:t>
            </a:r>
          </a:p>
          <a:p>
            <a:pPr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	This type of respiration/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	burning is called anaerobic respiration. </a:t>
            </a:r>
          </a:p>
          <a:p>
            <a:pPr>
              <a:buNone/>
            </a:pPr>
            <a:endParaRPr 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Anaerobic respiration- two types: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1767966"/>
          <a:ext cx="7772400" cy="463283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4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Alcohol fermentation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 Occurs in bacteria, yeast, that live in oxygen less environments.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sz="2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2400" dirty="0"/>
                        <a:t>Summary equation: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sz="2400" dirty="0"/>
                    </a:p>
                    <a:p>
                      <a:endParaRPr lang="en-GB" dirty="0"/>
                    </a:p>
                    <a:p>
                      <a:r>
                        <a:rPr kumimoji="0" lang="en-GB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GB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4114800"/>
            <a:ext cx="697073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8013192" cy="76200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Anaerobic respiration- two types: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732070"/>
          <a:ext cx="8001000" cy="48973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3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Lactic acid</a:t>
                      </a:r>
                      <a:r>
                        <a:rPr lang="en-US" sz="24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fermentation</a:t>
                      </a:r>
                      <a:endParaRPr lang="en-US" sz="2400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8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During periods of heavy physical activity,  muscle cells may not be able to get oxygen fast enough to carry out the usual aerobic cellular respiration.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When this occurs, muscle cells begin to respire </a:t>
                      </a:r>
                      <a:r>
                        <a:rPr kumimoji="0"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anerobically</a:t>
                      </a: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sz="2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2400" dirty="0"/>
                        <a:t>Summary equation: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sz="2400" dirty="0"/>
                    </a:p>
                    <a:p>
                      <a:endParaRPr lang="en-GB" dirty="0"/>
                    </a:p>
                    <a:p>
                      <a:r>
                        <a:rPr kumimoji="0" lang="en-GB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GB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4222" t="14545" r="7124" b="17576"/>
          <a:stretch>
            <a:fillRect/>
          </a:stretch>
        </p:blipFill>
        <p:spPr bwMode="auto">
          <a:xfrm>
            <a:off x="2209800" y="4724400"/>
            <a:ext cx="5562600" cy="17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122238"/>
            <a:ext cx="8153400" cy="944562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Aerobic vs. Anaerobic Respiration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533400" y="1709928"/>
            <a:ext cx="8305800" cy="24810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dirty="0"/>
              <a:t>   From 1 Glucose molecule-</a:t>
            </a:r>
            <a:r>
              <a:rPr lang="en-US" sz="3200" dirty="0">
                <a:sym typeface="Wingdings" pitchFamily="2" charset="2"/>
              </a:rPr>
              <a:t>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sym typeface="Wingdings" pitchFamily="2" charset="2"/>
              </a:rPr>
              <a:t>Aerobic respiration gives more energy [as it breaks all bonds]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sym typeface="Wingdings" pitchFamily="2" charset="2"/>
              </a:rPr>
              <a:t>Anaerobic respiration gives relatively less energy [not all bonds of glucose are broken]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3200" y="76200"/>
            <a:ext cx="3352800" cy="762000"/>
          </a:xfrm>
        </p:spPr>
        <p:txBody>
          <a:bodyPr/>
          <a:lstStyle/>
          <a:p>
            <a:pPr algn="ctr"/>
            <a:r>
              <a:rPr lang="en-US" dirty="0"/>
              <a:t>Enzymes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838200" y="1524000"/>
            <a:ext cx="8153400" cy="572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400" dirty="0"/>
              <a:t> </a:t>
            </a:r>
            <a:r>
              <a:rPr lang="en-US" sz="2800" b="1" dirty="0"/>
              <a:t>Enzymes</a:t>
            </a:r>
            <a:r>
              <a:rPr lang="en-US" sz="2800" dirty="0"/>
              <a:t> are complex chemicals that control reactions in living cells. 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800" dirty="0"/>
              <a:t>  They are biochemical catalysts speeding up reactions that would otherwise happen too slowly.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800" dirty="0"/>
              <a:t>  The chemical in which an enzyme works on is called its</a:t>
            </a:r>
            <a:r>
              <a:rPr lang="en-US" sz="2800" b="1" dirty="0"/>
              <a:t> substrate</a:t>
            </a:r>
            <a:r>
              <a:rPr lang="en-US" sz="2800" dirty="0"/>
              <a:t>.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800" dirty="0"/>
              <a:t>  An enzyme combines with its substrate to form a short-lived </a:t>
            </a:r>
            <a:r>
              <a:rPr lang="en-US" sz="2800" b="1" dirty="0"/>
              <a:t>enzyme/substrate complex</a:t>
            </a:r>
            <a:r>
              <a:rPr lang="en-US" sz="2800" dirty="0"/>
              <a:t>. 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800" dirty="0"/>
              <a:t> Once a reaction has occurred,  the complex breaks up into </a:t>
            </a:r>
            <a:r>
              <a:rPr lang="en-US" sz="2800" b="1" dirty="0"/>
              <a:t>products and enzyme.</a:t>
            </a:r>
            <a:endParaRPr lang="en-US" sz="2800" dirty="0"/>
          </a:p>
          <a:p>
            <a:pPr>
              <a:spcBef>
                <a:spcPct val="50000"/>
              </a:spcBef>
              <a:buClr>
                <a:schemeClr val="tx1"/>
              </a:buClr>
            </a:pP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chem4kids.com/files/art/bio_enzyme2.gif"/>
          <p:cNvPicPr>
            <a:picLocks noChangeAspect="1" noChangeArrowheads="1"/>
          </p:cNvPicPr>
          <p:nvPr/>
        </p:nvPicPr>
        <p:blipFill>
          <a:blip r:embed="rId2" cstate="print"/>
          <a:srcRect b="28648"/>
          <a:stretch>
            <a:fillRect/>
          </a:stretch>
        </p:blipFill>
        <p:spPr bwMode="auto">
          <a:xfrm>
            <a:off x="1715655" y="1371600"/>
            <a:ext cx="5980545" cy="32004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133600" y="914400"/>
            <a:ext cx="135646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Substrates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1715" y="4572000"/>
            <a:ext cx="104868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Enzyme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0" y="4572000"/>
            <a:ext cx="104868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Enzyme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4572000"/>
            <a:ext cx="104868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Enzyme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2145268"/>
            <a:ext cx="159851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E-S complex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0" y="1066800"/>
            <a:ext cx="123303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Products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828800" y="3048000"/>
            <a:ext cx="7620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2000" y="2667000"/>
            <a:ext cx="133722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Active site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228600"/>
            <a:ext cx="8382000" cy="990600"/>
          </a:xfrm>
        </p:spPr>
        <p:txBody>
          <a:bodyPr>
            <a:normAutofit/>
          </a:bodyPr>
          <a:lstStyle/>
          <a:p>
            <a:r>
              <a:rPr lang="en-US" sz="4400" b="1" dirty="0">
                <a:effectLst/>
              </a:rPr>
              <a:t>The Chemical nature of enzymes</a:t>
            </a:r>
            <a:endParaRPr lang="en-US" b="1" dirty="0">
              <a:effectLst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633728"/>
            <a:ext cx="8610600" cy="4843272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dirty="0"/>
              <a:t>Enzymes are </a:t>
            </a:r>
            <a:r>
              <a:rPr lang="en-US" b="1" dirty="0"/>
              <a:t>specific:</a:t>
            </a:r>
            <a:r>
              <a:rPr lang="en-US" dirty="0"/>
              <a:t> each enzyme usually </a:t>
            </a:r>
            <a:r>
              <a:rPr lang="en-US" b="1" dirty="0"/>
              <a:t>catalyses only one type of reaction</a:t>
            </a:r>
            <a:r>
              <a:rPr lang="en-US" dirty="0"/>
              <a:t>.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dirty="0"/>
              <a:t> Enzymes combine with their substrates to form temporary </a:t>
            </a:r>
            <a:r>
              <a:rPr lang="en-US" b="1" dirty="0"/>
              <a:t>enzyme-substrate </a:t>
            </a:r>
            <a:r>
              <a:rPr lang="en-US" dirty="0"/>
              <a:t>complex.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dirty="0"/>
              <a:t> Enzymes are </a:t>
            </a:r>
            <a:r>
              <a:rPr lang="en-US" b="1" dirty="0"/>
              <a:t>not altered or used up</a:t>
            </a:r>
            <a:r>
              <a:rPr lang="en-US" dirty="0"/>
              <a:t> by the reactions they catalyze, so can be used again and again.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dirty="0"/>
              <a:t> Enzymes are</a:t>
            </a:r>
            <a:r>
              <a:rPr lang="en-US" b="1" dirty="0"/>
              <a:t> sensitive </a:t>
            </a:r>
            <a:r>
              <a:rPr lang="en-US" dirty="0"/>
              <a:t>to </a:t>
            </a:r>
            <a:r>
              <a:rPr lang="en-US" b="1" dirty="0"/>
              <a:t>temperature and </a:t>
            </a:r>
            <a:r>
              <a:rPr lang="en-US" b="1" dirty="0" err="1"/>
              <a:t>pH</a:t>
            </a:r>
            <a:r>
              <a:rPr lang="en-US" dirty="0" err="1"/>
              <a:t>.</a:t>
            </a:r>
            <a:r>
              <a:rPr lang="en-US" dirty="0"/>
              <a:t> 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dirty="0"/>
              <a:t> Many enzymes need </a:t>
            </a:r>
            <a:r>
              <a:rPr lang="en-US" b="1" dirty="0"/>
              <a:t>cofactors</a:t>
            </a:r>
            <a:r>
              <a:rPr lang="en-US" dirty="0"/>
              <a:t> in order to function.</a:t>
            </a: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dirty="0"/>
              <a:t> Enzyme function may be slowed down or stopped by</a:t>
            </a:r>
            <a:r>
              <a:rPr lang="en-US" b="1" dirty="0"/>
              <a:t> inhibitors</a:t>
            </a:r>
            <a:r>
              <a:rPr lang="en-US" dirty="0"/>
              <a:t>. 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6019800" cy="6556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Enzyme Classification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34400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       There are 6 types of reaction they can catalyze-</a:t>
            </a:r>
          </a:p>
          <a:p>
            <a:pPr marL="624078" indent="-514350">
              <a:spcBef>
                <a:spcPct val="50000"/>
              </a:spcBef>
              <a:buBlip>
                <a:blip r:embed="rId2"/>
              </a:buBlip>
            </a:pPr>
            <a:r>
              <a:rPr lang="en-US" sz="2000" b="1" dirty="0" err="1"/>
              <a:t>Oxidoreductase</a:t>
            </a:r>
            <a:r>
              <a:rPr lang="en-US" sz="2000" dirty="0"/>
              <a:t>: These catalyze oxidation and reduction reactions. </a:t>
            </a:r>
          </a:p>
          <a:p>
            <a:pPr marL="624078" indent="-514350">
              <a:spcBef>
                <a:spcPct val="50000"/>
              </a:spcBef>
              <a:buBlip>
                <a:blip r:embed="rId2"/>
              </a:buBlip>
            </a:pPr>
            <a:r>
              <a:rPr lang="en-US" sz="2000" b="1" dirty="0" err="1"/>
              <a:t>Transferase</a:t>
            </a:r>
            <a:r>
              <a:rPr lang="en-US" sz="2000" b="1" dirty="0"/>
              <a:t>:</a:t>
            </a:r>
            <a:r>
              <a:rPr lang="en-US" sz="2000" dirty="0"/>
              <a:t> These catalyze the transfer of a chemical group from one compound to another. </a:t>
            </a:r>
          </a:p>
          <a:p>
            <a:pPr marL="624078" indent="-514350">
              <a:spcBef>
                <a:spcPct val="50000"/>
              </a:spcBef>
              <a:buBlip>
                <a:blip r:embed="rId2"/>
              </a:buBlip>
            </a:pPr>
            <a:r>
              <a:rPr lang="en-US" sz="2000" b="1" dirty="0" err="1"/>
              <a:t>Hydrolase</a:t>
            </a:r>
            <a:r>
              <a:rPr lang="en-US" sz="2000" b="1" dirty="0"/>
              <a:t>:</a:t>
            </a:r>
            <a:r>
              <a:rPr lang="en-US" sz="2000" dirty="0"/>
              <a:t> These catalyze hydrolysis (splitting by use of water) reactions. </a:t>
            </a:r>
          </a:p>
          <a:p>
            <a:pPr marL="624078" indent="-514350">
              <a:spcBef>
                <a:spcPct val="50000"/>
              </a:spcBef>
              <a:buNone/>
            </a:pPr>
            <a:r>
              <a:rPr lang="en-US" sz="2000" dirty="0"/>
              <a:t>	 Most digestive enzymes are </a:t>
            </a:r>
            <a:r>
              <a:rPr lang="en-US" sz="2000" dirty="0" err="1"/>
              <a:t>hydrolases</a:t>
            </a:r>
            <a:r>
              <a:rPr lang="en-US" sz="2000" dirty="0"/>
              <a:t>.</a:t>
            </a:r>
          </a:p>
          <a:p>
            <a:pPr marL="624078" indent="-514350">
              <a:spcBef>
                <a:spcPct val="50000"/>
              </a:spcBef>
              <a:buBlip>
                <a:blip r:embed="rId2"/>
              </a:buBlip>
            </a:pPr>
            <a:r>
              <a:rPr lang="en-US" sz="2000" b="1" dirty="0" err="1"/>
              <a:t>Lyase</a:t>
            </a:r>
            <a:r>
              <a:rPr lang="en-US" sz="2000" b="1" dirty="0"/>
              <a:t>:</a:t>
            </a:r>
            <a:r>
              <a:rPr lang="en-US" sz="2000" dirty="0"/>
              <a:t> these catalyze the break down of molecules by reactions that do not  involved hydrolysis. </a:t>
            </a:r>
          </a:p>
          <a:p>
            <a:pPr marL="624078" indent="-514350">
              <a:spcBef>
                <a:spcPct val="50000"/>
              </a:spcBef>
              <a:buBlip>
                <a:blip r:embed="rId2"/>
              </a:buBlip>
            </a:pPr>
            <a:r>
              <a:rPr lang="en-US" sz="2000" b="1" dirty="0" err="1"/>
              <a:t>Isomerase</a:t>
            </a:r>
            <a:r>
              <a:rPr lang="en-US" sz="2000" b="1" dirty="0"/>
              <a:t>:</a:t>
            </a:r>
            <a:r>
              <a:rPr lang="en-US" sz="2000" dirty="0"/>
              <a:t> These catalyze the transformation of one isomer into another </a:t>
            </a:r>
          </a:p>
          <a:p>
            <a:pPr marL="624078" indent="-514350">
              <a:spcBef>
                <a:spcPct val="50000"/>
              </a:spcBef>
              <a:buBlip>
                <a:blip r:embed="rId2"/>
              </a:buBlip>
            </a:pPr>
            <a:r>
              <a:rPr lang="en-US" sz="2000" b="1" dirty="0"/>
              <a:t>Ligase: </a:t>
            </a:r>
            <a:r>
              <a:rPr lang="en-US" sz="2000" dirty="0"/>
              <a:t>These catalyze the formation of bonds between compounds, often using the free energy made available from ATP hydrolysis. </a:t>
            </a:r>
            <a:endParaRPr lang="en-US" sz="2000" b="1" dirty="0"/>
          </a:p>
          <a:p>
            <a:endParaRPr lang="en-US" sz="2000" dirty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92EEA5-DC88-41CD-ADA3-6ABA3076E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78" y="1529650"/>
            <a:ext cx="7602122" cy="5328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CDD49-BB51-495C-ADD9-9EFE3A01EE6B}"/>
              </a:ext>
            </a:extLst>
          </p:cNvPr>
          <p:cNvSpPr txBox="1"/>
          <p:nvPr/>
        </p:nvSpPr>
        <p:spPr>
          <a:xfrm>
            <a:off x="2452688" y="485773"/>
            <a:ext cx="455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CD4+ T cell signaling</a:t>
            </a:r>
          </a:p>
        </p:txBody>
      </p:sp>
    </p:spTree>
    <p:extLst>
      <p:ext uri="{BB962C8B-B14F-4D97-AF65-F5344CB8AC3E}">
        <p14:creationId xmlns:p14="http://schemas.microsoft.com/office/powerpoint/2010/main" val="193164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2743200" y="334962"/>
            <a:ext cx="3733800" cy="655638"/>
          </a:xfrm>
        </p:spPr>
        <p:txBody>
          <a:bodyPr>
            <a:noAutofit/>
          </a:bodyPr>
          <a:lstStyle/>
          <a:p>
            <a:r>
              <a:rPr lang="en-US" b="1" dirty="0">
                <a:effectLst/>
              </a:rPr>
              <a:t>Photosynthesis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2179320"/>
            <a:ext cx="8229600" cy="4526280"/>
          </a:xfrm>
          <a:prstGeom prst="rect">
            <a:avLst/>
          </a:prstGeom>
        </p:spPr>
        <p:txBody>
          <a:bodyPr/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living things need continuous supply of energy.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Almost all energy used by living organisms comes from sun.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Energy from the ‘SUN’ is captured and stored by green organisms in the bonds of ‘GLUCOSE’: a process known as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Photosynthesis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819400" y="1295400"/>
            <a:ext cx="5105400" cy="838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+mj-lt"/>
                <a:ea typeface="+mj-ea"/>
                <a:cs typeface="+mj-cs"/>
              </a:rPr>
              <a:t>The Need for Energy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0"/>
            <a:ext cx="3886200" cy="76200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Photosynthesis</a:t>
            </a:r>
          </a:p>
        </p:txBody>
      </p:sp>
      <p:pic>
        <p:nvPicPr>
          <p:cNvPr id="4" name="Content Placeholder 3" descr="220px-Photosynthesis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3657600" cy="507076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/>
          <p:cNvSpPr txBox="1"/>
          <p:nvPr/>
        </p:nvSpPr>
        <p:spPr>
          <a:xfrm>
            <a:off x="4419600" y="1686610"/>
            <a:ext cx="4343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000" dirty="0"/>
              <a:t>AUTOTROPHS: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Organisms that can produce their own food from the substances available in their surroundings using light (photosynthesis) or chemical energy (chemosynthesis).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000" dirty="0"/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000" dirty="0"/>
              <a:t>HETEROTROPHS: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b="1" dirty="0" err="1"/>
              <a:t>Heterotrophs</a:t>
            </a:r>
            <a:r>
              <a:rPr lang="en-US" sz="2000" dirty="0"/>
              <a:t> cannot synthesize their own food and rely on other organisms -- both plants and animals -- for nutrition.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228600"/>
            <a:ext cx="2602992" cy="838200"/>
          </a:xfrm>
        </p:spPr>
        <p:txBody>
          <a:bodyPr/>
          <a:lstStyle/>
          <a:p>
            <a:r>
              <a:rPr lang="en-US" b="1" dirty="0">
                <a:effectLst/>
              </a:rPr>
              <a:t>Glucose</a:t>
            </a:r>
          </a:p>
        </p:txBody>
      </p:sp>
      <p:pic>
        <p:nvPicPr>
          <p:cNvPr id="4" name="Content Placeholder 3" descr="glucose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238875" y="2828925"/>
            <a:ext cx="2676525" cy="2809875"/>
          </a:xfrm>
        </p:spPr>
      </p:pic>
      <p:sp>
        <p:nvSpPr>
          <p:cNvPr id="5" name="TextBox 4"/>
          <p:cNvSpPr txBox="1"/>
          <p:nvPr/>
        </p:nvSpPr>
        <p:spPr>
          <a:xfrm>
            <a:off x="5638800" y="16764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Molecular formula: C</a:t>
            </a:r>
            <a:r>
              <a:rPr lang="en-US" sz="2400" baseline="-25000" dirty="0"/>
              <a:t>6</a:t>
            </a:r>
            <a:r>
              <a:rPr lang="en-US" sz="2400" dirty="0"/>
              <a:t>H</a:t>
            </a:r>
            <a:r>
              <a:rPr lang="en-US" sz="2400" baseline="-25000" dirty="0"/>
              <a:t>12</a:t>
            </a:r>
            <a:r>
              <a:rPr lang="en-US" sz="2400" dirty="0"/>
              <a:t>O</a:t>
            </a:r>
            <a:r>
              <a:rPr lang="en-US" sz="2400" baseline="-25000" dirty="0"/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676400"/>
            <a:ext cx="56388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400" dirty="0"/>
              <a:t> Unit of Energy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400" dirty="0"/>
              <a:t> Single unit of Carbohydrate family.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400" dirty="0"/>
              <a:t> </a:t>
            </a:r>
            <a:r>
              <a:rPr lang="en-GB" sz="2400" dirty="0"/>
              <a:t>C</a:t>
            </a:r>
            <a:r>
              <a:rPr lang="en-GB" sz="2400" baseline="-25000" dirty="0"/>
              <a:t>6</a:t>
            </a:r>
            <a:r>
              <a:rPr lang="en-GB" sz="2400" dirty="0"/>
              <a:t>(H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)6:</a:t>
            </a:r>
            <a:r>
              <a:rPr lang="en-GB" sz="2400" dirty="0"/>
              <a:t>: contains Carbon.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Hydrogen &amp; Oxygen as Water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400" dirty="0"/>
              <a:t> Main Fuel for all Living things- bacteria, virus, animals, plants.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400" dirty="0"/>
              <a:t>Glucose --</a:t>
            </a:r>
            <a:r>
              <a:rPr lang="en-US" sz="2400" dirty="0">
                <a:sym typeface="Wingdings" pitchFamily="2" charset="2"/>
              </a:rPr>
              <a:t>bond breaks--energy release as ATP( adenosine tri phosphate)</a:t>
            </a:r>
            <a:r>
              <a:rPr lang="en-US" sz="2400" dirty="0"/>
              <a:t> 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2.bp.blogspot.com/-qDVXBjiNdzc/UEFOffAYBII/AAAAAAAAAKI/_A-Lqibn_Nw/s400/chlorophyll-chloroplasts-structur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150962"/>
            <a:ext cx="3810000" cy="3554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28600"/>
            <a:ext cx="3669792" cy="944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524000"/>
            <a:ext cx="8229600" cy="1600200"/>
          </a:xfrm>
        </p:spPr>
        <p:txBody>
          <a:bodyPr>
            <a:normAutofit/>
          </a:bodyPr>
          <a:lstStyle/>
          <a:p>
            <a:r>
              <a:rPr lang="en-GB" sz="2800" b="1" i="1" dirty="0"/>
              <a:t>Photosynthesis</a:t>
            </a:r>
            <a:r>
              <a:rPr lang="en-GB" sz="2800" i="1" dirty="0"/>
              <a:t> is the process by which light energy is changed to chemical potential energy and stored in the bonds of glucose molecules.</a:t>
            </a: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143000" y="3581400"/>
            <a:ext cx="3733800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Occurs in organism which contains </a:t>
            </a:r>
            <a:b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“ Chlorophyll” </a:t>
            </a:r>
          </a:p>
          <a:p>
            <a:pPr algn="ctr"/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photosynthesis_equati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752600"/>
            <a:ext cx="8734288" cy="3429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228600"/>
            <a:ext cx="8229600" cy="838200"/>
          </a:xfrm>
          <a:prstGeom prst="rect">
            <a:avLst/>
          </a:prstGeom>
        </p:spPr>
        <p:txBody>
          <a:bodyPr/>
          <a:lstStyle/>
          <a:p>
            <a:pPr marL="54864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  <a:uLnTx/>
                <a:uFillTx/>
                <a:latin typeface="+mj-lt"/>
                <a:ea typeface="+mj-ea"/>
                <a:cs typeface="+mj-cs"/>
              </a:rPr>
              <a:t>Reaction in Photosynthesis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22500" t="32292" r="25000" b="14583"/>
          <a:stretch>
            <a:fillRect/>
          </a:stretch>
        </p:blipFill>
        <p:spPr bwMode="auto">
          <a:xfrm>
            <a:off x="381000" y="1219200"/>
            <a:ext cx="8610600" cy="522786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81000" y="76200"/>
            <a:ext cx="8229600" cy="1143000"/>
          </a:xfrm>
          <a:prstGeom prst="rect">
            <a:avLst/>
          </a:prstGeom>
        </p:spPr>
        <p:txBody>
          <a:bodyPr/>
          <a:lstStyle/>
          <a:p>
            <a:pPr marL="54864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  <a:uLnTx/>
                <a:uFillTx/>
                <a:latin typeface="+mj-lt"/>
                <a:ea typeface="+mj-ea"/>
                <a:cs typeface="+mj-cs"/>
              </a:rPr>
              <a:t>Reaction in Photosynthesis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8153400" cy="114300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Photosynthesis and Chlorophyll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646237"/>
            <a:ext cx="8229600" cy="49831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Green leaf </a:t>
            </a:r>
            <a:r>
              <a:rPr lang="en-US" dirty="0">
                <a:sym typeface="Wingdings" pitchFamily="2" charset="2"/>
              </a:rPr>
              <a:t>chlorophyll  contains pigments.</a:t>
            </a:r>
          </a:p>
          <a:p>
            <a:r>
              <a:rPr lang="en-US" dirty="0">
                <a:sym typeface="Wingdings" pitchFamily="2" charset="2"/>
              </a:rPr>
              <a:t>This pigments must absorb BLUE and RED </a:t>
            </a:r>
            <a:r>
              <a:rPr lang="en-US" dirty="0" err="1">
                <a:sym typeface="Wingdings" pitchFamily="2" charset="2"/>
              </a:rPr>
              <a:t>colour</a:t>
            </a:r>
            <a:r>
              <a:rPr lang="en-US" dirty="0">
                <a:sym typeface="Wingdings" pitchFamily="2" charset="2"/>
              </a:rPr>
              <a:t> but </a:t>
            </a:r>
            <a:r>
              <a:rPr lang="en-US" u="sng" dirty="0">
                <a:sym typeface="Wingdings" pitchFamily="2" charset="2"/>
              </a:rPr>
              <a:t>not</a:t>
            </a:r>
            <a:r>
              <a:rPr lang="en-US" dirty="0">
                <a:sym typeface="Wingdings" pitchFamily="2" charset="2"/>
              </a:rPr>
              <a:t> the GREEN.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There are at least 5 chlorophyll molecules.( almost similar in their structure)</a:t>
            </a:r>
          </a:p>
          <a:p>
            <a:r>
              <a:rPr lang="en-US" dirty="0">
                <a:sym typeface="Wingdings" pitchFamily="2" charset="2"/>
              </a:rPr>
              <a:t>Two major chlorophylls are_</a:t>
            </a: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1. </a:t>
            </a:r>
            <a:r>
              <a:rPr lang="en-US" b="1" dirty="0">
                <a:sym typeface="Wingdings" pitchFamily="2" charset="2"/>
              </a:rPr>
              <a:t>Chlorophyll a</a:t>
            </a: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2. </a:t>
            </a:r>
            <a:r>
              <a:rPr lang="en-US" b="1" dirty="0">
                <a:sym typeface="Wingdings" pitchFamily="2" charset="2"/>
              </a:rPr>
              <a:t>Chlorophyll b</a:t>
            </a:r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867025"/>
            <a:ext cx="77724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0"/>
            <a:ext cx="6431280" cy="114300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The Role of Chlorophyll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600200"/>
            <a:ext cx="8305800" cy="498316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Chlorophyll is found in Chloroplast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b="1" dirty="0"/>
              <a:t>Works as a </a:t>
            </a:r>
            <a:r>
              <a:rPr lang="en-US" b="1" u="sng" dirty="0"/>
              <a:t>CATALYST</a:t>
            </a:r>
            <a:r>
              <a:rPr lang="en-US" b="1" dirty="0"/>
              <a:t> in photosynthesis Reaction </a:t>
            </a:r>
            <a:r>
              <a:rPr lang="en-US" b="1" dirty="0">
                <a:sym typeface="Wingdings" pitchFamily="2" charset="2"/>
              </a:rPr>
              <a:t></a:t>
            </a:r>
            <a:r>
              <a:rPr lang="en-US" b="1" dirty="0"/>
              <a:t> speed up the process.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Other pigments _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b="1" dirty="0"/>
              <a:t>Carotenes </a:t>
            </a:r>
            <a:r>
              <a:rPr lang="en-US" b="1" dirty="0">
                <a:sym typeface="Wingdings" pitchFamily="2" charset="2"/>
              </a:rPr>
              <a:t> orange</a:t>
            </a:r>
            <a:endParaRPr lang="en-US" b="1" dirty="0"/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b="1" dirty="0"/>
              <a:t>Xanthophylls </a:t>
            </a:r>
            <a:r>
              <a:rPr lang="en-US" b="1" dirty="0">
                <a:sym typeface="Wingdings" pitchFamily="2" charset="2"/>
              </a:rPr>
              <a:t> yellow</a:t>
            </a:r>
            <a:endParaRPr lang="en-US" b="1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They assist photosynthesis reaction by absorbing different colors and help Chlorophyll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Take home message!</a:t>
            </a:r>
          </a:p>
        </p:txBody>
      </p:sp>
      <p:pic>
        <p:nvPicPr>
          <p:cNvPr id="3076" name="Picture 4" descr="http://www.meritnation.com/img/shared/userimages/mn_images/image/difference%20between%20photosynthesis%20and%20respiration.png"/>
          <p:cNvPicPr>
            <a:picLocks noChangeAspect="1" noChangeArrowheads="1"/>
          </p:cNvPicPr>
          <p:nvPr/>
        </p:nvPicPr>
        <p:blipFill>
          <a:blip r:embed="rId2" cstate="print"/>
          <a:srcRect l="2229" t="4255"/>
          <a:stretch>
            <a:fillRect/>
          </a:stretch>
        </p:blipFill>
        <p:spPr bwMode="auto">
          <a:xfrm>
            <a:off x="152400" y="2438400"/>
            <a:ext cx="8839200" cy="3429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2133600" y="1752600"/>
            <a:ext cx="6738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u="sng" dirty="0">
                <a:solidFill>
                  <a:srgbClr val="FF0000"/>
                </a:solidFill>
              </a:rPr>
              <a:t>Differences between Photosynthesis and Respiration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273300" y="1981200"/>
            <a:ext cx="6870700" cy="3962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Thank You!!!</a:t>
            </a:r>
          </a:p>
          <a:p>
            <a:pPr>
              <a:buNone/>
            </a:pPr>
            <a:r>
              <a:rPr lang="en-GB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Any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615</TotalTime>
  <Words>1126</Words>
  <Application>Microsoft Office PowerPoint</Application>
  <PresentationFormat>On-screen Show (4:3)</PresentationFormat>
  <Paragraphs>166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Narrow</vt:lpstr>
      <vt:lpstr>Calibri</vt:lpstr>
      <vt:lpstr>Tw Cen MT</vt:lpstr>
      <vt:lpstr>Wingdings</vt:lpstr>
      <vt:lpstr>Wingdings 2</vt:lpstr>
      <vt:lpstr>Median</vt:lpstr>
      <vt:lpstr>BIO103  Energy of Life  </vt:lpstr>
      <vt:lpstr>Lecture Outline</vt:lpstr>
      <vt:lpstr>What is Cellular Respiration?</vt:lpstr>
      <vt:lpstr>Breathing vs. Cellular Respiration</vt:lpstr>
      <vt:lpstr>Oxidation/Burning</vt:lpstr>
      <vt:lpstr>Equation for cellular respiration</vt:lpstr>
      <vt:lpstr>Catabolism VS. Anabolism</vt:lpstr>
      <vt:lpstr>Let’s learn it again…</vt:lpstr>
      <vt:lpstr>ATP-The major energy currency</vt:lpstr>
      <vt:lpstr>Energy transfer by ATP. </vt:lpstr>
      <vt:lpstr>Energy transfer by ATP. </vt:lpstr>
      <vt:lpstr>The Role of ATP in Cellular Respiration</vt:lpstr>
      <vt:lpstr>Aerobic Vs. Anaerobic respiration</vt:lpstr>
      <vt:lpstr>Anaerobic respiration- two types:</vt:lpstr>
      <vt:lpstr>Anaerobic respiration- two types:</vt:lpstr>
      <vt:lpstr>Aerobic vs. Anaerobic Respiration</vt:lpstr>
      <vt:lpstr>Enzymes</vt:lpstr>
      <vt:lpstr>PowerPoint Presentation</vt:lpstr>
      <vt:lpstr>The Chemical nature of enzymes</vt:lpstr>
      <vt:lpstr>Enzyme Classification</vt:lpstr>
      <vt:lpstr>PowerPoint Presentation</vt:lpstr>
      <vt:lpstr>Photosynthesis</vt:lpstr>
      <vt:lpstr>Photosynthesis</vt:lpstr>
      <vt:lpstr>Glucose</vt:lpstr>
      <vt:lpstr>Photosynthesis</vt:lpstr>
      <vt:lpstr>PowerPoint Presentation</vt:lpstr>
      <vt:lpstr>PowerPoint Presentation</vt:lpstr>
      <vt:lpstr>Photosynthesis and Chlorophyll</vt:lpstr>
      <vt:lpstr>The Role of Chlorophyll</vt:lpstr>
      <vt:lpstr>Take home message!</vt:lpstr>
      <vt:lpstr>PowerPoint Presentation</vt:lpstr>
    </vt:vector>
  </TitlesOfParts>
  <Company>SMART Technologies (BD)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Ehsan</dc:creator>
  <cp:lastModifiedBy>mahbubul.morshed@gmail.com</cp:lastModifiedBy>
  <cp:revision>83</cp:revision>
  <dcterms:created xsi:type="dcterms:W3CDTF">2013-02-11T10:10:23Z</dcterms:created>
  <dcterms:modified xsi:type="dcterms:W3CDTF">2026-07-15T14:38:19Z</dcterms:modified>
</cp:coreProperties>
</file>