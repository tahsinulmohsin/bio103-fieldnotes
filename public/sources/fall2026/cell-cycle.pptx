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6" r:id="rId1"/>
  </p:sldMasterIdLst>
  <p:notesMasterIdLst>
    <p:notesMasterId r:id="rId47"/>
  </p:notesMasterIdLst>
  <p:handoutMasterIdLst>
    <p:handoutMasterId r:id="rId48"/>
  </p:handoutMasterIdLst>
  <p:sldIdLst>
    <p:sldId id="258" r:id="rId2"/>
    <p:sldId id="259" r:id="rId3"/>
    <p:sldId id="260" r:id="rId4"/>
    <p:sldId id="261" r:id="rId5"/>
    <p:sldId id="256" r:id="rId6"/>
    <p:sldId id="411" r:id="rId7"/>
    <p:sldId id="384" r:id="rId8"/>
    <p:sldId id="441" r:id="rId9"/>
    <p:sldId id="410" r:id="rId10"/>
    <p:sldId id="386" r:id="rId11"/>
    <p:sldId id="470" r:id="rId12"/>
    <p:sldId id="509" r:id="rId13"/>
    <p:sldId id="489" r:id="rId14"/>
    <p:sldId id="378" r:id="rId15"/>
    <p:sldId id="307" r:id="rId16"/>
    <p:sldId id="267" r:id="rId17"/>
    <p:sldId id="337" r:id="rId18"/>
    <p:sldId id="393" r:id="rId19"/>
    <p:sldId id="380" r:id="rId20"/>
    <p:sldId id="419" r:id="rId21"/>
    <p:sldId id="418" r:id="rId22"/>
    <p:sldId id="397" r:id="rId23"/>
    <p:sldId id="503" r:id="rId24"/>
    <p:sldId id="504" r:id="rId25"/>
    <p:sldId id="505" r:id="rId26"/>
    <p:sldId id="506" r:id="rId27"/>
    <p:sldId id="507" r:id="rId28"/>
    <p:sldId id="508" r:id="rId29"/>
    <p:sldId id="357" r:id="rId30"/>
    <p:sldId id="511" r:id="rId31"/>
    <p:sldId id="381" r:id="rId32"/>
    <p:sldId id="363" r:id="rId33"/>
    <p:sldId id="447" r:id="rId34"/>
    <p:sldId id="464" r:id="rId35"/>
    <p:sldId id="469" r:id="rId36"/>
    <p:sldId id="455" r:id="rId37"/>
    <p:sldId id="512" r:id="rId38"/>
    <p:sldId id="500" r:id="rId39"/>
    <p:sldId id="476" r:id="rId40"/>
    <p:sldId id="510" r:id="rId41"/>
    <p:sldId id="513" r:id="rId42"/>
    <p:sldId id="514" r:id="rId43"/>
    <p:sldId id="515" r:id="rId44"/>
    <p:sldId id="516" r:id="rId45"/>
    <p:sldId id="517" r:id="rId46"/>
  </p:sldIdLst>
  <p:sldSz cx="9144000" cy="6858000" type="screen4x3"/>
  <p:notesSz cx="6858000" cy="9144000"/>
  <p:defaultTextStyle>
    <a:defPPr>
      <a:defRPr lang="en-US"/>
    </a:defPPr>
    <a:lvl1pPr algn="ctr" rtl="0" fontAlgn="base">
      <a:spcBef>
        <a:spcPct val="0"/>
      </a:spcBef>
      <a:spcAft>
        <a:spcPct val="0"/>
      </a:spcAft>
      <a:defRPr sz="2400" b="1" kern="1200">
        <a:solidFill>
          <a:schemeClr val="bg1"/>
        </a:solidFill>
        <a:latin typeface="Comic Sans MS" pitchFamily="66" charset="0"/>
        <a:ea typeface="+mn-ea"/>
        <a:cs typeface="+mn-cs"/>
      </a:defRPr>
    </a:lvl1pPr>
    <a:lvl2pPr marL="457200" algn="ctr" rtl="0" fontAlgn="base">
      <a:spcBef>
        <a:spcPct val="0"/>
      </a:spcBef>
      <a:spcAft>
        <a:spcPct val="0"/>
      </a:spcAft>
      <a:defRPr sz="2400" b="1" kern="1200">
        <a:solidFill>
          <a:schemeClr val="bg1"/>
        </a:solidFill>
        <a:latin typeface="Comic Sans MS" pitchFamily="66" charset="0"/>
        <a:ea typeface="+mn-ea"/>
        <a:cs typeface="+mn-cs"/>
      </a:defRPr>
    </a:lvl2pPr>
    <a:lvl3pPr marL="914400" algn="ctr" rtl="0" fontAlgn="base">
      <a:spcBef>
        <a:spcPct val="0"/>
      </a:spcBef>
      <a:spcAft>
        <a:spcPct val="0"/>
      </a:spcAft>
      <a:defRPr sz="2400" b="1" kern="1200">
        <a:solidFill>
          <a:schemeClr val="bg1"/>
        </a:solidFill>
        <a:latin typeface="Comic Sans MS" pitchFamily="66" charset="0"/>
        <a:ea typeface="+mn-ea"/>
        <a:cs typeface="+mn-cs"/>
      </a:defRPr>
    </a:lvl3pPr>
    <a:lvl4pPr marL="1371600" algn="ctr" rtl="0" fontAlgn="base">
      <a:spcBef>
        <a:spcPct val="0"/>
      </a:spcBef>
      <a:spcAft>
        <a:spcPct val="0"/>
      </a:spcAft>
      <a:defRPr sz="2400" b="1" kern="1200">
        <a:solidFill>
          <a:schemeClr val="bg1"/>
        </a:solidFill>
        <a:latin typeface="Comic Sans MS" pitchFamily="66" charset="0"/>
        <a:ea typeface="+mn-ea"/>
        <a:cs typeface="+mn-cs"/>
      </a:defRPr>
    </a:lvl4pPr>
    <a:lvl5pPr marL="1828800" algn="ctr" rtl="0" fontAlgn="base">
      <a:spcBef>
        <a:spcPct val="0"/>
      </a:spcBef>
      <a:spcAft>
        <a:spcPct val="0"/>
      </a:spcAft>
      <a:defRPr sz="2400" b="1" kern="1200">
        <a:solidFill>
          <a:schemeClr val="bg1"/>
        </a:solidFill>
        <a:latin typeface="Comic Sans MS" pitchFamily="66" charset="0"/>
        <a:ea typeface="+mn-ea"/>
        <a:cs typeface="+mn-cs"/>
      </a:defRPr>
    </a:lvl5pPr>
    <a:lvl6pPr marL="2286000" algn="l" defTabSz="914400" rtl="0" eaLnBrk="1" latinLnBrk="0" hangingPunct="1">
      <a:defRPr sz="2400" b="1" kern="1200">
        <a:solidFill>
          <a:schemeClr val="bg1"/>
        </a:solidFill>
        <a:latin typeface="Comic Sans MS" pitchFamily="66" charset="0"/>
        <a:ea typeface="+mn-ea"/>
        <a:cs typeface="+mn-cs"/>
      </a:defRPr>
    </a:lvl6pPr>
    <a:lvl7pPr marL="2743200" algn="l" defTabSz="914400" rtl="0" eaLnBrk="1" latinLnBrk="0" hangingPunct="1">
      <a:defRPr sz="2400" b="1" kern="1200">
        <a:solidFill>
          <a:schemeClr val="bg1"/>
        </a:solidFill>
        <a:latin typeface="Comic Sans MS" pitchFamily="66" charset="0"/>
        <a:ea typeface="+mn-ea"/>
        <a:cs typeface="+mn-cs"/>
      </a:defRPr>
    </a:lvl7pPr>
    <a:lvl8pPr marL="3200400" algn="l" defTabSz="914400" rtl="0" eaLnBrk="1" latinLnBrk="0" hangingPunct="1">
      <a:defRPr sz="2400" b="1" kern="1200">
        <a:solidFill>
          <a:schemeClr val="bg1"/>
        </a:solidFill>
        <a:latin typeface="Comic Sans MS" pitchFamily="66" charset="0"/>
        <a:ea typeface="+mn-ea"/>
        <a:cs typeface="+mn-cs"/>
      </a:defRPr>
    </a:lvl8pPr>
    <a:lvl9pPr marL="3657600" algn="l" defTabSz="914400" rtl="0" eaLnBrk="1" latinLnBrk="0" hangingPunct="1">
      <a:defRPr sz="2400" b="1" kern="1200">
        <a:solidFill>
          <a:schemeClr val="bg1"/>
        </a:solidFill>
        <a:latin typeface="Comic Sans MS" pitchFamily="66"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C7F"/>
    <a:srgbClr val="4D4D4D"/>
    <a:srgbClr val="333333"/>
    <a:srgbClr val="00CC66"/>
    <a:srgbClr val="1C1C1C"/>
    <a:srgbClr val="996633"/>
    <a:srgbClr val="339966"/>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56" autoAdjust="0"/>
    <p:restoredTop sz="92872" autoAdjust="0"/>
  </p:normalViewPr>
  <p:slideViewPr>
    <p:cSldViewPr>
      <p:cViewPr varScale="1">
        <p:scale>
          <a:sx n="66" d="100"/>
          <a:sy n="66" d="100"/>
        </p:scale>
        <p:origin x="150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539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56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smtClean="0">
                <a:solidFill>
                  <a:schemeClr val="tx1"/>
                </a:solidFill>
                <a:effectLst/>
                <a:latin typeface="Times New Roman" pitchFamily="18" charset="0"/>
              </a:defRPr>
            </a:lvl1pPr>
          </a:lstStyle>
          <a:p>
            <a:pPr>
              <a:defRPr/>
            </a:pPr>
            <a:endParaRPr lang="en-US"/>
          </a:p>
        </p:txBody>
      </p:sp>
      <p:sp>
        <p:nvSpPr>
          <p:cNvPr id="155651"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smtClean="0">
                <a:solidFill>
                  <a:schemeClr val="tx1"/>
                </a:solidFill>
                <a:effectLst/>
                <a:latin typeface="Times New Roman" pitchFamily="18" charset="0"/>
              </a:defRPr>
            </a:lvl1pPr>
          </a:lstStyle>
          <a:p>
            <a:pPr>
              <a:defRPr/>
            </a:pPr>
            <a:endParaRPr lang="en-US"/>
          </a:p>
        </p:txBody>
      </p:sp>
      <p:sp>
        <p:nvSpPr>
          <p:cNvPr id="155652"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smtClean="0">
                <a:solidFill>
                  <a:schemeClr val="tx1"/>
                </a:solidFill>
                <a:effectLst/>
                <a:latin typeface="Times New Roman" pitchFamily="18" charset="0"/>
              </a:defRPr>
            </a:lvl1pPr>
          </a:lstStyle>
          <a:p>
            <a:pPr>
              <a:defRPr/>
            </a:pPr>
            <a:endParaRPr lang="en-US"/>
          </a:p>
        </p:txBody>
      </p:sp>
      <p:sp>
        <p:nvSpPr>
          <p:cNvPr id="155653"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smtClean="0">
                <a:solidFill>
                  <a:schemeClr val="tx1"/>
                </a:solidFill>
                <a:effectLst/>
                <a:latin typeface="Times New Roman" pitchFamily="18" charset="0"/>
              </a:defRPr>
            </a:lvl1pPr>
          </a:lstStyle>
          <a:p>
            <a:pPr>
              <a:defRPr/>
            </a:pPr>
            <a:fld id="{4EF3D43E-981F-447E-9B51-17F718A95521}" type="slidenum">
              <a:rPr lang="en-US"/>
              <a:pPr>
                <a:defRPr/>
              </a:pPr>
              <a:t>‹#›</a:t>
            </a:fld>
            <a:endParaRPr lang="en-US"/>
          </a:p>
        </p:txBody>
      </p:sp>
    </p:spTree>
    <p:extLst>
      <p:ext uri="{BB962C8B-B14F-4D97-AF65-F5344CB8AC3E}">
        <p14:creationId xmlns:p14="http://schemas.microsoft.com/office/powerpoint/2010/main" val="28947063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smtClean="0">
                <a:solidFill>
                  <a:schemeClr val="tx1"/>
                </a:solidFill>
                <a:effectLst/>
                <a:latin typeface="Times New Roman" pitchFamily="18" charset="0"/>
              </a:defRPr>
            </a:lvl1pPr>
          </a:lstStyle>
          <a:p>
            <a:pPr>
              <a:defRPr/>
            </a:pPr>
            <a:endParaRPr lang="en-US"/>
          </a:p>
        </p:txBody>
      </p:sp>
      <p:sp>
        <p:nvSpPr>
          <p:cNvPr id="2048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smtClean="0">
                <a:solidFill>
                  <a:schemeClr val="tx1"/>
                </a:solidFill>
                <a:effectLst/>
                <a:latin typeface="Times New Roman" pitchFamily="18" charset="0"/>
              </a:defRPr>
            </a:lvl1pPr>
          </a:lstStyle>
          <a:p>
            <a:pPr>
              <a:defRPr/>
            </a:pPr>
            <a:endParaRPr lang="en-US"/>
          </a:p>
        </p:txBody>
      </p:sp>
      <p:sp>
        <p:nvSpPr>
          <p:cNvPr id="1075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048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48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smtClean="0">
                <a:solidFill>
                  <a:schemeClr val="tx1"/>
                </a:solidFill>
                <a:effectLst/>
                <a:latin typeface="Times New Roman" pitchFamily="18" charset="0"/>
              </a:defRPr>
            </a:lvl1pPr>
          </a:lstStyle>
          <a:p>
            <a:pPr>
              <a:defRPr/>
            </a:pPr>
            <a:endParaRPr lang="en-US"/>
          </a:p>
        </p:txBody>
      </p:sp>
      <p:sp>
        <p:nvSpPr>
          <p:cNvPr id="2048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smtClean="0">
                <a:solidFill>
                  <a:schemeClr val="tx1"/>
                </a:solidFill>
                <a:effectLst/>
                <a:latin typeface="Times New Roman" pitchFamily="18" charset="0"/>
              </a:defRPr>
            </a:lvl1pPr>
          </a:lstStyle>
          <a:p>
            <a:pPr>
              <a:defRPr/>
            </a:pPr>
            <a:fld id="{EC37E93A-BF0D-4E0B-B8A8-D0F58263B82A}" type="slidenum">
              <a:rPr lang="en-US"/>
              <a:pPr>
                <a:defRPr/>
              </a:pPr>
              <a:t>‹#›</a:t>
            </a:fld>
            <a:endParaRPr lang="en-US"/>
          </a:p>
        </p:txBody>
      </p:sp>
    </p:spTree>
    <p:extLst>
      <p:ext uri="{BB962C8B-B14F-4D97-AF65-F5344CB8AC3E}">
        <p14:creationId xmlns:p14="http://schemas.microsoft.com/office/powerpoint/2010/main" val="421426750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omic Sans MS" pitchFamily="66" charset="0"/>
        <a:ea typeface="+mn-ea"/>
        <a:cs typeface="+mn-cs"/>
      </a:defRPr>
    </a:lvl1pPr>
    <a:lvl2pPr marL="457200" algn="l" rtl="0" eaLnBrk="0" fontAlgn="base" hangingPunct="0">
      <a:spcBef>
        <a:spcPct val="30000"/>
      </a:spcBef>
      <a:spcAft>
        <a:spcPct val="0"/>
      </a:spcAft>
      <a:defRPr sz="1200" kern="1200">
        <a:solidFill>
          <a:schemeClr val="tx1"/>
        </a:solidFill>
        <a:latin typeface="Comic Sans MS" pitchFamily="66" charset="0"/>
        <a:ea typeface="+mn-ea"/>
        <a:cs typeface="+mn-cs"/>
      </a:defRPr>
    </a:lvl2pPr>
    <a:lvl3pPr marL="914400" algn="l" rtl="0" eaLnBrk="0" fontAlgn="base" hangingPunct="0">
      <a:spcBef>
        <a:spcPct val="30000"/>
      </a:spcBef>
      <a:spcAft>
        <a:spcPct val="0"/>
      </a:spcAft>
      <a:defRPr sz="1200" kern="1200">
        <a:solidFill>
          <a:schemeClr val="tx1"/>
        </a:solidFill>
        <a:latin typeface="Comic Sans MS" pitchFamily="66" charset="0"/>
        <a:ea typeface="+mn-ea"/>
        <a:cs typeface="+mn-cs"/>
      </a:defRPr>
    </a:lvl3pPr>
    <a:lvl4pPr marL="1371600" algn="l" rtl="0" eaLnBrk="0" fontAlgn="base" hangingPunct="0">
      <a:spcBef>
        <a:spcPct val="30000"/>
      </a:spcBef>
      <a:spcAft>
        <a:spcPct val="0"/>
      </a:spcAft>
      <a:defRPr sz="1200" kern="1200">
        <a:solidFill>
          <a:schemeClr val="tx1"/>
        </a:solidFill>
        <a:latin typeface="Comic Sans MS" pitchFamily="66" charset="0"/>
        <a:ea typeface="+mn-ea"/>
        <a:cs typeface="+mn-cs"/>
      </a:defRPr>
    </a:lvl4pPr>
    <a:lvl5pPr marL="1828800" algn="l" rtl="0" eaLnBrk="0" fontAlgn="base" hangingPunct="0">
      <a:spcBef>
        <a:spcPct val="30000"/>
      </a:spcBef>
      <a:spcAft>
        <a:spcPct val="0"/>
      </a:spcAft>
      <a:defRPr sz="1200" kern="1200">
        <a:solidFill>
          <a:schemeClr val="tx1"/>
        </a:solidFill>
        <a:latin typeface="Comic Sans MS" pitchFamily="6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www.cellsalive.com/mitosis.htm"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1C5052E6-E303-4156-B4B4-56836ACAB7F3}" type="slidenum">
              <a:rPr lang="en-US"/>
              <a:pPr/>
              <a:t>1</a:t>
            </a:fld>
            <a:endParaRPr lang="en-US"/>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525873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FF9C179E-24CE-47A0-BD8F-04507A379462}" type="slidenum">
              <a:rPr lang="en-US"/>
              <a:pPr/>
              <a:t>2</a:t>
            </a:fld>
            <a:endParaRPr lang="en-US"/>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554294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B84F1A6A-9C20-478E-A368-A1C67A40D64D}" type="slidenum">
              <a:rPr lang="en-US"/>
              <a:pPr/>
              <a:t>3</a:t>
            </a:fld>
            <a:endParaRPr lang="en-US"/>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08689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DBDF7381-7114-4DEA-BAC7-6C84A9CA69A9}" type="slidenum">
              <a:rPr lang="en-US"/>
              <a:pPr/>
              <a:t>4</a:t>
            </a:fld>
            <a:endParaRPr lang="en-US"/>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822035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p>
            <a:fld id="{ACC79F60-015D-423E-987E-6E443EAEFCED}" type="slidenum">
              <a:rPr lang="en-US"/>
              <a:pPr/>
              <a:t>5</a:t>
            </a:fld>
            <a:endParaRPr lang="en-US"/>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5350137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p>
            <a:fld id="{B66CCD7C-03A4-42C8-A98A-C1C20E0E3D10}" type="slidenum">
              <a:rPr lang="en-US"/>
              <a:pPr/>
              <a:t>6</a:t>
            </a:fld>
            <a:endParaRPr lang="en-US"/>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29642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p>
            <a:fld id="{2A341AC0-A4A4-48F3-A5B9-E1D5456A5181}" type="slidenum">
              <a:rPr lang="en-US"/>
              <a:pPr/>
              <a:t>7</a:t>
            </a:fld>
            <a:endParaRPr lang="en-US"/>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573064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p>
            <a:fld id="{2B52547C-3C1E-4490-8CA4-012F51148E98}" type="slidenum">
              <a:rPr lang="en-US"/>
              <a:pPr/>
              <a:t>8</a:t>
            </a:fld>
            <a:endParaRPr lang="en-US"/>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3980421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p>
            <a:fld id="{DCABAC03-FC6C-4890-B1B1-6CDD83C6ED23}" type="slidenum">
              <a:rPr lang="en-US"/>
              <a:pPr/>
              <a:t>9</a:t>
            </a:fld>
            <a:endParaRPr lang="en-US"/>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4673738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p>
            <a:fld id="{0459D797-F29D-4E79-9FDB-C0BC552A27D2}" type="slidenum">
              <a:rPr lang="en-US"/>
              <a:pPr/>
              <a:t>10</a:t>
            </a:fld>
            <a:endParaRPr lang="en-US"/>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1868705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p>
            <a:fld id="{F286873A-E9B2-4F49-AA2B-0D0C7A453859}" type="slidenum">
              <a:rPr lang="en-US"/>
              <a:pPr/>
              <a:t>11</a:t>
            </a:fld>
            <a:endParaRPr lang="en-US"/>
          </a:p>
        </p:txBody>
      </p:sp>
      <p:sp>
        <p:nvSpPr>
          <p:cNvPr id="120835" name="Rectangle 2050"/>
          <p:cNvSpPr>
            <a:spLocks noGrp="1" noRot="1" noChangeAspect="1" noChangeArrowheads="1" noTextEdit="1"/>
          </p:cNvSpPr>
          <p:nvPr>
            <p:ph type="sldImg"/>
          </p:nvPr>
        </p:nvSpPr>
        <p:spPr>
          <a:xfrm>
            <a:off x="1146175" y="685800"/>
            <a:ext cx="4570413" cy="3427413"/>
          </a:xfrm>
          <a:solidFill>
            <a:srgbClr val="FFFFFF"/>
          </a:solidFill>
          <a:ln/>
        </p:spPr>
      </p:sp>
      <p:sp>
        <p:nvSpPr>
          <p:cNvPr id="120836" name="Rectangle 2051"/>
          <p:cNvSpPr>
            <a:spLocks noGrp="1" noChangeArrowheads="1"/>
          </p:cNvSpPr>
          <p:nvPr>
            <p:ph type="body" idx="1"/>
          </p:nvPr>
        </p:nvSpPr>
        <p:spPr>
          <a:solidFill>
            <a:srgbClr val="FFFFFF"/>
          </a:solidFill>
          <a:ln>
            <a:solidFill>
              <a:srgbClr val="000000"/>
            </a:solidFill>
          </a:ln>
        </p:spPr>
        <p:txBody>
          <a:bodyPr lIns="86493" tIns="43247" rIns="86493" bIns="43247"/>
          <a:lstStyle/>
          <a:p>
            <a:pPr eaLnBrk="1" hangingPunct="1"/>
            <a:endParaRPr lang="en-US"/>
          </a:p>
        </p:txBody>
      </p:sp>
    </p:spTree>
    <p:extLst>
      <p:ext uri="{BB962C8B-B14F-4D97-AF65-F5344CB8AC3E}">
        <p14:creationId xmlns:p14="http://schemas.microsoft.com/office/powerpoint/2010/main" val="14440045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p>
            <a:fld id="{B1E9D3A2-7BE3-42BB-A643-2B0635B8C460}" type="slidenum">
              <a:rPr lang="en-US"/>
              <a:pPr/>
              <a:t>13</a:t>
            </a:fld>
            <a:endParaRPr lang="en-US"/>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5895008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EFE5CCBB-693F-44DC-B059-C069017043B4}" type="slidenum">
              <a:rPr lang="en-US"/>
              <a:pPr/>
              <a:t>14</a:t>
            </a:fld>
            <a:endParaRPr lang="en-US"/>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543492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p>
            <a:fld id="{39A9A835-26AF-4ECC-B1C7-D1047FD1D153}" type="slidenum">
              <a:rPr lang="en-US"/>
              <a:pPr/>
              <a:t>15</a:t>
            </a:fld>
            <a:endParaRPr lang="en-US"/>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2577086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p>
            <a:fld id="{4E265508-1AF6-4321-AA31-3369D087D9AD}" type="slidenum">
              <a:rPr lang="en-US"/>
              <a:pPr/>
              <a:t>16</a:t>
            </a:fld>
            <a:endParaRPr lang="en-US"/>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5015639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p:spPr>
        <p:txBody>
          <a:bodyPr/>
          <a:lstStyle/>
          <a:p>
            <a:fld id="{67FD0651-40B1-4DCF-9AD1-22170B4115D2}" type="slidenum">
              <a:rPr lang="en-US"/>
              <a:pPr/>
              <a:t>17</a:t>
            </a:fld>
            <a:endParaRPr lang="en-US"/>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4784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604141AD-E463-45EF-83E4-A630F95C0B1C}" type="slidenum">
              <a:rPr lang="en-US"/>
              <a:pPr/>
              <a:t>18</a:t>
            </a:fld>
            <a:endParaRPr lang="en-US"/>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8375194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p>
            <a:fld id="{F1243A4E-4C1D-4C6D-907E-05220D6EB0A6}" type="slidenum">
              <a:rPr lang="en-US"/>
              <a:pPr/>
              <a:t>19</a:t>
            </a:fld>
            <a:endParaRPr lang="en-US"/>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679251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p>
            <a:fld id="{2C5FD876-153C-414F-B303-1C9EBCA7053C}" type="slidenum">
              <a:rPr lang="en-US"/>
              <a:pPr/>
              <a:t>20</a:t>
            </a:fld>
            <a:endParaRPr lang="en-US"/>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5212534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15DB7E0C-9109-4099-B890-4B448562D1B8}" type="slidenum">
              <a:rPr lang="en-US"/>
              <a:pPr/>
              <a:t>21</a:t>
            </a:fld>
            <a:endParaRPr lang="en-US"/>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262510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p>
            <a:fld id="{CEB8DF1E-BF62-48C5-BE59-3E92301B185C}" type="slidenum">
              <a:rPr lang="en-US"/>
              <a:pPr/>
              <a:t>22</a:t>
            </a:fld>
            <a:endParaRPr lang="en-US"/>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p:spPr>
        <p:txBody>
          <a:bodyPr/>
          <a:lstStyle/>
          <a:p>
            <a:r>
              <a:rPr lang="en-US" b="1" dirty="0"/>
              <a:t>Prophase</a:t>
            </a:r>
          </a:p>
          <a:p>
            <a:r>
              <a:rPr lang="en-US" dirty="0"/>
              <a:t>Prophase occupies over half of mitosis. The nuclear membrane breaks down to form a number of small vesicles and the nucleolus disintegrates. A structure known as the </a:t>
            </a:r>
            <a:r>
              <a:rPr lang="en-US" b="1" dirty="0" err="1"/>
              <a:t>centrosome</a:t>
            </a:r>
            <a:r>
              <a:rPr lang="en-US" dirty="0"/>
              <a:t> duplicates itself to form two daughter </a:t>
            </a:r>
            <a:r>
              <a:rPr lang="en-US" dirty="0" err="1"/>
              <a:t>centrosomes</a:t>
            </a:r>
            <a:r>
              <a:rPr lang="en-US" dirty="0"/>
              <a:t> that migrate to opposite ends of the cell. The </a:t>
            </a:r>
            <a:r>
              <a:rPr lang="en-US" dirty="0" err="1"/>
              <a:t>centrosomes</a:t>
            </a:r>
            <a:r>
              <a:rPr lang="en-US" dirty="0"/>
              <a:t> </a:t>
            </a:r>
            <a:r>
              <a:rPr lang="en-US" dirty="0" err="1"/>
              <a:t>organise</a:t>
            </a:r>
            <a:r>
              <a:rPr lang="en-US" dirty="0"/>
              <a:t> the production of microtubules that form the spindle </a:t>
            </a:r>
            <a:r>
              <a:rPr lang="en-US" dirty="0" err="1"/>
              <a:t>fibres</a:t>
            </a:r>
            <a:r>
              <a:rPr lang="en-US" dirty="0"/>
              <a:t> that constitute the </a:t>
            </a:r>
            <a:r>
              <a:rPr lang="en-US" b="1" dirty="0"/>
              <a:t>mitotic spindle</a:t>
            </a:r>
            <a:r>
              <a:rPr lang="en-US" dirty="0"/>
              <a:t>. The chromosomes condense into compact structures. Each replicated chromosome can now be seen to consist of two identical </a:t>
            </a:r>
            <a:r>
              <a:rPr lang="en-US" b="1" dirty="0" err="1"/>
              <a:t>chromatids</a:t>
            </a:r>
            <a:r>
              <a:rPr lang="en-US" dirty="0"/>
              <a:t> (or </a:t>
            </a:r>
            <a:r>
              <a:rPr lang="en-US" b="1" dirty="0"/>
              <a:t>sister </a:t>
            </a:r>
            <a:r>
              <a:rPr lang="en-US" b="1" dirty="0" err="1"/>
              <a:t>chromatids</a:t>
            </a:r>
            <a:r>
              <a:rPr lang="en-US" dirty="0"/>
              <a:t>) held together by a structure known as the </a:t>
            </a:r>
            <a:r>
              <a:rPr lang="en-US" b="1" dirty="0" err="1"/>
              <a:t>centromere</a:t>
            </a:r>
            <a:r>
              <a:rPr lang="en-US" dirty="0"/>
              <a:t>.</a:t>
            </a:r>
          </a:p>
          <a:p>
            <a:endParaRPr lang="en-US" dirty="0"/>
          </a:p>
          <a:p>
            <a:pPr eaLnBrk="1" hangingPunct="1"/>
            <a:endParaRPr lang="en-US" dirty="0"/>
          </a:p>
        </p:txBody>
      </p:sp>
    </p:spTree>
    <p:extLst>
      <p:ext uri="{BB962C8B-B14F-4D97-AF65-F5344CB8AC3E}">
        <p14:creationId xmlns:p14="http://schemas.microsoft.com/office/powerpoint/2010/main" val="36574966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err="1"/>
              <a:t>Prometaphase</a:t>
            </a:r>
            <a:endParaRPr lang="en-US" b="1" dirty="0"/>
          </a:p>
          <a:p>
            <a:r>
              <a:rPr lang="en-US" dirty="0"/>
              <a:t>The chromosomes, led by their </a:t>
            </a:r>
            <a:r>
              <a:rPr lang="en-US" dirty="0" err="1"/>
              <a:t>centromeres</a:t>
            </a:r>
            <a:r>
              <a:rPr lang="en-US" dirty="0"/>
              <a:t>, migrate to the equatorial plane in the mid-line of the cell - at right-angles to the axis formed by the </a:t>
            </a:r>
            <a:r>
              <a:rPr lang="en-US" dirty="0" err="1"/>
              <a:t>centrosomes</a:t>
            </a:r>
            <a:r>
              <a:rPr lang="en-US" dirty="0"/>
              <a:t>. This region of the mitotic spindle is known as the </a:t>
            </a:r>
            <a:r>
              <a:rPr lang="en-US" b="1" dirty="0"/>
              <a:t>metaphase plate</a:t>
            </a:r>
            <a:r>
              <a:rPr lang="en-US" dirty="0"/>
              <a:t>. The spindle </a:t>
            </a:r>
            <a:r>
              <a:rPr lang="en-US" dirty="0" err="1"/>
              <a:t>fibres</a:t>
            </a:r>
            <a:r>
              <a:rPr lang="en-US" dirty="0"/>
              <a:t> bind to a structure associated with the </a:t>
            </a:r>
            <a:r>
              <a:rPr lang="en-US" dirty="0" err="1"/>
              <a:t>centromere</a:t>
            </a:r>
            <a:r>
              <a:rPr lang="en-US" dirty="0"/>
              <a:t> of each chromosome called a </a:t>
            </a:r>
            <a:r>
              <a:rPr lang="en-US" dirty="0" err="1"/>
              <a:t>kinetochore</a:t>
            </a:r>
            <a:r>
              <a:rPr lang="en-US" dirty="0"/>
              <a:t>. Individual spindle </a:t>
            </a:r>
            <a:r>
              <a:rPr lang="en-US" dirty="0" err="1"/>
              <a:t>fibres</a:t>
            </a:r>
            <a:r>
              <a:rPr lang="en-US" dirty="0"/>
              <a:t> bind to a </a:t>
            </a:r>
            <a:r>
              <a:rPr lang="en-US" b="1" dirty="0" err="1"/>
              <a:t>kinetochore</a:t>
            </a:r>
            <a:r>
              <a:rPr lang="en-US" dirty="0"/>
              <a:t> structure on each side of the </a:t>
            </a:r>
            <a:r>
              <a:rPr lang="en-US" dirty="0" err="1"/>
              <a:t>centromere</a:t>
            </a:r>
            <a:r>
              <a:rPr lang="en-US" dirty="0"/>
              <a:t>. The chromosomes continue to condense.</a:t>
            </a:r>
          </a:p>
          <a:p>
            <a:r>
              <a:rPr lang="en-US" b="1" dirty="0"/>
              <a:t>Metaphase</a:t>
            </a:r>
          </a:p>
          <a:p>
            <a:r>
              <a:rPr lang="en-US" dirty="0"/>
              <a:t>The chromosomes align themselves along the metaphase plate of the spindle apparatus.</a:t>
            </a:r>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EC37E93A-BF0D-4E0B-B8A8-D0F58263B82A}" type="slidenum">
              <a:rPr lang="en-US" smtClean="0"/>
              <a:pPr>
                <a:defRPr/>
              </a:pPr>
              <a:t>23</a:t>
            </a:fld>
            <a:endParaRPr lang="en-US"/>
          </a:p>
        </p:txBody>
      </p:sp>
    </p:spTree>
    <p:extLst>
      <p:ext uri="{BB962C8B-B14F-4D97-AF65-F5344CB8AC3E}">
        <p14:creationId xmlns:p14="http://schemas.microsoft.com/office/powerpoint/2010/main" val="21378530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Anaphase</a:t>
            </a:r>
          </a:p>
          <a:p>
            <a:r>
              <a:rPr lang="en-US" dirty="0"/>
              <a:t>The shortest stage of mitosis. The </a:t>
            </a:r>
            <a:r>
              <a:rPr lang="en-US" dirty="0" err="1"/>
              <a:t>centromeres</a:t>
            </a:r>
            <a:r>
              <a:rPr lang="en-US" dirty="0"/>
              <a:t> divide, and the sister </a:t>
            </a:r>
            <a:r>
              <a:rPr lang="en-US" dirty="0" err="1"/>
              <a:t>chromatids</a:t>
            </a:r>
            <a:r>
              <a:rPr lang="en-US" dirty="0"/>
              <a:t> of each chromosome are pulled apart - or 'disjoin' - and move to the opposite ends of the cell, pulled by spindle </a:t>
            </a:r>
            <a:r>
              <a:rPr lang="en-US" dirty="0" err="1"/>
              <a:t>fibres</a:t>
            </a:r>
            <a:r>
              <a:rPr lang="en-US" dirty="0"/>
              <a:t> attached to the </a:t>
            </a:r>
            <a:r>
              <a:rPr lang="en-US" dirty="0" err="1"/>
              <a:t>kinetochore</a:t>
            </a:r>
            <a:r>
              <a:rPr lang="en-US" dirty="0"/>
              <a:t> regions. The separated sister </a:t>
            </a:r>
            <a:r>
              <a:rPr lang="en-US" dirty="0" err="1"/>
              <a:t>chromatids</a:t>
            </a:r>
            <a:r>
              <a:rPr lang="en-US" dirty="0"/>
              <a:t> are now referred to as </a:t>
            </a:r>
            <a:r>
              <a:rPr lang="en-US" b="1" dirty="0"/>
              <a:t>daughter chromosomes</a:t>
            </a:r>
            <a:r>
              <a:rPr lang="en-US" dirty="0"/>
              <a:t>. (It is the alignment and separation in metaphase and anaphase that is important in ensuring that each daughter cell receives a copy of every chromosome.)</a:t>
            </a:r>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EC37E93A-BF0D-4E0B-B8A8-D0F58263B82A}" type="slidenum">
              <a:rPr lang="en-US" smtClean="0"/>
              <a:pPr>
                <a:defRPr/>
              </a:pPr>
              <a:t>24</a:t>
            </a:fld>
            <a:endParaRPr lang="en-US"/>
          </a:p>
        </p:txBody>
      </p:sp>
    </p:spTree>
    <p:extLst>
      <p:ext uri="{BB962C8B-B14F-4D97-AF65-F5344CB8AC3E}">
        <p14:creationId xmlns:p14="http://schemas.microsoft.com/office/powerpoint/2010/main" val="41105368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err="1"/>
              <a:t>Telophase</a:t>
            </a:r>
            <a:endParaRPr lang="en-US" b="1" dirty="0"/>
          </a:p>
          <a:p>
            <a:r>
              <a:rPr lang="en-US" dirty="0"/>
              <a:t>The final stage of mitosis, and a reversal of many of the processes observed during prophase. The nuclear membrane reforms around the chromosomes grouped at either pole of the cell, the chromosomes uncoil and become diffuse, and the spindle </a:t>
            </a:r>
            <a:r>
              <a:rPr lang="en-US" dirty="0" err="1"/>
              <a:t>fibres</a:t>
            </a:r>
            <a:r>
              <a:rPr lang="en-US" dirty="0"/>
              <a:t> disappear.</a:t>
            </a:r>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EC37E93A-BF0D-4E0B-B8A8-D0F58263B82A}" type="slidenum">
              <a:rPr lang="en-US" smtClean="0"/>
              <a:pPr>
                <a:defRPr/>
              </a:pPr>
              <a:t>25</a:t>
            </a:fld>
            <a:endParaRPr lang="en-US"/>
          </a:p>
        </p:txBody>
      </p:sp>
    </p:spTree>
    <p:extLst>
      <p:ext uri="{BB962C8B-B14F-4D97-AF65-F5344CB8AC3E}">
        <p14:creationId xmlns:p14="http://schemas.microsoft.com/office/powerpoint/2010/main" val="23669580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https://www.youtube.com/watch?v=DwAFZb8juMQ</a:t>
            </a:r>
          </a:p>
        </p:txBody>
      </p:sp>
      <p:sp>
        <p:nvSpPr>
          <p:cNvPr id="4" name="Slide Number Placeholder 3"/>
          <p:cNvSpPr>
            <a:spLocks noGrp="1"/>
          </p:cNvSpPr>
          <p:nvPr>
            <p:ph type="sldNum" sz="quarter" idx="10"/>
          </p:nvPr>
        </p:nvSpPr>
        <p:spPr/>
        <p:txBody>
          <a:bodyPr/>
          <a:lstStyle/>
          <a:p>
            <a:pPr>
              <a:defRPr/>
            </a:pPr>
            <a:fld id="{EC37E93A-BF0D-4E0B-B8A8-D0F58263B82A}" type="slidenum">
              <a:rPr lang="en-US" smtClean="0"/>
              <a:pPr>
                <a:defRPr/>
              </a:pPr>
              <a:t>26</a:t>
            </a:fld>
            <a:endParaRPr lang="en-US"/>
          </a:p>
        </p:txBody>
      </p:sp>
    </p:spTree>
    <p:extLst>
      <p:ext uri="{BB962C8B-B14F-4D97-AF65-F5344CB8AC3E}">
        <p14:creationId xmlns:p14="http://schemas.microsoft.com/office/powerpoint/2010/main" val="26190548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Cytokinesis</a:t>
            </a:r>
            <a:endParaRPr lang="en-US" dirty="0"/>
          </a:p>
          <a:p>
            <a:r>
              <a:rPr lang="en-US" dirty="0"/>
              <a:t>The final cellular division to form two new cells. In plants a cell plate forms along the line of the metaphase plate; in animals there is a constriction of the cytoplasm. The cell then enters </a:t>
            </a:r>
            <a:r>
              <a:rPr lang="en-US" dirty="0" err="1"/>
              <a:t>interphase</a:t>
            </a:r>
            <a:r>
              <a:rPr lang="en-US" dirty="0"/>
              <a:t> - the interval between mitotic divisions.</a:t>
            </a:r>
          </a:p>
          <a:p>
            <a:endParaRPr lang="en-US" dirty="0"/>
          </a:p>
        </p:txBody>
      </p:sp>
      <p:sp>
        <p:nvSpPr>
          <p:cNvPr id="4" name="Slide Number Placeholder 3"/>
          <p:cNvSpPr>
            <a:spLocks noGrp="1"/>
          </p:cNvSpPr>
          <p:nvPr>
            <p:ph type="sldNum" sz="quarter" idx="10"/>
          </p:nvPr>
        </p:nvSpPr>
        <p:spPr/>
        <p:txBody>
          <a:bodyPr/>
          <a:lstStyle/>
          <a:p>
            <a:pPr>
              <a:defRPr/>
            </a:pPr>
            <a:fld id="{EC37E93A-BF0D-4E0B-B8A8-D0F58263B82A}" type="slidenum">
              <a:rPr lang="en-US" smtClean="0"/>
              <a:pPr>
                <a:defRPr/>
              </a:pPr>
              <a:t>27</a:t>
            </a:fld>
            <a:endParaRPr lang="en-US"/>
          </a:p>
        </p:txBody>
      </p:sp>
    </p:spTree>
    <p:extLst>
      <p:ext uri="{BB962C8B-B14F-4D97-AF65-F5344CB8AC3E}">
        <p14:creationId xmlns:p14="http://schemas.microsoft.com/office/powerpoint/2010/main" val="42505570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dirty="0">
                <a:hlinkClick r:id="rId3"/>
              </a:rPr>
              <a:t>http://www.cellsalive.com/mitosis.htm</a:t>
            </a:r>
            <a:endParaRPr lang="en-US" b="1" dirty="0"/>
          </a:p>
          <a:p>
            <a:endParaRPr lang="en-US" dirty="0"/>
          </a:p>
        </p:txBody>
      </p:sp>
      <p:sp>
        <p:nvSpPr>
          <p:cNvPr id="4" name="Slide Number Placeholder 3"/>
          <p:cNvSpPr>
            <a:spLocks noGrp="1"/>
          </p:cNvSpPr>
          <p:nvPr>
            <p:ph type="sldNum" sz="quarter" idx="10"/>
          </p:nvPr>
        </p:nvSpPr>
        <p:spPr/>
        <p:txBody>
          <a:bodyPr/>
          <a:lstStyle/>
          <a:p>
            <a:pPr>
              <a:defRPr/>
            </a:pPr>
            <a:fld id="{EC37E93A-BF0D-4E0B-B8A8-D0F58263B82A}" type="slidenum">
              <a:rPr lang="en-US" smtClean="0"/>
              <a:pPr>
                <a:defRPr/>
              </a:pPr>
              <a:t>28</a:t>
            </a:fld>
            <a:endParaRPr lang="en-US"/>
          </a:p>
        </p:txBody>
      </p:sp>
    </p:spTree>
    <p:extLst>
      <p:ext uri="{BB962C8B-B14F-4D97-AF65-F5344CB8AC3E}">
        <p14:creationId xmlns:p14="http://schemas.microsoft.com/office/powerpoint/2010/main" val="18800771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p:spPr>
        <p:txBody>
          <a:bodyPr/>
          <a:lstStyle/>
          <a:p>
            <a:fld id="{432F2478-93FC-466C-8E51-D6A5F06B5860}" type="slidenum">
              <a:rPr lang="en-US"/>
              <a:pPr/>
              <a:t>29</a:t>
            </a:fld>
            <a:endParaRPr lang="en-US"/>
          </a:p>
        </p:txBody>
      </p:sp>
      <p:sp>
        <p:nvSpPr>
          <p:cNvPr id="158723" name="Rectangle 2"/>
          <p:cNvSpPr>
            <a:spLocks noGrp="1" noRot="1" noChangeAspect="1" noChangeArrowheads="1" noTextEdit="1"/>
          </p:cNvSpPr>
          <p:nvPr>
            <p:ph type="sldImg"/>
          </p:nvPr>
        </p:nvSpPr>
        <p:spPr>
          <a:ln/>
        </p:spPr>
      </p:sp>
      <p:sp>
        <p:nvSpPr>
          <p:cNvPr id="15872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9654681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p:spPr>
        <p:txBody>
          <a:bodyPr/>
          <a:lstStyle/>
          <a:p>
            <a:fld id="{44E559D5-E4C6-4D50-87D2-622A35204D64}" type="slidenum">
              <a:rPr lang="en-US"/>
              <a:pPr/>
              <a:t>31</a:t>
            </a:fld>
            <a:endParaRPr lang="en-US"/>
          </a:p>
        </p:txBody>
      </p:sp>
      <p:sp>
        <p:nvSpPr>
          <p:cNvPr id="175107" name="Rectangle 2"/>
          <p:cNvSpPr>
            <a:spLocks noGrp="1" noRot="1" noChangeAspect="1" noChangeArrowheads="1" noTextEdit="1"/>
          </p:cNvSpPr>
          <p:nvPr>
            <p:ph type="sldImg"/>
          </p:nvPr>
        </p:nvSpPr>
        <p:spPr>
          <a:ln/>
        </p:spPr>
      </p:sp>
      <p:sp>
        <p:nvSpPr>
          <p:cNvPr id="17510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2120638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B43869AC-FDDD-4AC8-9C70-5734E1BD250F}" type="slidenum">
              <a:rPr lang="en-US"/>
              <a:pPr/>
              <a:t>32</a:t>
            </a:fld>
            <a:endParaRPr lang="en-US"/>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890407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p:spPr>
        <p:txBody>
          <a:bodyPr/>
          <a:lstStyle/>
          <a:p>
            <a:fld id="{4E923723-1811-4F7F-881C-3F16486574C3}" type="slidenum">
              <a:rPr lang="en-US"/>
              <a:pPr/>
              <a:t>33</a:t>
            </a:fld>
            <a:endParaRPr lang="en-US"/>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058422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p:spPr>
        <p:txBody>
          <a:bodyPr/>
          <a:lstStyle/>
          <a:p>
            <a:fld id="{8EF8C7BC-3F35-4B78-A63A-4D1AA8458A15}" type="slidenum">
              <a:rPr lang="en-US"/>
              <a:pPr/>
              <a:t>34</a:t>
            </a:fld>
            <a:endParaRPr lang="en-US"/>
          </a:p>
        </p:txBody>
      </p:sp>
      <p:sp>
        <p:nvSpPr>
          <p:cNvPr id="179203" name="Rectangle 2"/>
          <p:cNvSpPr>
            <a:spLocks noGrp="1" noRot="1" noChangeAspect="1" noChangeArrowheads="1" noTextEdit="1"/>
          </p:cNvSpPr>
          <p:nvPr>
            <p:ph type="sldImg"/>
          </p:nvPr>
        </p:nvSpPr>
        <p:spPr>
          <a:ln/>
        </p:spPr>
      </p:sp>
      <p:sp>
        <p:nvSpPr>
          <p:cNvPr id="17920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87977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p:spPr>
        <p:txBody>
          <a:bodyPr/>
          <a:lstStyle/>
          <a:p>
            <a:fld id="{53662A9C-6B41-4DDA-8402-6BB12B2C95DD}" type="slidenum">
              <a:rPr lang="en-US"/>
              <a:pPr/>
              <a:t>35</a:t>
            </a:fld>
            <a:endParaRPr lang="en-US"/>
          </a:p>
        </p:txBody>
      </p:sp>
      <p:sp>
        <p:nvSpPr>
          <p:cNvPr id="180227" name="Rectangle 2"/>
          <p:cNvSpPr>
            <a:spLocks noGrp="1" noRot="1" noChangeAspect="1" noChangeArrowheads="1" noTextEdit="1"/>
          </p:cNvSpPr>
          <p:nvPr>
            <p:ph type="sldImg"/>
          </p:nvPr>
        </p:nvSpPr>
        <p:spPr>
          <a:xfrm>
            <a:off x="1146175" y="685800"/>
            <a:ext cx="4570413" cy="3427413"/>
          </a:xfrm>
          <a:solidFill>
            <a:srgbClr val="FFFFFF"/>
          </a:solidFill>
          <a:ln/>
        </p:spPr>
      </p:sp>
      <p:sp>
        <p:nvSpPr>
          <p:cNvPr id="180228" name="Rectangle 3"/>
          <p:cNvSpPr>
            <a:spLocks noGrp="1" noChangeArrowheads="1"/>
          </p:cNvSpPr>
          <p:nvPr>
            <p:ph type="body" idx="1"/>
          </p:nvPr>
        </p:nvSpPr>
        <p:spPr>
          <a:solidFill>
            <a:srgbClr val="FFFFFF"/>
          </a:solidFill>
          <a:ln>
            <a:solidFill>
              <a:srgbClr val="000000"/>
            </a:solidFill>
          </a:ln>
        </p:spPr>
        <p:txBody>
          <a:bodyPr lIns="86493" tIns="43247" rIns="86493" bIns="43247"/>
          <a:lstStyle/>
          <a:p>
            <a:pPr eaLnBrk="1" hangingPunct="1"/>
            <a:endParaRPr lang="en-US"/>
          </a:p>
        </p:txBody>
      </p:sp>
    </p:spTree>
    <p:extLst>
      <p:ext uri="{BB962C8B-B14F-4D97-AF65-F5344CB8AC3E}">
        <p14:creationId xmlns:p14="http://schemas.microsoft.com/office/powerpoint/2010/main" val="33591516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p:spPr>
        <p:txBody>
          <a:bodyPr/>
          <a:lstStyle/>
          <a:p>
            <a:fld id="{C99CEBD6-7CD4-4F8A-9CE8-762768220DD1}" type="slidenum">
              <a:rPr lang="en-US"/>
              <a:pPr/>
              <a:t>36</a:t>
            </a:fld>
            <a:endParaRPr lang="en-US"/>
          </a:p>
        </p:txBody>
      </p:sp>
      <p:sp>
        <p:nvSpPr>
          <p:cNvPr id="183299" name="Rectangle 2"/>
          <p:cNvSpPr>
            <a:spLocks noGrp="1" noRot="1" noChangeAspect="1" noChangeArrowheads="1" noTextEdit="1"/>
          </p:cNvSpPr>
          <p:nvPr>
            <p:ph type="sldImg"/>
          </p:nvPr>
        </p:nvSpPr>
        <p:spPr>
          <a:ln/>
        </p:spPr>
      </p:sp>
      <p:sp>
        <p:nvSpPr>
          <p:cNvPr id="18330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121321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a:noFill/>
        </p:spPr>
        <p:txBody>
          <a:bodyPr/>
          <a:lstStyle/>
          <a:p>
            <a:fld id="{39EB9A3B-B959-479B-8F69-932EF4989B06}" type="slidenum">
              <a:rPr lang="en-US"/>
              <a:pPr/>
              <a:t>38</a:t>
            </a:fld>
            <a:endParaRPr lang="en-US"/>
          </a:p>
        </p:txBody>
      </p:sp>
      <p:sp>
        <p:nvSpPr>
          <p:cNvPr id="209923" name="Rectangle 2"/>
          <p:cNvSpPr>
            <a:spLocks noGrp="1" noRot="1" noChangeAspect="1" noChangeArrowheads="1" noTextEdit="1"/>
          </p:cNvSpPr>
          <p:nvPr>
            <p:ph type="sldImg"/>
          </p:nvPr>
        </p:nvSpPr>
        <p:spPr>
          <a:ln/>
        </p:spPr>
      </p:sp>
      <p:sp>
        <p:nvSpPr>
          <p:cNvPr id="20992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405113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p:cNvSpPr>
            <a:spLocks noGrp="1" noChangeArrowheads="1"/>
          </p:cNvSpPr>
          <p:nvPr>
            <p:ph type="sldNum" sz="quarter" idx="5"/>
          </p:nvPr>
        </p:nvSpPr>
        <p:spPr>
          <a:noFill/>
        </p:spPr>
        <p:txBody>
          <a:bodyPr/>
          <a:lstStyle/>
          <a:p>
            <a:fld id="{1DAD618B-1D99-44CB-B873-ABD865754B6B}" type="slidenum">
              <a:rPr lang="en-US"/>
              <a:pPr/>
              <a:t>39</a:t>
            </a:fld>
            <a:endParaRPr lang="en-US"/>
          </a:p>
        </p:txBody>
      </p:sp>
      <p:sp>
        <p:nvSpPr>
          <p:cNvPr id="210947" name="Rectangle 2"/>
          <p:cNvSpPr>
            <a:spLocks noGrp="1" noRot="1" noChangeAspect="1" noChangeArrowheads="1" noTextEdit="1"/>
          </p:cNvSpPr>
          <p:nvPr>
            <p:ph type="sldImg"/>
          </p:nvPr>
        </p:nvSpPr>
        <p:spPr>
          <a:ln/>
        </p:spPr>
      </p:sp>
      <p:sp>
        <p:nvSpPr>
          <p:cNvPr id="210948"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6788065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pPr>
              <a:defRPr/>
            </a:pPr>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pPr>
              <a:defRPr/>
            </a:pPr>
            <a:r>
              <a:rPr lang="en-US"/>
              <a:t>copyright cmassengale</a:t>
            </a:r>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2EBC6738-ED98-48E3-A727-EAB32DBDBCE1}" type="slidenum">
              <a:rPr lang="en-US" smtClean="0"/>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copyright cmassengale</a:t>
            </a:r>
          </a:p>
        </p:txBody>
      </p:sp>
      <p:sp>
        <p:nvSpPr>
          <p:cNvPr id="6" name="Slide Number Placeholder 5"/>
          <p:cNvSpPr>
            <a:spLocks noGrp="1"/>
          </p:cNvSpPr>
          <p:nvPr>
            <p:ph type="sldNum" sz="quarter" idx="12"/>
          </p:nvPr>
        </p:nvSpPr>
        <p:spPr/>
        <p:txBody>
          <a:bodyPr/>
          <a:lstStyle>
            <a:lvl1pPr>
              <a:defRPr>
                <a:solidFill>
                  <a:srgbClr val="FFFFFF"/>
                </a:solidFill>
              </a:defRPr>
            </a:lvl1pPr>
          </a:lstStyle>
          <a:p>
            <a:pPr>
              <a:defRPr/>
            </a:pPr>
            <a:fld id="{17A12585-9F68-4899-931D-CDB0D37D1C92}" type="slidenum">
              <a:rPr lang="en-US" smtClean="0"/>
              <a:pPr>
                <a:defRPr/>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pPr>
              <a:defRPr/>
            </a:pPr>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pPr>
              <a:defRPr/>
            </a:pPr>
            <a:fld id="{DDB0AF36-A597-4082-88EA-8C9716FC01D4}" type="slidenum">
              <a:rPr lang="en-US" smtClean="0"/>
              <a:pPr>
                <a:defRPr/>
              </a:pPr>
              <a:t>‹#›</a:t>
            </a:fld>
            <a:endParaRPr lang="en-US"/>
          </a:p>
        </p:txBody>
      </p:sp>
      <p:sp>
        <p:nvSpPr>
          <p:cNvPr id="14" name="Footer Placeholder 13"/>
          <p:cNvSpPr>
            <a:spLocks noGrp="1"/>
          </p:cNvSpPr>
          <p:nvPr>
            <p:ph type="ftr" sz="quarter" idx="12"/>
          </p:nvPr>
        </p:nvSpPr>
        <p:spPr/>
        <p:txBody>
          <a:bodyPr/>
          <a:lstStyle/>
          <a:p>
            <a:pPr>
              <a:defRPr/>
            </a:pPr>
            <a:r>
              <a:rPr lang="en-US"/>
              <a:t>copyright cmassengale</a:t>
            </a: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pPr>
              <a:defRPr/>
            </a:pPr>
            <a:endParaRPr lang="en-US"/>
          </a:p>
        </p:txBody>
      </p:sp>
      <p:sp>
        <p:nvSpPr>
          <p:cNvPr id="10" name="Slide Number Placeholder 9"/>
          <p:cNvSpPr>
            <a:spLocks noGrp="1"/>
          </p:cNvSpPr>
          <p:nvPr>
            <p:ph type="sldNum" sz="quarter" idx="16"/>
          </p:nvPr>
        </p:nvSpPr>
        <p:spPr/>
        <p:txBody>
          <a:bodyPr rtlCol="0"/>
          <a:lstStyle/>
          <a:p>
            <a:pPr>
              <a:defRPr/>
            </a:pPr>
            <a:fld id="{689E4D0C-06CB-4623-83F4-CC28BD49DBA8}" type="slidenum">
              <a:rPr lang="en-US" smtClean="0"/>
              <a:pPr>
                <a:defRPr/>
              </a:pPr>
              <a:t>‹#›</a:t>
            </a:fld>
            <a:endParaRPr lang="en-US"/>
          </a:p>
        </p:txBody>
      </p:sp>
      <p:sp>
        <p:nvSpPr>
          <p:cNvPr id="12" name="Footer Placeholder 11"/>
          <p:cNvSpPr>
            <a:spLocks noGrp="1"/>
          </p:cNvSpPr>
          <p:nvPr>
            <p:ph type="ftr" sz="quarter" idx="17"/>
          </p:nvPr>
        </p:nvSpPr>
        <p:spPr/>
        <p:txBody>
          <a:bodyPr rtlCol="0"/>
          <a:lstStyle/>
          <a:p>
            <a:pPr>
              <a:defRPr/>
            </a:pPr>
            <a:r>
              <a:rPr lang="en-US"/>
              <a:t>copyright cmassengale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pPr>
              <a:defRPr/>
            </a:pPr>
            <a:endParaRPr lang="en-US"/>
          </a:p>
        </p:txBody>
      </p:sp>
      <p:sp>
        <p:nvSpPr>
          <p:cNvPr id="12" name="Slide Number Placeholder 11"/>
          <p:cNvSpPr>
            <a:spLocks noGrp="1"/>
          </p:cNvSpPr>
          <p:nvPr>
            <p:ph type="sldNum" sz="quarter" idx="16"/>
          </p:nvPr>
        </p:nvSpPr>
        <p:spPr/>
        <p:txBody>
          <a:bodyPr rtlCol="0"/>
          <a:lstStyle/>
          <a:p>
            <a:pPr>
              <a:defRPr/>
            </a:pPr>
            <a:fld id="{D072830E-BE65-4D41-A661-6B77290614A6}" type="slidenum">
              <a:rPr lang="en-US" smtClean="0"/>
              <a:pPr>
                <a:defRPr/>
              </a:pPr>
              <a:t>‹#›</a:t>
            </a:fld>
            <a:endParaRPr lang="en-US"/>
          </a:p>
        </p:txBody>
      </p:sp>
      <p:sp>
        <p:nvSpPr>
          <p:cNvPr id="14" name="Footer Placeholder 13"/>
          <p:cNvSpPr>
            <a:spLocks noGrp="1"/>
          </p:cNvSpPr>
          <p:nvPr>
            <p:ph type="ftr" sz="quarter" idx="17"/>
          </p:nvPr>
        </p:nvSpPr>
        <p:spPr/>
        <p:txBody>
          <a:bodyPr rtlCol="0"/>
          <a:lstStyle/>
          <a:p>
            <a:pPr>
              <a:defRPr/>
            </a:pPr>
            <a:r>
              <a:rPr lang="en-US"/>
              <a:t>copyright cmassengale</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r>
              <a:rPr lang="en-US"/>
              <a:t>copyright cmassengale</a:t>
            </a:r>
          </a:p>
        </p:txBody>
      </p:sp>
      <p:sp>
        <p:nvSpPr>
          <p:cNvPr id="5" name="Slide Number Placeholder 4"/>
          <p:cNvSpPr>
            <a:spLocks noGrp="1"/>
          </p:cNvSpPr>
          <p:nvPr>
            <p:ph type="sldNum" sz="quarter" idx="12"/>
          </p:nvPr>
        </p:nvSpPr>
        <p:spPr/>
        <p:txBody>
          <a:bodyPr/>
          <a:lstStyle>
            <a:lvl1pPr>
              <a:defRPr>
                <a:solidFill>
                  <a:srgbClr val="FFFFFF"/>
                </a:solidFill>
              </a:defRPr>
            </a:lvl1pPr>
          </a:lstStyle>
          <a:p>
            <a:pPr>
              <a:defRPr/>
            </a:pPr>
            <a:fld id="{2BC81D3F-60A0-40C6-B544-D0AC20A5361E}"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r>
              <a:rPr lang="en-US"/>
              <a:t>copyright cmassengale</a:t>
            </a:r>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2C551291-391B-4D30-B3EB-A7D569432189}"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a:t>copyright cmassengale</a:t>
            </a:r>
          </a:p>
        </p:txBody>
      </p:sp>
      <p:sp>
        <p:nvSpPr>
          <p:cNvPr id="7" name="Slide Number Placeholder 6"/>
          <p:cNvSpPr>
            <a:spLocks noGrp="1"/>
          </p:cNvSpPr>
          <p:nvPr>
            <p:ph type="sldNum" sz="quarter" idx="12"/>
          </p:nvPr>
        </p:nvSpPr>
        <p:spPr/>
        <p:txBody>
          <a:bodyPr/>
          <a:lstStyle>
            <a:lvl1pPr>
              <a:defRPr>
                <a:solidFill>
                  <a:srgbClr val="FFFFFF"/>
                </a:solidFill>
              </a:defRPr>
            </a:lvl1pPr>
          </a:lstStyle>
          <a:p>
            <a:pPr>
              <a:defRPr/>
            </a:pPr>
            <a:fld id="{DC9F2F07-85F5-44E6-9682-89B0E5C8FEE2}" type="slidenum">
              <a:rPr lang="en-US" smtClean="0"/>
              <a:pPr>
                <a:defRPr/>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pPr>
              <a:defRPr/>
            </a:pPr>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pPr>
              <a:defRPr/>
            </a:pPr>
            <a:fld id="{B5E6E177-B234-4A2B-B97B-57EE32AE06C6}" type="slidenum">
              <a:rPr lang="en-US" smtClean="0"/>
              <a:pPr>
                <a:defRPr/>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pPr>
              <a:defRPr/>
            </a:pPr>
            <a:r>
              <a:rPr lang="en-US"/>
              <a:t>copyright cmassengale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copyright cmassengale</a:t>
            </a:r>
          </a:p>
        </p:txBody>
      </p:sp>
      <p:sp>
        <p:nvSpPr>
          <p:cNvPr id="6" name="Slide Number Placeholder 5"/>
          <p:cNvSpPr>
            <a:spLocks noGrp="1"/>
          </p:cNvSpPr>
          <p:nvPr>
            <p:ph type="sldNum" sz="quarter" idx="12"/>
          </p:nvPr>
        </p:nvSpPr>
        <p:spPr/>
        <p:txBody>
          <a:bodyPr/>
          <a:lstStyle/>
          <a:p>
            <a:pPr>
              <a:defRPr/>
            </a:pPr>
            <a:fld id="{8DF75646-EB51-462F-AFAA-135F4769840D}"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pPr>
              <a:defRPr/>
            </a:pPr>
            <a:endParaRPr lang="en-US"/>
          </a:p>
        </p:txBody>
      </p:sp>
      <p:sp>
        <p:nvSpPr>
          <p:cNvPr id="5" name="Footer Placeholder 4"/>
          <p:cNvSpPr>
            <a:spLocks noGrp="1"/>
          </p:cNvSpPr>
          <p:nvPr>
            <p:ph type="ftr" sz="quarter" idx="11"/>
          </p:nvPr>
        </p:nvSpPr>
        <p:spPr>
          <a:xfrm>
            <a:off x="457201" y="6248207"/>
            <a:ext cx="5573483" cy="365125"/>
          </a:xfrm>
        </p:spPr>
        <p:txBody>
          <a:bodyPr/>
          <a:lstStyle/>
          <a:p>
            <a:pPr>
              <a:defRPr/>
            </a:pPr>
            <a:r>
              <a:rPr lang="en-US"/>
              <a:t>copyright cmassengale</a:t>
            </a:r>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pPr>
              <a:defRPr/>
            </a:pPr>
            <a:fld id="{35D605D1-FDA5-449B-B8A8-FDFE03332B14}"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9067800" cy="685800"/>
          </a:xfrm>
        </p:spPr>
        <p:txBody>
          <a:bodyPr/>
          <a:lstStyle/>
          <a:p>
            <a:r>
              <a:rPr lang="en-US"/>
              <a:t>Click to edit Master title style</a:t>
            </a:r>
          </a:p>
        </p:txBody>
      </p:sp>
      <p:sp>
        <p:nvSpPr>
          <p:cNvPr id="3" name="Text Placeholder 2"/>
          <p:cNvSpPr>
            <a:spLocks noGrp="1"/>
          </p:cNvSpPr>
          <p:nvPr>
            <p:ph type="body" sz="half" idx="1"/>
          </p:nvPr>
        </p:nvSpPr>
        <p:spPr>
          <a:xfrm>
            <a:off x="152400" y="838200"/>
            <a:ext cx="43434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838200"/>
            <a:ext cx="4343400" cy="5486400"/>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copyright cmassengale</a:t>
            </a:r>
          </a:p>
        </p:txBody>
      </p:sp>
      <p:sp>
        <p:nvSpPr>
          <p:cNvPr id="7" name="Rectangle 6"/>
          <p:cNvSpPr>
            <a:spLocks noGrp="1" noChangeArrowheads="1"/>
          </p:cNvSpPr>
          <p:nvPr>
            <p:ph type="sldNum" sz="quarter" idx="12"/>
          </p:nvPr>
        </p:nvSpPr>
        <p:spPr>
          <a:ln/>
        </p:spPr>
        <p:txBody>
          <a:bodyPr/>
          <a:lstStyle>
            <a:lvl1pPr>
              <a:defRPr/>
            </a:lvl1pPr>
          </a:lstStyle>
          <a:p>
            <a:pPr>
              <a:defRPr/>
            </a:pPr>
            <a:fld id="{25A0F90C-8730-4FDD-B4C8-4C8DB14A8EFA}" type="slidenum">
              <a:rPr lang="en-US"/>
              <a:pPr>
                <a:defRPr/>
              </a:pPr>
              <a:t>‹#›</a:t>
            </a:fld>
            <a:endParaRPr lang="en-US"/>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9067800" cy="685800"/>
          </a:xfrm>
        </p:spPr>
        <p:txBody>
          <a:bodyPr/>
          <a:lstStyle/>
          <a:p>
            <a:r>
              <a:rPr lang="en-US"/>
              <a:t>Click to edit Master title style</a:t>
            </a:r>
          </a:p>
        </p:txBody>
      </p:sp>
      <p:sp>
        <p:nvSpPr>
          <p:cNvPr id="3" name="Text Placeholder 2"/>
          <p:cNvSpPr>
            <a:spLocks noGrp="1"/>
          </p:cNvSpPr>
          <p:nvPr>
            <p:ph type="body" sz="half" idx="1"/>
          </p:nvPr>
        </p:nvSpPr>
        <p:spPr>
          <a:xfrm>
            <a:off x="152400" y="838200"/>
            <a:ext cx="88392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52400" y="3657600"/>
            <a:ext cx="88392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copyright cmassengale</a:t>
            </a:r>
          </a:p>
        </p:txBody>
      </p:sp>
      <p:sp>
        <p:nvSpPr>
          <p:cNvPr id="7" name="Rectangle 6"/>
          <p:cNvSpPr>
            <a:spLocks noGrp="1" noChangeArrowheads="1"/>
          </p:cNvSpPr>
          <p:nvPr>
            <p:ph type="sldNum" sz="quarter" idx="12"/>
          </p:nvPr>
        </p:nvSpPr>
        <p:spPr>
          <a:ln/>
        </p:spPr>
        <p:txBody>
          <a:bodyPr/>
          <a:lstStyle>
            <a:lvl1pPr>
              <a:defRPr/>
            </a:lvl1pPr>
          </a:lstStyle>
          <a:p>
            <a:pPr>
              <a:defRPr/>
            </a:pPr>
            <a:fld id="{E97846E1-E9C1-4DCD-A5DE-51F8D2C1811C}" type="slidenum">
              <a:rPr lang="en-US"/>
              <a:pPr>
                <a:defRPr/>
              </a:pPr>
              <a:t>‹#›</a:t>
            </a:fld>
            <a:endParaRPr lang="en-US"/>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9067800" cy="685800"/>
          </a:xfrm>
        </p:spPr>
        <p:txBody>
          <a:bodyPr/>
          <a:lstStyle/>
          <a:p>
            <a:r>
              <a:rPr lang="en-US"/>
              <a:t>Click to edit Master title style</a:t>
            </a:r>
          </a:p>
        </p:txBody>
      </p:sp>
      <p:sp>
        <p:nvSpPr>
          <p:cNvPr id="3" name="Table Placeholder 2"/>
          <p:cNvSpPr>
            <a:spLocks noGrp="1"/>
          </p:cNvSpPr>
          <p:nvPr>
            <p:ph type="tbl" idx="1"/>
          </p:nvPr>
        </p:nvSpPr>
        <p:spPr>
          <a:xfrm>
            <a:off x="152400" y="838200"/>
            <a:ext cx="8839200" cy="54864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copyright cmassengale</a:t>
            </a:r>
          </a:p>
        </p:txBody>
      </p:sp>
      <p:sp>
        <p:nvSpPr>
          <p:cNvPr id="6" name="Rectangle 6"/>
          <p:cNvSpPr>
            <a:spLocks noGrp="1" noChangeArrowheads="1"/>
          </p:cNvSpPr>
          <p:nvPr>
            <p:ph type="sldNum" sz="quarter" idx="12"/>
          </p:nvPr>
        </p:nvSpPr>
        <p:spPr>
          <a:ln/>
        </p:spPr>
        <p:txBody>
          <a:bodyPr/>
          <a:lstStyle>
            <a:lvl1pPr>
              <a:defRPr/>
            </a:lvl1pPr>
          </a:lstStyle>
          <a:p>
            <a:pPr>
              <a:defRPr/>
            </a:pPr>
            <a:fld id="{BFF81A94-89AE-41EC-9469-EBC7292D316B}" type="slidenum">
              <a:rPr lang="en-US"/>
              <a:pPr>
                <a:defRPr/>
              </a:pPr>
              <a:t>‹#›</a:t>
            </a:fld>
            <a:endParaRPr lang="en-US"/>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pPr>
              <a:defRPr/>
            </a:pPr>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pPr>
              <a:defRPr/>
            </a:pPr>
            <a:r>
              <a:rPr lang="en-US"/>
              <a:t>copyright cmassengale</a:t>
            </a:r>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pPr>
              <a:defRPr/>
            </a:pPr>
            <a:fld id="{D55D8C12-AB15-4B3F-A92E-6AA79A85E69F}"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Lst>
  <p:hf hd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15.jpe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7.gi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video" Target="file:///C:\Documents%20and%20Settings\Administrator\Desktop\APACER4GBFALL13\BIO\02%20Mitosis.mpg" TargetMode="Externa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hyperlink" Target="http://highered.mcgraw-hill.com/sites/0072495855/student_view0/chapter2/animation__mitosis_and_cytokinesis.html" TargetMode="External"/><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http://www.thomsonlearning.com.au/biology/guide/unit_4/images4/fig_11.8.gif" TargetMode="Externa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http://www.mhhe.com/biosci/genbio/vrl/images/0145l.jpg"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youtube.com/watch?v=woD6zvp-4E8"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hyperlink" Target="https://www.youtube.com/watch?v=nMEyeKQClqI"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4"/>
          <p:cNvSpPr>
            <a:spLocks noGrp="1" noChangeArrowheads="1"/>
          </p:cNvSpPr>
          <p:nvPr>
            <p:ph type="ctrTitle"/>
          </p:nvPr>
        </p:nvSpPr>
        <p:spPr>
          <a:xfrm>
            <a:off x="190500" y="2819400"/>
            <a:ext cx="8953500" cy="2667000"/>
          </a:xfrm>
        </p:spPr>
        <p:txBody>
          <a:bodyPr>
            <a:noAutofit/>
          </a:bodyPr>
          <a:lstStyle/>
          <a:p>
            <a:br>
              <a:rPr lang="en-US" sz="5400" dirty="0"/>
            </a:br>
            <a:r>
              <a:rPr lang="en-US" sz="5400" dirty="0"/>
              <a:t>Cellular Division</a:t>
            </a:r>
            <a:br>
              <a:rPr lang="en-US" sz="5400" dirty="0"/>
            </a:br>
            <a:br>
              <a:rPr lang="en-US" sz="5400" dirty="0"/>
            </a:br>
            <a:r>
              <a:rPr lang="en-US" sz="4000" dirty="0"/>
              <a:t>Prof. Dr. </a:t>
            </a:r>
            <a:r>
              <a:rPr lang="en-US" sz="4000" dirty="0" err="1"/>
              <a:t>md.</a:t>
            </a:r>
            <a:r>
              <a:rPr lang="en-US" sz="4000" dirty="0"/>
              <a:t> </a:t>
            </a:r>
            <a:r>
              <a:rPr lang="en-US" sz="4000" dirty="0" err="1"/>
              <a:t>Mahbubul</a:t>
            </a:r>
            <a:r>
              <a:rPr lang="en-US" sz="4000" dirty="0"/>
              <a:t> Morshed</a:t>
            </a:r>
          </a:p>
        </p:txBody>
      </p:sp>
      <p:sp>
        <p:nvSpPr>
          <p:cNvPr id="5" name="Rectangle 6"/>
          <p:cNvSpPr>
            <a:spLocks noGrp="1" noChangeArrowheads="1"/>
          </p:cNvSpPr>
          <p:nvPr>
            <p:ph type="sldNum" sz="quarter" idx="12"/>
          </p:nvPr>
        </p:nvSpPr>
        <p:spPr/>
        <p:txBody>
          <a:bodyPr/>
          <a:lstStyle/>
          <a:p>
            <a:fld id="{BC570310-C3DA-4CBA-908E-471278CED365}" type="slidenum">
              <a:rPr lang="en-US" smtClean="0"/>
              <a:pPr/>
              <a:t>1</a:t>
            </a:fld>
            <a:endParaRPr 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9" name="Rectangle 5"/>
          <p:cNvSpPr>
            <a:spLocks noGrp="1" noChangeArrowheads="1"/>
          </p:cNvSpPr>
          <p:nvPr>
            <p:ph type="title"/>
          </p:nvPr>
        </p:nvSpPr>
        <p:spPr/>
        <p:txBody>
          <a:bodyPr/>
          <a:lstStyle/>
          <a:p>
            <a:r>
              <a:rPr lang="en-US" dirty="0">
                <a:solidFill>
                  <a:srgbClr val="C00000"/>
                </a:solidFill>
              </a:rPr>
              <a:t>Cell Division</a:t>
            </a:r>
          </a:p>
        </p:txBody>
      </p:sp>
      <p:sp>
        <p:nvSpPr>
          <p:cNvPr id="4098" name="Slide Number Placeholder 5"/>
          <p:cNvSpPr>
            <a:spLocks noGrp="1"/>
          </p:cNvSpPr>
          <p:nvPr>
            <p:ph type="sldNum" sz="quarter" idx="12"/>
          </p:nvPr>
        </p:nvSpPr>
        <p:spPr/>
        <p:txBody>
          <a:bodyPr>
            <a:normAutofit fontScale="85000" lnSpcReduction="20000"/>
          </a:bodyPr>
          <a:lstStyle/>
          <a:p>
            <a:fld id="{F8BC2B97-779D-4FBB-B271-E98E577206CC}" type="slidenum">
              <a:rPr lang="en-US" smtClean="0"/>
              <a:pPr/>
              <a:t>2</a:t>
            </a:fld>
            <a:endParaRPr lang="en-US"/>
          </a:p>
        </p:txBody>
      </p:sp>
      <p:sp>
        <p:nvSpPr>
          <p:cNvPr id="6150" name="Rectangle 6"/>
          <p:cNvSpPr>
            <a:spLocks noGrp="1" noChangeArrowheads="1"/>
          </p:cNvSpPr>
          <p:nvPr>
            <p:ph sz="quarter" idx="1"/>
          </p:nvPr>
        </p:nvSpPr>
        <p:spPr/>
        <p:txBody>
          <a:bodyPr/>
          <a:lstStyle/>
          <a:p>
            <a:r>
              <a:rPr lang="en-US" dirty="0"/>
              <a:t>All cells are derived from pre-existing cells</a:t>
            </a:r>
          </a:p>
          <a:p>
            <a:endParaRPr lang="en-US" dirty="0"/>
          </a:p>
          <a:p>
            <a:r>
              <a:rPr lang="en-US" dirty="0"/>
              <a:t>New cells are produced for growth and to replace damaged or old cells</a:t>
            </a:r>
          </a:p>
          <a:p>
            <a:endParaRPr lang="en-US" dirty="0"/>
          </a:p>
          <a:p>
            <a:r>
              <a:rPr lang="en-US" dirty="0"/>
              <a:t>Differs in prokaryotes (bacteria) and eukaryotes (</a:t>
            </a:r>
            <a:r>
              <a:rPr lang="en-US" dirty="0" err="1"/>
              <a:t>protists</a:t>
            </a:r>
            <a:r>
              <a:rPr lang="en-US" dirty="0"/>
              <a:t>, fungi, plants, &amp; animals)</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76200" y="304800"/>
            <a:ext cx="9067800" cy="685800"/>
          </a:xfrm>
        </p:spPr>
        <p:txBody>
          <a:bodyPr>
            <a:normAutofit fontScale="90000"/>
          </a:bodyPr>
          <a:lstStyle/>
          <a:p>
            <a:r>
              <a:rPr lang="en-US" dirty="0">
                <a:solidFill>
                  <a:srgbClr val="C00000"/>
                </a:solidFill>
              </a:rPr>
              <a:t>Keeping Cells Identical</a:t>
            </a:r>
          </a:p>
        </p:txBody>
      </p:sp>
      <p:sp>
        <p:nvSpPr>
          <p:cNvPr id="17411" name="Rectangle 3"/>
          <p:cNvSpPr>
            <a:spLocks noGrp="1" noChangeArrowheads="1"/>
          </p:cNvSpPr>
          <p:nvPr>
            <p:ph type="body" sz="half" idx="1"/>
          </p:nvPr>
        </p:nvSpPr>
        <p:spPr>
          <a:xfrm>
            <a:off x="533400" y="1600200"/>
            <a:ext cx="4343400" cy="3200400"/>
          </a:xfrm>
        </p:spPr>
        <p:txBody>
          <a:bodyPr/>
          <a:lstStyle/>
          <a:p>
            <a:r>
              <a:rPr lang="en-US" dirty="0"/>
              <a:t>The instructions for making cell parts are encoded in the DNA, so each new cell must get a complete set of the DNA molecules </a:t>
            </a:r>
          </a:p>
          <a:p>
            <a:endParaRPr lang="en-US" dirty="0"/>
          </a:p>
        </p:txBody>
      </p:sp>
      <p:sp>
        <p:nvSpPr>
          <p:cNvPr id="5122" name="Slide Number Placeholder 6"/>
          <p:cNvSpPr>
            <a:spLocks noGrp="1"/>
          </p:cNvSpPr>
          <p:nvPr>
            <p:ph type="sldNum" sz="quarter" idx="12"/>
          </p:nvPr>
        </p:nvSpPr>
        <p:spPr/>
        <p:txBody>
          <a:bodyPr>
            <a:normAutofit fontScale="85000" lnSpcReduction="20000"/>
          </a:bodyPr>
          <a:lstStyle/>
          <a:p>
            <a:fld id="{E3955B3A-8A33-43C6-9D49-9D2FBB7C60C7}" type="slidenum">
              <a:rPr lang="en-US" smtClean="0"/>
              <a:pPr/>
              <a:t>3</a:t>
            </a:fld>
            <a:endParaRPr lang="en-US"/>
          </a:p>
        </p:txBody>
      </p:sp>
      <p:pic>
        <p:nvPicPr>
          <p:cNvPr id="201730" name="Picture 2" descr="http://www.mhhe.com/biosci/esp/2001_gbio/folder_structure/ge/m4/s1/assets/images/gem4s1_1.jpg"/>
          <p:cNvPicPr>
            <a:picLocks noChangeAspect="1" noChangeArrowheads="1"/>
          </p:cNvPicPr>
          <p:nvPr/>
        </p:nvPicPr>
        <p:blipFill>
          <a:blip r:embed="rId3" cstate="print"/>
          <a:srcRect/>
          <a:stretch>
            <a:fillRect/>
          </a:stretch>
        </p:blipFill>
        <p:spPr bwMode="auto">
          <a:xfrm>
            <a:off x="5099539" y="1752600"/>
            <a:ext cx="3739661" cy="4572000"/>
          </a:xfrm>
          <a:prstGeom prst="rect">
            <a:avLst/>
          </a:prstGeom>
          <a:ln>
            <a:noFill/>
          </a:ln>
          <a:effectLst>
            <a:softEdge rad="112500"/>
          </a:effectLst>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fontScale="90000"/>
          </a:bodyPr>
          <a:lstStyle/>
          <a:p>
            <a:r>
              <a:rPr lang="en-US" dirty="0">
                <a:solidFill>
                  <a:srgbClr val="C00000"/>
                </a:solidFill>
              </a:rPr>
              <a:t>DNA Replication</a:t>
            </a:r>
          </a:p>
        </p:txBody>
      </p:sp>
      <p:sp>
        <p:nvSpPr>
          <p:cNvPr id="19459" name="Rectangle 3"/>
          <p:cNvSpPr>
            <a:spLocks noGrp="1" noChangeArrowheads="1"/>
          </p:cNvSpPr>
          <p:nvPr>
            <p:ph type="body" sz="half" idx="1"/>
          </p:nvPr>
        </p:nvSpPr>
        <p:spPr>
          <a:xfrm>
            <a:off x="152400" y="1524000"/>
            <a:ext cx="8686800" cy="5334000"/>
          </a:xfrm>
        </p:spPr>
        <p:txBody>
          <a:bodyPr/>
          <a:lstStyle/>
          <a:p>
            <a:r>
              <a:rPr lang="en-US" sz="2400" dirty="0"/>
              <a:t>DNA must be copied or replicated before cell division </a:t>
            </a:r>
          </a:p>
          <a:p>
            <a:r>
              <a:rPr lang="en-US" sz="2400" dirty="0"/>
              <a:t>Each new cell will then have an identical copy of the DNA</a:t>
            </a:r>
          </a:p>
          <a:p>
            <a:endParaRPr lang="en-US" dirty="0"/>
          </a:p>
        </p:txBody>
      </p:sp>
      <p:sp>
        <p:nvSpPr>
          <p:cNvPr id="6146" name="Slide Number Placeholder 6"/>
          <p:cNvSpPr>
            <a:spLocks noGrp="1"/>
          </p:cNvSpPr>
          <p:nvPr>
            <p:ph type="sldNum" sz="quarter" idx="12"/>
          </p:nvPr>
        </p:nvSpPr>
        <p:spPr/>
        <p:txBody>
          <a:bodyPr>
            <a:normAutofit fontScale="85000" lnSpcReduction="20000"/>
          </a:bodyPr>
          <a:lstStyle/>
          <a:p>
            <a:fld id="{4C20BF3D-94C7-46CC-9FE7-46B52243D3D6}" type="slidenum">
              <a:rPr lang="en-US" smtClean="0"/>
              <a:pPr/>
              <a:t>4</a:t>
            </a:fld>
            <a:endParaRPr lang="en-US"/>
          </a:p>
        </p:txBody>
      </p:sp>
      <p:sp>
        <p:nvSpPr>
          <p:cNvPr id="19463" name="Text Box 7"/>
          <p:cNvSpPr txBox="1">
            <a:spLocks noChangeArrowheads="1"/>
          </p:cNvSpPr>
          <p:nvPr/>
        </p:nvSpPr>
        <p:spPr bwMode="auto">
          <a:xfrm>
            <a:off x="1219200" y="6248400"/>
            <a:ext cx="2438400" cy="369332"/>
          </a:xfrm>
          <a:prstGeom prst="rect">
            <a:avLst/>
          </a:prstGeom>
          <a:noFill/>
          <a:ln w="9525">
            <a:noFill/>
            <a:miter lim="800000"/>
            <a:headEnd/>
            <a:tailEnd/>
          </a:ln>
          <a:effectLst/>
        </p:spPr>
        <p:txBody>
          <a:bodyPr>
            <a:spAutoFit/>
          </a:bodyPr>
          <a:lstStyle/>
          <a:p>
            <a:pPr>
              <a:spcBef>
                <a:spcPct val="50000"/>
              </a:spcBef>
              <a:defRPr/>
            </a:pPr>
            <a:r>
              <a:rPr lang="en-US" sz="1800" i="1" dirty="0">
                <a:solidFill>
                  <a:schemeClr val="tx1"/>
                </a:solidFill>
                <a:effectLst>
                  <a:outerShdw blurRad="38100" dist="38100" dir="2700000" algn="tl">
                    <a:srgbClr val="C0C0C0"/>
                  </a:outerShdw>
                </a:effectLst>
                <a:latin typeface="Times New Roman" pitchFamily="18" charset="0"/>
              </a:rPr>
              <a:t>Original DNA strand</a:t>
            </a:r>
          </a:p>
        </p:txBody>
      </p:sp>
      <p:sp>
        <p:nvSpPr>
          <p:cNvPr id="19464" name="Text Box 8"/>
          <p:cNvSpPr txBox="1">
            <a:spLocks noChangeArrowheads="1"/>
          </p:cNvSpPr>
          <p:nvPr/>
        </p:nvSpPr>
        <p:spPr bwMode="auto">
          <a:xfrm>
            <a:off x="4724400" y="6248400"/>
            <a:ext cx="2590800" cy="646331"/>
          </a:xfrm>
          <a:prstGeom prst="rect">
            <a:avLst/>
          </a:prstGeom>
          <a:noFill/>
          <a:ln w="9525">
            <a:noFill/>
            <a:miter lim="800000"/>
            <a:headEnd/>
            <a:tailEnd/>
          </a:ln>
          <a:effectLst/>
        </p:spPr>
        <p:txBody>
          <a:bodyPr wrap="square">
            <a:spAutoFit/>
          </a:bodyPr>
          <a:lstStyle/>
          <a:p>
            <a:pPr>
              <a:spcBef>
                <a:spcPct val="50000"/>
              </a:spcBef>
              <a:defRPr/>
            </a:pPr>
            <a:r>
              <a:rPr lang="en-US" sz="1800" i="1" dirty="0">
                <a:solidFill>
                  <a:schemeClr val="tx1"/>
                </a:solidFill>
                <a:effectLst>
                  <a:outerShdw blurRad="38100" dist="38100" dir="2700000" algn="tl">
                    <a:srgbClr val="C0C0C0"/>
                  </a:outerShdw>
                </a:effectLst>
                <a:latin typeface="Times New Roman" pitchFamily="18" charset="0"/>
              </a:rPr>
              <a:t>Two new, identical DNA strands</a:t>
            </a:r>
          </a:p>
        </p:txBody>
      </p:sp>
      <p:pic>
        <p:nvPicPr>
          <p:cNvPr id="199682" name="Picture 2" descr="http://www.curecancerproject.org/beta/media/dna_replication.jpg"/>
          <p:cNvPicPr>
            <a:picLocks noChangeAspect="1" noChangeArrowheads="1"/>
          </p:cNvPicPr>
          <p:nvPr/>
        </p:nvPicPr>
        <p:blipFill>
          <a:blip r:embed="rId3" cstate="print"/>
          <a:srcRect/>
          <a:stretch>
            <a:fillRect/>
          </a:stretch>
        </p:blipFill>
        <p:spPr bwMode="auto">
          <a:xfrm>
            <a:off x="1295401" y="2433810"/>
            <a:ext cx="5867400" cy="3738389"/>
          </a:xfrm>
          <a:prstGeom prst="rect">
            <a:avLst/>
          </a:prstGeom>
          <a:ln>
            <a:noFill/>
          </a:ln>
          <a:effectLst>
            <a:softEdge rad="112500"/>
          </a:effectLst>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r>
              <a:rPr lang="en-US" dirty="0">
                <a:solidFill>
                  <a:srgbClr val="C00000"/>
                </a:solidFill>
              </a:rPr>
              <a:t>Identical Daughter Cells</a:t>
            </a:r>
          </a:p>
        </p:txBody>
      </p:sp>
      <p:sp>
        <p:nvSpPr>
          <p:cNvPr id="11" name="Rectangle 6"/>
          <p:cNvSpPr>
            <a:spLocks noGrp="1" noChangeArrowheads="1"/>
          </p:cNvSpPr>
          <p:nvPr>
            <p:ph type="sldNum" sz="quarter" idx="12"/>
          </p:nvPr>
        </p:nvSpPr>
        <p:spPr/>
        <p:txBody>
          <a:bodyPr>
            <a:normAutofit fontScale="85000" lnSpcReduction="20000"/>
          </a:bodyPr>
          <a:lstStyle/>
          <a:p>
            <a:fld id="{1488FB1E-6247-4D38-96E3-5262A1E49016}" type="slidenum">
              <a:rPr lang="en-US" smtClean="0"/>
              <a:pPr/>
              <a:t>5</a:t>
            </a:fld>
            <a:endParaRPr lang="en-US"/>
          </a:p>
        </p:txBody>
      </p:sp>
      <p:pic>
        <p:nvPicPr>
          <p:cNvPr id="2053" name="Picture 5" descr="slide0001_image001"/>
          <p:cNvPicPr>
            <a:picLocks noChangeAspect="1" noChangeArrowheads="1"/>
          </p:cNvPicPr>
          <p:nvPr/>
        </p:nvPicPr>
        <p:blipFill>
          <a:blip r:embed="rId3" cstate="print"/>
          <a:srcRect/>
          <a:stretch>
            <a:fillRect/>
          </a:stretch>
        </p:blipFill>
        <p:spPr bwMode="auto">
          <a:xfrm>
            <a:off x="914400" y="2514600"/>
            <a:ext cx="2217738" cy="2971800"/>
          </a:xfrm>
          <a:prstGeom prst="rect">
            <a:avLst/>
          </a:prstGeom>
          <a:noFill/>
          <a:ln w="9525">
            <a:noFill/>
            <a:miter lim="800000"/>
            <a:headEnd/>
            <a:tailEnd/>
          </a:ln>
        </p:spPr>
      </p:pic>
      <p:pic>
        <p:nvPicPr>
          <p:cNvPr id="2054" name="Picture 6" descr="slide0001_image004"/>
          <p:cNvPicPr>
            <a:picLocks noChangeAspect="1" noChangeArrowheads="1"/>
          </p:cNvPicPr>
          <p:nvPr/>
        </p:nvPicPr>
        <p:blipFill>
          <a:blip r:embed="rId4" cstate="print"/>
          <a:srcRect/>
          <a:stretch>
            <a:fillRect/>
          </a:stretch>
        </p:blipFill>
        <p:spPr bwMode="auto">
          <a:xfrm>
            <a:off x="3429000" y="3341687"/>
            <a:ext cx="1905000" cy="1611313"/>
          </a:xfrm>
          <a:prstGeom prst="rect">
            <a:avLst/>
          </a:prstGeom>
          <a:noFill/>
          <a:ln w="9525">
            <a:noFill/>
            <a:miter lim="800000"/>
            <a:headEnd/>
            <a:tailEnd/>
          </a:ln>
        </p:spPr>
      </p:pic>
      <p:pic>
        <p:nvPicPr>
          <p:cNvPr id="2055" name="Picture 7" descr="slide0001_image002"/>
          <p:cNvPicPr>
            <a:picLocks noChangeAspect="1" noChangeArrowheads="1"/>
          </p:cNvPicPr>
          <p:nvPr/>
        </p:nvPicPr>
        <p:blipFill>
          <a:blip r:embed="rId5" cstate="print"/>
          <a:srcRect/>
          <a:stretch>
            <a:fillRect/>
          </a:stretch>
        </p:blipFill>
        <p:spPr bwMode="auto">
          <a:xfrm>
            <a:off x="5486400" y="1577975"/>
            <a:ext cx="1897063" cy="2536825"/>
          </a:xfrm>
          <a:prstGeom prst="rect">
            <a:avLst/>
          </a:prstGeom>
          <a:noFill/>
          <a:ln w="9525">
            <a:noFill/>
            <a:miter lim="800000"/>
            <a:headEnd/>
            <a:tailEnd/>
          </a:ln>
        </p:spPr>
      </p:pic>
      <p:pic>
        <p:nvPicPr>
          <p:cNvPr id="2056" name="Picture 8" descr="slide0001_image002"/>
          <p:cNvPicPr>
            <a:picLocks noChangeAspect="1" noChangeArrowheads="1"/>
          </p:cNvPicPr>
          <p:nvPr/>
        </p:nvPicPr>
        <p:blipFill>
          <a:blip r:embed="rId5" cstate="print"/>
          <a:srcRect/>
          <a:stretch>
            <a:fillRect/>
          </a:stretch>
        </p:blipFill>
        <p:spPr bwMode="auto">
          <a:xfrm>
            <a:off x="5562600" y="4244975"/>
            <a:ext cx="1897063" cy="2536825"/>
          </a:xfrm>
          <a:prstGeom prst="rect">
            <a:avLst/>
          </a:prstGeom>
          <a:noFill/>
          <a:ln w="9525">
            <a:noFill/>
            <a:miter lim="800000"/>
            <a:headEnd/>
            <a:tailEnd/>
          </a:ln>
        </p:spPr>
      </p:pic>
      <p:sp>
        <p:nvSpPr>
          <p:cNvPr id="2057" name="Text Box 9"/>
          <p:cNvSpPr txBox="1">
            <a:spLocks noChangeArrowheads="1"/>
          </p:cNvSpPr>
          <p:nvPr/>
        </p:nvSpPr>
        <p:spPr bwMode="auto">
          <a:xfrm>
            <a:off x="914400" y="5500687"/>
            <a:ext cx="2362200" cy="519113"/>
          </a:xfrm>
          <a:prstGeom prst="rect">
            <a:avLst/>
          </a:prstGeom>
          <a:noFill/>
          <a:ln w="9525">
            <a:noFill/>
            <a:miter lim="800000"/>
            <a:headEnd/>
            <a:tailEnd/>
          </a:ln>
          <a:effectLst/>
        </p:spPr>
        <p:txBody>
          <a:bodyPr>
            <a:spAutoFit/>
          </a:bodyPr>
          <a:lstStyle/>
          <a:p>
            <a:pPr>
              <a:spcBef>
                <a:spcPct val="50000"/>
              </a:spcBef>
              <a:defRPr/>
            </a:pPr>
            <a:r>
              <a:rPr lang="en-US" sz="2800" i="1" dirty="0">
                <a:solidFill>
                  <a:schemeClr val="tx1"/>
                </a:solidFill>
                <a:effectLst>
                  <a:outerShdw blurRad="38100" dist="38100" dir="2700000" algn="tl">
                    <a:srgbClr val="C0C0C0"/>
                  </a:outerShdw>
                </a:effectLst>
                <a:latin typeface="Times New Roman" pitchFamily="18" charset="0"/>
              </a:rPr>
              <a:t>Parent Cell</a:t>
            </a:r>
          </a:p>
        </p:txBody>
      </p:sp>
      <p:sp>
        <p:nvSpPr>
          <p:cNvPr id="2059" name="Text Box 11"/>
          <p:cNvSpPr txBox="1">
            <a:spLocks noChangeArrowheads="1"/>
          </p:cNvSpPr>
          <p:nvPr/>
        </p:nvSpPr>
        <p:spPr bwMode="auto">
          <a:xfrm>
            <a:off x="7543800" y="2971800"/>
            <a:ext cx="1600200" cy="1800225"/>
          </a:xfrm>
          <a:prstGeom prst="rect">
            <a:avLst/>
          </a:prstGeom>
          <a:noFill/>
          <a:ln w="9525">
            <a:noFill/>
            <a:miter lim="800000"/>
            <a:headEnd/>
            <a:tailEnd/>
          </a:ln>
          <a:effectLst/>
        </p:spPr>
        <p:txBody>
          <a:bodyPr>
            <a:spAutoFit/>
          </a:bodyPr>
          <a:lstStyle/>
          <a:p>
            <a:pPr>
              <a:spcBef>
                <a:spcPct val="50000"/>
              </a:spcBef>
              <a:defRPr/>
            </a:pPr>
            <a:r>
              <a:rPr lang="en-US" sz="2800" i="1" dirty="0">
                <a:solidFill>
                  <a:schemeClr val="tx1"/>
                </a:solidFill>
                <a:effectLst>
                  <a:outerShdw blurRad="38100" dist="38100" dir="2700000" algn="tl">
                    <a:srgbClr val="C0C0C0"/>
                  </a:outerShdw>
                </a:effectLst>
                <a:latin typeface="Times New Roman" pitchFamily="18" charset="0"/>
              </a:rPr>
              <a:t>Two identical daughter cells</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a:xfrm>
            <a:off x="76200" y="228600"/>
            <a:ext cx="9067800" cy="685800"/>
          </a:xfrm>
        </p:spPr>
        <p:txBody>
          <a:bodyPr>
            <a:normAutofit fontScale="90000"/>
          </a:bodyPr>
          <a:lstStyle/>
          <a:p>
            <a:r>
              <a:rPr lang="en-US" dirty="0">
                <a:solidFill>
                  <a:srgbClr val="C00000"/>
                </a:solidFill>
              </a:rPr>
              <a:t>Prokaryotic Chromosome</a:t>
            </a:r>
          </a:p>
        </p:txBody>
      </p:sp>
      <p:sp>
        <p:nvSpPr>
          <p:cNvPr id="181251" name="Rectangle 3"/>
          <p:cNvSpPr>
            <a:spLocks noGrp="1" noChangeArrowheads="1"/>
          </p:cNvSpPr>
          <p:nvPr>
            <p:ph type="body" sz="half" idx="1"/>
          </p:nvPr>
        </p:nvSpPr>
        <p:spPr>
          <a:xfrm>
            <a:off x="152400" y="1600200"/>
            <a:ext cx="8610600" cy="5486400"/>
          </a:xfrm>
        </p:spPr>
        <p:txBody>
          <a:bodyPr/>
          <a:lstStyle/>
          <a:p>
            <a:r>
              <a:rPr lang="en-US" sz="2400" dirty="0"/>
              <a:t>The DNA of prokaryotes (bacteria) is one, circular chromosome attached to the inside of the cell membrane</a:t>
            </a:r>
          </a:p>
        </p:txBody>
      </p:sp>
      <p:sp>
        <p:nvSpPr>
          <p:cNvPr id="9218" name="Slide Number Placeholder 6"/>
          <p:cNvSpPr>
            <a:spLocks noGrp="1"/>
          </p:cNvSpPr>
          <p:nvPr>
            <p:ph type="sldNum" sz="quarter" idx="12"/>
          </p:nvPr>
        </p:nvSpPr>
        <p:spPr/>
        <p:txBody>
          <a:bodyPr>
            <a:normAutofit fontScale="85000" lnSpcReduction="20000"/>
          </a:bodyPr>
          <a:lstStyle/>
          <a:p>
            <a:fld id="{A1A9398F-B52F-4A47-A487-94D4F8CC32EB}" type="slidenum">
              <a:rPr lang="en-US" smtClean="0"/>
              <a:pPr/>
              <a:t>6</a:t>
            </a:fld>
            <a:endParaRPr lang="en-US"/>
          </a:p>
        </p:txBody>
      </p:sp>
      <p:pic>
        <p:nvPicPr>
          <p:cNvPr id="194562" name="Picture 2" descr="http://images.slideplayer.us/3/794104/slides/slide_2.jpg"/>
          <p:cNvPicPr>
            <a:picLocks noChangeAspect="1" noChangeArrowheads="1"/>
          </p:cNvPicPr>
          <p:nvPr/>
        </p:nvPicPr>
        <p:blipFill>
          <a:blip r:embed="rId3" cstate="print"/>
          <a:srcRect/>
          <a:stretch>
            <a:fillRect/>
          </a:stretch>
        </p:blipFill>
        <p:spPr bwMode="auto">
          <a:xfrm>
            <a:off x="2209800" y="2763898"/>
            <a:ext cx="4953000" cy="3713102"/>
          </a:xfrm>
          <a:prstGeom prst="rect">
            <a:avLst/>
          </a:prstGeom>
          <a:ln>
            <a:noFill/>
          </a:ln>
          <a:effectLst>
            <a:softEdge rad="112500"/>
          </a:effectLst>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r>
              <a:rPr lang="en-US" dirty="0">
                <a:solidFill>
                  <a:srgbClr val="C00000"/>
                </a:solidFill>
              </a:rPr>
              <a:t>Eukaryotic Chromosomes</a:t>
            </a:r>
          </a:p>
        </p:txBody>
      </p:sp>
      <p:sp>
        <p:nvSpPr>
          <p:cNvPr id="10242" name="Slide Number Placeholder 5"/>
          <p:cNvSpPr>
            <a:spLocks noGrp="1"/>
          </p:cNvSpPr>
          <p:nvPr>
            <p:ph type="sldNum" sz="quarter" idx="12"/>
          </p:nvPr>
        </p:nvSpPr>
        <p:spPr/>
        <p:txBody>
          <a:bodyPr>
            <a:normAutofit fontScale="85000" lnSpcReduction="20000"/>
          </a:bodyPr>
          <a:lstStyle/>
          <a:p>
            <a:fld id="{9A336EF6-A82D-4B71-A435-97F0CA71289B}" type="slidenum">
              <a:rPr lang="en-US" smtClean="0"/>
              <a:pPr/>
              <a:t>7</a:t>
            </a:fld>
            <a:endParaRPr lang="en-US"/>
          </a:p>
        </p:txBody>
      </p:sp>
      <p:sp>
        <p:nvSpPr>
          <p:cNvPr id="149507" name="Rectangle 3"/>
          <p:cNvSpPr>
            <a:spLocks noGrp="1" noChangeArrowheads="1"/>
          </p:cNvSpPr>
          <p:nvPr>
            <p:ph sz="quarter" idx="1"/>
          </p:nvPr>
        </p:nvSpPr>
        <p:spPr>
          <a:xfrm>
            <a:off x="612648" y="1600200"/>
            <a:ext cx="8153400" cy="2590800"/>
          </a:xfrm>
        </p:spPr>
        <p:txBody>
          <a:bodyPr>
            <a:normAutofit fontScale="92500" lnSpcReduction="10000"/>
          </a:bodyPr>
          <a:lstStyle/>
          <a:p>
            <a:r>
              <a:rPr lang="en-US" dirty="0"/>
              <a:t>All eukaryotic cells store genetic information in chromosomes</a:t>
            </a:r>
          </a:p>
          <a:p>
            <a:r>
              <a:rPr lang="en-US" dirty="0"/>
              <a:t>Most eukaryotes have between 10 and 50 chromosomes in their body cells</a:t>
            </a:r>
          </a:p>
          <a:p>
            <a:r>
              <a:rPr lang="en-US" dirty="0"/>
              <a:t>Human body cells have 46 chromosomes or 23 identical pairs</a:t>
            </a:r>
          </a:p>
        </p:txBody>
      </p:sp>
      <p:pic>
        <p:nvPicPr>
          <p:cNvPr id="192514" name="Picture 2" descr="https://encrypted-tbn0.gstatic.com/images?q=tbn:ANd9GcTbiLjLRuFZWJ3ViD3Ep58IqJb-VkNFXM-1CyvpFXm2zxVZGWBc"/>
          <p:cNvPicPr>
            <a:picLocks noChangeAspect="1" noChangeArrowheads="1"/>
          </p:cNvPicPr>
          <p:nvPr/>
        </p:nvPicPr>
        <p:blipFill>
          <a:blip r:embed="rId3" cstate="print"/>
          <a:srcRect/>
          <a:stretch>
            <a:fillRect/>
          </a:stretch>
        </p:blipFill>
        <p:spPr bwMode="auto">
          <a:xfrm>
            <a:off x="2438400" y="4114799"/>
            <a:ext cx="4381500" cy="274320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p:txBody>
          <a:bodyPr>
            <a:normAutofit fontScale="90000"/>
          </a:bodyPr>
          <a:lstStyle/>
          <a:p>
            <a:r>
              <a:rPr lang="en-US" dirty="0">
                <a:solidFill>
                  <a:srgbClr val="C00000"/>
                </a:solidFill>
              </a:rPr>
              <a:t>Compacting DNA into Chromosomes</a:t>
            </a:r>
          </a:p>
        </p:txBody>
      </p:sp>
      <p:sp>
        <p:nvSpPr>
          <p:cNvPr id="219139" name="Rectangle 3"/>
          <p:cNvSpPr>
            <a:spLocks noGrp="1" noChangeArrowheads="1"/>
          </p:cNvSpPr>
          <p:nvPr>
            <p:ph type="body" sz="half" idx="1"/>
          </p:nvPr>
        </p:nvSpPr>
        <p:spPr>
          <a:xfrm>
            <a:off x="152400" y="1828800"/>
            <a:ext cx="8610600" cy="609600"/>
          </a:xfrm>
        </p:spPr>
        <p:txBody>
          <a:bodyPr/>
          <a:lstStyle/>
          <a:p>
            <a:r>
              <a:rPr lang="en-US" dirty="0"/>
              <a:t>DNA is tightly coiled around proteins called </a:t>
            </a:r>
            <a:r>
              <a:rPr lang="en-US" dirty="0" err="1"/>
              <a:t>histones</a:t>
            </a:r>
            <a:endParaRPr lang="en-US" dirty="0"/>
          </a:p>
        </p:txBody>
      </p:sp>
      <p:sp>
        <p:nvSpPr>
          <p:cNvPr id="12290" name="Slide Number Placeholder 6"/>
          <p:cNvSpPr>
            <a:spLocks noGrp="1"/>
          </p:cNvSpPr>
          <p:nvPr>
            <p:ph type="sldNum" sz="quarter" idx="12"/>
          </p:nvPr>
        </p:nvSpPr>
        <p:spPr/>
        <p:txBody>
          <a:bodyPr>
            <a:normAutofit fontScale="85000" lnSpcReduction="20000"/>
          </a:bodyPr>
          <a:lstStyle/>
          <a:p>
            <a:fld id="{E7CB3543-6D01-4D58-992E-15A06298489B}" type="slidenum">
              <a:rPr lang="en-US" smtClean="0"/>
              <a:pPr/>
              <a:t>8</a:t>
            </a:fld>
            <a:endParaRPr lang="en-US"/>
          </a:p>
        </p:txBody>
      </p:sp>
      <p:pic>
        <p:nvPicPr>
          <p:cNvPr id="189444" name="Picture 4" descr="http://www.goldiesroom.org/Multimedia/Bio_Images/14%20Mitosis%20and%20Asexual/00%20Eukaryotic%20Chromosomes.jpg"/>
          <p:cNvPicPr>
            <a:picLocks noChangeAspect="1" noChangeArrowheads="1"/>
          </p:cNvPicPr>
          <p:nvPr/>
        </p:nvPicPr>
        <p:blipFill>
          <a:blip r:embed="rId3" cstate="print"/>
          <a:srcRect/>
          <a:stretch>
            <a:fillRect/>
          </a:stretch>
        </p:blipFill>
        <p:spPr bwMode="auto">
          <a:xfrm>
            <a:off x="914399" y="2667000"/>
            <a:ext cx="7932107" cy="3886200"/>
          </a:xfrm>
          <a:prstGeom prst="rect">
            <a:avLst/>
          </a:prstGeom>
          <a:ln>
            <a:noFill/>
          </a:ln>
          <a:effectLst>
            <a:softEdge rad="112500"/>
          </a:effectLst>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normAutofit fontScale="90000"/>
          </a:bodyPr>
          <a:lstStyle/>
          <a:p>
            <a:r>
              <a:rPr lang="en-US" dirty="0">
                <a:solidFill>
                  <a:srgbClr val="C00000"/>
                </a:solidFill>
              </a:rPr>
              <a:t>Chromosomes in Dividing Cells</a:t>
            </a:r>
          </a:p>
        </p:txBody>
      </p:sp>
      <p:sp>
        <p:nvSpPr>
          <p:cNvPr id="180227" name="Rectangle 3"/>
          <p:cNvSpPr>
            <a:spLocks noGrp="1" noChangeArrowheads="1"/>
          </p:cNvSpPr>
          <p:nvPr>
            <p:ph type="body" sz="half" idx="1"/>
          </p:nvPr>
        </p:nvSpPr>
        <p:spPr>
          <a:xfrm>
            <a:off x="152400" y="1676400"/>
            <a:ext cx="4343400" cy="4267200"/>
          </a:xfrm>
        </p:spPr>
        <p:txBody>
          <a:bodyPr/>
          <a:lstStyle/>
          <a:p>
            <a:r>
              <a:rPr lang="en-US" dirty="0"/>
              <a:t>Duplicated chromosomes are called </a:t>
            </a:r>
            <a:r>
              <a:rPr lang="en-US" dirty="0" err="1"/>
              <a:t>chromatids</a:t>
            </a:r>
            <a:r>
              <a:rPr lang="en-US" dirty="0"/>
              <a:t> &amp; are held together by the </a:t>
            </a:r>
            <a:r>
              <a:rPr lang="en-US" dirty="0" err="1"/>
              <a:t>centromere</a:t>
            </a:r>
            <a:endParaRPr lang="en-US" dirty="0"/>
          </a:p>
          <a:p>
            <a:endParaRPr lang="en-US" dirty="0"/>
          </a:p>
        </p:txBody>
      </p:sp>
      <p:sp>
        <p:nvSpPr>
          <p:cNvPr id="13314" name="Slide Number Placeholder 6"/>
          <p:cNvSpPr>
            <a:spLocks noGrp="1"/>
          </p:cNvSpPr>
          <p:nvPr>
            <p:ph type="sldNum" sz="quarter" idx="12"/>
          </p:nvPr>
        </p:nvSpPr>
        <p:spPr/>
        <p:txBody>
          <a:bodyPr>
            <a:normAutofit fontScale="85000" lnSpcReduction="20000"/>
          </a:bodyPr>
          <a:lstStyle/>
          <a:p>
            <a:fld id="{BA2811EE-2CA6-4944-BF8C-9051EFC23E8A}" type="slidenum">
              <a:rPr lang="en-US" smtClean="0"/>
              <a:pPr/>
              <a:t>9</a:t>
            </a:fld>
            <a:endParaRPr lang="en-US"/>
          </a:p>
        </p:txBody>
      </p:sp>
      <p:sp>
        <p:nvSpPr>
          <p:cNvPr id="188422" name="Text Box 6"/>
          <p:cNvSpPr txBox="1">
            <a:spLocks noChangeArrowheads="1"/>
          </p:cNvSpPr>
          <p:nvPr/>
        </p:nvSpPr>
        <p:spPr bwMode="auto">
          <a:xfrm>
            <a:off x="4343400" y="6172200"/>
            <a:ext cx="4038600" cy="45720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spcBef>
                <a:spcPct val="50000"/>
              </a:spcBef>
              <a:defRPr/>
            </a:pPr>
            <a:r>
              <a:rPr lang="en-US" dirty="0">
                <a:solidFill>
                  <a:srgbClr val="339966"/>
                </a:solidFill>
                <a:effectLst>
                  <a:outerShdw blurRad="38100" dist="38100" dir="2700000" algn="tl">
                    <a:srgbClr val="C0C0C0"/>
                  </a:outerShdw>
                </a:effectLst>
              </a:rPr>
              <a:t>Called Sister </a:t>
            </a:r>
            <a:r>
              <a:rPr lang="en-US" dirty="0" err="1">
                <a:solidFill>
                  <a:srgbClr val="339966"/>
                </a:solidFill>
                <a:effectLst>
                  <a:outerShdw blurRad="38100" dist="38100" dir="2700000" algn="tl">
                    <a:srgbClr val="C0C0C0"/>
                  </a:outerShdw>
                </a:effectLst>
              </a:rPr>
              <a:t>Chromatids</a:t>
            </a:r>
            <a:endParaRPr lang="en-US" dirty="0">
              <a:solidFill>
                <a:srgbClr val="339966"/>
              </a:solidFill>
              <a:effectLst>
                <a:outerShdw blurRad="38100" dist="38100" dir="2700000" algn="tl">
                  <a:srgbClr val="C0C0C0"/>
                </a:outerShdw>
              </a:effectLst>
            </a:endParaRPr>
          </a:p>
        </p:txBody>
      </p:sp>
      <p:pic>
        <p:nvPicPr>
          <p:cNvPr id="187394" name="Picture 2" descr="https://encrypted-tbn1.gstatic.com/images?q=tbn:ANd9GcTRBxkGW6cOmG7DsgYhS_xd6IEinj7RnQlckjf0d8P8xOFppV-57A"/>
          <p:cNvPicPr>
            <a:picLocks noChangeAspect="1" noChangeArrowheads="1"/>
          </p:cNvPicPr>
          <p:nvPr/>
        </p:nvPicPr>
        <p:blipFill>
          <a:blip r:embed="rId3" cstate="print"/>
          <a:srcRect/>
          <a:stretch>
            <a:fillRect/>
          </a:stretch>
        </p:blipFill>
        <p:spPr bwMode="auto">
          <a:xfrm>
            <a:off x="4988949" y="1981200"/>
            <a:ext cx="3240651" cy="4038600"/>
          </a:xfrm>
          <a:prstGeom prst="rect">
            <a:avLst/>
          </a:prstGeom>
          <a:ln>
            <a:noFill/>
          </a:ln>
          <a:effectLst>
            <a:softEdge rad="112500"/>
          </a:effectLst>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lstStyle/>
          <a:p>
            <a:r>
              <a:rPr lang="en-US" dirty="0" err="1">
                <a:solidFill>
                  <a:srgbClr val="C00000"/>
                </a:solidFill>
              </a:rPr>
              <a:t>Karyotype</a:t>
            </a:r>
            <a:endParaRPr lang="en-US" dirty="0">
              <a:solidFill>
                <a:srgbClr val="C00000"/>
              </a:solidFill>
            </a:endParaRPr>
          </a:p>
        </p:txBody>
      </p:sp>
      <p:sp>
        <p:nvSpPr>
          <p:cNvPr id="14338" name="Slide Number Placeholder 5"/>
          <p:cNvSpPr>
            <a:spLocks noGrp="1"/>
          </p:cNvSpPr>
          <p:nvPr>
            <p:ph type="sldNum" sz="quarter" idx="12"/>
          </p:nvPr>
        </p:nvSpPr>
        <p:spPr/>
        <p:txBody>
          <a:bodyPr>
            <a:normAutofit fontScale="85000" lnSpcReduction="20000"/>
          </a:bodyPr>
          <a:lstStyle/>
          <a:p>
            <a:fld id="{322CCE9F-70AE-4909-A988-034DEF858D8E}" type="slidenum">
              <a:rPr lang="en-US" smtClean="0"/>
              <a:pPr/>
              <a:t>10</a:t>
            </a:fld>
            <a:endParaRPr lang="en-US"/>
          </a:p>
        </p:txBody>
      </p:sp>
      <p:sp>
        <p:nvSpPr>
          <p:cNvPr id="151555" name="Rectangle 3"/>
          <p:cNvSpPr>
            <a:spLocks noGrp="1" noChangeArrowheads="1"/>
          </p:cNvSpPr>
          <p:nvPr>
            <p:ph sz="quarter" idx="1"/>
          </p:nvPr>
        </p:nvSpPr>
        <p:spPr>
          <a:xfrm>
            <a:off x="152400" y="1676400"/>
            <a:ext cx="4495800" cy="5105400"/>
          </a:xfrm>
        </p:spPr>
        <p:txBody>
          <a:bodyPr>
            <a:normAutofit fontScale="92500"/>
          </a:bodyPr>
          <a:lstStyle/>
          <a:p>
            <a:r>
              <a:rPr lang="en-US" sz="2800" dirty="0"/>
              <a:t>A picture of the chromosomes from a human cell arranged in pairs by size</a:t>
            </a:r>
          </a:p>
          <a:p>
            <a:endParaRPr lang="en-US" sz="2800" dirty="0"/>
          </a:p>
          <a:p>
            <a:r>
              <a:rPr lang="en-US" sz="2800" dirty="0"/>
              <a:t>First 22 pairs are called </a:t>
            </a:r>
            <a:r>
              <a:rPr lang="en-US" sz="2800" dirty="0" err="1"/>
              <a:t>autosomes</a:t>
            </a:r>
            <a:endParaRPr lang="en-US" sz="2800" dirty="0"/>
          </a:p>
          <a:p>
            <a:endParaRPr lang="en-US" sz="2800" dirty="0"/>
          </a:p>
          <a:p>
            <a:r>
              <a:rPr lang="en-US" sz="2800" dirty="0"/>
              <a:t>Last pair are the sex chromosomes</a:t>
            </a:r>
          </a:p>
          <a:p>
            <a:endParaRPr lang="en-US" sz="2800" dirty="0"/>
          </a:p>
          <a:p>
            <a:r>
              <a:rPr lang="en-US" sz="2800" dirty="0"/>
              <a:t>XX female or XY male</a:t>
            </a:r>
          </a:p>
          <a:p>
            <a:endParaRPr lang="en-US" sz="2800" dirty="0"/>
          </a:p>
        </p:txBody>
      </p:sp>
      <p:pic>
        <p:nvPicPr>
          <p:cNvPr id="185346" name="Picture 2" descr="http://www.mun.ca/biology/scarr/FISH_chromosomes_300dpi.jpg"/>
          <p:cNvPicPr>
            <a:picLocks noChangeAspect="1" noChangeArrowheads="1"/>
          </p:cNvPicPr>
          <p:nvPr/>
        </p:nvPicPr>
        <p:blipFill>
          <a:blip r:embed="rId3" cstate="print"/>
          <a:srcRect/>
          <a:stretch>
            <a:fillRect/>
          </a:stretch>
        </p:blipFill>
        <p:spPr bwMode="auto">
          <a:xfrm>
            <a:off x="4794809" y="2667000"/>
            <a:ext cx="4349191" cy="2895600"/>
          </a:xfrm>
          <a:prstGeom prst="rect">
            <a:avLst/>
          </a:prstGeom>
          <a:noFill/>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8775" name="Rectangle 7"/>
          <p:cNvSpPr>
            <a:spLocks noGrp="1" noChangeArrowheads="1"/>
          </p:cNvSpPr>
          <p:nvPr>
            <p:ph type="title"/>
          </p:nvPr>
        </p:nvSpPr>
        <p:spPr>
          <a:xfrm>
            <a:off x="609600" y="0"/>
            <a:ext cx="8153400" cy="990600"/>
          </a:xfrm>
        </p:spPr>
        <p:txBody>
          <a:bodyPr/>
          <a:lstStyle/>
          <a:p>
            <a:r>
              <a:rPr lang="en-US" dirty="0">
                <a:solidFill>
                  <a:srgbClr val="C00000"/>
                </a:solidFill>
              </a:rPr>
              <a:t>Boy or Girl?</a:t>
            </a:r>
          </a:p>
        </p:txBody>
      </p:sp>
      <p:sp>
        <p:nvSpPr>
          <p:cNvPr id="15362" name="Slide Number Placeholder 4"/>
          <p:cNvSpPr>
            <a:spLocks noGrp="1"/>
          </p:cNvSpPr>
          <p:nvPr>
            <p:ph type="sldNum" sz="quarter" idx="12"/>
          </p:nvPr>
        </p:nvSpPr>
        <p:spPr/>
        <p:txBody>
          <a:bodyPr>
            <a:normAutofit fontScale="85000" lnSpcReduction="20000"/>
          </a:bodyPr>
          <a:lstStyle/>
          <a:p>
            <a:fld id="{34E25D2F-C3E5-461D-979C-F00C470DA261}" type="slidenum">
              <a:rPr lang="en-US" smtClean="0"/>
              <a:pPr/>
              <a:t>11</a:t>
            </a:fld>
            <a:endParaRPr lang="en-US"/>
          </a:p>
        </p:txBody>
      </p:sp>
      <p:sp>
        <p:nvSpPr>
          <p:cNvPr id="288779" name="Text Box 11"/>
          <p:cNvSpPr txBox="1">
            <a:spLocks noChangeArrowheads="1"/>
          </p:cNvSpPr>
          <p:nvPr/>
        </p:nvSpPr>
        <p:spPr bwMode="auto">
          <a:xfrm>
            <a:off x="0" y="2895600"/>
            <a:ext cx="6781800" cy="584775"/>
          </a:xfrm>
          <a:prstGeom prst="rect">
            <a:avLst/>
          </a:prstGeom>
          <a:noFill/>
          <a:ln w="38100">
            <a:noFill/>
            <a:miter lim="800000"/>
            <a:headEnd/>
            <a:tailEnd/>
          </a:ln>
          <a:effectLst/>
        </p:spPr>
        <p:txBody>
          <a:bodyPr wrap="square">
            <a:spAutoFit/>
          </a:bodyPr>
          <a:lstStyle/>
          <a:p>
            <a:pPr algn="l">
              <a:spcBef>
                <a:spcPct val="50000"/>
              </a:spcBef>
              <a:defRPr/>
            </a:pPr>
            <a:r>
              <a:rPr lang="en-US" sz="3200" dirty="0">
                <a:latin typeface="Bookman Old Style" pitchFamily="18" charset="0"/>
              </a:rPr>
              <a:t>The Y Chromosome Decides</a:t>
            </a:r>
          </a:p>
        </p:txBody>
      </p:sp>
      <p:pic>
        <p:nvPicPr>
          <p:cNvPr id="183298" name="Picture 2" descr="https://encrypted-tbn1.gstatic.com/images?q=tbn:ANd9GcRzCoBARQBZblu1xYoWNi7rZMSgIVo5D7R-83rBxXhUyoY38ySIYA"/>
          <p:cNvPicPr>
            <a:picLocks noChangeAspect="1" noChangeArrowheads="1"/>
          </p:cNvPicPr>
          <p:nvPr/>
        </p:nvPicPr>
        <p:blipFill>
          <a:blip r:embed="rId3" cstate="print"/>
          <a:srcRect/>
          <a:stretch>
            <a:fillRect/>
          </a:stretch>
        </p:blipFill>
        <p:spPr bwMode="auto">
          <a:xfrm>
            <a:off x="0" y="3886200"/>
            <a:ext cx="3962400" cy="2671570"/>
          </a:xfrm>
          <a:prstGeom prst="rect">
            <a:avLst/>
          </a:prstGeom>
          <a:noFill/>
        </p:spPr>
      </p:pic>
      <p:sp>
        <p:nvSpPr>
          <p:cNvPr id="15" name="Text Box 8"/>
          <p:cNvSpPr txBox="1">
            <a:spLocks noChangeArrowheads="1"/>
          </p:cNvSpPr>
          <p:nvPr/>
        </p:nvSpPr>
        <p:spPr bwMode="auto">
          <a:xfrm>
            <a:off x="1295400" y="6172200"/>
            <a:ext cx="2667000" cy="369332"/>
          </a:xfrm>
          <a:prstGeom prst="rect">
            <a:avLst/>
          </a:prstGeom>
          <a:noFill/>
          <a:ln w="38100">
            <a:noFill/>
            <a:miter lim="800000"/>
            <a:headEnd/>
            <a:tailEnd/>
          </a:ln>
          <a:effectLst/>
        </p:spPr>
        <p:txBody>
          <a:bodyPr>
            <a:spAutoFit/>
          </a:bodyPr>
          <a:lstStyle/>
          <a:p>
            <a:pPr>
              <a:spcBef>
                <a:spcPct val="50000"/>
              </a:spcBef>
              <a:defRPr/>
            </a:pPr>
            <a:r>
              <a:rPr lang="en-US" sz="1800" dirty="0">
                <a:effectLst>
                  <a:outerShdw blurRad="38100" dist="38100" dir="2700000" algn="tl">
                    <a:srgbClr val="C0C0C0"/>
                  </a:outerShdw>
                </a:effectLst>
              </a:rPr>
              <a:t>Y - Chromosome</a:t>
            </a:r>
          </a:p>
        </p:txBody>
      </p:sp>
      <p:sp>
        <p:nvSpPr>
          <p:cNvPr id="16" name="Text Box 10"/>
          <p:cNvSpPr txBox="1">
            <a:spLocks noChangeArrowheads="1"/>
          </p:cNvSpPr>
          <p:nvPr/>
        </p:nvSpPr>
        <p:spPr bwMode="auto">
          <a:xfrm>
            <a:off x="0" y="3886200"/>
            <a:ext cx="2743200" cy="369332"/>
          </a:xfrm>
          <a:prstGeom prst="rect">
            <a:avLst/>
          </a:prstGeom>
          <a:noFill/>
          <a:ln w="38100">
            <a:noFill/>
            <a:miter lim="800000"/>
            <a:headEnd/>
            <a:tailEnd/>
          </a:ln>
          <a:effectLst/>
        </p:spPr>
        <p:txBody>
          <a:bodyPr>
            <a:spAutoFit/>
          </a:bodyPr>
          <a:lstStyle/>
          <a:p>
            <a:pPr>
              <a:spcBef>
                <a:spcPct val="50000"/>
              </a:spcBef>
              <a:defRPr/>
            </a:pPr>
            <a:r>
              <a:rPr lang="en-US" sz="1800" dirty="0">
                <a:effectLst>
                  <a:outerShdw blurRad="38100" dist="38100" dir="2700000" algn="tl">
                    <a:srgbClr val="C0C0C0"/>
                  </a:outerShdw>
                </a:effectLst>
              </a:rPr>
              <a:t>X - Chromosome</a:t>
            </a:r>
          </a:p>
        </p:txBody>
      </p:sp>
      <p:pic>
        <p:nvPicPr>
          <p:cNvPr id="183299" name="Picture 3"/>
          <p:cNvPicPr>
            <a:picLocks noChangeAspect="1" noChangeArrowheads="1"/>
          </p:cNvPicPr>
          <p:nvPr/>
        </p:nvPicPr>
        <p:blipFill>
          <a:blip r:embed="rId4" cstate="print"/>
          <a:srcRect/>
          <a:stretch>
            <a:fillRect/>
          </a:stretch>
        </p:blipFill>
        <p:spPr bwMode="auto">
          <a:xfrm>
            <a:off x="0" y="838200"/>
            <a:ext cx="4524375" cy="2114550"/>
          </a:xfrm>
          <a:prstGeom prst="rect">
            <a:avLst/>
          </a:prstGeom>
          <a:ln>
            <a:noFill/>
          </a:ln>
          <a:effectLst>
            <a:softEdge rad="112500"/>
          </a:effectLst>
        </p:spPr>
      </p:pic>
      <p:pic>
        <p:nvPicPr>
          <p:cNvPr id="183301" name="Picture 5" descr="https://encrypted-tbn1.gstatic.com/images?q=tbn:ANd9GcT__oyf4Uj9-2CU5pm6UmCgBTaSqGGyRRjehR_iGlsq1QJo8vitAA"/>
          <p:cNvPicPr>
            <a:picLocks noChangeAspect="1" noChangeArrowheads="1"/>
          </p:cNvPicPr>
          <p:nvPr/>
        </p:nvPicPr>
        <p:blipFill>
          <a:blip r:embed="rId5" cstate="print"/>
          <a:srcRect/>
          <a:stretch>
            <a:fillRect/>
          </a:stretch>
        </p:blipFill>
        <p:spPr bwMode="auto">
          <a:xfrm>
            <a:off x="4648200" y="3733800"/>
            <a:ext cx="3352800" cy="2805404"/>
          </a:xfrm>
          <a:prstGeom prst="rect">
            <a:avLst/>
          </a:prstGeom>
          <a:ln>
            <a:noFill/>
          </a:ln>
          <a:effectLst>
            <a:softEdge rad="112500"/>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8153400" cy="990600"/>
          </a:xfrm>
        </p:spPr>
        <p:txBody>
          <a:bodyPr/>
          <a:lstStyle/>
          <a:p>
            <a:r>
              <a:rPr lang="en-US" dirty="0">
                <a:solidFill>
                  <a:srgbClr val="C00000"/>
                </a:solidFill>
              </a:rPr>
              <a:t>Aging</a:t>
            </a:r>
          </a:p>
        </p:txBody>
      </p:sp>
      <p:sp>
        <p:nvSpPr>
          <p:cNvPr id="4" name="Slide Number Placeholder 3"/>
          <p:cNvSpPr>
            <a:spLocks noGrp="1"/>
          </p:cNvSpPr>
          <p:nvPr>
            <p:ph type="sldNum" sz="quarter" idx="12"/>
          </p:nvPr>
        </p:nvSpPr>
        <p:spPr/>
        <p:txBody>
          <a:bodyPr>
            <a:normAutofit fontScale="85000" lnSpcReduction="20000"/>
          </a:bodyPr>
          <a:lstStyle/>
          <a:p>
            <a:pPr>
              <a:defRPr/>
            </a:pPr>
            <a:fld id="{2BC81D3F-60A0-40C6-B544-D0AC20A5361E}" type="slidenum">
              <a:rPr lang="en-US" smtClean="0"/>
              <a:pPr>
                <a:defRPr/>
              </a:pPr>
              <a:t>12</a:t>
            </a:fld>
            <a:endParaRPr lang="en-US"/>
          </a:p>
        </p:txBody>
      </p:sp>
      <p:sp>
        <p:nvSpPr>
          <p:cNvPr id="5" name="Text Box 3"/>
          <p:cNvSpPr txBox="1">
            <a:spLocks noChangeArrowheads="1"/>
          </p:cNvSpPr>
          <p:nvPr/>
        </p:nvSpPr>
        <p:spPr bwMode="auto">
          <a:xfrm>
            <a:off x="457200" y="1828800"/>
            <a:ext cx="8839200" cy="4339650"/>
          </a:xfrm>
          <a:prstGeom prst="rect">
            <a:avLst/>
          </a:prstGeom>
          <a:noFill/>
          <a:ln w="9525">
            <a:noFill/>
            <a:miter lim="800000"/>
            <a:headEnd/>
            <a:tailEnd/>
          </a:ln>
        </p:spPr>
        <p:txBody>
          <a:bodyPr>
            <a:spAutoFit/>
          </a:bodyPr>
          <a:lstStyle/>
          <a:p>
            <a:pPr algn="l">
              <a:spcBef>
                <a:spcPct val="50000"/>
              </a:spcBef>
            </a:pPr>
            <a:r>
              <a:rPr lang="en-US" b="0" dirty="0">
                <a:solidFill>
                  <a:schemeClr val="tx1"/>
                </a:solidFill>
                <a:latin typeface="+mn-lt"/>
              </a:rPr>
              <a:t>All cells die after a certain number of divisions (programmed cell death-”apoptosis”).  At any given time some cells are dividing and some cells are dying</a:t>
            </a:r>
          </a:p>
          <a:p>
            <a:pPr algn="l">
              <a:spcBef>
                <a:spcPct val="50000"/>
              </a:spcBef>
            </a:pPr>
            <a:endParaRPr lang="en-US" b="0" i="1" dirty="0">
              <a:solidFill>
                <a:schemeClr val="tx1"/>
              </a:solidFill>
              <a:latin typeface="+mn-lt"/>
            </a:endParaRPr>
          </a:p>
          <a:p>
            <a:pPr algn="l">
              <a:spcBef>
                <a:spcPct val="50000"/>
              </a:spcBef>
            </a:pPr>
            <a:r>
              <a:rPr lang="en-US" b="0" i="1" dirty="0">
                <a:solidFill>
                  <a:schemeClr val="tx1"/>
                </a:solidFill>
                <a:latin typeface="+mn-lt"/>
              </a:rPr>
              <a:t>Childhood</a:t>
            </a:r>
            <a:r>
              <a:rPr lang="en-US" b="0" dirty="0">
                <a:solidFill>
                  <a:schemeClr val="tx1"/>
                </a:solidFill>
                <a:latin typeface="+mn-lt"/>
              </a:rPr>
              <a:t>          Cell division &gt; cell death </a:t>
            </a:r>
          </a:p>
          <a:p>
            <a:pPr algn="l">
              <a:spcBef>
                <a:spcPct val="50000"/>
              </a:spcBef>
            </a:pPr>
            <a:endParaRPr lang="en-US" sz="2000" b="0" dirty="0">
              <a:solidFill>
                <a:schemeClr val="tx1"/>
              </a:solidFill>
              <a:latin typeface="+mn-lt"/>
            </a:endParaRPr>
          </a:p>
          <a:p>
            <a:pPr algn="l">
              <a:spcBef>
                <a:spcPct val="50000"/>
              </a:spcBef>
            </a:pPr>
            <a:r>
              <a:rPr lang="en-US" b="0" i="1" dirty="0">
                <a:solidFill>
                  <a:schemeClr val="tx1"/>
                </a:solidFill>
                <a:latin typeface="+mn-lt"/>
              </a:rPr>
              <a:t>Adulthood</a:t>
            </a:r>
            <a:r>
              <a:rPr lang="en-US" b="0" dirty="0">
                <a:solidFill>
                  <a:schemeClr val="tx1"/>
                </a:solidFill>
                <a:latin typeface="+mn-lt"/>
              </a:rPr>
              <a:t>	   Cell division = cell death</a:t>
            </a:r>
          </a:p>
          <a:p>
            <a:pPr algn="l">
              <a:spcBef>
                <a:spcPct val="50000"/>
              </a:spcBef>
            </a:pPr>
            <a:endParaRPr lang="en-US" sz="2000" b="0" dirty="0">
              <a:solidFill>
                <a:schemeClr val="tx1"/>
              </a:solidFill>
              <a:latin typeface="+mn-lt"/>
            </a:endParaRPr>
          </a:p>
          <a:p>
            <a:pPr algn="l">
              <a:spcBef>
                <a:spcPct val="50000"/>
              </a:spcBef>
            </a:pPr>
            <a:r>
              <a:rPr lang="en-US" b="0" i="1" dirty="0">
                <a:solidFill>
                  <a:schemeClr val="tx1"/>
                </a:solidFill>
                <a:latin typeface="+mn-lt"/>
              </a:rPr>
              <a:t>Aging</a:t>
            </a:r>
            <a:r>
              <a:rPr lang="en-US" b="0" dirty="0">
                <a:solidFill>
                  <a:schemeClr val="tx1"/>
                </a:solidFill>
                <a:latin typeface="+mn-lt"/>
              </a:rPr>
              <a:t>		   Cell division &lt; cell death</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1026"/>
          <p:cNvSpPr>
            <a:spLocks noGrp="1" noChangeArrowheads="1"/>
          </p:cNvSpPr>
          <p:nvPr>
            <p:ph type="title"/>
          </p:nvPr>
        </p:nvSpPr>
        <p:spPr/>
        <p:txBody>
          <a:bodyPr/>
          <a:lstStyle/>
          <a:p>
            <a:r>
              <a:rPr lang="en-US" sz="4800" dirty="0">
                <a:solidFill>
                  <a:srgbClr val="C00000"/>
                </a:solidFill>
              </a:rPr>
              <a:t>Cell Reproduction</a:t>
            </a:r>
          </a:p>
        </p:txBody>
      </p:sp>
      <p:sp>
        <p:nvSpPr>
          <p:cNvPr id="16386" name="Slide Number Placeholder 4"/>
          <p:cNvSpPr>
            <a:spLocks noGrp="1"/>
          </p:cNvSpPr>
          <p:nvPr>
            <p:ph type="sldNum" sz="quarter" idx="11"/>
          </p:nvPr>
        </p:nvSpPr>
        <p:spPr/>
        <p:txBody>
          <a:bodyPr/>
          <a:lstStyle/>
          <a:p>
            <a:fld id="{062EA962-729E-40AD-A216-72C6B5A9615A}" type="slidenum">
              <a:rPr lang="en-US" smtClean="0"/>
              <a:pPr/>
              <a:t>13</a:t>
            </a:fld>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r>
              <a:rPr lang="en-US" dirty="0">
                <a:solidFill>
                  <a:srgbClr val="C00000"/>
                </a:solidFill>
              </a:rPr>
              <a:t>Cell Division in Prokaryotes</a:t>
            </a:r>
          </a:p>
        </p:txBody>
      </p:sp>
      <p:sp>
        <p:nvSpPr>
          <p:cNvPr id="18434" name="Slide Number Placeholder 4"/>
          <p:cNvSpPr>
            <a:spLocks noGrp="1"/>
          </p:cNvSpPr>
          <p:nvPr>
            <p:ph type="sldNum" sz="quarter" idx="12"/>
          </p:nvPr>
        </p:nvSpPr>
        <p:spPr/>
        <p:txBody>
          <a:bodyPr>
            <a:normAutofit fontScale="85000" lnSpcReduction="20000"/>
          </a:bodyPr>
          <a:lstStyle/>
          <a:p>
            <a:fld id="{9F827539-325D-4FDB-B44C-D334E0533EEC}" type="slidenum">
              <a:rPr lang="en-US" smtClean="0"/>
              <a:pPr/>
              <a:t>14</a:t>
            </a:fld>
            <a:endParaRPr lang="en-US"/>
          </a:p>
        </p:txBody>
      </p:sp>
      <p:pic>
        <p:nvPicPr>
          <p:cNvPr id="177154" name="Picture 2" descr="http://images.wisegeek.com/cell-dividing.jpg"/>
          <p:cNvPicPr>
            <a:picLocks noChangeAspect="1" noChangeArrowheads="1"/>
          </p:cNvPicPr>
          <p:nvPr/>
        </p:nvPicPr>
        <p:blipFill>
          <a:blip r:embed="rId3" cstate="print"/>
          <a:srcRect/>
          <a:stretch>
            <a:fillRect/>
          </a:stretch>
        </p:blipFill>
        <p:spPr bwMode="auto">
          <a:xfrm>
            <a:off x="990600" y="1828800"/>
            <a:ext cx="7153275" cy="3743325"/>
          </a:xfrm>
          <a:prstGeom prst="rect">
            <a:avLst/>
          </a:prstGeom>
          <a:ln>
            <a:noFill/>
          </a:ln>
          <a:effectLst>
            <a:softEdge rad="112500"/>
          </a:effec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normAutofit fontScale="90000"/>
          </a:bodyPr>
          <a:lstStyle/>
          <a:p>
            <a:r>
              <a:rPr lang="en-US" dirty="0">
                <a:solidFill>
                  <a:srgbClr val="C00000"/>
                </a:solidFill>
              </a:rPr>
              <a:t>Cell Division in Prokaryotes</a:t>
            </a:r>
          </a:p>
        </p:txBody>
      </p:sp>
      <p:sp>
        <p:nvSpPr>
          <p:cNvPr id="67587" name="Rectangle 3"/>
          <p:cNvSpPr>
            <a:spLocks noGrp="1" noChangeArrowheads="1"/>
          </p:cNvSpPr>
          <p:nvPr>
            <p:ph type="body" sz="half" idx="1"/>
          </p:nvPr>
        </p:nvSpPr>
        <p:spPr>
          <a:xfrm>
            <a:off x="457200" y="1600200"/>
            <a:ext cx="4343400" cy="5486400"/>
          </a:xfrm>
        </p:spPr>
        <p:txBody>
          <a:bodyPr/>
          <a:lstStyle/>
          <a:p>
            <a:r>
              <a:rPr lang="en-US" sz="2800" dirty="0"/>
              <a:t>Prokaryotes such as bacteria divide into 2 identical cells by the process of binary fission</a:t>
            </a:r>
          </a:p>
          <a:p>
            <a:r>
              <a:rPr lang="en-US" sz="2800" dirty="0"/>
              <a:t>Single chromosome makes a copy of itself</a:t>
            </a:r>
          </a:p>
          <a:p>
            <a:r>
              <a:rPr lang="en-US" sz="2800" dirty="0"/>
              <a:t>Cell wall forms between the chromosomes dividing the cell</a:t>
            </a:r>
          </a:p>
        </p:txBody>
      </p:sp>
      <p:pic>
        <p:nvPicPr>
          <p:cNvPr id="67589" name="Picture 5" descr="binary"/>
          <p:cNvPicPr>
            <a:picLocks noGrp="1" noChangeAspect="1" noChangeArrowheads="1"/>
          </p:cNvPicPr>
          <p:nvPr>
            <p:ph type="clipArt" sz="half" idx="2"/>
          </p:nvPr>
        </p:nvPicPr>
        <p:blipFill>
          <a:blip r:embed="rId3" cstate="print"/>
          <a:srcRect/>
          <a:stretch>
            <a:fillRect/>
          </a:stretch>
        </p:blipFill>
        <p:spPr>
          <a:xfrm>
            <a:off x="5808884" y="1524000"/>
            <a:ext cx="2926626" cy="4191000"/>
          </a:xfrm>
        </p:spPr>
      </p:pic>
      <p:sp>
        <p:nvSpPr>
          <p:cNvPr id="19458" name="Slide Number Placeholder 6"/>
          <p:cNvSpPr>
            <a:spLocks noGrp="1"/>
          </p:cNvSpPr>
          <p:nvPr>
            <p:ph type="sldNum" sz="quarter" idx="12"/>
          </p:nvPr>
        </p:nvSpPr>
        <p:spPr/>
        <p:txBody>
          <a:bodyPr>
            <a:normAutofit fontScale="85000" lnSpcReduction="20000"/>
          </a:bodyPr>
          <a:lstStyle/>
          <a:p>
            <a:fld id="{1E294FE7-D55A-4242-BA24-F999D97B34CC}" type="slidenum">
              <a:rPr lang="en-US" smtClean="0"/>
              <a:pPr/>
              <a:t>15</a:t>
            </a:fld>
            <a:endParaRPr lang="en-US"/>
          </a:p>
        </p:txBody>
      </p:sp>
      <p:sp>
        <p:nvSpPr>
          <p:cNvPr id="67590" name="Text Box 6"/>
          <p:cNvSpPr txBox="1">
            <a:spLocks noChangeArrowheads="1"/>
          </p:cNvSpPr>
          <p:nvPr/>
        </p:nvSpPr>
        <p:spPr bwMode="auto">
          <a:xfrm>
            <a:off x="5029200" y="1676400"/>
            <a:ext cx="1447800" cy="369332"/>
          </a:xfrm>
          <a:prstGeom prst="rect">
            <a:avLst/>
          </a:prstGeom>
          <a:noFill/>
          <a:ln w="38100">
            <a:noFill/>
            <a:miter lim="800000"/>
            <a:headEnd/>
            <a:tailEnd/>
          </a:ln>
          <a:effectLst/>
        </p:spPr>
        <p:txBody>
          <a:bodyPr>
            <a:spAutoFit/>
          </a:bodyPr>
          <a:lstStyle/>
          <a:p>
            <a:pPr>
              <a:spcBef>
                <a:spcPct val="50000"/>
              </a:spcBef>
              <a:defRPr/>
            </a:pPr>
            <a:r>
              <a:rPr lang="en-US" sz="1800" dirty="0">
                <a:solidFill>
                  <a:srgbClr val="FF0000"/>
                </a:solidFill>
                <a:effectLst>
                  <a:outerShdw blurRad="38100" dist="38100" dir="2700000" algn="tl">
                    <a:srgbClr val="C0C0C0"/>
                  </a:outerShdw>
                </a:effectLst>
              </a:rPr>
              <a:t>Parent cell</a:t>
            </a:r>
          </a:p>
        </p:txBody>
      </p:sp>
      <p:sp>
        <p:nvSpPr>
          <p:cNvPr id="67591" name="Text Box 7"/>
          <p:cNvSpPr txBox="1">
            <a:spLocks noChangeArrowheads="1"/>
          </p:cNvSpPr>
          <p:nvPr/>
        </p:nvSpPr>
        <p:spPr bwMode="auto">
          <a:xfrm>
            <a:off x="5029200" y="5791200"/>
            <a:ext cx="4114800" cy="457200"/>
          </a:xfrm>
          <a:prstGeom prst="rect">
            <a:avLst/>
          </a:prstGeom>
          <a:noFill/>
          <a:ln w="38100">
            <a:noFill/>
            <a:miter lim="800000"/>
            <a:headEnd/>
            <a:tailEnd/>
          </a:ln>
          <a:effectLst/>
        </p:spPr>
        <p:txBody>
          <a:bodyPr>
            <a:spAutoFit/>
          </a:bodyPr>
          <a:lstStyle/>
          <a:p>
            <a:pPr>
              <a:spcBef>
                <a:spcPct val="50000"/>
              </a:spcBef>
              <a:defRPr/>
            </a:pPr>
            <a:r>
              <a:rPr lang="en-US" dirty="0">
                <a:solidFill>
                  <a:srgbClr val="FF0000"/>
                </a:solidFill>
                <a:effectLst>
                  <a:outerShdw blurRad="38100" dist="38100" dir="2700000" algn="tl">
                    <a:srgbClr val="C0C0C0"/>
                  </a:outerShdw>
                </a:effectLst>
              </a:rPr>
              <a:t>2 identical daughter cells</a:t>
            </a:r>
          </a:p>
        </p:txBody>
      </p:sp>
      <p:sp>
        <p:nvSpPr>
          <p:cNvPr id="67592" name="Text Box 8"/>
          <p:cNvSpPr txBox="1">
            <a:spLocks noChangeArrowheads="1"/>
          </p:cNvSpPr>
          <p:nvPr/>
        </p:nvSpPr>
        <p:spPr bwMode="auto">
          <a:xfrm>
            <a:off x="4191000" y="2819400"/>
            <a:ext cx="2057400" cy="646331"/>
          </a:xfrm>
          <a:prstGeom prst="rect">
            <a:avLst/>
          </a:prstGeom>
          <a:noFill/>
          <a:ln w="38100">
            <a:noFill/>
            <a:miter lim="800000"/>
            <a:headEnd/>
            <a:tailEnd/>
          </a:ln>
          <a:effectLst/>
        </p:spPr>
        <p:txBody>
          <a:bodyPr>
            <a:spAutoFit/>
          </a:bodyPr>
          <a:lstStyle/>
          <a:p>
            <a:pPr>
              <a:spcBef>
                <a:spcPct val="50000"/>
              </a:spcBef>
              <a:defRPr/>
            </a:pPr>
            <a:r>
              <a:rPr lang="en-US" sz="1800" dirty="0">
                <a:solidFill>
                  <a:srgbClr val="FF0000"/>
                </a:solidFill>
                <a:effectLst>
                  <a:outerShdw blurRad="38100" dist="38100" dir="2700000" algn="tl">
                    <a:srgbClr val="C0C0C0"/>
                  </a:outerShdw>
                </a:effectLst>
              </a:rPr>
              <a:t>Chromosome replicates</a:t>
            </a:r>
          </a:p>
        </p:txBody>
      </p:sp>
      <p:sp>
        <p:nvSpPr>
          <p:cNvPr id="67593" name="Text Box 9"/>
          <p:cNvSpPr txBox="1">
            <a:spLocks noChangeArrowheads="1"/>
          </p:cNvSpPr>
          <p:nvPr/>
        </p:nvSpPr>
        <p:spPr bwMode="auto">
          <a:xfrm>
            <a:off x="4343400" y="5029200"/>
            <a:ext cx="1752600" cy="369332"/>
          </a:xfrm>
          <a:prstGeom prst="rect">
            <a:avLst/>
          </a:prstGeom>
          <a:noFill/>
          <a:ln w="38100">
            <a:noFill/>
            <a:miter lim="800000"/>
            <a:headEnd/>
            <a:tailEnd/>
          </a:ln>
          <a:effectLst/>
        </p:spPr>
        <p:txBody>
          <a:bodyPr>
            <a:spAutoFit/>
          </a:bodyPr>
          <a:lstStyle/>
          <a:p>
            <a:pPr>
              <a:spcBef>
                <a:spcPct val="50000"/>
              </a:spcBef>
              <a:defRPr/>
            </a:pPr>
            <a:r>
              <a:rPr lang="en-US" sz="1800" dirty="0">
                <a:solidFill>
                  <a:srgbClr val="FF0000"/>
                </a:solidFill>
                <a:effectLst>
                  <a:outerShdw blurRad="38100" dist="38100" dir="2700000" algn="tl">
                    <a:srgbClr val="C0C0C0"/>
                  </a:outerShdw>
                </a:effectLst>
              </a:rPr>
              <a:t>Cell splits</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0" y="228600"/>
            <a:ext cx="9067800" cy="685800"/>
          </a:xfrm>
        </p:spPr>
        <p:txBody>
          <a:bodyPr>
            <a:normAutofit fontScale="90000"/>
          </a:bodyPr>
          <a:lstStyle/>
          <a:p>
            <a:r>
              <a:rPr lang="en-US" dirty="0">
                <a:solidFill>
                  <a:srgbClr val="C00000"/>
                </a:solidFill>
              </a:rPr>
              <a:t>Prokaryotic Cell Undergoing Binary Fission</a:t>
            </a:r>
          </a:p>
        </p:txBody>
      </p:sp>
      <p:sp>
        <p:nvSpPr>
          <p:cNvPr id="20482" name="Slide Number Placeholder 4"/>
          <p:cNvSpPr>
            <a:spLocks noGrp="1"/>
          </p:cNvSpPr>
          <p:nvPr>
            <p:ph type="sldNum" sz="quarter" idx="12"/>
          </p:nvPr>
        </p:nvSpPr>
        <p:spPr/>
        <p:txBody>
          <a:bodyPr>
            <a:normAutofit fontScale="85000" lnSpcReduction="20000"/>
          </a:bodyPr>
          <a:lstStyle/>
          <a:p>
            <a:fld id="{36656681-21DA-4A20-BC3F-1D5BCE54AFBF}" type="slidenum">
              <a:rPr lang="en-US" smtClean="0"/>
              <a:pPr/>
              <a:t>16</a:t>
            </a:fld>
            <a:endParaRPr lang="en-US"/>
          </a:p>
        </p:txBody>
      </p:sp>
      <p:pic>
        <p:nvPicPr>
          <p:cNvPr id="20484" name="Picture 9" descr="TEM-Fission_rod"/>
          <p:cNvPicPr>
            <a:picLocks noChangeAspect="1" noChangeArrowheads="1"/>
          </p:cNvPicPr>
          <p:nvPr/>
        </p:nvPicPr>
        <p:blipFill>
          <a:blip r:embed="rId3" cstate="print"/>
          <a:srcRect/>
          <a:stretch>
            <a:fillRect/>
          </a:stretch>
        </p:blipFill>
        <p:spPr bwMode="auto">
          <a:xfrm>
            <a:off x="2057400" y="1752600"/>
            <a:ext cx="5135563" cy="3944938"/>
          </a:xfrm>
          <a:prstGeom prst="rect">
            <a:avLst/>
          </a:prstGeom>
          <a:ln>
            <a:noFill/>
          </a:ln>
          <a:effectLst>
            <a:softEdge rad="112500"/>
          </a:effec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6" name="Rectangle 2"/>
          <p:cNvSpPr>
            <a:spLocks noGrp="1" noChangeArrowheads="1"/>
          </p:cNvSpPr>
          <p:nvPr>
            <p:ph type="ctrTitle"/>
          </p:nvPr>
        </p:nvSpPr>
        <p:spPr>
          <a:xfrm>
            <a:off x="1447800" y="1752600"/>
            <a:ext cx="6477000" cy="1828800"/>
          </a:xfrm>
        </p:spPr>
        <p:txBody>
          <a:bodyPr/>
          <a:lstStyle/>
          <a:p>
            <a:r>
              <a:rPr lang="en-US" dirty="0">
                <a:solidFill>
                  <a:srgbClr val="FFFF00"/>
                </a:solidFill>
                <a:effectLst>
                  <a:outerShdw blurRad="38100" dist="38100" dir="2700000" algn="tl">
                    <a:srgbClr val="000000">
                      <a:alpha val="43137"/>
                    </a:srgbClr>
                  </a:outerShdw>
                </a:effectLst>
              </a:rPr>
              <a:t>The Cell Cycle</a:t>
            </a:r>
          </a:p>
        </p:txBody>
      </p:sp>
      <p:sp>
        <p:nvSpPr>
          <p:cNvPr id="98307" name="Rectangle 3"/>
          <p:cNvSpPr>
            <a:spLocks noGrp="1" noChangeArrowheads="1"/>
          </p:cNvSpPr>
          <p:nvPr>
            <p:ph type="subTitle" idx="1"/>
          </p:nvPr>
        </p:nvSpPr>
        <p:spPr/>
        <p:txBody>
          <a:bodyPr/>
          <a:lstStyle/>
          <a:p>
            <a:r>
              <a:rPr lang="en-US"/>
              <a:t>  </a:t>
            </a:r>
          </a:p>
        </p:txBody>
      </p:sp>
      <p:sp>
        <p:nvSpPr>
          <p:cNvPr id="6" name="Rectangle 6"/>
          <p:cNvSpPr>
            <a:spLocks noGrp="1" noChangeArrowheads="1"/>
          </p:cNvSpPr>
          <p:nvPr>
            <p:ph type="sldNum" sz="quarter" idx="12"/>
          </p:nvPr>
        </p:nvSpPr>
        <p:spPr/>
        <p:txBody>
          <a:bodyPr/>
          <a:lstStyle/>
          <a:p>
            <a:fld id="{964DF201-6C02-40D6-B7A4-98D899F5C69B}" type="slidenum">
              <a:rPr lang="en-US" smtClean="0"/>
              <a:pPr/>
              <a:t>17</a:t>
            </a:fld>
            <a:endParaRPr 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p:txBody>
          <a:bodyPr/>
          <a:lstStyle/>
          <a:p>
            <a:r>
              <a:rPr lang="en-US"/>
              <a:t>Five Phases of the Cell Cycle</a:t>
            </a:r>
          </a:p>
        </p:txBody>
      </p:sp>
      <p:sp>
        <p:nvSpPr>
          <p:cNvPr id="23554" name="Slide Number Placeholder 5"/>
          <p:cNvSpPr>
            <a:spLocks noGrp="1"/>
          </p:cNvSpPr>
          <p:nvPr>
            <p:ph type="sldNum" sz="quarter" idx="12"/>
          </p:nvPr>
        </p:nvSpPr>
        <p:spPr/>
        <p:txBody>
          <a:bodyPr>
            <a:normAutofit fontScale="85000" lnSpcReduction="20000"/>
          </a:bodyPr>
          <a:lstStyle/>
          <a:p>
            <a:fld id="{69774D20-2137-4C77-96F8-30171C0F2A99}" type="slidenum">
              <a:rPr lang="en-US" smtClean="0"/>
              <a:pPr/>
              <a:t>18</a:t>
            </a:fld>
            <a:endParaRPr lang="en-US"/>
          </a:p>
        </p:txBody>
      </p:sp>
      <p:sp>
        <p:nvSpPr>
          <p:cNvPr id="161795" name="Rectangle 3"/>
          <p:cNvSpPr>
            <a:spLocks noGrp="1" noChangeArrowheads="1"/>
          </p:cNvSpPr>
          <p:nvPr>
            <p:ph sz="quarter" idx="1"/>
          </p:nvPr>
        </p:nvSpPr>
        <p:spPr>
          <a:xfrm>
            <a:off x="0" y="1676400"/>
            <a:ext cx="4114800" cy="5486400"/>
          </a:xfrm>
        </p:spPr>
        <p:txBody>
          <a:bodyPr/>
          <a:lstStyle/>
          <a:p>
            <a:r>
              <a:rPr lang="en-US" sz="2000" dirty="0"/>
              <a:t>G1 - primary growth phase</a:t>
            </a:r>
          </a:p>
          <a:p>
            <a:r>
              <a:rPr lang="en-US" sz="2000" dirty="0"/>
              <a:t>S – synthesis; DNA replicated</a:t>
            </a:r>
          </a:p>
          <a:p>
            <a:r>
              <a:rPr lang="en-US" sz="2000" dirty="0"/>
              <a:t>G2 - secondary growth phase</a:t>
            </a:r>
          </a:p>
          <a:p>
            <a:pPr lvl="1"/>
            <a:r>
              <a:rPr lang="en-US" sz="2000" dirty="0"/>
              <a:t>collectively these 3 stages are called </a:t>
            </a:r>
            <a:r>
              <a:rPr lang="en-US" sz="2000" dirty="0" err="1"/>
              <a:t>interphase</a:t>
            </a:r>
            <a:endParaRPr lang="en-US" sz="2000" dirty="0"/>
          </a:p>
          <a:p>
            <a:r>
              <a:rPr lang="en-US" sz="2000" dirty="0"/>
              <a:t>M - mitosis</a:t>
            </a:r>
          </a:p>
          <a:p>
            <a:r>
              <a:rPr lang="en-US" sz="2000" dirty="0"/>
              <a:t>C - </a:t>
            </a:r>
            <a:r>
              <a:rPr lang="en-US" sz="2000" dirty="0" err="1"/>
              <a:t>cytokinesis</a:t>
            </a:r>
            <a:endParaRPr lang="en-US" sz="2000" dirty="0"/>
          </a:p>
        </p:txBody>
      </p:sp>
      <p:pic>
        <p:nvPicPr>
          <p:cNvPr id="166914" name="Picture 2" descr="http://ricochetscience.com/wp-content/uploads/2013/05/cell_cycle2.jpg"/>
          <p:cNvPicPr>
            <a:picLocks noChangeAspect="1" noChangeArrowheads="1"/>
          </p:cNvPicPr>
          <p:nvPr/>
        </p:nvPicPr>
        <p:blipFill>
          <a:blip r:embed="rId3" cstate="print"/>
          <a:srcRect/>
          <a:stretch>
            <a:fillRect/>
          </a:stretch>
        </p:blipFill>
        <p:spPr bwMode="auto">
          <a:xfrm>
            <a:off x="3941618" y="3276600"/>
            <a:ext cx="5202382" cy="3124200"/>
          </a:xfrm>
          <a:prstGeom prst="rect">
            <a:avLst/>
          </a:prstGeom>
          <a:noFill/>
        </p:spPr>
      </p:pic>
      <p:sp>
        <p:nvSpPr>
          <p:cNvPr id="10" name="Rectangle 9"/>
          <p:cNvSpPr/>
          <p:nvPr/>
        </p:nvSpPr>
        <p:spPr>
          <a:xfrm>
            <a:off x="4038600" y="2369403"/>
            <a:ext cx="4572000" cy="830997"/>
          </a:xfrm>
          <a:prstGeom prst="rect">
            <a:avLst/>
          </a:prstGeom>
        </p:spPr>
        <p:txBody>
          <a:bodyPr>
            <a:spAutoFit/>
          </a:bodyPr>
          <a:lstStyle/>
          <a:p>
            <a:pPr>
              <a:spcBef>
                <a:spcPct val="50000"/>
              </a:spcBef>
            </a:pPr>
            <a:r>
              <a:rPr lang="en-US" i="1" dirty="0" err="1">
                <a:solidFill>
                  <a:schemeClr val="accent2"/>
                </a:solidFill>
                <a:cs typeface="Times New Roman" pitchFamily="18" charset="0"/>
              </a:rPr>
              <a:t>Interphase</a:t>
            </a:r>
            <a:r>
              <a:rPr lang="en-US" i="1" dirty="0">
                <a:solidFill>
                  <a:schemeClr val="accent2"/>
                </a:solidFill>
                <a:cs typeface="Times New Roman" pitchFamily="18" charset="0"/>
              </a:rPr>
              <a:t> ~ 90% of the time.</a:t>
            </a:r>
            <a:endParaRPr lang="en-US" dirty="0">
              <a:solidFill>
                <a:schemeClr val="accent2"/>
              </a:solidFill>
              <a:cs typeface="Times New Roman" pitchFamily="18" charset="0"/>
            </a:endParaRPr>
          </a:p>
        </p:txBody>
      </p:sp>
      <p:sp>
        <p:nvSpPr>
          <p:cNvPr id="11" name="Right Brace 10"/>
          <p:cNvSpPr/>
          <p:nvPr/>
        </p:nvSpPr>
        <p:spPr bwMode="auto">
          <a:xfrm>
            <a:off x="3429000" y="1600200"/>
            <a:ext cx="838200" cy="2057400"/>
          </a:xfrm>
          <a:prstGeom prst="rightBrace">
            <a:avLst/>
          </a:prstGeom>
          <a:noFill/>
          <a:ln w="38100" cap="flat" cmpd="sng" algn="ctr">
            <a:solidFill>
              <a:srgbClr val="C00000"/>
            </a:solid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dirty="0">
              <a:ln>
                <a:noFill/>
              </a:ln>
              <a:solidFill>
                <a:schemeClr val="tx1"/>
              </a:solidFill>
              <a:effectLst>
                <a:outerShdw blurRad="38100" dist="38100" dir="2700000" algn="tl">
                  <a:srgbClr val="000000">
                    <a:alpha val="43137"/>
                  </a:srgbClr>
                </a:outerShdw>
              </a:effectLst>
              <a:latin typeface="Comic Sans MS" pitchFamily="66"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r>
              <a:rPr lang="en-US" dirty="0">
                <a:solidFill>
                  <a:srgbClr val="C00000"/>
                </a:solidFill>
              </a:rPr>
              <a:t>Mitosis</a:t>
            </a:r>
          </a:p>
        </p:txBody>
      </p:sp>
      <p:sp>
        <p:nvSpPr>
          <p:cNvPr id="30722" name="Slide Number Placeholder 4"/>
          <p:cNvSpPr>
            <a:spLocks noGrp="1"/>
          </p:cNvSpPr>
          <p:nvPr>
            <p:ph type="sldNum" sz="quarter" idx="12"/>
          </p:nvPr>
        </p:nvSpPr>
        <p:spPr/>
        <p:txBody>
          <a:bodyPr>
            <a:normAutofit fontScale="85000" lnSpcReduction="20000"/>
          </a:bodyPr>
          <a:lstStyle/>
          <a:p>
            <a:fld id="{9E9F641E-1D9F-405C-B172-5F5CB10099E4}" type="slidenum">
              <a:rPr lang="en-US" smtClean="0"/>
              <a:pPr/>
              <a:t>19</a:t>
            </a:fld>
            <a:endParaRPr lang="en-US" dirty="0"/>
          </a:p>
        </p:txBody>
      </p:sp>
      <p:pic>
        <p:nvPicPr>
          <p:cNvPr id="5" name="Picture 2"/>
          <p:cNvPicPr>
            <a:picLocks noChangeArrowheads="1"/>
          </p:cNvPicPr>
          <p:nvPr/>
        </p:nvPicPr>
        <p:blipFill>
          <a:blip r:embed="rId3" cstate="print"/>
          <a:srcRect l="3130" t="6264" r="2974" b="6055"/>
          <a:stretch>
            <a:fillRect/>
          </a:stretch>
        </p:blipFill>
        <p:spPr bwMode="auto">
          <a:xfrm>
            <a:off x="5029200" y="2667000"/>
            <a:ext cx="3810000" cy="2362200"/>
          </a:xfrm>
          <a:prstGeom prst="rect">
            <a:avLst/>
          </a:prstGeom>
          <a:noFill/>
          <a:ln w="12700">
            <a:noFill/>
            <a:miter lim="800000"/>
            <a:headEnd/>
            <a:tailEnd/>
          </a:ln>
        </p:spPr>
      </p:pic>
      <p:sp>
        <p:nvSpPr>
          <p:cNvPr id="6" name="Rectangle 5"/>
          <p:cNvSpPr/>
          <p:nvPr/>
        </p:nvSpPr>
        <p:spPr>
          <a:xfrm>
            <a:off x="381000" y="1447800"/>
            <a:ext cx="4572000" cy="4196277"/>
          </a:xfrm>
          <a:prstGeom prst="rect">
            <a:avLst/>
          </a:prstGeom>
        </p:spPr>
        <p:txBody>
          <a:bodyPr>
            <a:spAutoFit/>
          </a:bodyPr>
          <a:lstStyle/>
          <a:p>
            <a:pPr algn="l">
              <a:lnSpc>
                <a:spcPct val="150000"/>
              </a:lnSpc>
              <a:buFont typeface="Wingdings" pitchFamily="2" charset="2"/>
              <a:buChar char="q"/>
              <a:defRPr/>
            </a:pPr>
            <a:r>
              <a:rPr lang="en-US" sz="2000" dirty="0">
                <a:solidFill>
                  <a:schemeClr val="tx1"/>
                </a:solidFill>
              </a:rPr>
              <a:t>Division of </a:t>
            </a:r>
            <a:r>
              <a:rPr lang="en-US" sz="2000" u="sng" dirty="0">
                <a:solidFill>
                  <a:schemeClr val="tx1"/>
                </a:solidFill>
              </a:rPr>
              <a:t>somatic</a:t>
            </a:r>
            <a:r>
              <a:rPr lang="en-US" sz="2000" dirty="0">
                <a:solidFill>
                  <a:schemeClr val="tx1"/>
                </a:solidFill>
              </a:rPr>
              <a:t> cells (body cells)</a:t>
            </a:r>
          </a:p>
          <a:p>
            <a:pPr lvl="1" algn="l">
              <a:lnSpc>
                <a:spcPct val="150000"/>
              </a:lnSpc>
              <a:buFont typeface="Wingdings" pitchFamily="2" charset="2"/>
              <a:buChar char="q"/>
              <a:defRPr/>
            </a:pPr>
            <a:r>
              <a:rPr lang="en-US" sz="2000" dirty="0">
                <a:solidFill>
                  <a:schemeClr val="tx1"/>
                </a:solidFill>
              </a:rPr>
              <a:t>(non reproductive cells) in eukaryotic organisms</a:t>
            </a:r>
          </a:p>
          <a:p>
            <a:pPr lvl="1" algn="l">
              <a:lnSpc>
                <a:spcPct val="150000"/>
              </a:lnSpc>
              <a:buFont typeface="Wingdings" pitchFamily="2" charset="2"/>
              <a:buChar char="q"/>
              <a:defRPr/>
            </a:pPr>
            <a:r>
              <a:rPr lang="en-US" sz="2000" dirty="0">
                <a:solidFill>
                  <a:schemeClr val="tx1"/>
                </a:solidFill>
              </a:rPr>
              <a:t>A single cell divides into two identical daughter cells  (cellular reproduction)</a:t>
            </a:r>
          </a:p>
          <a:p>
            <a:pPr lvl="1" algn="l">
              <a:lnSpc>
                <a:spcPct val="150000"/>
              </a:lnSpc>
              <a:buFont typeface="Wingdings" pitchFamily="2" charset="2"/>
              <a:buChar char="q"/>
              <a:defRPr/>
            </a:pPr>
            <a:r>
              <a:rPr lang="en-US" sz="2000" dirty="0">
                <a:solidFill>
                  <a:schemeClr val="tx1"/>
                </a:solidFill>
              </a:rPr>
              <a:t>Maintains chromosome </a:t>
            </a:r>
            <a:r>
              <a:rPr lang="en-US" sz="2000" dirty="0" err="1">
                <a:solidFill>
                  <a:schemeClr val="tx1"/>
                </a:solidFill>
              </a:rPr>
              <a:t>ploidy</a:t>
            </a:r>
            <a:r>
              <a:rPr lang="en-US" sz="2000" dirty="0">
                <a:solidFill>
                  <a:schemeClr val="tx1"/>
                </a:solidFill>
              </a:rPr>
              <a:t> of cell</a:t>
            </a:r>
          </a:p>
        </p:txBody>
      </p:sp>
      <p:sp>
        <p:nvSpPr>
          <p:cNvPr id="7" name="Rectangle 6"/>
          <p:cNvSpPr/>
          <p:nvPr/>
        </p:nvSpPr>
        <p:spPr>
          <a:xfrm>
            <a:off x="381000" y="5242173"/>
            <a:ext cx="8686800" cy="1615827"/>
          </a:xfrm>
          <a:prstGeom prst="rect">
            <a:avLst/>
          </a:prstGeom>
        </p:spPr>
        <p:txBody>
          <a:bodyPr wrap="square">
            <a:spAutoFit/>
          </a:bodyPr>
          <a:lstStyle/>
          <a:p>
            <a:pPr lvl="1" algn="l">
              <a:lnSpc>
                <a:spcPct val="150000"/>
              </a:lnSpc>
              <a:buFont typeface="Wingdings" pitchFamily="2" charset="2"/>
              <a:buChar char="q"/>
              <a:defRPr/>
            </a:pPr>
            <a:endParaRPr lang="en-US" sz="1800" dirty="0">
              <a:solidFill>
                <a:schemeClr val="tx1"/>
              </a:solidFill>
            </a:endParaRPr>
          </a:p>
          <a:p>
            <a:pPr algn="l">
              <a:buFont typeface="Wingdings" pitchFamily="2" charset="2"/>
              <a:buChar char="q"/>
              <a:defRPr/>
            </a:pPr>
            <a:r>
              <a:rPr lang="en-US" sz="1800" dirty="0" err="1">
                <a:solidFill>
                  <a:schemeClr val="tx1"/>
                </a:solidFill>
              </a:rPr>
              <a:t>Ploidy</a:t>
            </a:r>
            <a:r>
              <a:rPr lang="en-US" sz="1800" dirty="0">
                <a:solidFill>
                  <a:schemeClr val="tx1"/>
                </a:solidFill>
              </a:rPr>
              <a:t> – refers to the </a:t>
            </a:r>
            <a:r>
              <a:rPr lang="en-US" sz="1800" u="sng" dirty="0">
                <a:solidFill>
                  <a:schemeClr val="tx1"/>
                </a:solidFill>
              </a:rPr>
              <a:t>number</a:t>
            </a:r>
            <a:r>
              <a:rPr lang="en-US" sz="1800" dirty="0">
                <a:solidFill>
                  <a:schemeClr val="tx1"/>
                </a:solidFill>
              </a:rPr>
              <a:t> </a:t>
            </a:r>
            <a:r>
              <a:rPr lang="en-US" sz="1800" u="sng" dirty="0">
                <a:solidFill>
                  <a:schemeClr val="tx1"/>
                </a:solidFill>
              </a:rPr>
              <a:t>of</a:t>
            </a:r>
            <a:r>
              <a:rPr lang="en-US" sz="1800" dirty="0">
                <a:solidFill>
                  <a:schemeClr val="tx1"/>
                </a:solidFill>
              </a:rPr>
              <a:t> </a:t>
            </a:r>
            <a:r>
              <a:rPr lang="en-US" sz="1800" u="sng" dirty="0">
                <a:solidFill>
                  <a:schemeClr val="tx1"/>
                </a:solidFill>
              </a:rPr>
              <a:t>pairs</a:t>
            </a:r>
            <a:r>
              <a:rPr lang="en-US" sz="1800" dirty="0">
                <a:solidFill>
                  <a:schemeClr val="tx1"/>
                </a:solidFill>
              </a:rPr>
              <a:t> of chromosomes in cells</a:t>
            </a:r>
          </a:p>
          <a:p>
            <a:pPr lvl="1" algn="l">
              <a:lnSpc>
                <a:spcPct val="150000"/>
              </a:lnSpc>
              <a:buFontTx/>
              <a:buChar char="•"/>
              <a:defRPr/>
            </a:pPr>
            <a:r>
              <a:rPr lang="en-US" sz="1800" u="sng" dirty="0">
                <a:solidFill>
                  <a:schemeClr val="tx1"/>
                </a:solidFill>
              </a:rPr>
              <a:t>Haploid</a:t>
            </a:r>
            <a:r>
              <a:rPr lang="en-US" sz="1800" dirty="0">
                <a:solidFill>
                  <a:schemeClr val="tx1"/>
                </a:solidFill>
              </a:rPr>
              <a:t> – one copy of each chromosome – designated as “</a:t>
            </a:r>
            <a:r>
              <a:rPr lang="en-US" sz="1800" u="sng" dirty="0">
                <a:solidFill>
                  <a:schemeClr val="tx1"/>
                </a:solidFill>
              </a:rPr>
              <a:t>n</a:t>
            </a:r>
            <a:r>
              <a:rPr lang="en-US" sz="1800" dirty="0">
                <a:solidFill>
                  <a:schemeClr val="tx1"/>
                </a:solidFill>
              </a:rPr>
              <a:t>”</a:t>
            </a:r>
          </a:p>
          <a:p>
            <a:pPr lvl="1" algn="l">
              <a:lnSpc>
                <a:spcPct val="150000"/>
              </a:lnSpc>
              <a:buFontTx/>
              <a:buChar char="•"/>
              <a:defRPr/>
            </a:pPr>
            <a:r>
              <a:rPr lang="en-US" sz="1800" u="sng" dirty="0">
                <a:solidFill>
                  <a:schemeClr val="tx1"/>
                </a:solidFill>
              </a:rPr>
              <a:t>Diploid</a:t>
            </a:r>
            <a:r>
              <a:rPr lang="en-US" sz="1800" dirty="0">
                <a:solidFill>
                  <a:schemeClr val="tx1"/>
                </a:solidFill>
              </a:rPr>
              <a:t> – two copies (pair) of each chromosome – designated  as “</a:t>
            </a:r>
            <a:r>
              <a:rPr lang="en-US" sz="1800" u="sng" dirty="0">
                <a:solidFill>
                  <a:schemeClr val="tx1"/>
                </a:solidFill>
              </a:rPr>
              <a:t>2n</a:t>
            </a:r>
            <a:r>
              <a:rPr lang="en-US" sz="1800" dirty="0">
                <a:solidFill>
                  <a:schemeClr val="tx1"/>
                </a:solidFill>
              </a:rPr>
              <a:t>”</a:t>
            </a:r>
            <a:endParaRPr lang="en-US" sz="1800" dirty="0">
              <a:solidFill>
                <a:schemeClr val="tx1"/>
              </a:solidFill>
              <a:latin typeface="Arial Narrow" pitchFamily="34"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normAutofit fontScale="90000"/>
          </a:bodyPr>
          <a:lstStyle/>
          <a:p>
            <a:r>
              <a:rPr lang="en-US" dirty="0">
                <a:solidFill>
                  <a:srgbClr val="C00000"/>
                </a:solidFill>
              </a:rPr>
              <a:t>Mitosis</a:t>
            </a:r>
          </a:p>
        </p:txBody>
      </p:sp>
      <p:sp>
        <p:nvSpPr>
          <p:cNvPr id="191491" name="Rectangle 3"/>
          <p:cNvSpPr>
            <a:spLocks noGrp="1" noChangeArrowheads="1"/>
          </p:cNvSpPr>
          <p:nvPr>
            <p:ph type="body" sz="half" idx="1"/>
          </p:nvPr>
        </p:nvSpPr>
        <p:spPr>
          <a:xfrm>
            <a:off x="609600" y="1676400"/>
            <a:ext cx="4038600" cy="5486400"/>
          </a:xfrm>
        </p:spPr>
        <p:txBody>
          <a:bodyPr/>
          <a:lstStyle/>
          <a:p>
            <a:r>
              <a:rPr lang="en-US" sz="2800" dirty="0"/>
              <a:t>Division of the nucleus</a:t>
            </a:r>
          </a:p>
          <a:p>
            <a:r>
              <a:rPr lang="en-US" sz="2800" dirty="0"/>
              <a:t>Also called </a:t>
            </a:r>
            <a:r>
              <a:rPr lang="en-US" sz="2800" dirty="0" err="1"/>
              <a:t>karyokinesis</a:t>
            </a:r>
            <a:endParaRPr lang="en-US" sz="2800" dirty="0"/>
          </a:p>
          <a:p>
            <a:r>
              <a:rPr lang="en-US" sz="2800" dirty="0"/>
              <a:t>Only occurs in eukaryotes</a:t>
            </a:r>
          </a:p>
          <a:p>
            <a:r>
              <a:rPr lang="en-US" sz="2800" dirty="0"/>
              <a:t>Has four stages</a:t>
            </a:r>
          </a:p>
          <a:p>
            <a:r>
              <a:rPr lang="en-US" sz="2800" dirty="0"/>
              <a:t>Doesn’t occur in some cells such as brain cells</a:t>
            </a:r>
          </a:p>
        </p:txBody>
      </p:sp>
      <p:sp>
        <p:nvSpPr>
          <p:cNvPr id="31746" name="Slide Number Placeholder 6"/>
          <p:cNvSpPr>
            <a:spLocks noGrp="1"/>
          </p:cNvSpPr>
          <p:nvPr>
            <p:ph type="sldNum" sz="quarter" idx="12"/>
          </p:nvPr>
        </p:nvSpPr>
        <p:spPr/>
        <p:txBody>
          <a:bodyPr>
            <a:normAutofit fontScale="85000" lnSpcReduction="20000"/>
          </a:bodyPr>
          <a:lstStyle/>
          <a:p>
            <a:fld id="{74837FD4-B0E6-427B-93E6-FC89D9229185}" type="slidenum">
              <a:rPr lang="en-US" smtClean="0"/>
              <a:pPr/>
              <a:t>20</a:t>
            </a:fld>
            <a:endParaRPr lang="en-US"/>
          </a:p>
        </p:txBody>
      </p:sp>
      <p:pic>
        <p:nvPicPr>
          <p:cNvPr id="150530" name="Picture 2" descr="http://biologyonline.us/Online%20A&amp;P/AP%201/Northland/AP1lab/Lab%20Online/Lab%202/images/Picture31.jpg"/>
          <p:cNvPicPr>
            <a:picLocks noChangeAspect="1" noChangeArrowheads="1"/>
          </p:cNvPicPr>
          <p:nvPr/>
        </p:nvPicPr>
        <p:blipFill>
          <a:blip r:embed="rId3" cstate="print"/>
          <a:srcRect/>
          <a:stretch>
            <a:fillRect/>
          </a:stretch>
        </p:blipFill>
        <p:spPr bwMode="auto">
          <a:xfrm>
            <a:off x="4495800" y="2895600"/>
            <a:ext cx="4335316" cy="304799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76200" y="381000"/>
            <a:ext cx="9067800" cy="685800"/>
          </a:xfrm>
        </p:spPr>
        <p:txBody>
          <a:bodyPr>
            <a:normAutofit fontScale="90000"/>
          </a:bodyPr>
          <a:lstStyle/>
          <a:p>
            <a:r>
              <a:rPr lang="en-US" dirty="0">
                <a:solidFill>
                  <a:srgbClr val="C00000"/>
                </a:solidFill>
              </a:rPr>
              <a:t>Four Mitotic Stages</a:t>
            </a:r>
          </a:p>
        </p:txBody>
      </p:sp>
      <p:sp>
        <p:nvSpPr>
          <p:cNvPr id="190467" name="Rectangle 3"/>
          <p:cNvSpPr>
            <a:spLocks noGrp="1" noChangeArrowheads="1"/>
          </p:cNvSpPr>
          <p:nvPr>
            <p:ph type="body" sz="half" idx="1"/>
          </p:nvPr>
        </p:nvSpPr>
        <p:spPr>
          <a:xfrm>
            <a:off x="685800" y="2209800"/>
            <a:ext cx="4343400" cy="4343400"/>
          </a:xfrm>
        </p:spPr>
        <p:txBody>
          <a:bodyPr/>
          <a:lstStyle/>
          <a:p>
            <a:r>
              <a:rPr lang="en-US" dirty="0"/>
              <a:t>Prophase</a:t>
            </a:r>
          </a:p>
          <a:p>
            <a:r>
              <a:rPr lang="en-US" dirty="0"/>
              <a:t>Metaphase</a:t>
            </a:r>
          </a:p>
          <a:p>
            <a:r>
              <a:rPr lang="en-US" dirty="0"/>
              <a:t>Anaphase</a:t>
            </a:r>
          </a:p>
          <a:p>
            <a:r>
              <a:rPr lang="en-US" dirty="0" err="1"/>
              <a:t>Telophase</a:t>
            </a:r>
            <a:endParaRPr lang="en-US" dirty="0"/>
          </a:p>
        </p:txBody>
      </p:sp>
      <p:sp>
        <p:nvSpPr>
          <p:cNvPr id="32770" name="Slide Number Placeholder 6"/>
          <p:cNvSpPr>
            <a:spLocks noGrp="1"/>
          </p:cNvSpPr>
          <p:nvPr>
            <p:ph type="sldNum" sz="quarter" idx="12"/>
          </p:nvPr>
        </p:nvSpPr>
        <p:spPr/>
        <p:txBody>
          <a:bodyPr>
            <a:normAutofit fontScale="85000" lnSpcReduction="20000"/>
          </a:bodyPr>
          <a:lstStyle/>
          <a:p>
            <a:fld id="{EA1DFE51-409D-4431-947E-76D85F103EA9}" type="slidenum">
              <a:rPr lang="en-US" smtClean="0"/>
              <a:pPr/>
              <a:t>21</a:t>
            </a:fld>
            <a:endParaRPr lang="en-US"/>
          </a:p>
        </p:txBody>
      </p:sp>
      <p:pic>
        <p:nvPicPr>
          <p:cNvPr id="11" name="Picture 5" descr="38 mitotis phases.jpg"/>
          <p:cNvPicPr>
            <a:picLocks noChangeAspect="1" noChangeArrowheads="1"/>
          </p:cNvPicPr>
          <p:nvPr/>
        </p:nvPicPr>
        <p:blipFill>
          <a:blip r:embed="rId3" cstate="print"/>
          <a:srcRect/>
          <a:stretch>
            <a:fillRect/>
          </a:stretch>
        </p:blipFill>
        <p:spPr bwMode="auto">
          <a:xfrm>
            <a:off x="4038600" y="2209800"/>
            <a:ext cx="4648200" cy="3891945"/>
          </a:xfrm>
          <a:prstGeom prst="rect">
            <a:avLst/>
          </a:prstGeom>
          <a:noFill/>
          <a:ln w="9525">
            <a:noFill/>
            <a:miter lim="800000"/>
            <a:headEnd/>
            <a:tailEnd/>
          </a:ln>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1214" name="Picture 14" descr="http://science-tuition.co.uk/wp-content/uploads/2013/10/2nd-cell.jpg"/>
          <p:cNvPicPr>
            <a:picLocks noChangeAspect="1" noChangeArrowheads="1"/>
          </p:cNvPicPr>
          <p:nvPr/>
        </p:nvPicPr>
        <p:blipFill>
          <a:blip r:embed="rId3" cstate="print"/>
          <a:srcRect/>
          <a:stretch>
            <a:fillRect/>
          </a:stretch>
        </p:blipFill>
        <p:spPr bwMode="auto">
          <a:xfrm>
            <a:off x="4110194" y="2133600"/>
            <a:ext cx="5033806" cy="3581400"/>
          </a:xfrm>
          <a:prstGeom prst="rect">
            <a:avLst/>
          </a:prstGeom>
          <a:noFill/>
        </p:spPr>
      </p:pic>
      <p:sp>
        <p:nvSpPr>
          <p:cNvPr id="165890" name="Rectangle 2"/>
          <p:cNvSpPr>
            <a:spLocks noGrp="1" noChangeArrowheads="1"/>
          </p:cNvSpPr>
          <p:nvPr>
            <p:ph type="title"/>
          </p:nvPr>
        </p:nvSpPr>
        <p:spPr/>
        <p:txBody>
          <a:bodyPr/>
          <a:lstStyle/>
          <a:p>
            <a:r>
              <a:rPr lang="en-US" dirty="0">
                <a:solidFill>
                  <a:srgbClr val="C00000"/>
                </a:solidFill>
              </a:rPr>
              <a:t>Prophase</a:t>
            </a:r>
          </a:p>
        </p:txBody>
      </p:sp>
      <p:sp>
        <p:nvSpPr>
          <p:cNvPr id="19" name="Rectangle 18"/>
          <p:cNvSpPr/>
          <p:nvPr/>
        </p:nvSpPr>
        <p:spPr>
          <a:xfrm>
            <a:off x="457200" y="1564719"/>
            <a:ext cx="4648200" cy="3970318"/>
          </a:xfrm>
          <a:prstGeom prst="rect">
            <a:avLst/>
          </a:prstGeom>
        </p:spPr>
        <p:txBody>
          <a:bodyPr wrap="square">
            <a:spAutoFit/>
          </a:bodyPr>
          <a:lstStyle/>
          <a:p>
            <a:pPr algn="l">
              <a:lnSpc>
                <a:spcPct val="150000"/>
              </a:lnSpc>
              <a:buFont typeface="Wingdings" pitchFamily="2" charset="2"/>
              <a:buChar char="q"/>
            </a:pPr>
            <a:r>
              <a:rPr lang="en-US" b="0" dirty="0">
                <a:solidFill>
                  <a:schemeClr val="tx1"/>
                </a:solidFill>
                <a:cs typeface="Times New Roman" pitchFamily="18" charset="0"/>
              </a:rPr>
              <a:t> Chromatin condenses (coils) into chromosomes.  </a:t>
            </a:r>
          </a:p>
          <a:p>
            <a:pPr algn="l">
              <a:lnSpc>
                <a:spcPct val="150000"/>
              </a:lnSpc>
              <a:buFont typeface="Wingdings" pitchFamily="2" charset="2"/>
              <a:buChar char="q"/>
            </a:pPr>
            <a:r>
              <a:rPr lang="en-US" b="0" dirty="0">
                <a:solidFill>
                  <a:schemeClr val="tx1"/>
                </a:solidFill>
                <a:cs typeface="Times New Roman" pitchFamily="18" charset="0"/>
              </a:rPr>
              <a:t> Sister </a:t>
            </a:r>
            <a:r>
              <a:rPr lang="en-US" b="0" dirty="0" err="1">
                <a:solidFill>
                  <a:schemeClr val="tx1"/>
                </a:solidFill>
                <a:cs typeface="Times New Roman" pitchFamily="18" charset="0"/>
              </a:rPr>
              <a:t>chromatids</a:t>
            </a:r>
            <a:r>
              <a:rPr lang="en-US" b="0" dirty="0">
                <a:solidFill>
                  <a:schemeClr val="tx1"/>
                </a:solidFill>
                <a:cs typeface="Times New Roman" pitchFamily="18" charset="0"/>
              </a:rPr>
              <a:t> joined by </a:t>
            </a:r>
            <a:r>
              <a:rPr lang="en-US" b="0" dirty="0" err="1">
                <a:solidFill>
                  <a:schemeClr val="tx1"/>
                </a:solidFill>
                <a:cs typeface="Times New Roman" pitchFamily="18" charset="0"/>
              </a:rPr>
              <a:t>centromere</a:t>
            </a:r>
            <a:r>
              <a:rPr lang="en-US" b="0" dirty="0">
                <a:solidFill>
                  <a:schemeClr val="tx1"/>
                </a:solidFill>
                <a:cs typeface="Times New Roman" pitchFamily="18" charset="0"/>
              </a:rPr>
              <a:t>.  </a:t>
            </a:r>
          </a:p>
          <a:p>
            <a:pPr algn="l">
              <a:lnSpc>
                <a:spcPct val="150000"/>
              </a:lnSpc>
              <a:buFont typeface="Wingdings" pitchFamily="2" charset="2"/>
              <a:buChar char="q"/>
            </a:pPr>
            <a:r>
              <a:rPr lang="en-US" b="0" dirty="0">
                <a:solidFill>
                  <a:schemeClr val="tx1"/>
                </a:solidFill>
                <a:cs typeface="Times New Roman" pitchFamily="18" charset="0"/>
              </a:rPr>
              <a:t> Nuclear membrane dissolves.</a:t>
            </a:r>
          </a:p>
          <a:p>
            <a:pPr algn="l">
              <a:buFont typeface="Wingdings" pitchFamily="2" charset="2"/>
              <a:buChar char="q"/>
            </a:pPr>
            <a:r>
              <a:rPr lang="en-US" b="0" dirty="0">
                <a:solidFill>
                  <a:schemeClr val="tx1"/>
                </a:solidFill>
                <a:cs typeface="Times New Roman" pitchFamily="18" charset="0"/>
              </a:rPr>
              <a:t> </a:t>
            </a:r>
            <a:r>
              <a:rPr lang="en-US" b="0" dirty="0" err="1">
                <a:solidFill>
                  <a:schemeClr val="tx1"/>
                </a:solidFill>
                <a:cs typeface="Times New Roman" pitchFamily="18" charset="0"/>
              </a:rPr>
              <a:t>Centrioles</a:t>
            </a:r>
            <a:r>
              <a:rPr lang="en-US" b="0" dirty="0">
                <a:solidFill>
                  <a:schemeClr val="tx1"/>
                </a:solidFill>
                <a:cs typeface="Times New Roman" pitchFamily="18" charset="0"/>
              </a:rPr>
              <a:t> divide and move to opposite poles forming </a:t>
            </a:r>
          </a:p>
          <a:p>
            <a:pPr algn="l"/>
            <a:r>
              <a:rPr lang="en-US" b="0" dirty="0">
                <a:solidFill>
                  <a:schemeClr val="tx1"/>
                </a:solidFill>
                <a:cs typeface="Times New Roman" pitchFamily="18" charset="0"/>
              </a:rPr>
              <a:t>   spindle between them.</a:t>
            </a:r>
            <a:endParaRPr lang="en-US" b="0" dirty="0">
              <a:solidFill>
                <a:schemeClr val="tx1"/>
              </a:solidFill>
            </a:endParaRPr>
          </a:p>
        </p:txBody>
      </p:sp>
      <p:sp>
        <p:nvSpPr>
          <p:cNvPr id="51204" name="AutoShape 4" descr="https://s3.amazonaws.com/classconnection/116/flashcards/6483116/jpg/mitosis-prophase-nih-150D0760B0254BB323B.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1206" name="AutoShape 6" descr="https://s3.amazonaws.com/classconnection/116/flashcards/6483116/jpg/mitosis-prophase-nih-150D0760B0254BB323B.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1208" name="AutoShape 8" descr="https://s3.amazonaws.com/classconnection/116/flashcards/6483116/jpg/mitosis-prophase-nih-150D0760B0254BB323B.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1210" name="AutoShape 10" descr="https://s3.amazonaws.com/classconnection/116/flashcards/6483116/jpg/mitosis-prophase-nih-150D0760B0254BB323B.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Metaphase…</a:t>
            </a:r>
          </a:p>
        </p:txBody>
      </p:sp>
      <p:sp>
        <p:nvSpPr>
          <p:cNvPr id="5" name="Slide Number Placeholder 4"/>
          <p:cNvSpPr>
            <a:spLocks noGrp="1"/>
          </p:cNvSpPr>
          <p:nvPr>
            <p:ph type="sldNum" sz="quarter" idx="12"/>
          </p:nvPr>
        </p:nvSpPr>
        <p:spPr/>
        <p:txBody>
          <a:bodyPr>
            <a:normAutofit fontScale="85000" lnSpcReduction="20000"/>
          </a:bodyPr>
          <a:lstStyle/>
          <a:p>
            <a:pPr>
              <a:defRPr/>
            </a:pPr>
            <a:fld id="{17A12585-9F68-4899-931D-CDB0D37D1C92}" type="slidenum">
              <a:rPr lang="en-US" smtClean="0"/>
              <a:pPr>
                <a:defRPr/>
              </a:pPr>
              <a:t>23</a:t>
            </a:fld>
            <a:endParaRPr lang="en-US"/>
          </a:p>
        </p:txBody>
      </p:sp>
      <p:sp>
        <p:nvSpPr>
          <p:cNvPr id="7" name="Text Box 5"/>
          <p:cNvSpPr txBox="1">
            <a:spLocks noChangeArrowheads="1"/>
          </p:cNvSpPr>
          <p:nvPr/>
        </p:nvSpPr>
        <p:spPr bwMode="auto">
          <a:xfrm>
            <a:off x="0" y="1682859"/>
            <a:ext cx="8534400" cy="907941"/>
          </a:xfrm>
          <a:prstGeom prst="rect">
            <a:avLst/>
          </a:prstGeom>
          <a:noFill/>
          <a:ln w="9525">
            <a:noFill/>
            <a:miter lim="800000"/>
            <a:headEnd/>
            <a:tailEnd/>
          </a:ln>
        </p:spPr>
        <p:txBody>
          <a:bodyPr>
            <a:spAutoFit/>
          </a:bodyPr>
          <a:lstStyle/>
          <a:p>
            <a:pPr>
              <a:spcBef>
                <a:spcPts val="600"/>
              </a:spcBef>
              <a:buFont typeface="Wingdings" pitchFamily="2" charset="2"/>
              <a:buChar char="q"/>
            </a:pPr>
            <a:r>
              <a:rPr lang="en-US" b="1" dirty="0">
                <a:solidFill>
                  <a:schemeClr val="tx1"/>
                </a:solidFill>
                <a:cs typeface="Times New Roman" pitchFamily="18" charset="0"/>
              </a:rPr>
              <a:t> Sister </a:t>
            </a:r>
            <a:r>
              <a:rPr lang="en-US" b="1" dirty="0" err="1">
                <a:solidFill>
                  <a:schemeClr val="tx1"/>
                </a:solidFill>
                <a:cs typeface="Times New Roman" pitchFamily="18" charset="0"/>
              </a:rPr>
              <a:t>chromatids</a:t>
            </a:r>
            <a:r>
              <a:rPr lang="en-US" b="1" dirty="0">
                <a:solidFill>
                  <a:schemeClr val="tx1"/>
                </a:solidFill>
                <a:cs typeface="Times New Roman" pitchFamily="18" charset="0"/>
              </a:rPr>
              <a:t> line up on metaphase plate.</a:t>
            </a:r>
            <a:endParaRPr lang="en-US" dirty="0">
              <a:solidFill>
                <a:schemeClr val="tx1"/>
              </a:solidFill>
              <a:cs typeface="Times New Roman" pitchFamily="18" charset="0"/>
            </a:endParaRPr>
          </a:p>
          <a:p>
            <a:pPr>
              <a:spcBef>
                <a:spcPts val="600"/>
              </a:spcBef>
              <a:buFont typeface="Wingdings" pitchFamily="2" charset="2"/>
              <a:buChar char="q"/>
            </a:pPr>
            <a:r>
              <a:rPr lang="en-US" b="1" dirty="0">
                <a:solidFill>
                  <a:schemeClr val="tx1"/>
                </a:solidFill>
                <a:cs typeface="Times New Roman" pitchFamily="18" charset="0"/>
              </a:rPr>
              <a:t> </a:t>
            </a:r>
            <a:r>
              <a:rPr lang="en-US" b="1" dirty="0" err="1">
                <a:solidFill>
                  <a:schemeClr val="tx1"/>
                </a:solidFill>
                <a:cs typeface="Times New Roman" pitchFamily="18" charset="0"/>
              </a:rPr>
              <a:t>Centromeres</a:t>
            </a:r>
            <a:r>
              <a:rPr lang="en-US" b="1" dirty="0">
                <a:solidFill>
                  <a:schemeClr val="tx1"/>
                </a:solidFill>
                <a:cs typeface="Times New Roman" pitchFamily="18" charset="0"/>
              </a:rPr>
              <a:t> lock on to spindle </a:t>
            </a:r>
            <a:r>
              <a:rPr lang="en-US" b="1" dirty="0" err="1">
                <a:solidFill>
                  <a:schemeClr val="tx1"/>
                </a:solidFill>
                <a:cs typeface="Times New Roman" pitchFamily="18" charset="0"/>
              </a:rPr>
              <a:t>fibre</a:t>
            </a:r>
            <a:r>
              <a:rPr lang="en-US" dirty="0">
                <a:solidFill>
                  <a:schemeClr val="tx1"/>
                </a:solidFill>
              </a:rPr>
              <a:t> </a:t>
            </a:r>
          </a:p>
        </p:txBody>
      </p:sp>
      <p:pic>
        <p:nvPicPr>
          <p:cNvPr id="49154" name="Picture 2" descr="Metaphase mitosis"/>
          <p:cNvPicPr>
            <a:picLocks noChangeAspect="1" noChangeArrowheads="1"/>
          </p:cNvPicPr>
          <p:nvPr/>
        </p:nvPicPr>
        <p:blipFill>
          <a:blip r:embed="rId3"/>
          <a:srcRect/>
          <a:stretch>
            <a:fillRect/>
          </a:stretch>
        </p:blipFill>
        <p:spPr bwMode="auto">
          <a:xfrm>
            <a:off x="1905000" y="2971800"/>
            <a:ext cx="5151547" cy="3657600"/>
          </a:xfrm>
          <a:prstGeom prst="rect">
            <a:avLst/>
          </a:prstGeom>
          <a:noFill/>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Anaphase…</a:t>
            </a:r>
          </a:p>
        </p:txBody>
      </p:sp>
      <p:sp>
        <p:nvSpPr>
          <p:cNvPr id="5" name="Slide Number Placeholder 4"/>
          <p:cNvSpPr>
            <a:spLocks noGrp="1"/>
          </p:cNvSpPr>
          <p:nvPr>
            <p:ph type="sldNum" sz="quarter" idx="12"/>
          </p:nvPr>
        </p:nvSpPr>
        <p:spPr/>
        <p:txBody>
          <a:bodyPr>
            <a:normAutofit fontScale="85000" lnSpcReduction="20000"/>
          </a:bodyPr>
          <a:lstStyle/>
          <a:p>
            <a:pPr>
              <a:defRPr/>
            </a:pPr>
            <a:fld id="{17A12585-9F68-4899-931D-CDB0D37D1C92}" type="slidenum">
              <a:rPr lang="en-US" smtClean="0"/>
              <a:pPr>
                <a:defRPr/>
              </a:pPr>
              <a:t>24</a:t>
            </a:fld>
            <a:endParaRPr lang="en-US"/>
          </a:p>
        </p:txBody>
      </p:sp>
      <p:sp>
        <p:nvSpPr>
          <p:cNvPr id="6" name="Text Box 3"/>
          <p:cNvSpPr txBox="1">
            <a:spLocks noChangeArrowheads="1"/>
          </p:cNvSpPr>
          <p:nvPr/>
        </p:nvSpPr>
        <p:spPr bwMode="auto">
          <a:xfrm>
            <a:off x="304800" y="2286000"/>
            <a:ext cx="4267200" cy="457200"/>
          </a:xfrm>
          <a:prstGeom prst="rect">
            <a:avLst/>
          </a:prstGeom>
          <a:noFill/>
          <a:ln w="9525">
            <a:noFill/>
            <a:miter lim="800000"/>
            <a:headEnd/>
            <a:tailEnd/>
          </a:ln>
        </p:spPr>
        <p:txBody>
          <a:bodyPr>
            <a:spAutoFit/>
          </a:bodyPr>
          <a:lstStyle/>
          <a:p>
            <a:pPr>
              <a:spcBef>
                <a:spcPct val="50000"/>
              </a:spcBef>
            </a:pPr>
            <a:endParaRPr lang="en-US"/>
          </a:p>
        </p:txBody>
      </p:sp>
      <p:sp>
        <p:nvSpPr>
          <p:cNvPr id="7" name="Text Box 4"/>
          <p:cNvSpPr txBox="1">
            <a:spLocks noChangeArrowheads="1"/>
          </p:cNvSpPr>
          <p:nvPr/>
        </p:nvSpPr>
        <p:spPr bwMode="auto">
          <a:xfrm>
            <a:off x="457200" y="2438400"/>
            <a:ext cx="4267200" cy="457200"/>
          </a:xfrm>
          <a:prstGeom prst="rect">
            <a:avLst/>
          </a:prstGeom>
          <a:noFill/>
          <a:ln w="9525">
            <a:noFill/>
            <a:miter lim="800000"/>
            <a:headEnd/>
            <a:tailEnd/>
          </a:ln>
        </p:spPr>
        <p:txBody>
          <a:bodyPr>
            <a:spAutoFit/>
          </a:bodyPr>
          <a:lstStyle/>
          <a:p>
            <a:pPr>
              <a:spcBef>
                <a:spcPct val="50000"/>
              </a:spcBef>
            </a:pPr>
            <a:endParaRPr lang="en-US"/>
          </a:p>
        </p:txBody>
      </p:sp>
      <p:sp>
        <p:nvSpPr>
          <p:cNvPr id="8" name="Text Box 5"/>
          <p:cNvSpPr txBox="1">
            <a:spLocks noChangeArrowheads="1"/>
          </p:cNvSpPr>
          <p:nvPr/>
        </p:nvSpPr>
        <p:spPr bwMode="auto">
          <a:xfrm>
            <a:off x="609600" y="2590800"/>
            <a:ext cx="4267200" cy="457200"/>
          </a:xfrm>
          <a:prstGeom prst="rect">
            <a:avLst/>
          </a:prstGeom>
          <a:noFill/>
          <a:ln w="9525">
            <a:noFill/>
            <a:miter lim="800000"/>
            <a:headEnd/>
            <a:tailEnd/>
          </a:ln>
        </p:spPr>
        <p:txBody>
          <a:bodyPr>
            <a:spAutoFit/>
          </a:bodyPr>
          <a:lstStyle/>
          <a:p>
            <a:pPr>
              <a:spcBef>
                <a:spcPct val="50000"/>
              </a:spcBef>
            </a:pPr>
            <a:endParaRPr lang="en-US"/>
          </a:p>
        </p:txBody>
      </p:sp>
      <p:sp>
        <p:nvSpPr>
          <p:cNvPr id="9" name="Rectangle 6"/>
          <p:cNvSpPr>
            <a:spLocks noChangeArrowheads="1"/>
          </p:cNvSpPr>
          <p:nvPr/>
        </p:nvSpPr>
        <p:spPr bwMode="auto">
          <a:xfrm>
            <a:off x="228600" y="1706940"/>
            <a:ext cx="8763000" cy="1569660"/>
          </a:xfrm>
          <a:prstGeom prst="rect">
            <a:avLst/>
          </a:prstGeom>
          <a:noFill/>
          <a:ln w="9525">
            <a:noFill/>
            <a:miter lim="800000"/>
            <a:headEnd/>
            <a:tailEnd/>
          </a:ln>
        </p:spPr>
        <p:txBody>
          <a:bodyPr>
            <a:spAutoFit/>
          </a:bodyPr>
          <a:lstStyle/>
          <a:p>
            <a:pPr algn="l">
              <a:buFont typeface="Wingdings" pitchFamily="2" charset="2"/>
              <a:buChar char="q"/>
            </a:pPr>
            <a:r>
              <a:rPr lang="en-US" b="0" dirty="0">
                <a:solidFill>
                  <a:schemeClr val="tx1"/>
                </a:solidFill>
                <a:cs typeface="Times New Roman" pitchFamily="18" charset="0"/>
              </a:rPr>
              <a:t> </a:t>
            </a:r>
            <a:r>
              <a:rPr lang="en-US" b="0" dirty="0" err="1">
                <a:solidFill>
                  <a:schemeClr val="tx1"/>
                </a:solidFill>
                <a:cs typeface="Times New Roman" pitchFamily="18" charset="0"/>
              </a:rPr>
              <a:t>Centromeres</a:t>
            </a:r>
            <a:r>
              <a:rPr lang="en-US" b="0" dirty="0">
                <a:solidFill>
                  <a:schemeClr val="tx1"/>
                </a:solidFill>
                <a:cs typeface="Times New Roman" pitchFamily="18" charset="0"/>
              </a:rPr>
              <a:t> divide.</a:t>
            </a:r>
          </a:p>
          <a:p>
            <a:pPr algn="l" eaLnBrk="0" hangingPunct="0">
              <a:buFont typeface="Wingdings" pitchFamily="2" charset="2"/>
              <a:buChar char="q"/>
            </a:pPr>
            <a:r>
              <a:rPr lang="en-US" b="0" dirty="0">
                <a:solidFill>
                  <a:schemeClr val="tx1"/>
                </a:solidFill>
                <a:cs typeface="Times New Roman" pitchFamily="18" charset="0"/>
              </a:rPr>
              <a:t> Spindle </a:t>
            </a:r>
            <a:r>
              <a:rPr lang="en-US" b="0" dirty="0" err="1">
                <a:solidFill>
                  <a:schemeClr val="tx1"/>
                </a:solidFill>
                <a:cs typeface="Times New Roman" pitchFamily="18" charset="0"/>
              </a:rPr>
              <a:t>fibres</a:t>
            </a:r>
            <a:r>
              <a:rPr lang="en-US" b="0" dirty="0">
                <a:solidFill>
                  <a:schemeClr val="tx1"/>
                </a:solidFill>
                <a:cs typeface="Times New Roman" pitchFamily="18" charset="0"/>
              </a:rPr>
              <a:t> contract pulling sister </a:t>
            </a:r>
            <a:r>
              <a:rPr lang="en-US" b="0" dirty="0" err="1">
                <a:solidFill>
                  <a:schemeClr val="tx1"/>
                </a:solidFill>
                <a:cs typeface="Times New Roman" pitchFamily="18" charset="0"/>
              </a:rPr>
              <a:t>chromatids</a:t>
            </a:r>
            <a:r>
              <a:rPr lang="en-US" b="0" dirty="0">
                <a:solidFill>
                  <a:schemeClr val="tx1"/>
                </a:solidFill>
                <a:cs typeface="Times New Roman" pitchFamily="18" charset="0"/>
              </a:rPr>
              <a:t> apart to poles</a:t>
            </a:r>
          </a:p>
          <a:p>
            <a:pPr algn="l" eaLnBrk="0" hangingPunct="0"/>
            <a:endParaRPr lang="en-US" b="0" dirty="0">
              <a:solidFill>
                <a:schemeClr val="tx1"/>
              </a:solidFill>
            </a:endParaRPr>
          </a:p>
        </p:txBody>
      </p:sp>
      <p:pic>
        <p:nvPicPr>
          <p:cNvPr id="47106" name="Picture 2" descr="Anaphase of mitosis"/>
          <p:cNvPicPr>
            <a:picLocks noChangeAspect="1" noChangeArrowheads="1"/>
          </p:cNvPicPr>
          <p:nvPr/>
        </p:nvPicPr>
        <p:blipFill>
          <a:blip r:embed="rId3"/>
          <a:srcRect/>
          <a:stretch>
            <a:fillRect/>
          </a:stretch>
        </p:blipFill>
        <p:spPr bwMode="auto">
          <a:xfrm>
            <a:off x="1676400" y="3374388"/>
            <a:ext cx="4953000" cy="3483612"/>
          </a:xfrm>
          <a:prstGeom prst="rect">
            <a:avLst/>
          </a:prstGeom>
          <a:noFill/>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C00000"/>
                </a:solidFill>
              </a:rPr>
              <a:t>Telophase</a:t>
            </a:r>
            <a:r>
              <a:rPr lang="en-US" dirty="0">
                <a:solidFill>
                  <a:srgbClr val="C00000"/>
                </a:solidFill>
              </a:rPr>
              <a:t>…</a:t>
            </a:r>
          </a:p>
        </p:txBody>
      </p:sp>
      <p:sp>
        <p:nvSpPr>
          <p:cNvPr id="5" name="Slide Number Placeholder 4"/>
          <p:cNvSpPr>
            <a:spLocks noGrp="1"/>
          </p:cNvSpPr>
          <p:nvPr>
            <p:ph type="sldNum" sz="quarter" idx="12"/>
          </p:nvPr>
        </p:nvSpPr>
        <p:spPr/>
        <p:txBody>
          <a:bodyPr>
            <a:normAutofit fontScale="85000" lnSpcReduction="20000"/>
          </a:bodyPr>
          <a:lstStyle/>
          <a:p>
            <a:pPr>
              <a:defRPr/>
            </a:pPr>
            <a:fld id="{17A12585-9F68-4899-931D-CDB0D37D1C92}" type="slidenum">
              <a:rPr lang="en-US" smtClean="0"/>
              <a:pPr>
                <a:defRPr/>
              </a:pPr>
              <a:t>25</a:t>
            </a:fld>
            <a:endParaRPr lang="en-US"/>
          </a:p>
        </p:txBody>
      </p:sp>
      <p:sp>
        <p:nvSpPr>
          <p:cNvPr id="6" name="Rectangle 2"/>
          <p:cNvSpPr txBox="1">
            <a:spLocks noChangeArrowheads="1"/>
          </p:cNvSpPr>
          <p:nvPr/>
        </p:nvSpPr>
        <p:spPr bwMode="auto">
          <a:xfrm>
            <a:off x="609600" y="1600200"/>
            <a:ext cx="46482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q"/>
              <a:tabLst/>
              <a:defRPr/>
            </a:pPr>
            <a:r>
              <a:rPr kumimoji="0" lang="en-US" b="0" i="0" u="none" strike="noStrike" kern="0" cap="none" spc="0" normalizeH="0" baseline="0" noProof="0" dirty="0">
                <a:ln>
                  <a:noFill/>
                </a:ln>
                <a:solidFill>
                  <a:schemeClr val="tx1"/>
                </a:solidFill>
                <a:effectLst/>
                <a:uLnTx/>
                <a:uFillTx/>
                <a:ea typeface="+mj-ea"/>
                <a:cs typeface="Times New Roman" pitchFamily="18" charset="0"/>
              </a:rPr>
              <a:t> New nuclear membranes form around new nuclei</a:t>
            </a:r>
          </a:p>
        </p:txBody>
      </p:sp>
      <p:pic>
        <p:nvPicPr>
          <p:cNvPr id="45058" name="Picture 2" descr="cell 5"/>
          <p:cNvPicPr>
            <a:picLocks noChangeAspect="1" noChangeArrowheads="1"/>
          </p:cNvPicPr>
          <p:nvPr/>
        </p:nvPicPr>
        <p:blipFill>
          <a:blip r:embed="rId3"/>
          <a:srcRect/>
          <a:stretch>
            <a:fillRect/>
          </a:stretch>
        </p:blipFill>
        <p:spPr bwMode="auto">
          <a:xfrm>
            <a:off x="4953000" y="1707201"/>
            <a:ext cx="4191000" cy="5150799"/>
          </a:xfrm>
          <a:prstGeom prst="rect">
            <a:avLst/>
          </a:prstGeom>
          <a:noFill/>
        </p:spPr>
      </p:pic>
      <p:pic>
        <p:nvPicPr>
          <p:cNvPr id="45060" name="Picture 4" descr="http://img.sparknotes.com/figures/D/d756b5b73abe2974f3521a828791899f/cytokinesis.gif"/>
          <p:cNvPicPr>
            <a:picLocks noChangeAspect="1" noChangeArrowheads="1"/>
          </p:cNvPicPr>
          <p:nvPr/>
        </p:nvPicPr>
        <p:blipFill>
          <a:blip r:embed="rId4"/>
          <a:srcRect/>
          <a:stretch>
            <a:fillRect/>
          </a:stretch>
        </p:blipFill>
        <p:spPr bwMode="auto">
          <a:xfrm>
            <a:off x="838200" y="2667000"/>
            <a:ext cx="3705225" cy="3800476"/>
          </a:xfrm>
          <a:prstGeom prst="rect">
            <a:avLst/>
          </a:prstGeom>
          <a:noFill/>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pPr lvl="0"/>
            <a:r>
              <a:rPr lang="en-US" dirty="0">
                <a:solidFill>
                  <a:srgbClr val="C00000"/>
                </a:solidFill>
              </a:rPr>
              <a:t>Mitosis</a:t>
            </a:r>
          </a:p>
        </p:txBody>
      </p:sp>
      <p:sp>
        <p:nvSpPr>
          <p:cNvPr id="5" name="Slide Number Placeholder 4"/>
          <p:cNvSpPr>
            <a:spLocks noGrp="1"/>
          </p:cNvSpPr>
          <p:nvPr>
            <p:ph type="sldNum" sz="quarter" idx="12"/>
          </p:nvPr>
        </p:nvSpPr>
        <p:spPr/>
        <p:txBody>
          <a:bodyPr>
            <a:normAutofit fontScale="85000" lnSpcReduction="20000"/>
          </a:bodyPr>
          <a:lstStyle/>
          <a:p>
            <a:pPr>
              <a:defRPr/>
            </a:pPr>
            <a:fld id="{17A12585-9F68-4899-931D-CDB0D37D1C92}" type="slidenum">
              <a:rPr lang="en-US" smtClean="0"/>
              <a:pPr>
                <a:defRPr/>
              </a:pPr>
              <a:t>26</a:t>
            </a:fld>
            <a:endParaRPr lang="en-US"/>
          </a:p>
        </p:txBody>
      </p:sp>
      <p:sp>
        <p:nvSpPr>
          <p:cNvPr id="10" name="Title 4"/>
          <p:cNvSpPr txBox="1">
            <a:spLocks/>
          </p:cNvSpPr>
          <p:nvPr/>
        </p:nvSpPr>
        <p:spPr bwMode="auto">
          <a:xfrm>
            <a:off x="457200" y="273050"/>
            <a:ext cx="3008313" cy="11620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4400" b="0" i="0" u="none" strike="noStrike" kern="0" cap="none" spc="0" normalizeH="0" baseline="0" noProof="0" dirty="0">
              <a:ln>
                <a:noFill/>
              </a:ln>
              <a:solidFill>
                <a:schemeClr val="bg1"/>
              </a:solidFill>
              <a:effectLst/>
              <a:uLnTx/>
              <a:uFillTx/>
              <a:latin typeface="+mj-lt"/>
              <a:ea typeface="+mj-ea"/>
              <a:cs typeface="+mj-cs"/>
            </a:endParaRPr>
          </a:p>
        </p:txBody>
      </p:sp>
      <p:sp>
        <p:nvSpPr>
          <p:cNvPr id="11" name="Text Placeholder 6"/>
          <p:cNvSpPr txBox="1">
            <a:spLocks/>
          </p:cNvSpPr>
          <p:nvPr/>
        </p:nvSpPr>
        <p:spPr>
          <a:xfrm>
            <a:off x="192087" y="1709737"/>
            <a:ext cx="3008313" cy="4691063"/>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Tx/>
              <a:buSzTx/>
              <a:buFontTx/>
              <a:buAutoNum type="arabicPeriod"/>
              <a:tabLst/>
              <a:defRPr/>
            </a:pPr>
            <a:r>
              <a:rPr kumimoji="0" lang="en-US" sz="3200" b="0" i="0" u="none" strike="noStrike" kern="0" cap="none" spc="0" normalizeH="0" baseline="0" noProof="0" dirty="0">
                <a:ln>
                  <a:noFill/>
                </a:ln>
                <a:solidFill>
                  <a:schemeClr val="tx1"/>
                </a:solidFill>
                <a:effectLst/>
                <a:uLnTx/>
                <a:uFillTx/>
                <a:latin typeface="+mn-lt"/>
                <a:ea typeface="+mn-ea"/>
                <a:cs typeface="+mn-cs"/>
              </a:rPr>
              <a:t>Prophase </a:t>
            </a:r>
          </a:p>
          <a:p>
            <a:pPr marL="342900" marR="0" lvl="0" indent="-342900" algn="l" defTabSz="914400" rtl="0" eaLnBrk="0" fontAlgn="base" latinLnBrk="0" hangingPunct="0">
              <a:lnSpc>
                <a:spcPct val="100000"/>
              </a:lnSpc>
              <a:spcBef>
                <a:spcPct val="20000"/>
              </a:spcBef>
              <a:spcAft>
                <a:spcPct val="0"/>
              </a:spcAft>
              <a:buClrTx/>
              <a:buSzTx/>
              <a:buFontTx/>
              <a:buAutoNum type="arabicPeriod"/>
              <a:tabLst/>
              <a:defRPr/>
            </a:pPr>
            <a:r>
              <a:rPr kumimoji="0" lang="en-US" sz="3200" b="0" i="0" u="none" strike="noStrike" kern="0" cap="none" spc="0" normalizeH="0" baseline="0" noProof="0" dirty="0">
                <a:ln>
                  <a:noFill/>
                </a:ln>
                <a:solidFill>
                  <a:schemeClr val="tx1"/>
                </a:solidFill>
                <a:effectLst/>
                <a:uLnTx/>
                <a:uFillTx/>
                <a:latin typeface="+mn-lt"/>
                <a:ea typeface="+mn-ea"/>
                <a:cs typeface="+mn-cs"/>
              </a:rPr>
              <a:t>Metaphase</a:t>
            </a:r>
          </a:p>
          <a:p>
            <a:pPr marL="342900" marR="0" lvl="0" indent="-342900" algn="l" defTabSz="914400" rtl="0" eaLnBrk="0" fontAlgn="base" latinLnBrk="0" hangingPunct="0">
              <a:lnSpc>
                <a:spcPct val="100000"/>
              </a:lnSpc>
              <a:spcBef>
                <a:spcPct val="20000"/>
              </a:spcBef>
              <a:spcAft>
                <a:spcPct val="0"/>
              </a:spcAft>
              <a:buClrTx/>
              <a:buSzTx/>
              <a:buFontTx/>
              <a:buAutoNum type="arabicPeriod"/>
              <a:tabLst/>
              <a:defRPr/>
            </a:pPr>
            <a:r>
              <a:rPr kumimoji="0" lang="en-US" sz="3200" b="0" i="0" u="none" strike="noStrike" kern="0" cap="none" spc="0" normalizeH="0" baseline="0" noProof="0" dirty="0">
                <a:ln>
                  <a:noFill/>
                </a:ln>
                <a:solidFill>
                  <a:schemeClr val="tx1"/>
                </a:solidFill>
                <a:effectLst/>
                <a:uLnTx/>
                <a:uFillTx/>
                <a:latin typeface="+mn-lt"/>
                <a:ea typeface="+mn-ea"/>
                <a:cs typeface="+mn-cs"/>
              </a:rPr>
              <a:t>Anaphase</a:t>
            </a:r>
          </a:p>
          <a:p>
            <a:pPr marL="342900" marR="0" lvl="0" indent="-342900" algn="l" defTabSz="914400" rtl="0" eaLnBrk="0" fontAlgn="base" latinLnBrk="0" hangingPunct="0">
              <a:lnSpc>
                <a:spcPct val="100000"/>
              </a:lnSpc>
              <a:spcBef>
                <a:spcPct val="20000"/>
              </a:spcBef>
              <a:spcAft>
                <a:spcPct val="0"/>
              </a:spcAft>
              <a:buClrTx/>
              <a:buSzTx/>
              <a:buFontTx/>
              <a:buAutoNum type="arabicPeriod"/>
              <a:tabLst/>
              <a:defRPr/>
            </a:pPr>
            <a:r>
              <a:rPr kumimoji="0" lang="en-US" sz="3200" b="0" i="0" u="none" strike="noStrike" kern="0" cap="none" spc="0" normalizeH="0" baseline="0" noProof="0" dirty="0">
                <a:ln>
                  <a:noFill/>
                </a:ln>
                <a:solidFill>
                  <a:schemeClr val="tx1"/>
                </a:solidFill>
                <a:effectLst/>
                <a:uLnTx/>
                <a:uFillTx/>
                <a:latin typeface="+mn-lt"/>
                <a:ea typeface="+mn-ea"/>
                <a:cs typeface="+mn-cs"/>
              </a:rPr>
              <a:t>Telophase</a:t>
            </a:r>
          </a:p>
        </p:txBody>
      </p:sp>
      <p:pic>
        <p:nvPicPr>
          <p:cNvPr id="12" name="02 Mitosis.mpg">
            <a:hlinkClick r:id="" action="ppaction://media"/>
          </p:cNvPr>
          <p:cNvPicPr>
            <a:picLocks noRot="1" noChangeAspect="1"/>
          </p:cNvPicPr>
          <p:nvPr>
            <a:videoFile r:link="rId1"/>
          </p:nvPr>
        </p:nvPicPr>
        <p:blipFill>
          <a:blip r:embed="rId4" cstate="print"/>
          <a:stretch>
            <a:fillRect/>
          </a:stretch>
        </p:blipFill>
        <p:spPr>
          <a:xfrm>
            <a:off x="3048000" y="1981200"/>
            <a:ext cx="6096000" cy="4572000"/>
          </a:xfrm>
          <a:prstGeom prst="rect">
            <a:avLst/>
          </a:prstGeom>
        </p:spPr>
      </p:pic>
      <p:sp>
        <p:nvSpPr>
          <p:cNvPr id="13" name="Title 4"/>
          <p:cNvSpPr txBox="1">
            <a:spLocks/>
          </p:cNvSpPr>
          <p:nvPr/>
        </p:nvSpPr>
        <p:spPr bwMode="auto">
          <a:xfrm>
            <a:off x="6324600" y="304800"/>
            <a:ext cx="2514600" cy="838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effectLst/>
                <a:uLnTx/>
                <a:uFillTx/>
                <a:latin typeface="+mj-lt"/>
                <a:ea typeface="+mj-ea"/>
                <a:cs typeface="+mj-cs"/>
              </a:rPr>
              <a:t>Mitosis</a:t>
            </a:r>
          </a:p>
        </p:txBody>
      </p:sp>
    </p:spTree>
  </p:cSld>
  <p:clrMapOvr>
    <a:masterClrMapping/>
  </p:clrMapOvr>
  <p:transition/>
  <p:timing>
    <p:tnLst>
      <p:par>
        <p:cTn id="1" dur="indefinite" restart="never" nodeType="tmRoot">
          <p:childTnLst>
            <p:video>
              <p:cMediaNode>
                <p:cTn id="2" fill="hold" display="0">
                  <p:stCondLst>
                    <p:cond delay="indefinite"/>
                  </p:stCondLst>
                  <p:endCondLst>
                    <p:cond evt="onNext" delay="0">
                      <p:tgtEl>
                        <p:sldTgt/>
                      </p:tgtEl>
                    </p:cond>
                    <p:cond evt="onPrev" delay="0">
                      <p:tgtEl>
                        <p:sldTgt/>
                      </p:tgtEl>
                    </p:cond>
                  </p:endCondLst>
                </p:cTn>
                <p:tgtEl>
                  <p:spTgt spid="12"/>
                </p:tgtEl>
              </p:cMediaNode>
            </p:vide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u="sng" dirty="0">
                <a:solidFill>
                  <a:srgbClr val="C00000"/>
                </a:solidFill>
              </a:rPr>
              <a:t>CYTO</a:t>
            </a:r>
            <a:r>
              <a:rPr lang="en-US" sz="3600" dirty="0">
                <a:solidFill>
                  <a:srgbClr val="C00000"/>
                </a:solidFill>
              </a:rPr>
              <a:t> </a:t>
            </a:r>
            <a:r>
              <a:rPr lang="en-US" sz="3600" u="sng" dirty="0">
                <a:solidFill>
                  <a:srgbClr val="C00000"/>
                </a:solidFill>
              </a:rPr>
              <a:t>KINESIS</a:t>
            </a:r>
            <a:r>
              <a:rPr lang="en-US" sz="3600" dirty="0">
                <a:solidFill>
                  <a:srgbClr val="C00000"/>
                </a:solidFill>
              </a:rPr>
              <a:t> – </a:t>
            </a:r>
            <a:r>
              <a:rPr lang="en-US" sz="3600" dirty="0">
                <a:solidFill>
                  <a:srgbClr val="C00000"/>
                </a:solidFill>
                <a:hlinkClick r:id="rId3"/>
              </a:rPr>
              <a:t>Cytoplasm splits </a:t>
            </a:r>
            <a:r>
              <a:rPr lang="en-US" sz="3600" dirty="0">
                <a:solidFill>
                  <a:srgbClr val="C00000"/>
                </a:solidFill>
              </a:rPr>
              <a:t>into 2 cells.</a:t>
            </a:r>
          </a:p>
        </p:txBody>
      </p:sp>
      <p:sp>
        <p:nvSpPr>
          <p:cNvPr id="4" name="Slide Number Placeholder 3"/>
          <p:cNvSpPr>
            <a:spLocks noGrp="1"/>
          </p:cNvSpPr>
          <p:nvPr>
            <p:ph type="sldNum" sz="quarter" idx="12"/>
          </p:nvPr>
        </p:nvSpPr>
        <p:spPr/>
        <p:txBody>
          <a:bodyPr>
            <a:normAutofit fontScale="85000" lnSpcReduction="20000"/>
          </a:bodyPr>
          <a:lstStyle/>
          <a:p>
            <a:pPr>
              <a:defRPr/>
            </a:pPr>
            <a:fld id="{2BC81D3F-60A0-40C6-B544-D0AC20A5361E}" type="slidenum">
              <a:rPr lang="en-US" smtClean="0"/>
              <a:pPr>
                <a:defRPr/>
              </a:pPr>
              <a:t>27</a:t>
            </a:fld>
            <a:endParaRPr lang="en-US"/>
          </a:p>
        </p:txBody>
      </p:sp>
      <p:sp>
        <p:nvSpPr>
          <p:cNvPr id="5" name="Rectangle 2"/>
          <p:cNvSpPr txBox="1">
            <a:spLocks noChangeArrowheads="1"/>
          </p:cNvSpPr>
          <p:nvPr/>
        </p:nvSpPr>
        <p:spPr bwMode="auto">
          <a:xfrm>
            <a:off x="0" y="0"/>
            <a:ext cx="9144000" cy="1295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0" cap="none" spc="0" normalizeH="0" baseline="0" noProof="0" dirty="0">
              <a:ln>
                <a:noFill/>
              </a:ln>
              <a:solidFill>
                <a:srgbClr val="66FF66"/>
              </a:solidFill>
              <a:effectLst/>
              <a:uLnTx/>
              <a:uFillTx/>
              <a:latin typeface="+mj-lt"/>
              <a:ea typeface="+mj-ea"/>
              <a:cs typeface="+mj-cs"/>
            </a:endParaRPr>
          </a:p>
        </p:txBody>
      </p:sp>
      <p:sp>
        <p:nvSpPr>
          <p:cNvPr id="6" name="Text Box 3"/>
          <p:cNvSpPr txBox="1">
            <a:spLocks noChangeArrowheads="1"/>
          </p:cNvSpPr>
          <p:nvPr/>
        </p:nvSpPr>
        <p:spPr bwMode="auto">
          <a:xfrm>
            <a:off x="0" y="1721346"/>
            <a:ext cx="9144000" cy="3231654"/>
          </a:xfrm>
          <a:prstGeom prst="rect">
            <a:avLst/>
          </a:prstGeom>
          <a:noFill/>
          <a:ln w="9525">
            <a:noFill/>
            <a:miter lim="800000"/>
            <a:headEnd/>
            <a:tailEnd/>
          </a:ln>
        </p:spPr>
        <p:txBody>
          <a:bodyPr>
            <a:spAutoFit/>
          </a:bodyPr>
          <a:lstStyle/>
          <a:p>
            <a:pPr>
              <a:spcBef>
                <a:spcPct val="50000"/>
              </a:spcBef>
            </a:pPr>
            <a:r>
              <a:rPr lang="en-US" b="0" dirty="0">
                <a:solidFill>
                  <a:schemeClr val="tx1"/>
                </a:solidFill>
                <a:cs typeface="Times New Roman" pitchFamily="18" charset="0"/>
              </a:rPr>
              <a:t>-Animal cells:  </a:t>
            </a:r>
            <a:r>
              <a:rPr lang="en-US" b="0" i="1" dirty="0">
                <a:solidFill>
                  <a:schemeClr val="tx1"/>
                </a:solidFill>
                <a:cs typeface="Times New Roman" pitchFamily="18" charset="0"/>
              </a:rPr>
              <a:t>Cleavage furrow</a:t>
            </a:r>
            <a:r>
              <a:rPr lang="en-US" b="0" dirty="0">
                <a:solidFill>
                  <a:schemeClr val="tx1"/>
                </a:solidFill>
                <a:cs typeface="Times New Roman" pitchFamily="18" charset="0"/>
              </a:rPr>
              <a:t> forms from outside in.</a:t>
            </a:r>
          </a:p>
          <a:p>
            <a:pPr>
              <a:spcBef>
                <a:spcPct val="50000"/>
              </a:spcBef>
            </a:pPr>
            <a:endParaRPr lang="en-US" b="0" dirty="0">
              <a:solidFill>
                <a:schemeClr val="tx1"/>
              </a:solidFill>
              <a:cs typeface="Times New Roman" pitchFamily="18" charset="0"/>
            </a:endParaRPr>
          </a:p>
          <a:p>
            <a:pPr>
              <a:spcBef>
                <a:spcPct val="50000"/>
              </a:spcBef>
            </a:pPr>
            <a:r>
              <a:rPr lang="en-US" b="0" dirty="0">
                <a:solidFill>
                  <a:schemeClr val="tx1"/>
                </a:solidFill>
                <a:cs typeface="Times New Roman" pitchFamily="18" charset="0"/>
              </a:rPr>
              <a:t>-</a:t>
            </a:r>
          </a:p>
          <a:p>
            <a:pPr>
              <a:spcBef>
                <a:spcPct val="50000"/>
              </a:spcBef>
            </a:pPr>
            <a:endParaRPr lang="en-US" b="0" dirty="0">
              <a:solidFill>
                <a:schemeClr val="tx1"/>
              </a:solidFill>
              <a:cs typeface="Times New Roman" pitchFamily="18" charset="0"/>
            </a:endParaRPr>
          </a:p>
          <a:p>
            <a:pPr>
              <a:spcBef>
                <a:spcPct val="50000"/>
              </a:spcBef>
            </a:pPr>
            <a:endParaRPr lang="en-US" b="0" dirty="0">
              <a:solidFill>
                <a:schemeClr val="tx1"/>
              </a:solidFill>
              <a:cs typeface="Times New Roman" pitchFamily="18" charset="0"/>
            </a:endParaRPr>
          </a:p>
          <a:p>
            <a:pPr>
              <a:spcBef>
                <a:spcPct val="50000"/>
              </a:spcBef>
            </a:pPr>
            <a:r>
              <a:rPr lang="en-US" b="0" dirty="0">
                <a:solidFill>
                  <a:schemeClr val="tx1"/>
                </a:solidFill>
                <a:cs typeface="Times New Roman" pitchFamily="18" charset="0"/>
              </a:rPr>
              <a:t> </a:t>
            </a:r>
          </a:p>
        </p:txBody>
      </p:sp>
      <p:sp>
        <p:nvSpPr>
          <p:cNvPr id="7" name="Rectangle 5"/>
          <p:cNvSpPr>
            <a:spLocks noChangeArrowheads="1"/>
          </p:cNvSpPr>
          <p:nvPr/>
        </p:nvSpPr>
        <p:spPr bwMode="auto">
          <a:xfrm>
            <a:off x="2143125" y="2886075"/>
            <a:ext cx="9144000" cy="461665"/>
          </a:xfrm>
          <a:prstGeom prst="rect">
            <a:avLst/>
          </a:prstGeom>
          <a:noFill/>
          <a:ln w="9525">
            <a:noFill/>
            <a:miter lim="800000"/>
            <a:headEnd/>
            <a:tailEnd/>
          </a:ln>
        </p:spPr>
        <p:txBody>
          <a:bodyPr>
            <a:spAutoFit/>
          </a:bodyPr>
          <a:lstStyle/>
          <a:p>
            <a:endParaRPr lang="en-US" b="0"/>
          </a:p>
        </p:txBody>
      </p:sp>
      <p:pic>
        <p:nvPicPr>
          <p:cNvPr id="8" name="Picture 4" descr="http://www.thomsonlearning.com.au/biology/guide/unit_4/images4/fig_11.8.gif"/>
          <p:cNvPicPr>
            <a:picLocks noChangeAspect="1" noChangeArrowheads="1"/>
          </p:cNvPicPr>
          <p:nvPr/>
        </p:nvPicPr>
        <p:blipFill>
          <a:blip r:embed="rId4" r:link="rId5" cstate="print"/>
          <a:srcRect/>
          <a:stretch>
            <a:fillRect/>
          </a:stretch>
        </p:blipFill>
        <p:spPr bwMode="auto">
          <a:xfrm>
            <a:off x="2514600" y="2743200"/>
            <a:ext cx="4857750" cy="1752600"/>
          </a:xfrm>
          <a:prstGeom prst="rect">
            <a:avLst/>
          </a:prstGeom>
          <a:noFill/>
          <a:ln w="9525">
            <a:noFill/>
            <a:miter lim="800000"/>
            <a:headEnd/>
            <a:tailEnd/>
          </a:ln>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fontScale="85000" lnSpcReduction="20000"/>
          </a:bodyPr>
          <a:lstStyle/>
          <a:p>
            <a:pPr>
              <a:defRPr/>
            </a:pPr>
            <a:fld id="{2BC81D3F-60A0-40C6-B544-D0AC20A5361E}" type="slidenum">
              <a:rPr lang="en-US" smtClean="0"/>
              <a:pPr>
                <a:defRPr/>
              </a:pPr>
              <a:t>28</a:t>
            </a:fld>
            <a:endParaRPr lang="en-US"/>
          </a:p>
        </p:txBody>
      </p:sp>
      <p:sp>
        <p:nvSpPr>
          <p:cNvPr id="5" name="Text Box 2"/>
          <p:cNvSpPr txBox="1">
            <a:spLocks noChangeArrowheads="1"/>
          </p:cNvSpPr>
          <p:nvPr/>
        </p:nvSpPr>
        <p:spPr bwMode="auto">
          <a:xfrm>
            <a:off x="457200" y="990600"/>
            <a:ext cx="9144000" cy="2123658"/>
          </a:xfrm>
          <a:prstGeom prst="rect">
            <a:avLst/>
          </a:prstGeom>
          <a:noFill/>
          <a:ln w="9525">
            <a:noFill/>
            <a:miter lim="800000"/>
            <a:headEnd/>
            <a:tailEnd/>
          </a:ln>
        </p:spPr>
        <p:txBody>
          <a:bodyPr>
            <a:spAutoFit/>
          </a:bodyPr>
          <a:lstStyle/>
          <a:p>
            <a:pPr>
              <a:spcBef>
                <a:spcPct val="50000"/>
              </a:spcBef>
            </a:pPr>
            <a:endParaRPr lang="en-US" b="1" i="1" dirty="0">
              <a:solidFill>
                <a:schemeClr val="tx1"/>
              </a:solidFill>
            </a:endParaRPr>
          </a:p>
          <a:p>
            <a:pPr algn="l">
              <a:spcBef>
                <a:spcPct val="50000"/>
              </a:spcBef>
            </a:pPr>
            <a:r>
              <a:rPr lang="en-US" b="1" i="1" dirty="0">
                <a:solidFill>
                  <a:schemeClr val="tx1"/>
                </a:solidFill>
              </a:rPr>
              <a:t>Cell now returns to interphase .  </a:t>
            </a:r>
          </a:p>
          <a:p>
            <a:pPr algn="l">
              <a:spcBef>
                <a:spcPct val="50000"/>
              </a:spcBef>
            </a:pPr>
            <a:r>
              <a:rPr lang="en-US" b="1" i="1" dirty="0">
                <a:solidFill>
                  <a:schemeClr val="tx1"/>
                </a:solidFill>
              </a:rPr>
              <a:t>The chromosomes uncoil back into chromatin. </a:t>
            </a:r>
          </a:p>
          <a:p>
            <a:pPr algn="l">
              <a:spcBef>
                <a:spcPct val="50000"/>
              </a:spcBef>
            </a:pPr>
            <a:r>
              <a:rPr lang="en-US" b="1" i="1" dirty="0">
                <a:solidFill>
                  <a:schemeClr val="tx1"/>
                </a:solidFill>
              </a:rPr>
              <a:t>The whole cell cycle starts over again…..</a:t>
            </a:r>
          </a:p>
        </p:txBody>
      </p:sp>
      <p:pic>
        <p:nvPicPr>
          <p:cNvPr id="6" name="Picture 3" descr="http://www.mhhe.com/biosci/genbio/vrl/images/0145l.jpg"/>
          <p:cNvPicPr>
            <a:picLocks noChangeAspect="1" noChangeArrowheads="1"/>
          </p:cNvPicPr>
          <p:nvPr/>
        </p:nvPicPr>
        <p:blipFill>
          <a:blip r:embed="rId3" r:link="rId4" cstate="print"/>
          <a:srcRect/>
          <a:stretch>
            <a:fillRect/>
          </a:stretch>
        </p:blipFill>
        <p:spPr bwMode="auto">
          <a:xfrm>
            <a:off x="1981200" y="3429000"/>
            <a:ext cx="4549775" cy="3215547"/>
          </a:xfrm>
          <a:prstGeom prst="rect">
            <a:avLst/>
          </a:prstGeom>
          <a:noFill/>
          <a:ln w="9525">
            <a:noFill/>
            <a:miter lim="800000"/>
            <a:headEnd/>
            <a:tailEnd/>
          </a:ln>
        </p:spPr>
      </p:pic>
      <p:sp>
        <p:nvSpPr>
          <p:cNvPr id="7" name="Text Box 4"/>
          <p:cNvSpPr txBox="1">
            <a:spLocks noChangeArrowheads="1"/>
          </p:cNvSpPr>
          <p:nvPr/>
        </p:nvSpPr>
        <p:spPr bwMode="auto">
          <a:xfrm>
            <a:off x="6019800" y="3810000"/>
            <a:ext cx="2819400" cy="457200"/>
          </a:xfrm>
          <a:prstGeom prst="rect">
            <a:avLst/>
          </a:prstGeom>
          <a:noFill/>
          <a:ln w="9525">
            <a:noFill/>
            <a:miter lim="800000"/>
            <a:headEnd/>
            <a:tailEnd/>
          </a:ln>
        </p:spPr>
        <p:txBody>
          <a:bodyPr>
            <a:spAutoFit/>
          </a:bodyPr>
          <a:lstStyle/>
          <a:p>
            <a:pPr>
              <a:spcBef>
                <a:spcPct val="50000"/>
              </a:spcBef>
            </a:pPr>
            <a:endParaRPr lang="en-US"/>
          </a:p>
        </p:txBody>
      </p:sp>
      <p:sp>
        <p:nvSpPr>
          <p:cNvPr id="8" name="Title 1"/>
          <p:cNvSpPr>
            <a:spLocks noGrp="1"/>
          </p:cNvSpPr>
          <p:nvPr>
            <p:ph type="title"/>
          </p:nvPr>
        </p:nvSpPr>
        <p:spPr>
          <a:xfrm>
            <a:off x="612648" y="228600"/>
            <a:ext cx="8153400" cy="990600"/>
          </a:xfrm>
        </p:spPr>
        <p:txBody>
          <a:bodyPr/>
          <a:lstStyle/>
          <a:p>
            <a:r>
              <a:rPr lang="en-US" dirty="0">
                <a:solidFill>
                  <a:srgbClr val="C00000"/>
                </a:solidFill>
              </a:rPr>
              <a:t>Cell cycle</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r>
              <a:rPr lang="en-US" dirty="0">
                <a:solidFill>
                  <a:srgbClr val="C00000"/>
                </a:solidFill>
              </a:rPr>
              <a:t>Daughter Cells of Mitosis</a:t>
            </a:r>
          </a:p>
        </p:txBody>
      </p:sp>
      <p:sp>
        <p:nvSpPr>
          <p:cNvPr id="53250" name="Slide Number Placeholder 5"/>
          <p:cNvSpPr>
            <a:spLocks noGrp="1"/>
          </p:cNvSpPr>
          <p:nvPr>
            <p:ph type="sldNum" sz="quarter" idx="12"/>
          </p:nvPr>
        </p:nvSpPr>
        <p:spPr/>
        <p:txBody>
          <a:bodyPr>
            <a:normAutofit fontScale="85000" lnSpcReduction="20000"/>
          </a:bodyPr>
          <a:lstStyle/>
          <a:p>
            <a:fld id="{6B2BE8EA-FC41-40D0-B220-2652BA486CAC}" type="slidenum">
              <a:rPr lang="en-US" smtClean="0"/>
              <a:pPr/>
              <a:t>29</a:t>
            </a:fld>
            <a:endParaRPr lang="en-US"/>
          </a:p>
        </p:txBody>
      </p:sp>
      <p:sp>
        <p:nvSpPr>
          <p:cNvPr id="118787" name="Rectangle 3"/>
          <p:cNvSpPr>
            <a:spLocks noGrp="1" noChangeArrowheads="1"/>
          </p:cNvSpPr>
          <p:nvPr>
            <p:ph sz="quarter" idx="1"/>
          </p:nvPr>
        </p:nvSpPr>
        <p:spPr>
          <a:xfrm>
            <a:off x="612648" y="1828800"/>
            <a:ext cx="8153400" cy="4495800"/>
          </a:xfrm>
        </p:spPr>
        <p:txBody>
          <a:bodyPr/>
          <a:lstStyle/>
          <a:p>
            <a:r>
              <a:rPr lang="en-US" dirty="0"/>
              <a:t>Have the same number of chromosomes as each other and as the parent cell from which they were formed</a:t>
            </a:r>
          </a:p>
          <a:p>
            <a:r>
              <a:rPr lang="en-US" dirty="0"/>
              <a:t>Identical to each other, but smaller than parent cell</a:t>
            </a:r>
          </a:p>
          <a:p>
            <a:r>
              <a:rPr lang="en-US" dirty="0"/>
              <a:t>Must grow in size to become mature cells (G1 of </a:t>
            </a:r>
            <a:r>
              <a:rPr lang="en-US" dirty="0" err="1"/>
              <a:t>Interphase</a:t>
            </a:r>
            <a:r>
              <a:rPr lang="en-US" dirty="0"/>
              <a:t>)</a:t>
            </a:r>
          </a:p>
          <a:p>
            <a:endParaRPr lang="en-US"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Animation on cell cycle and mitosis</a:t>
            </a:r>
          </a:p>
        </p:txBody>
      </p:sp>
      <p:sp>
        <p:nvSpPr>
          <p:cNvPr id="3" name="Footer Placeholder 2"/>
          <p:cNvSpPr>
            <a:spLocks noGrp="1"/>
          </p:cNvSpPr>
          <p:nvPr>
            <p:ph type="ftr" sz="quarter" idx="11"/>
          </p:nvPr>
        </p:nvSpPr>
        <p:spPr/>
        <p:txBody>
          <a:bodyPr/>
          <a:lstStyle/>
          <a:p>
            <a:pPr>
              <a:defRPr/>
            </a:pPr>
            <a:r>
              <a:rPr lang="en-US"/>
              <a:t>copyright cmassengale</a:t>
            </a:r>
          </a:p>
        </p:txBody>
      </p:sp>
      <p:sp>
        <p:nvSpPr>
          <p:cNvPr id="4" name="Slide Number Placeholder 3"/>
          <p:cNvSpPr>
            <a:spLocks noGrp="1"/>
          </p:cNvSpPr>
          <p:nvPr>
            <p:ph type="sldNum" sz="quarter" idx="12"/>
          </p:nvPr>
        </p:nvSpPr>
        <p:spPr/>
        <p:txBody>
          <a:bodyPr>
            <a:normAutofit fontScale="85000" lnSpcReduction="20000"/>
          </a:bodyPr>
          <a:lstStyle/>
          <a:p>
            <a:pPr>
              <a:defRPr/>
            </a:pPr>
            <a:fld id="{17A12585-9F68-4899-931D-CDB0D37D1C92}" type="slidenum">
              <a:rPr lang="en-US" smtClean="0"/>
              <a:pPr>
                <a:defRPr/>
              </a:pPr>
              <a:t>30</a:t>
            </a:fld>
            <a:endParaRPr lang="en-US"/>
          </a:p>
        </p:txBody>
      </p:sp>
      <p:sp>
        <p:nvSpPr>
          <p:cNvPr id="5" name="Content Placeholder 4"/>
          <p:cNvSpPr>
            <a:spLocks noGrp="1"/>
          </p:cNvSpPr>
          <p:nvPr>
            <p:ph sz="quarter" idx="1"/>
          </p:nvPr>
        </p:nvSpPr>
        <p:spPr/>
        <p:txBody>
          <a:bodyPr/>
          <a:lstStyle/>
          <a:p>
            <a:r>
              <a:rPr lang="en-US" dirty="0">
                <a:hlinkClick r:id="rId2"/>
              </a:rPr>
              <a:t>https://www.youtube.com/watch?v=woD6zvp-4E8</a:t>
            </a:r>
            <a:endParaRPr lang="en-US" dirty="0"/>
          </a:p>
        </p:txBody>
      </p:sp>
    </p:spTree>
    <p:extLst>
      <p:ext uri="{BB962C8B-B14F-4D97-AF65-F5344CB8AC3E}">
        <p14:creationId xmlns:p14="http://schemas.microsoft.com/office/powerpoint/2010/main" val="14668372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a:xfrm>
            <a:off x="685800" y="2362200"/>
            <a:ext cx="7772400" cy="1362075"/>
          </a:xfrm>
        </p:spPr>
        <p:txBody>
          <a:bodyPr>
            <a:normAutofit fontScale="90000"/>
          </a:bodyPr>
          <a:lstStyle/>
          <a:p>
            <a:pPr algn="ctr"/>
            <a:r>
              <a:rPr lang="en-US" sz="6600" b="0" dirty="0">
                <a:solidFill>
                  <a:srgbClr val="C00000"/>
                </a:solidFill>
              </a:rPr>
              <a:t>Meiosis</a:t>
            </a:r>
            <a:br>
              <a:rPr lang="en-US" sz="6600" b="0" dirty="0">
                <a:solidFill>
                  <a:srgbClr val="C00000"/>
                </a:solidFill>
              </a:rPr>
            </a:br>
            <a:br>
              <a:rPr lang="en-US" b="0" dirty="0">
                <a:solidFill>
                  <a:srgbClr val="C00000"/>
                </a:solidFill>
              </a:rPr>
            </a:br>
            <a:r>
              <a:rPr lang="en-US" b="0" dirty="0">
                <a:solidFill>
                  <a:srgbClr val="C00000"/>
                </a:solidFill>
              </a:rPr>
              <a:t>Formation of Gametes </a:t>
            </a:r>
            <a:br>
              <a:rPr lang="en-US" b="0" dirty="0">
                <a:solidFill>
                  <a:srgbClr val="C00000"/>
                </a:solidFill>
              </a:rPr>
            </a:br>
            <a:r>
              <a:rPr lang="en-US" b="0" dirty="0">
                <a:solidFill>
                  <a:srgbClr val="C00000"/>
                </a:solidFill>
              </a:rPr>
              <a:t>(Eggs &amp; Sperm)</a:t>
            </a:r>
          </a:p>
        </p:txBody>
      </p:sp>
      <p:sp>
        <p:nvSpPr>
          <p:cNvPr id="69634" name="Slide Number Placeholder 4"/>
          <p:cNvSpPr>
            <a:spLocks noGrp="1"/>
          </p:cNvSpPr>
          <p:nvPr>
            <p:ph type="sldNum" sz="quarter" idx="11"/>
          </p:nvPr>
        </p:nvSpPr>
        <p:spPr/>
        <p:txBody>
          <a:bodyPr/>
          <a:lstStyle/>
          <a:p>
            <a:fld id="{0E561558-1796-4AF2-82FC-0226EA7924B7}" type="slidenum">
              <a:rPr lang="en-US" smtClean="0"/>
              <a:pPr/>
              <a:t>31</a:t>
            </a:fld>
            <a:endParaRPr 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r>
              <a:rPr lang="en-US" dirty="0">
                <a:solidFill>
                  <a:srgbClr val="C00000"/>
                </a:solidFill>
              </a:rPr>
              <a:t>Facts About Meiosis</a:t>
            </a:r>
          </a:p>
        </p:txBody>
      </p:sp>
      <p:sp>
        <p:nvSpPr>
          <p:cNvPr id="70658" name="Slide Number Placeholder 5"/>
          <p:cNvSpPr>
            <a:spLocks noGrp="1"/>
          </p:cNvSpPr>
          <p:nvPr>
            <p:ph type="sldNum" sz="quarter" idx="12"/>
          </p:nvPr>
        </p:nvSpPr>
        <p:spPr/>
        <p:txBody>
          <a:bodyPr>
            <a:normAutofit fontScale="85000" lnSpcReduction="20000"/>
          </a:bodyPr>
          <a:lstStyle/>
          <a:p>
            <a:fld id="{95F85E68-61FA-4A57-A756-F26CB112A4B7}" type="slidenum">
              <a:rPr lang="en-US" smtClean="0"/>
              <a:pPr/>
              <a:t>32</a:t>
            </a:fld>
            <a:endParaRPr lang="en-US"/>
          </a:p>
        </p:txBody>
      </p:sp>
      <p:sp>
        <p:nvSpPr>
          <p:cNvPr id="124931" name="Rectangle 3"/>
          <p:cNvSpPr>
            <a:spLocks noGrp="1" noChangeArrowheads="1"/>
          </p:cNvSpPr>
          <p:nvPr>
            <p:ph sz="quarter" idx="1"/>
          </p:nvPr>
        </p:nvSpPr>
        <p:spPr/>
        <p:txBody>
          <a:bodyPr/>
          <a:lstStyle/>
          <a:p>
            <a:r>
              <a:rPr lang="en-US" dirty="0"/>
              <a:t>Preceded by </a:t>
            </a:r>
            <a:r>
              <a:rPr lang="en-US" dirty="0" err="1"/>
              <a:t>interphase</a:t>
            </a:r>
            <a:r>
              <a:rPr lang="en-US" dirty="0"/>
              <a:t> which includes chromosome replication</a:t>
            </a:r>
          </a:p>
          <a:p>
            <a:r>
              <a:rPr lang="en-US" dirty="0"/>
              <a:t>Two meiotic divisions --- Meiosis I and Meiosis II</a:t>
            </a:r>
          </a:p>
          <a:p>
            <a:r>
              <a:rPr lang="en-US" dirty="0"/>
              <a:t>Called Reduction- division</a:t>
            </a:r>
          </a:p>
          <a:p>
            <a:r>
              <a:rPr lang="en-US" dirty="0"/>
              <a:t>Original cell is diploid (2n)</a:t>
            </a:r>
          </a:p>
          <a:p>
            <a:r>
              <a:rPr lang="en-US" dirty="0"/>
              <a:t>Four daughter cells produced that are </a:t>
            </a:r>
            <a:r>
              <a:rPr lang="en-US" dirty="0" err="1"/>
              <a:t>monoploid</a:t>
            </a:r>
            <a:r>
              <a:rPr lang="en-US" dirty="0"/>
              <a:t> (1n)</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p:txBody>
          <a:bodyPr/>
          <a:lstStyle/>
          <a:p>
            <a:r>
              <a:rPr lang="en-US" dirty="0">
                <a:solidFill>
                  <a:srgbClr val="C00000"/>
                </a:solidFill>
              </a:rPr>
              <a:t>Facts About Meiosis</a:t>
            </a:r>
          </a:p>
        </p:txBody>
      </p:sp>
      <p:sp>
        <p:nvSpPr>
          <p:cNvPr id="71682" name="Slide Number Placeholder 5"/>
          <p:cNvSpPr>
            <a:spLocks noGrp="1"/>
          </p:cNvSpPr>
          <p:nvPr>
            <p:ph type="sldNum" sz="quarter" idx="12"/>
          </p:nvPr>
        </p:nvSpPr>
        <p:spPr/>
        <p:txBody>
          <a:bodyPr>
            <a:normAutofit fontScale="85000" lnSpcReduction="20000"/>
          </a:bodyPr>
          <a:lstStyle/>
          <a:p>
            <a:fld id="{0D6DFE67-67D5-458C-8325-72E8B3D718B0}" type="slidenum">
              <a:rPr lang="en-US" smtClean="0"/>
              <a:pPr/>
              <a:t>33</a:t>
            </a:fld>
            <a:endParaRPr lang="en-US"/>
          </a:p>
        </p:txBody>
      </p:sp>
      <p:sp>
        <p:nvSpPr>
          <p:cNvPr id="251907" name="Rectangle 3"/>
          <p:cNvSpPr>
            <a:spLocks noGrp="1" noChangeArrowheads="1"/>
          </p:cNvSpPr>
          <p:nvPr>
            <p:ph sz="quarter" idx="1"/>
          </p:nvPr>
        </p:nvSpPr>
        <p:spPr>
          <a:xfrm>
            <a:off x="612648" y="1676400"/>
            <a:ext cx="8153400" cy="4495800"/>
          </a:xfrm>
        </p:spPr>
        <p:txBody>
          <a:bodyPr/>
          <a:lstStyle/>
          <a:p>
            <a:r>
              <a:rPr lang="en-US" dirty="0"/>
              <a:t>Daughter cells contain half  the number of chromosomes as the original cell</a:t>
            </a:r>
          </a:p>
          <a:p>
            <a:r>
              <a:rPr lang="en-US" dirty="0"/>
              <a:t>Produces gametes (eggs &amp; sperm)</a:t>
            </a:r>
          </a:p>
          <a:p>
            <a:r>
              <a:rPr lang="en-US" dirty="0"/>
              <a:t>Occurs in the testes in males (Spermatogenesis)</a:t>
            </a:r>
          </a:p>
          <a:p>
            <a:r>
              <a:rPr lang="en-US" dirty="0"/>
              <a:t>Occurs in the ovaries in females (</a:t>
            </a:r>
            <a:r>
              <a:rPr lang="en-US" dirty="0" err="1"/>
              <a:t>Oogenesis</a:t>
            </a:r>
            <a:r>
              <a:rPr lang="en-US" dirty="0"/>
              <a:t>)</a:t>
            </a:r>
          </a:p>
          <a:p>
            <a:endParaRPr lang="en-US"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486" name="Rectangle 6"/>
          <p:cNvSpPr>
            <a:spLocks noGrp="1" noChangeArrowheads="1"/>
          </p:cNvSpPr>
          <p:nvPr>
            <p:ph type="title"/>
          </p:nvPr>
        </p:nvSpPr>
        <p:spPr/>
        <p:txBody>
          <a:bodyPr/>
          <a:lstStyle/>
          <a:p>
            <a:r>
              <a:rPr lang="en-US" dirty="0">
                <a:solidFill>
                  <a:srgbClr val="C00000"/>
                </a:solidFill>
              </a:rPr>
              <a:t>Why Do we Need Meiosis?</a:t>
            </a:r>
          </a:p>
        </p:txBody>
      </p:sp>
      <p:sp>
        <p:nvSpPr>
          <p:cNvPr id="73730" name="Slide Number Placeholder 5"/>
          <p:cNvSpPr>
            <a:spLocks noGrp="1"/>
          </p:cNvSpPr>
          <p:nvPr>
            <p:ph type="sldNum" sz="quarter" idx="12"/>
          </p:nvPr>
        </p:nvSpPr>
        <p:spPr/>
        <p:txBody>
          <a:bodyPr>
            <a:normAutofit fontScale="85000" lnSpcReduction="20000"/>
          </a:bodyPr>
          <a:lstStyle/>
          <a:p>
            <a:fld id="{18C164AB-109C-474B-9A92-F0D272C8699D}" type="slidenum">
              <a:rPr lang="en-US" smtClean="0"/>
              <a:pPr/>
              <a:t>34</a:t>
            </a:fld>
            <a:endParaRPr lang="en-US"/>
          </a:p>
        </p:txBody>
      </p:sp>
      <p:sp>
        <p:nvSpPr>
          <p:cNvPr id="276487" name="Rectangle 7"/>
          <p:cNvSpPr>
            <a:spLocks noGrp="1" noChangeArrowheads="1"/>
          </p:cNvSpPr>
          <p:nvPr>
            <p:ph sz="quarter" idx="1"/>
          </p:nvPr>
        </p:nvSpPr>
        <p:spPr/>
        <p:txBody>
          <a:bodyPr/>
          <a:lstStyle/>
          <a:p>
            <a:r>
              <a:rPr lang="en-US" dirty="0"/>
              <a:t>It is the fundamental basis of sexual reproduction</a:t>
            </a:r>
          </a:p>
          <a:p>
            <a:r>
              <a:rPr lang="en-US" dirty="0"/>
              <a:t>Two haploid (1n) gametes are brought together through fertilization to form a diploid (2n) zygote </a:t>
            </a:r>
          </a:p>
        </p:txBody>
      </p:sp>
      <p:sp>
        <p:nvSpPr>
          <p:cNvPr id="73731" name="Rectangle 3"/>
          <p:cNvSpPr>
            <a:spLocks noChangeArrowheads="1"/>
          </p:cNvSpPr>
          <p:nvPr/>
        </p:nvSpPr>
        <p:spPr bwMode="auto">
          <a:xfrm>
            <a:off x="1143000" y="482600"/>
            <a:ext cx="184150" cy="519113"/>
          </a:xfrm>
          <a:prstGeom prst="rect">
            <a:avLst/>
          </a:prstGeom>
          <a:noFill/>
          <a:ln w="9525">
            <a:noFill/>
            <a:miter lim="800000"/>
            <a:headEnd/>
            <a:tailEnd/>
          </a:ln>
        </p:spPr>
        <p:txBody>
          <a:bodyPr wrap="none">
            <a:spAutoFit/>
          </a:bodyPr>
          <a:lstStyle/>
          <a:p>
            <a:pPr algn="l"/>
            <a:endParaRPr lang="en-US" sz="2800">
              <a:solidFill>
                <a:schemeClr val="tx1"/>
              </a:solidFill>
              <a:latin typeface="Times New Roman" pitchFamily="18" charset="0"/>
            </a:endParaRPr>
          </a:p>
        </p:txBody>
      </p:sp>
      <p:pic>
        <p:nvPicPr>
          <p:cNvPr id="276489" name="Picture 9" descr="fertilization"/>
          <p:cNvPicPr>
            <a:picLocks noChangeAspect="1" noChangeArrowheads="1" noCrop="1"/>
          </p:cNvPicPr>
          <p:nvPr/>
        </p:nvPicPr>
        <p:blipFill>
          <a:blip r:embed="rId3" cstate="print"/>
          <a:srcRect/>
          <a:stretch>
            <a:fillRect/>
          </a:stretch>
        </p:blipFill>
        <p:spPr bwMode="auto">
          <a:xfrm>
            <a:off x="2590800" y="4267200"/>
            <a:ext cx="3886200" cy="2343150"/>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5700" name="Rectangle 4"/>
          <p:cNvSpPr>
            <a:spLocks noGrp="1" noChangeArrowheads="1"/>
          </p:cNvSpPr>
          <p:nvPr>
            <p:ph type="title"/>
          </p:nvPr>
        </p:nvSpPr>
        <p:spPr/>
        <p:txBody>
          <a:bodyPr>
            <a:normAutofit fontScale="90000"/>
          </a:bodyPr>
          <a:lstStyle/>
          <a:p>
            <a:r>
              <a:rPr lang="en-US" dirty="0">
                <a:solidFill>
                  <a:srgbClr val="C00000"/>
                </a:solidFill>
              </a:rPr>
              <a:t>Fertilization – “Putting it all together”</a:t>
            </a:r>
          </a:p>
        </p:txBody>
      </p:sp>
      <p:sp>
        <p:nvSpPr>
          <p:cNvPr id="74754" name="Slide Number Placeholder 5"/>
          <p:cNvSpPr>
            <a:spLocks noGrp="1"/>
          </p:cNvSpPr>
          <p:nvPr>
            <p:ph type="sldNum" sz="quarter" idx="12"/>
          </p:nvPr>
        </p:nvSpPr>
        <p:spPr/>
        <p:txBody>
          <a:bodyPr>
            <a:normAutofit fontScale="85000" lnSpcReduction="20000"/>
          </a:bodyPr>
          <a:lstStyle/>
          <a:p>
            <a:fld id="{0A213F3E-56EE-4AAE-A2FC-F4B21A42A2F7}" type="slidenum">
              <a:rPr lang="en-US" smtClean="0"/>
              <a:pPr/>
              <a:t>35</a:t>
            </a:fld>
            <a:endParaRPr lang="en-US"/>
          </a:p>
        </p:txBody>
      </p:sp>
      <p:pic>
        <p:nvPicPr>
          <p:cNvPr id="285698" name="Picture 2" descr="0051l"/>
          <p:cNvPicPr>
            <a:picLocks noChangeAspect="1" noChangeArrowheads="1"/>
          </p:cNvPicPr>
          <p:nvPr/>
        </p:nvPicPr>
        <p:blipFill>
          <a:blip r:embed="rId3" cstate="print"/>
          <a:srcRect l="-52" t="22098" r="1616" b="1978"/>
          <a:stretch>
            <a:fillRect/>
          </a:stretch>
        </p:blipFill>
        <p:spPr bwMode="auto">
          <a:xfrm>
            <a:off x="381000" y="1524000"/>
            <a:ext cx="8305800" cy="5005388"/>
          </a:xfrm>
          <a:prstGeom prst="rect">
            <a:avLst/>
          </a:prstGeom>
          <a:noFill/>
          <a:ln w="9525">
            <a:noFill/>
            <a:miter lim="800000"/>
            <a:headEnd/>
            <a:tailEnd/>
          </a:ln>
        </p:spPr>
      </p:pic>
      <p:sp>
        <p:nvSpPr>
          <p:cNvPr id="285702" name="Text Box 6"/>
          <p:cNvSpPr txBox="1">
            <a:spLocks noChangeArrowheads="1"/>
          </p:cNvSpPr>
          <p:nvPr/>
        </p:nvSpPr>
        <p:spPr bwMode="auto">
          <a:xfrm>
            <a:off x="990600" y="3048000"/>
            <a:ext cx="1524000" cy="519113"/>
          </a:xfrm>
          <a:prstGeom prst="rect">
            <a:avLst/>
          </a:prstGeom>
          <a:solidFill>
            <a:srgbClr val="339966"/>
          </a:solidFill>
          <a:ln w="38100">
            <a:noFill/>
            <a:miter lim="800000"/>
            <a:headEnd/>
            <a:tailEnd/>
          </a:ln>
          <a:effectLst/>
        </p:spPr>
        <p:txBody>
          <a:bodyPr>
            <a:spAutoFit/>
          </a:bodyPr>
          <a:lstStyle/>
          <a:p>
            <a:pPr>
              <a:spcBef>
                <a:spcPct val="50000"/>
              </a:spcBef>
              <a:defRPr/>
            </a:pPr>
            <a:r>
              <a:rPr lang="en-US" sz="2800">
                <a:solidFill>
                  <a:schemeClr val="tx1"/>
                </a:solidFill>
                <a:effectLst>
                  <a:outerShdw blurRad="38100" dist="38100" dir="2700000" algn="tl">
                    <a:srgbClr val="FFFFFF"/>
                  </a:outerShdw>
                </a:effectLst>
              </a:rPr>
              <a:t>1n =3</a:t>
            </a:r>
          </a:p>
        </p:txBody>
      </p:sp>
      <p:sp>
        <p:nvSpPr>
          <p:cNvPr id="285703" name="Line 7"/>
          <p:cNvSpPr>
            <a:spLocks noChangeShapeType="1"/>
          </p:cNvSpPr>
          <p:nvPr/>
        </p:nvSpPr>
        <p:spPr bwMode="auto">
          <a:xfrm flipH="1">
            <a:off x="1600200" y="3429000"/>
            <a:ext cx="228600" cy="1066800"/>
          </a:xfrm>
          <a:prstGeom prst="line">
            <a:avLst/>
          </a:prstGeom>
          <a:noFill/>
          <a:ln w="38100">
            <a:solidFill>
              <a:schemeClr val="tx1"/>
            </a:solidFill>
            <a:round/>
            <a:headEnd/>
            <a:tailEnd type="triangle" w="med" len="med"/>
          </a:ln>
          <a:effectLst/>
        </p:spPr>
        <p:txBody>
          <a:bodyPr anchor="ctr"/>
          <a:lstStyle/>
          <a:p>
            <a:pPr>
              <a:defRPr/>
            </a:pPr>
            <a:endParaRPr lang="en-US">
              <a:effectLst>
                <a:outerShdw blurRad="38100" dist="38100" dir="2700000" algn="tl">
                  <a:srgbClr val="000000">
                    <a:alpha val="43137"/>
                  </a:srgbClr>
                </a:outerShdw>
              </a:effectLst>
            </a:endParaRPr>
          </a:p>
        </p:txBody>
      </p:sp>
      <p:sp>
        <p:nvSpPr>
          <p:cNvPr id="285704" name="Line 8"/>
          <p:cNvSpPr>
            <a:spLocks noChangeShapeType="1"/>
          </p:cNvSpPr>
          <p:nvPr/>
        </p:nvSpPr>
        <p:spPr bwMode="auto">
          <a:xfrm flipV="1">
            <a:off x="2286000" y="2895600"/>
            <a:ext cx="685800" cy="304800"/>
          </a:xfrm>
          <a:prstGeom prst="line">
            <a:avLst/>
          </a:prstGeom>
          <a:noFill/>
          <a:ln w="38100">
            <a:solidFill>
              <a:schemeClr val="tx1"/>
            </a:solidFill>
            <a:round/>
            <a:headEnd/>
            <a:tailEnd type="triangle" w="med" len="med"/>
          </a:ln>
          <a:effectLst/>
        </p:spPr>
        <p:txBody>
          <a:bodyPr anchor="ctr"/>
          <a:lstStyle/>
          <a:p>
            <a:pPr>
              <a:defRPr/>
            </a:pPr>
            <a:endParaRPr lang="en-US">
              <a:effectLst>
                <a:outerShdw blurRad="38100" dist="38100" dir="2700000" algn="tl">
                  <a:srgbClr val="000000">
                    <a:alpha val="43137"/>
                  </a:srgbClr>
                </a:outerShdw>
              </a:effectLst>
            </a:endParaRPr>
          </a:p>
        </p:txBody>
      </p:sp>
      <p:sp>
        <p:nvSpPr>
          <p:cNvPr id="285705" name="Text Box 9"/>
          <p:cNvSpPr txBox="1">
            <a:spLocks noChangeArrowheads="1"/>
          </p:cNvSpPr>
          <p:nvPr/>
        </p:nvSpPr>
        <p:spPr bwMode="auto">
          <a:xfrm>
            <a:off x="6477000" y="1981200"/>
            <a:ext cx="1676400" cy="519113"/>
          </a:xfrm>
          <a:prstGeom prst="rect">
            <a:avLst/>
          </a:prstGeom>
          <a:solidFill>
            <a:srgbClr val="339966"/>
          </a:solidFill>
          <a:ln w="38100">
            <a:noFill/>
            <a:miter lim="800000"/>
            <a:headEnd/>
            <a:tailEnd/>
          </a:ln>
          <a:effectLst/>
        </p:spPr>
        <p:txBody>
          <a:bodyPr>
            <a:spAutoFit/>
          </a:bodyPr>
          <a:lstStyle/>
          <a:p>
            <a:pPr>
              <a:spcBef>
                <a:spcPct val="50000"/>
              </a:spcBef>
              <a:defRPr/>
            </a:pPr>
            <a:r>
              <a:rPr lang="en-US" sz="2800">
                <a:solidFill>
                  <a:schemeClr val="tx1"/>
                </a:solidFill>
                <a:effectLst>
                  <a:outerShdw blurRad="38100" dist="38100" dir="2700000" algn="tl">
                    <a:srgbClr val="FFFFFF"/>
                  </a:outerShdw>
                </a:effectLst>
              </a:rPr>
              <a:t>2n = 6</a:t>
            </a:r>
          </a:p>
        </p:txBody>
      </p:sp>
      <p:sp>
        <p:nvSpPr>
          <p:cNvPr id="285706" name="Line 10"/>
          <p:cNvSpPr>
            <a:spLocks noChangeShapeType="1"/>
          </p:cNvSpPr>
          <p:nvPr/>
        </p:nvSpPr>
        <p:spPr bwMode="auto">
          <a:xfrm>
            <a:off x="7315200" y="2438400"/>
            <a:ext cx="0" cy="838200"/>
          </a:xfrm>
          <a:prstGeom prst="line">
            <a:avLst/>
          </a:prstGeom>
          <a:noFill/>
          <a:ln w="38100">
            <a:solidFill>
              <a:schemeClr val="tx1"/>
            </a:solidFill>
            <a:round/>
            <a:headEnd/>
            <a:tailEnd type="triangle" w="med" len="med"/>
          </a:ln>
          <a:effectLst/>
        </p:spPr>
        <p:txBody>
          <a:bodyPr anchor="ctr"/>
          <a:lstStyle/>
          <a:p>
            <a:pPr>
              <a:defRPr/>
            </a:pPr>
            <a:endParaRPr lang="en-US">
              <a:effectLst>
                <a:outerShdw blurRad="38100" dist="38100" dir="2700000" algn="tl">
                  <a:srgbClr val="000000">
                    <a:alpha val="43137"/>
                  </a:srgbClr>
                </a:outerShdw>
              </a:effectLs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7351" name="Rectangle 87"/>
          <p:cNvSpPr>
            <a:spLocks noGrp="1" noChangeArrowheads="1"/>
          </p:cNvSpPr>
          <p:nvPr>
            <p:ph type="title"/>
          </p:nvPr>
        </p:nvSpPr>
        <p:spPr>
          <a:xfrm>
            <a:off x="0" y="228600"/>
            <a:ext cx="9067800" cy="685800"/>
          </a:xfrm>
        </p:spPr>
        <p:txBody>
          <a:bodyPr>
            <a:normAutofit fontScale="90000"/>
          </a:bodyPr>
          <a:lstStyle/>
          <a:p>
            <a:pPr algn="ctr" eaLnBrk="1" hangingPunct="1">
              <a:defRPr/>
            </a:pPr>
            <a:r>
              <a:rPr lang="en-US" b="1" dirty="0">
                <a:solidFill>
                  <a:srgbClr val="C00000"/>
                </a:solidFill>
                <a:effectLst>
                  <a:outerShdw blurRad="38100" dist="38100" dir="2700000" algn="tl">
                    <a:srgbClr val="C0C0C0"/>
                  </a:outerShdw>
                </a:effectLst>
                <a:latin typeface="Comic Sans MS" pitchFamily="66" charset="0"/>
              </a:rPr>
              <a:t>Meiosis Forms Haploid Gametes</a:t>
            </a:r>
          </a:p>
        </p:txBody>
      </p:sp>
      <p:sp>
        <p:nvSpPr>
          <p:cNvPr id="267352" name="Rectangle 88"/>
          <p:cNvSpPr>
            <a:spLocks noGrp="1" noChangeArrowheads="1"/>
          </p:cNvSpPr>
          <p:nvPr>
            <p:ph type="body" sz="half" idx="1"/>
          </p:nvPr>
        </p:nvSpPr>
        <p:spPr>
          <a:xfrm>
            <a:off x="304800" y="1752600"/>
            <a:ext cx="8839200" cy="609600"/>
          </a:xfrm>
        </p:spPr>
        <p:txBody>
          <a:bodyPr>
            <a:normAutofit fontScale="70000" lnSpcReduction="20000"/>
          </a:bodyPr>
          <a:lstStyle/>
          <a:p>
            <a:pPr eaLnBrk="1" hangingPunct="1">
              <a:lnSpc>
                <a:spcPct val="90000"/>
              </a:lnSpc>
              <a:buClr>
                <a:schemeClr val="bg2"/>
              </a:buClr>
              <a:buFont typeface="Wingdings" pitchFamily="2" charset="2"/>
              <a:buChar char="ü"/>
              <a:defRPr/>
            </a:pPr>
            <a:r>
              <a:rPr lang="en-US" sz="2800" b="1" dirty="0">
                <a:effectLst>
                  <a:outerShdw blurRad="38100" dist="38100" dir="2700000" algn="tl">
                    <a:srgbClr val="C0C0C0"/>
                  </a:outerShdw>
                </a:effectLst>
                <a:latin typeface="Comic Sans MS" pitchFamily="66" charset="0"/>
              </a:rPr>
              <a:t>Meiosis must reduce the chromosome number by half</a:t>
            </a:r>
          </a:p>
          <a:p>
            <a:pPr eaLnBrk="1" hangingPunct="1">
              <a:lnSpc>
                <a:spcPct val="90000"/>
              </a:lnSpc>
              <a:buClr>
                <a:schemeClr val="bg2"/>
              </a:buClr>
              <a:buFont typeface="Wingdings" pitchFamily="2" charset="2"/>
              <a:buChar char="ü"/>
              <a:defRPr/>
            </a:pPr>
            <a:r>
              <a:rPr lang="en-US" sz="2800" b="1" dirty="0">
                <a:effectLst>
                  <a:outerShdw blurRad="38100" dist="38100" dir="2700000" algn="tl">
                    <a:srgbClr val="C0C0C0"/>
                  </a:outerShdw>
                </a:effectLst>
                <a:latin typeface="Comic Sans MS" pitchFamily="66" charset="0"/>
              </a:rPr>
              <a:t>Fertilization then restores the 2n number</a:t>
            </a:r>
          </a:p>
          <a:p>
            <a:pPr eaLnBrk="1" hangingPunct="1">
              <a:lnSpc>
                <a:spcPct val="90000"/>
              </a:lnSpc>
              <a:buClr>
                <a:schemeClr val="bg2"/>
              </a:buClr>
              <a:buFont typeface="Wingdings" pitchFamily="2" charset="2"/>
              <a:buChar char="ü"/>
              <a:defRPr/>
            </a:pPr>
            <a:endParaRPr lang="en-US" sz="2800" b="1" dirty="0">
              <a:effectLst>
                <a:outerShdw blurRad="38100" dist="38100" dir="2700000" algn="tl">
                  <a:srgbClr val="C0C0C0"/>
                </a:outerShdw>
              </a:effectLst>
              <a:latin typeface="Comic Sans MS" pitchFamily="66" charset="0"/>
            </a:endParaRPr>
          </a:p>
        </p:txBody>
      </p:sp>
      <p:sp>
        <p:nvSpPr>
          <p:cNvPr id="77826" name="Slide Number Placeholder 6"/>
          <p:cNvSpPr>
            <a:spLocks noGrp="1"/>
          </p:cNvSpPr>
          <p:nvPr>
            <p:ph type="sldNum" sz="quarter" idx="12"/>
          </p:nvPr>
        </p:nvSpPr>
        <p:spPr>
          <a:noFill/>
        </p:spPr>
        <p:txBody>
          <a:bodyPr>
            <a:normAutofit fontScale="85000" lnSpcReduction="20000"/>
          </a:bodyPr>
          <a:lstStyle/>
          <a:p>
            <a:fld id="{3874C0C6-5F03-4453-BE2D-64682C5A803B}" type="slidenum">
              <a:rPr lang="en-US"/>
              <a:pPr/>
              <a:t>36</a:t>
            </a:fld>
            <a:endParaRPr lang="en-US"/>
          </a:p>
        </p:txBody>
      </p:sp>
      <p:grpSp>
        <p:nvGrpSpPr>
          <p:cNvPr id="2" name="Group 4"/>
          <p:cNvGrpSpPr>
            <a:grpSpLocks/>
          </p:cNvGrpSpPr>
          <p:nvPr/>
        </p:nvGrpSpPr>
        <p:grpSpPr bwMode="auto">
          <a:xfrm>
            <a:off x="5867400" y="5486400"/>
            <a:ext cx="1447800" cy="990600"/>
            <a:chOff x="4416" y="3360"/>
            <a:chExt cx="1104" cy="816"/>
          </a:xfrm>
        </p:grpSpPr>
        <p:sp>
          <p:nvSpPr>
            <p:cNvPr id="267269" name="Oval 5"/>
            <p:cNvSpPr>
              <a:spLocks noChangeArrowheads="1"/>
            </p:cNvSpPr>
            <p:nvPr/>
          </p:nvSpPr>
          <p:spPr bwMode="auto">
            <a:xfrm>
              <a:off x="4416" y="3360"/>
              <a:ext cx="1104" cy="816"/>
            </a:xfrm>
            <a:prstGeom prst="ellipse">
              <a:avLst/>
            </a:prstGeom>
            <a:solidFill>
              <a:srgbClr val="FFFF66"/>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grpSp>
          <p:nvGrpSpPr>
            <p:cNvPr id="77906" name="Group 6"/>
            <p:cNvGrpSpPr>
              <a:grpSpLocks/>
            </p:cNvGrpSpPr>
            <p:nvPr/>
          </p:nvGrpSpPr>
          <p:grpSpPr bwMode="auto">
            <a:xfrm>
              <a:off x="4656" y="3648"/>
              <a:ext cx="624" cy="240"/>
              <a:chOff x="1440" y="2496"/>
              <a:chExt cx="624" cy="240"/>
            </a:xfrm>
          </p:grpSpPr>
          <p:grpSp>
            <p:nvGrpSpPr>
              <p:cNvPr id="77907" name="Group 7"/>
              <p:cNvGrpSpPr>
                <a:grpSpLocks/>
              </p:cNvGrpSpPr>
              <p:nvPr/>
            </p:nvGrpSpPr>
            <p:grpSpPr bwMode="auto">
              <a:xfrm>
                <a:off x="1440" y="2640"/>
                <a:ext cx="624" cy="96"/>
                <a:chOff x="816" y="2688"/>
                <a:chExt cx="912" cy="96"/>
              </a:xfrm>
            </p:grpSpPr>
            <p:sp>
              <p:nvSpPr>
                <p:cNvPr id="267272" name="AutoShape 8"/>
                <p:cNvSpPr>
                  <a:spLocks noChangeArrowheads="1"/>
                </p:cNvSpPr>
                <p:nvPr/>
              </p:nvSpPr>
              <p:spPr bwMode="auto">
                <a:xfrm>
                  <a:off x="816" y="2688"/>
                  <a:ext cx="577" cy="97"/>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67273" name="AutoShape 9"/>
                <p:cNvSpPr>
                  <a:spLocks noChangeArrowheads="1"/>
                </p:cNvSpPr>
                <p:nvPr/>
              </p:nvSpPr>
              <p:spPr bwMode="auto">
                <a:xfrm>
                  <a:off x="1488" y="2688"/>
                  <a:ext cx="241" cy="97"/>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7914" name="AutoShape 10"/>
                <p:cNvSpPr>
                  <a:spLocks noChangeArrowheads="1"/>
                </p:cNvSpPr>
                <p:nvPr/>
              </p:nvSpPr>
              <p:spPr bwMode="auto">
                <a:xfrm>
                  <a:off x="1392" y="2688"/>
                  <a:ext cx="96" cy="96"/>
                </a:xfrm>
                <a:prstGeom prst="roundRect">
                  <a:avLst>
                    <a:gd name="adj" fmla="val 16667"/>
                  </a:avLst>
                </a:prstGeom>
                <a:solidFill>
                  <a:schemeClr val="accent2"/>
                </a:solidFill>
                <a:ln w="9525">
                  <a:solidFill>
                    <a:schemeClr val="tx1"/>
                  </a:solidFill>
                  <a:round/>
                  <a:headEnd/>
                  <a:tailEnd/>
                </a:ln>
              </p:spPr>
              <p:txBody>
                <a:bodyPr wrap="none" anchor="ctr"/>
                <a:lstStyle/>
                <a:p>
                  <a:pPr eaLnBrk="0" hangingPunct="0"/>
                  <a:endParaRPr lang="en-US" sz="1800" b="0">
                    <a:solidFill>
                      <a:schemeClr val="accent2"/>
                    </a:solidFill>
                    <a:latin typeface="Times" charset="0"/>
                  </a:endParaRPr>
                </a:p>
              </p:txBody>
            </p:sp>
          </p:grpSp>
          <p:grpSp>
            <p:nvGrpSpPr>
              <p:cNvPr id="77908" name="Group 11"/>
              <p:cNvGrpSpPr>
                <a:grpSpLocks/>
              </p:cNvGrpSpPr>
              <p:nvPr/>
            </p:nvGrpSpPr>
            <p:grpSpPr bwMode="auto">
              <a:xfrm>
                <a:off x="1440" y="2496"/>
                <a:ext cx="624" cy="96"/>
                <a:chOff x="816" y="2688"/>
                <a:chExt cx="912" cy="96"/>
              </a:xfrm>
            </p:grpSpPr>
            <p:sp>
              <p:nvSpPr>
                <p:cNvPr id="267276" name="AutoShape 12"/>
                <p:cNvSpPr>
                  <a:spLocks noChangeArrowheads="1"/>
                </p:cNvSpPr>
                <p:nvPr/>
              </p:nvSpPr>
              <p:spPr bwMode="auto">
                <a:xfrm>
                  <a:off x="816" y="2688"/>
                  <a:ext cx="577" cy="97"/>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67277" name="AutoShape 13"/>
                <p:cNvSpPr>
                  <a:spLocks noChangeArrowheads="1"/>
                </p:cNvSpPr>
                <p:nvPr/>
              </p:nvSpPr>
              <p:spPr bwMode="auto">
                <a:xfrm>
                  <a:off x="1488" y="2688"/>
                  <a:ext cx="241" cy="97"/>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7911" name="AutoShape 14"/>
                <p:cNvSpPr>
                  <a:spLocks noChangeArrowheads="1"/>
                </p:cNvSpPr>
                <p:nvPr/>
              </p:nvSpPr>
              <p:spPr bwMode="auto">
                <a:xfrm>
                  <a:off x="1392" y="2688"/>
                  <a:ext cx="96" cy="96"/>
                </a:xfrm>
                <a:prstGeom prst="roundRect">
                  <a:avLst>
                    <a:gd name="adj" fmla="val 16667"/>
                  </a:avLst>
                </a:prstGeom>
                <a:solidFill>
                  <a:schemeClr val="accent2"/>
                </a:solidFill>
                <a:ln w="9525">
                  <a:solidFill>
                    <a:schemeClr val="tx1"/>
                  </a:solidFill>
                  <a:round/>
                  <a:headEnd/>
                  <a:tailEnd/>
                </a:ln>
              </p:spPr>
              <p:txBody>
                <a:bodyPr wrap="none" anchor="ctr"/>
                <a:lstStyle/>
                <a:p>
                  <a:pPr eaLnBrk="0" hangingPunct="0"/>
                  <a:endParaRPr lang="en-US" sz="1800" b="0">
                    <a:solidFill>
                      <a:schemeClr val="accent2"/>
                    </a:solidFill>
                    <a:latin typeface="Times" charset="0"/>
                  </a:endParaRPr>
                </a:p>
              </p:txBody>
            </p:sp>
          </p:grpSp>
        </p:grpSp>
      </p:grpSp>
      <p:grpSp>
        <p:nvGrpSpPr>
          <p:cNvPr id="6" name="Group 15"/>
          <p:cNvGrpSpPr>
            <a:grpSpLocks/>
          </p:cNvGrpSpPr>
          <p:nvPr/>
        </p:nvGrpSpPr>
        <p:grpSpPr bwMode="auto">
          <a:xfrm>
            <a:off x="533400" y="2743200"/>
            <a:ext cx="6380163" cy="1600200"/>
            <a:chOff x="336" y="1728"/>
            <a:chExt cx="4019" cy="1008"/>
          </a:xfrm>
        </p:grpSpPr>
        <p:grpSp>
          <p:nvGrpSpPr>
            <p:cNvPr id="77876" name="Group 16"/>
            <p:cNvGrpSpPr>
              <a:grpSpLocks/>
            </p:cNvGrpSpPr>
            <p:nvPr/>
          </p:nvGrpSpPr>
          <p:grpSpPr bwMode="auto">
            <a:xfrm>
              <a:off x="336" y="1728"/>
              <a:ext cx="4019" cy="288"/>
              <a:chOff x="336" y="1728"/>
              <a:chExt cx="4019" cy="288"/>
            </a:xfrm>
          </p:grpSpPr>
          <p:sp>
            <p:nvSpPr>
              <p:cNvPr id="77902" name="Text Box 17"/>
              <p:cNvSpPr txBox="1">
                <a:spLocks noChangeArrowheads="1"/>
              </p:cNvSpPr>
              <p:nvPr/>
            </p:nvSpPr>
            <p:spPr bwMode="auto">
              <a:xfrm>
                <a:off x="336" y="1728"/>
                <a:ext cx="1055" cy="288"/>
              </a:xfrm>
              <a:prstGeom prst="rect">
                <a:avLst/>
              </a:prstGeom>
              <a:noFill/>
              <a:ln w="9525">
                <a:noFill/>
                <a:miter lim="800000"/>
                <a:headEnd/>
                <a:tailEnd/>
              </a:ln>
            </p:spPr>
            <p:txBody>
              <a:bodyPr wrap="none">
                <a:spAutoFit/>
              </a:bodyPr>
              <a:lstStyle/>
              <a:p>
                <a:pPr algn="l" eaLnBrk="0" hangingPunct="0"/>
                <a:r>
                  <a:rPr lang="en-US" dirty="0">
                    <a:latin typeface="Helvetica" charset="0"/>
                  </a:rPr>
                  <a:t>from mom</a:t>
                </a:r>
              </a:p>
            </p:txBody>
          </p:sp>
          <p:sp>
            <p:nvSpPr>
              <p:cNvPr id="77903" name="Text Box 18"/>
              <p:cNvSpPr txBox="1">
                <a:spLocks noChangeArrowheads="1"/>
              </p:cNvSpPr>
              <p:nvPr/>
            </p:nvSpPr>
            <p:spPr bwMode="auto">
              <a:xfrm>
                <a:off x="1991" y="1728"/>
                <a:ext cx="937" cy="288"/>
              </a:xfrm>
              <a:prstGeom prst="rect">
                <a:avLst/>
              </a:prstGeom>
              <a:noFill/>
              <a:ln w="9525">
                <a:noFill/>
                <a:miter lim="800000"/>
                <a:headEnd/>
                <a:tailEnd/>
              </a:ln>
            </p:spPr>
            <p:txBody>
              <a:bodyPr wrap="none">
                <a:spAutoFit/>
              </a:bodyPr>
              <a:lstStyle/>
              <a:p>
                <a:pPr algn="l" eaLnBrk="0" hangingPunct="0"/>
                <a:r>
                  <a:rPr lang="en-US">
                    <a:latin typeface="Helvetica" charset="0"/>
                  </a:rPr>
                  <a:t>from dad</a:t>
                </a:r>
              </a:p>
            </p:txBody>
          </p:sp>
          <p:sp>
            <p:nvSpPr>
              <p:cNvPr id="77904" name="Text Box 19"/>
              <p:cNvSpPr txBox="1">
                <a:spLocks noChangeArrowheads="1"/>
              </p:cNvSpPr>
              <p:nvPr/>
            </p:nvSpPr>
            <p:spPr bwMode="auto">
              <a:xfrm>
                <a:off x="3792" y="1728"/>
                <a:ext cx="563" cy="288"/>
              </a:xfrm>
              <a:prstGeom prst="rect">
                <a:avLst/>
              </a:prstGeom>
              <a:noFill/>
              <a:ln w="9525">
                <a:noFill/>
                <a:miter lim="800000"/>
                <a:headEnd/>
                <a:tailEnd/>
              </a:ln>
            </p:spPr>
            <p:txBody>
              <a:bodyPr wrap="none">
                <a:spAutoFit/>
              </a:bodyPr>
              <a:lstStyle/>
              <a:p>
                <a:pPr algn="l" eaLnBrk="0" hangingPunct="0"/>
                <a:r>
                  <a:rPr lang="en-US">
                    <a:latin typeface="Helvetica" charset="0"/>
                  </a:rPr>
                  <a:t>child</a:t>
                </a:r>
              </a:p>
            </p:txBody>
          </p:sp>
        </p:grpSp>
        <p:grpSp>
          <p:nvGrpSpPr>
            <p:cNvPr id="77877" name="Group 20"/>
            <p:cNvGrpSpPr>
              <a:grpSpLocks/>
            </p:cNvGrpSpPr>
            <p:nvPr/>
          </p:nvGrpSpPr>
          <p:grpSpPr bwMode="auto">
            <a:xfrm>
              <a:off x="432" y="2112"/>
              <a:ext cx="2974" cy="624"/>
              <a:chOff x="432" y="2112"/>
              <a:chExt cx="3600" cy="816"/>
            </a:xfrm>
          </p:grpSpPr>
          <p:grpSp>
            <p:nvGrpSpPr>
              <p:cNvPr id="77878" name="Group 21"/>
              <p:cNvGrpSpPr>
                <a:grpSpLocks/>
              </p:cNvGrpSpPr>
              <p:nvPr/>
            </p:nvGrpSpPr>
            <p:grpSpPr bwMode="auto">
              <a:xfrm>
                <a:off x="2328" y="2112"/>
                <a:ext cx="1104" cy="816"/>
                <a:chOff x="2544" y="2400"/>
                <a:chExt cx="1104" cy="816"/>
              </a:xfrm>
            </p:grpSpPr>
            <p:sp>
              <p:nvSpPr>
                <p:cNvPr id="267286" name="Oval 22"/>
                <p:cNvSpPr>
                  <a:spLocks noChangeArrowheads="1"/>
                </p:cNvSpPr>
                <p:nvPr/>
              </p:nvSpPr>
              <p:spPr bwMode="auto">
                <a:xfrm>
                  <a:off x="2544" y="2400"/>
                  <a:ext cx="1104" cy="816"/>
                </a:xfrm>
                <a:prstGeom prst="ellipse">
                  <a:avLst/>
                </a:prstGeom>
                <a:solidFill>
                  <a:srgbClr val="FFFF66"/>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grpSp>
              <p:nvGrpSpPr>
                <p:cNvPr id="77893" name="Group 23"/>
                <p:cNvGrpSpPr>
                  <a:grpSpLocks/>
                </p:cNvGrpSpPr>
                <p:nvPr/>
              </p:nvGrpSpPr>
              <p:grpSpPr bwMode="auto">
                <a:xfrm>
                  <a:off x="2736" y="2688"/>
                  <a:ext cx="624" cy="240"/>
                  <a:chOff x="1440" y="2496"/>
                  <a:chExt cx="624" cy="240"/>
                </a:xfrm>
              </p:grpSpPr>
              <p:grpSp>
                <p:nvGrpSpPr>
                  <p:cNvPr id="77894" name="Group 24"/>
                  <p:cNvGrpSpPr>
                    <a:grpSpLocks/>
                  </p:cNvGrpSpPr>
                  <p:nvPr/>
                </p:nvGrpSpPr>
                <p:grpSpPr bwMode="auto">
                  <a:xfrm>
                    <a:off x="1440" y="2640"/>
                    <a:ext cx="624" cy="96"/>
                    <a:chOff x="816" y="2688"/>
                    <a:chExt cx="912" cy="96"/>
                  </a:xfrm>
                </p:grpSpPr>
                <p:sp>
                  <p:nvSpPr>
                    <p:cNvPr id="267289" name="AutoShape 25"/>
                    <p:cNvSpPr>
                      <a:spLocks noChangeArrowheads="1"/>
                    </p:cNvSpPr>
                    <p:nvPr/>
                  </p:nvSpPr>
                  <p:spPr bwMode="auto">
                    <a:xfrm>
                      <a:off x="816" y="2688"/>
                      <a:ext cx="575" cy="97"/>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67290" name="AutoShape 26"/>
                    <p:cNvSpPr>
                      <a:spLocks noChangeArrowheads="1"/>
                    </p:cNvSpPr>
                    <p:nvPr/>
                  </p:nvSpPr>
                  <p:spPr bwMode="auto">
                    <a:xfrm>
                      <a:off x="1487" y="2688"/>
                      <a:ext cx="241" cy="97"/>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7901" name="AutoShape 27"/>
                    <p:cNvSpPr>
                      <a:spLocks noChangeArrowheads="1"/>
                    </p:cNvSpPr>
                    <p:nvPr/>
                  </p:nvSpPr>
                  <p:spPr bwMode="auto">
                    <a:xfrm>
                      <a:off x="1392" y="2688"/>
                      <a:ext cx="96" cy="96"/>
                    </a:xfrm>
                    <a:prstGeom prst="roundRect">
                      <a:avLst>
                        <a:gd name="adj" fmla="val 16667"/>
                      </a:avLst>
                    </a:prstGeom>
                    <a:solidFill>
                      <a:schemeClr val="accent2"/>
                    </a:solidFill>
                    <a:ln w="9525">
                      <a:solidFill>
                        <a:schemeClr val="tx1"/>
                      </a:solidFill>
                      <a:round/>
                      <a:headEnd/>
                      <a:tailEnd/>
                    </a:ln>
                  </p:spPr>
                  <p:txBody>
                    <a:bodyPr wrap="none" anchor="ctr"/>
                    <a:lstStyle/>
                    <a:p>
                      <a:pPr eaLnBrk="0" hangingPunct="0"/>
                      <a:endParaRPr lang="en-US" sz="1800" b="0">
                        <a:latin typeface="Times" charset="0"/>
                      </a:endParaRPr>
                    </a:p>
                  </p:txBody>
                </p:sp>
              </p:grpSp>
              <p:grpSp>
                <p:nvGrpSpPr>
                  <p:cNvPr id="77895" name="Group 28"/>
                  <p:cNvGrpSpPr>
                    <a:grpSpLocks/>
                  </p:cNvGrpSpPr>
                  <p:nvPr/>
                </p:nvGrpSpPr>
                <p:grpSpPr bwMode="auto">
                  <a:xfrm>
                    <a:off x="1440" y="2496"/>
                    <a:ext cx="624" cy="96"/>
                    <a:chOff x="816" y="2688"/>
                    <a:chExt cx="912" cy="96"/>
                  </a:xfrm>
                </p:grpSpPr>
                <p:sp>
                  <p:nvSpPr>
                    <p:cNvPr id="267293" name="AutoShape 29"/>
                    <p:cNvSpPr>
                      <a:spLocks noChangeArrowheads="1"/>
                    </p:cNvSpPr>
                    <p:nvPr/>
                  </p:nvSpPr>
                  <p:spPr bwMode="auto">
                    <a:xfrm>
                      <a:off x="816" y="2688"/>
                      <a:ext cx="575" cy="97"/>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67294" name="AutoShape 30"/>
                    <p:cNvSpPr>
                      <a:spLocks noChangeArrowheads="1"/>
                    </p:cNvSpPr>
                    <p:nvPr/>
                  </p:nvSpPr>
                  <p:spPr bwMode="auto">
                    <a:xfrm>
                      <a:off x="1487" y="2688"/>
                      <a:ext cx="241" cy="97"/>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7898" name="AutoShape 31"/>
                    <p:cNvSpPr>
                      <a:spLocks noChangeArrowheads="1"/>
                    </p:cNvSpPr>
                    <p:nvPr/>
                  </p:nvSpPr>
                  <p:spPr bwMode="auto">
                    <a:xfrm>
                      <a:off x="1392" y="2688"/>
                      <a:ext cx="96" cy="96"/>
                    </a:xfrm>
                    <a:prstGeom prst="roundRect">
                      <a:avLst>
                        <a:gd name="adj" fmla="val 16667"/>
                      </a:avLst>
                    </a:prstGeom>
                    <a:solidFill>
                      <a:schemeClr val="accent2"/>
                    </a:solidFill>
                    <a:ln w="9525">
                      <a:solidFill>
                        <a:schemeClr val="tx1"/>
                      </a:solidFill>
                      <a:round/>
                      <a:headEnd/>
                      <a:tailEnd/>
                    </a:ln>
                  </p:spPr>
                  <p:txBody>
                    <a:bodyPr wrap="none" anchor="ctr"/>
                    <a:lstStyle/>
                    <a:p>
                      <a:pPr eaLnBrk="0" hangingPunct="0"/>
                      <a:endParaRPr lang="en-US" sz="1800" b="0">
                        <a:latin typeface="Times" charset="0"/>
                      </a:endParaRPr>
                    </a:p>
                  </p:txBody>
                </p:sp>
              </p:grpSp>
            </p:grpSp>
          </p:grpSp>
          <p:grpSp>
            <p:nvGrpSpPr>
              <p:cNvPr id="77879" name="Group 32"/>
              <p:cNvGrpSpPr>
                <a:grpSpLocks/>
              </p:cNvGrpSpPr>
              <p:nvPr/>
            </p:nvGrpSpPr>
            <p:grpSpPr bwMode="auto">
              <a:xfrm>
                <a:off x="432" y="2112"/>
                <a:ext cx="1104" cy="816"/>
                <a:chOff x="528" y="2352"/>
                <a:chExt cx="1104" cy="816"/>
              </a:xfrm>
            </p:grpSpPr>
            <p:sp>
              <p:nvSpPr>
                <p:cNvPr id="267297" name="Oval 33"/>
                <p:cNvSpPr>
                  <a:spLocks noChangeArrowheads="1"/>
                </p:cNvSpPr>
                <p:nvPr/>
              </p:nvSpPr>
              <p:spPr bwMode="auto">
                <a:xfrm>
                  <a:off x="528" y="2352"/>
                  <a:ext cx="1104" cy="816"/>
                </a:xfrm>
                <a:prstGeom prst="ellipse">
                  <a:avLst/>
                </a:prstGeom>
                <a:solidFill>
                  <a:srgbClr val="FFFF66"/>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grpSp>
              <p:nvGrpSpPr>
                <p:cNvPr id="77883" name="Group 34"/>
                <p:cNvGrpSpPr>
                  <a:grpSpLocks/>
                </p:cNvGrpSpPr>
                <p:nvPr/>
              </p:nvGrpSpPr>
              <p:grpSpPr bwMode="auto">
                <a:xfrm>
                  <a:off x="768" y="2640"/>
                  <a:ext cx="624" cy="240"/>
                  <a:chOff x="1440" y="2496"/>
                  <a:chExt cx="624" cy="240"/>
                </a:xfrm>
              </p:grpSpPr>
              <p:grpSp>
                <p:nvGrpSpPr>
                  <p:cNvPr id="77884" name="Group 35"/>
                  <p:cNvGrpSpPr>
                    <a:grpSpLocks/>
                  </p:cNvGrpSpPr>
                  <p:nvPr/>
                </p:nvGrpSpPr>
                <p:grpSpPr bwMode="auto">
                  <a:xfrm>
                    <a:off x="1440" y="2640"/>
                    <a:ext cx="624" cy="96"/>
                    <a:chOff x="816" y="2688"/>
                    <a:chExt cx="912" cy="96"/>
                  </a:xfrm>
                </p:grpSpPr>
                <p:sp>
                  <p:nvSpPr>
                    <p:cNvPr id="267300" name="AutoShape 36"/>
                    <p:cNvSpPr>
                      <a:spLocks noChangeArrowheads="1"/>
                    </p:cNvSpPr>
                    <p:nvPr/>
                  </p:nvSpPr>
                  <p:spPr bwMode="auto">
                    <a:xfrm>
                      <a:off x="816" y="2688"/>
                      <a:ext cx="577" cy="97"/>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67301" name="AutoShape 37"/>
                    <p:cNvSpPr>
                      <a:spLocks noChangeArrowheads="1"/>
                    </p:cNvSpPr>
                    <p:nvPr/>
                  </p:nvSpPr>
                  <p:spPr bwMode="auto">
                    <a:xfrm>
                      <a:off x="1488" y="2688"/>
                      <a:ext cx="241" cy="97"/>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7891" name="AutoShape 38"/>
                    <p:cNvSpPr>
                      <a:spLocks noChangeArrowheads="1"/>
                    </p:cNvSpPr>
                    <p:nvPr/>
                  </p:nvSpPr>
                  <p:spPr bwMode="auto">
                    <a:xfrm>
                      <a:off x="1392" y="2688"/>
                      <a:ext cx="96" cy="96"/>
                    </a:xfrm>
                    <a:prstGeom prst="roundRect">
                      <a:avLst>
                        <a:gd name="adj" fmla="val 16667"/>
                      </a:avLst>
                    </a:prstGeom>
                    <a:solidFill>
                      <a:schemeClr val="accent2"/>
                    </a:solidFill>
                    <a:ln w="9525">
                      <a:solidFill>
                        <a:schemeClr val="tx1"/>
                      </a:solidFill>
                      <a:round/>
                      <a:headEnd/>
                      <a:tailEnd/>
                    </a:ln>
                  </p:spPr>
                  <p:txBody>
                    <a:bodyPr wrap="none" anchor="ctr"/>
                    <a:lstStyle/>
                    <a:p>
                      <a:pPr eaLnBrk="0" hangingPunct="0"/>
                      <a:endParaRPr lang="en-US" sz="1800" b="0">
                        <a:latin typeface="Times" charset="0"/>
                      </a:endParaRPr>
                    </a:p>
                  </p:txBody>
                </p:sp>
              </p:grpSp>
              <p:grpSp>
                <p:nvGrpSpPr>
                  <p:cNvPr id="77885" name="Group 39"/>
                  <p:cNvGrpSpPr>
                    <a:grpSpLocks/>
                  </p:cNvGrpSpPr>
                  <p:nvPr/>
                </p:nvGrpSpPr>
                <p:grpSpPr bwMode="auto">
                  <a:xfrm>
                    <a:off x="1440" y="2496"/>
                    <a:ext cx="624" cy="96"/>
                    <a:chOff x="816" y="2688"/>
                    <a:chExt cx="912" cy="96"/>
                  </a:xfrm>
                </p:grpSpPr>
                <p:sp>
                  <p:nvSpPr>
                    <p:cNvPr id="267304" name="AutoShape 40"/>
                    <p:cNvSpPr>
                      <a:spLocks noChangeArrowheads="1"/>
                    </p:cNvSpPr>
                    <p:nvPr/>
                  </p:nvSpPr>
                  <p:spPr bwMode="auto">
                    <a:xfrm>
                      <a:off x="816" y="2688"/>
                      <a:ext cx="577" cy="97"/>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67305" name="AutoShape 41"/>
                    <p:cNvSpPr>
                      <a:spLocks noChangeArrowheads="1"/>
                    </p:cNvSpPr>
                    <p:nvPr/>
                  </p:nvSpPr>
                  <p:spPr bwMode="auto">
                    <a:xfrm>
                      <a:off x="1488" y="2688"/>
                      <a:ext cx="241" cy="97"/>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7888" name="AutoShape 42"/>
                    <p:cNvSpPr>
                      <a:spLocks noChangeArrowheads="1"/>
                    </p:cNvSpPr>
                    <p:nvPr/>
                  </p:nvSpPr>
                  <p:spPr bwMode="auto">
                    <a:xfrm>
                      <a:off x="1392" y="2688"/>
                      <a:ext cx="96" cy="96"/>
                    </a:xfrm>
                    <a:prstGeom prst="roundRect">
                      <a:avLst>
                        <a:gd name="adj" fmla="val 16667"/>
                      </a:avLst>
                    </a:prstGeom>
                    <a:solidFill>
                      <a:schemeClr val="accent2"/>
                    </a:solidFill>
                    <a:ln w="9525">
                      <a:solidFill>
                        <a:schemeClr val="tx1"/>
                      </a:solidFill>
                      <a:round/>
                      <a:headEnd/>
                      <a:tailEnd/>
                    </a:ln>
                  </p:spPr>
                  <p:txBody>
                    <a:bodyPr wrap="none" anchor="ctr"/>
                    <a:lstStyle/>
                    <a:p>
                      <a:pPr eaLnBrk="0" hangingPunct="0"/>
                      <a:endParaRPr lang="en-US" sz="1800" b="0">
                        <a:latin typeface="Times" charset="0"/>
                      </a:endParaRPr>
                    </a:p>
                  </p:txBody>
                </p:sp>
              </p:grpSp>
            </p:grpSp>
          </p:grpSp>
          <p:sp>
            <p:nvSpPr>
              <p:cNvPr id="267307" name="AutoShape 43"/>
              <p:cNvSpPr>
                <a:spLocks noChangeArrowheads="1"/>
              </p:cNvSpPr>
              <p:nvPr/>
            </p:nvSpPr>
            <p:spPr bwMode="auto">
              <a:xfrm>
                <a:off x="1824" y="2400"/>
                <a:ext cx="192" cy="192"/>
              </a:xfrm>
              <a:prstGeom prst="plus">
                <a:avLst>
                  <a:gd name="adj" fmla="val 25000"/>
                </a:avLst>
              </a:prstGeom>
              <a:solidFill>
                <a:schemeClr val="accent1"/>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67308" name="AutoShape 44"/>
              <p:cNvSpPr>
                <a:spLocks noChangeArrowheads="1"/>
              </p:cNvSpPr>
              <p:nvPr/>
            </p:nvSpPr>
            <p:spPr bwMode="auto">
              <a:xfrm>
                <a:off x="3600" y="2400"/>
                <a:ext cx="432" cy="192"/>
              </a:xfrm>
              <a:prstGeom prst="rightArrow">
                <a:avLst>
                  <a:gd name="adj1" fmla="val 50000"/>
                  <a:gd name="adj2" fmla="val 104063"/>
                </a:avLst>
              </a:prstGeom>
              <a:solidFill>
                <a:schemeClr val="accent1"/>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grpSp>
      </p:grpSp>
      <p:grpSp>
        <p:nvGrpSpPr>
          <p:cNvPr id="17" name="Group 45"/>
          <p:cNvGrpSpPr>
            <a:grpSpLocks/>
          </p:cNvGrpSpPr>
          <p:nvPr/>
        </p:nvGrpSpPr>
        <p:grpSpPr bwMode="auto">
          <a:xfrm>
            <a:off x="685800" y="4572000"/>
            <a:ext cx="4721225" cy="1905000"/>
            <a:chOff x="432" y="2880"/>
            <a:chExt cx="2974" cy="1200"/>
          </a:xfrm>
        </p:grpSpPr>
        <p:grpSp>
          <p:nvGrpSpPr>
            <p:cNvPr id="77860" name="Group 46"/>
            <p:cNvGrpSpPr>
              <a:grpSpLocks/>
            </p:cNvGrpSpPr>
            <p:nvPr/>
          </p:nvGrpSpPr>
          <p:grpSpPr bwMode="auto">
            <a:xfrm>
              <a:off x="432" y="3456"/>
              <a:ext cx="2974" cy="624"/>
              <a:chOff x="432" y="3216"/>
              <a:chExt cx="3600" cy="816"/>
            </a:xfrm>
          </p:grpSpPr>
          <p:grpSp>
            <p:nvGrpSpPr>
              <p:cNvPr id="77862" name="Group 47"/>
              <p:cNvGrpSpPr>
                <a:grpSpLocks/>
              </p:cNvGrpSpPr>
              <p:nvPr/>
            </p:nvGrpSpPr>
            <p:grpSpPr bwMode="auto">
              <a:xfrm>
                <a:off x="432" y="3216"/>
                <a:ext cx="1104" cy="816"/>
                <a:chOff x="576" y="3360"/>
                <a:chExt cx="1104" cy="816"/>
              </a:xfrm>
            </p:grpSpPr>
            <p:sp>
              <p:nvSpPr>
                <p:cNvPr id="267312" name="Oval 48"/>
                <p:cNvSpPr>
                  <a:spLocks noChangeArrowheads="1"/>
                </p:cNvSpPr>
                <p:nvPr/>
              </p:nvSpPr>
              <p:spPr bwMode="auto">
                <a:xfrm>
                  <a:off x="576" y="3360"/>
                  <a:ext cx="1104" cy="816"/>
                </a:xfrm>
                <a:prstGeom prst="ellipse">
                  <a:avLst/>
                </a:prstGeom>
                <a:solidFill>
                  <a:srgbClr val="FFFF66"/>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grpSp>
              <p:nvGrpSpPr>
                <p:cNvPr id="77872" name="Group 49"/>
                <p:cNvGrpSpPr>
                  <a:grpSpLocks/>
                </p:cNvGrpSpPr>
                <p:nvPr/>
              </p:nvGrpSpPr>
              <p:grpSpPr bwMode="auto">
                <a:xfrm>
                  <a:off x="816" y="3744"/>
                  <a:ext cx="624" cy="96"/>
                  <a:chOff x="816" y="2688"/>
                  <a:chExt cx="912" cy="96"/>
                </a:xfrm>
              </p:grpSpPr>
              <p:sp>
                <p:nvSpPr>
                  <p:cNvPr id="267314" name="AutoShape 50"/>
                  <p:cNvSpPr>
                    <a:spLocks noChangeArrowheads="1"/>
                  </p:cNvSpPr>
                  <p:nvPr/>
                </p:nvSpPr>
                <p:spPr bwMode="auto">
                  <a:xfrm>
                    <a:off x="816" y="2688"/>
                    <a:ext cx="577" cy="95"/>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67315" name="AutoShape 51"/>
                  <p:cNvSpPr>
                    <a:spLocks noChangeArrowheads="1"/>
                  </p:cNvSpPr>
                  <p:nvPr/>
                </p:nvSpPr>
                <p:spPr bwMode="auto">
                  <a:xfrm>
                    <a:off x="1488" y="2688"/>
                    <a:ext cx="241" cy="95"/>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7875" name="AutoShape 52"/>
                  <p:cNvSpPr>
                    <a:spLocks noChangeArrowheads="1"/>
                  </p:cNvSpPr>
                  <p:nvPr/>
                </p:nvSpPr>
                <p:spPr bwMode="auto">
                  <a:xfrm>
                    <a:off x="1392" y="2688"/>
                    <a:ext cx="96" cy="96"/>
                  </a:xfrm>
                  <a:prstGeom prst="roundRect">
                    <a:avLst>
                      <a:gd name="adj" fmla="val 16667"/>
                    </a:avLst>
                  </a:prstGeom>
                  <a:solidFill>
                    <a:schemeClr val="accent2"/>
                  </a:solidFill>
                  <a:ln w="9525">
                    <a:solidFill>
                      <a:schemeClr val="tx1"/>
                    </a:solidFill>
                    <a:round/>
                    <a:headEnd/>
                    <a:tailEnd/>
                  </a:ln>
                </p:spPr>
                <p:txBody>
                  <a:bodyPr wrap="none" anchor="ctr"/>
                  <a:lstStyle/>
                  <a:p>
                    <a:pPr eaLnBrk="0" hangingPunct="0"/>
                    <a:endParaRPr lang="en-US">
                      <a:latin typeface="Helvetica" charset="0"/>
                    </a:endParaRPr>
                  </a:p>
                </p:txBody>
              </p:sp>
            </p:grpSp>
          </p:grpSp>
          <p:grpSp>
            <p:nvGrpSpPr>
              <p:cNvPr id="77863" name="Group 53"/>
              <p:cNvGrpSpPr>
                <a:grpSpLocks/>
              </p:cNvGrpSpPr>
              <p:nvPr/>
            </p:nvGrpSpPr>
            <p:grpSpPr bwMode="auto">
              <a:xfrm>
                <a:off x="2304" y="3216"/>
                <a:ext cx="1104" cy="816"/>
                <a:chOff x="2544" y="3312"/>
                <a:chExt cx="1104" cy="816"/>
              </a:xfrm>
            </p:grpSpPr>
            <p:sp>
              <p:nvSpPr>
                <p:cNvPr id="267318" name="Oval 54"/>
                <p:cNvSpPr>
                  <a:spLocks noChangeArrowheads="1"/>
                </p:cNvSpPr>
                <p:nvPr/>
              </p:nvSpPr>
              <p:spPr bwMode="auto">
                <a:xfrm>
                  <a:off x="2543" y="3312"/>
                  <a:ext cx="1105" cy="816"/>
                </a:xfrm>
                <a:prstGeom prst="ellipse">
                  <a:avLst/>
                </a:prstGeom>
                <a:solidFill>
                  <a:srgbClr val="FFFF66"/>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grpSp>
              <p:nvGrpSpPr>
                <p:cNvPr id="77867" name="Group 55"/>
                <p:cNvGrpSpPr>
                  <a:grpSpLocks/>
                </p:cNvGrpSpPr>
                <p:nvPr/>
              </p:nvGrpSpPr>
              <p:grpSpPr bwMode="auto">
                <a:xfrm>
                  <a:off x="2832" y="3648"/>
                  <a:ext cx="624" cy="96"/>
                  <a:chOff x="816" y="2688"/>
                  <a:chExt cx="912" cy="96"/>
                </a:xfrm>
              </p:grpSpPr>
              <p:sp>
                <p:nvSpPr>
                  <p:cNvPr id="267320" name="AutoShape 56"/>
                  <p:cNvSpPr>
                    <a:spLocks noChangeArrowheads="1"/>
                  </p:cNvSpPr>
                  <p:nvPr/>
                </p:nvSpPr>
                <p:spPr bwMode="auto">
                  <a:xfrm>
                    <a:off x="815" y="2688"/>
                    <a:ext cx="577" cy="95"/>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67321" name="AutoShape 57"/>
                  <p:cNvSpPr>
                    <a:spLocks noChangeArrowheads="1"/>
                  </p:cNvSpPr>
                  <p:nvPr/>
                </p:nvSpPr>
                <p:spPr bwMode="auto">
                  <a:xfrm>
                    <a:off x="1488" y="2688"/>
                    <a:ext cx="241" cy="95"/>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7870" name="AutoShape 58"/>
                  <p:cNvSpPr>
                    <a:spLocks noChangeArrowheads="1"/>
                  </p:cNvSpPr>
                  <p:nvPr/>
                </p:nvSpPr>
                <p:spPr bwMode="auto">
                  <a:xfrm>
                    <a:off x="1392" y="2688"/>
                    <a:ext cx="96" cy="96"/>
                  </a:xfrm>
                  <a:prstGeom prst="roundRect">
                    <a:avLst>
                      <a:gd name="adj" fmla="val 16667"/>
                    </a:avLst>
                  </a:prstGeom>
                  <a:solidFill>
                    <a:schemeClr val="accent2"/>
                  </a:solidFill>
                  <a:ln w="9525">
                    <a:solidFill>
                      <a:schemeClr val="tx1"/>
                    </a:solidFill>
                    <a:round/>
                    <a:headEnd/>
                    <a:tailEnd/>
                  </a:ln>
                </p:spPr>
                <p:txBody>
                  <a:bodyPr wrap="none" anchor="ctr"/>
                  <a:lstStyle/>
                  <a:p>
                    <a:pPr eaLnBrk="0" hangingPunct="0"/>
                    <a:endParaRPr lang="en-US" sz="1800" b="0">
                      <a:latin typeface="Times" charset="0"/>
                    </a:endParaRPr>
                  </a:p>
                </p:txBody>
              </p:sp>
            </p:grpSp>
          </p:grpSp>
          <p:sp>
            <p:nvSpPr>
              <p:cNvPr id="267323" name="AutoShape 59"/>
              <p:cNvSpPr>
                <a:spLocks noChangeArrowheads="1"/>
              </p:cNvSpPr>
              <p:nvPr/>
            </p:nvSpPr>
            <p:spPr bwMode="auto">
              <a:xfrm>
                <a:off x="3600" y="3504"/>
                <a:ext cx="432" cy="192"/>
              </a:xfrm>
              <a:prstGeom prst="rightArrow">
                <a:avLst>
                  <a:gd name="adj1" fmla="val 50000"/>
                  <a:gd name="adj2" fmla="val 104063"/>
                </a:avLst>
              </a:prstGeom>
              <a:solidFill>
                <a:schemeClr val="accent1"/>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67324" name="AutoShape 60"/>
              <p:cNvSpPr>
                <a:spLocks noChangeArrowheads="1"/>
              </p:cNvSpPr>
              <p:nvPr/>
            </p:nvSpPr>
            <p:spPr bwMode="auto">
              <a:xfrm>
                <a:off x="1824" y="3600"/>
                <a:ext cx="192" cy="191"/>
              </a:xfrm>
              <a:prstGeom prst="plus">
                <a:avLst>
                  <a:gd name="adj" fmla="val 25000"/>
                </a:avLst>
              </a:prstGeom>
              <a:solidFill>
                <a:schemeClr val="accent1"/>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grpSp>
        <p:sp>
          <p:nvSpPr>
            <p:cNvPr id="77861" name="Text Box 61"/>
            <p:cNvSpPr txBox="1">
              <a:spLocks noChangeArrowheads="1"/>
            </p:cNvSpPr>
            <p:nvPr/>
          </p:nvSpPr>
          <p:spPr bwMode="auto">
            <a:xfrm>
              <a:off x="864" y="2880"/>
              <a:ext cx="1636" cy="523"/>
            </a:xfrm>
            <a:prstGeom prst="rect">
              <a:avLst/>
            </a:prstGeom>
            <a:noFill/>
            <a:ln w="9525">
              <a:noFill/>
              <a:miter lim="800000"/>
              <a:headEnd/>
              <a:tailEnd/>
            </a:ln>
          </p:spPr>
          <p:txBody>
            <a:bodyPr wrap="none">
              <a:spAutoFit/>
            </a:bodyPr>
            <a:lstStyle/>
            <a:p>
              <a:pPr algn="l" eaLnBrk="0" hangingPunct="0"/>
              <a:r>
                <a:rPr lang="en-US">
                  <a:latin typeface="Helvetica" charset="0"/>
                </a:rPr>
                <a:t>meiosis reduces</a:t>
              </a:r>
            </a:p>
            <a:p>
              <a:pPr algn="l" eaLnBrk="0" hangingPunct="0"/>
              <a:r>
                <a:rPr lang="en-US">
                  <a:latin typeface="Helvetica" charset="0"/>
                </a:rPr>
                <a:t>genetic content</a:t>
              </a:r>
            </a:p>
          </p:txBody>
        </p:sp>
      </p:grpSp>
      <p:grpSp>
        <p:nvGrpSpPr>
          <p:cNvPr id="23" name="Group 62"/>
          <p:cNvGrpSpPr>
            <a:grpSpLocks/>
          </p:cNvGrpSpPr>
          <p:nvPr/>
        </p:nvGrpSpPr>
        <p:grpSpPr bwMode="auto">
          <a:xfrm>
            <a:off x="5715000" y="3352800"/>
            <a:ext cx="3128963" cy="1165225"/>
            <a:chOff x="3600" y="2112"/>
            <a:chExt cx="1971" cy="734"/>
          </a:xfrm>
        </p:grpSpPr>
        <p:grpSp>
          <p:nvGrpSpPr>
            <p:cNvPr id="77836" name="Group 63"/>
            <p:cNvGrpSpPr>
              <a:grpSpLocks/>
            </p:cNvGrpSpPr>
            <p:nvPr/>
          </p:nvGrpSpPr>
          <p:grpSpPr bwMode="auto">
            <a:xfrm>
              <a:off x="3648" y="2160"/>
              <a:ext cx="912" cy="624"/>
              <a:chOff x="4320" y="2448"/>
              <a:chExt cx="1104" cy="816"/>
            </a:xfrm>
          </p:grpSpPr>
          <p:sp>
            <p:nvSpPr>
              <p:cNvPr id="267328" name="Oval 64"/>
              <p:cNvSpPr>
                <a:spLocks noChangeArrowheads="1"/>
              </p:cNvSpPr>
              <p:nvPr/>
            </p:nvSpPr>
            <p:spPr bwMode="auto">
              <a:xfrm>
                <a:off x="4320" y="2448"/>
                <a:ext cx="1104" cy="816"/>
              </a:xfrm>
              <a:prstGeom prst="ellipse">
                <a:avLst/>
              </a:prstGeom>
              <a:solidFill>
                <a:srgbClr val="FFFF66"/>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grpSp>
            <p:nvGrpSpPr>
              <p:cNvPr id="77843" name="Group 65"/>
              <p:cNvGrpSpPr>
                <a:grpSpLocks/>
              </p:cNvGrpSpPr>
              <p:nvPr/>
            </p:nvGrpSpPr>
            <p:grpSpPr bwMode="auto">
              <a:xfrm>
                <a:off x="4560" y="2592"/>
                <a:ext cx="624" cy="528"/>
                <a:chOff x="3264" y="2400"/>
                <a:chExt cx="624" cy="528"/>
              </a:xfrm>
            </p:grpSpPr>
            <p:grpSp>
              <p:nvGrpSpPr>
                <p:cNvPr id="77844" name="Group 66"/>
                <p:cNvGrpSpPr>
                  <a:grpSpLocks/>
                </p:cNvGrpSpPr>
                <p:nvPr/>
              </p:nvGrpSpPr>
              <p:grpSpPr bwMode="auto">
                <a:xfrm>
                  <a:off x="3264" y="2400"/>
                  <a:ext cx="624" cy="96"/>
                  <a:chOff x="816" y="2688"/>
                  <a:chExt cx="912" cy="96"/>
                </a:xfrm>
              </p:grpSpPr>
              <p:sp>
                <p:nvSpPr>
                  <p:cNvPr id="267331" name="AutoShape 67"/>
                  <p:cNvSpPr>
                    <a:spLocks noChangeArrowheads="1"/>
                  </p:cNvSpPr>
                  <p:nvPr/>
                </p:nvSpPr>
                <p:spPr bwMode="auto">
                  <a:xfrm>
                    <a:off x="816" y="2688"/>
                    <a:ext cx="577" cy="95"/>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67332" name="AutoShape 68"/>
                  <p:cNvSpPr>
                    <a:spLocks noChangeArrowheads="1"/>
                  </p:cNvSpPr>
                  <p:nvPr/>
                </p:nvSpPr>
                <p:spPr bwMode="auto">
                  <a:xfrm>
                    <a:off x="1488" y="2688"/>
                    <a:ext cx="241" cy="95"/>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7859" name="AutoShape 69"/>
                  <p:cNvSpPr>
                    <a:spLocks noChangeArrowheads="1"/>
                  </p:cNvSpPr>
                  <p:nvPr/>
                </p:nvSpPr>
                <p:spPr bwMode="auto">
                  <a:xfrm>
                    <a:off x="1392" y="2688"/>
                    <a:ext cx="96" cy="96"/>
                  </a:xfrm>
                  <a:prstGeom prst="roundRect">
                    <a:avLst>
                      <a:gd name="adj" fmla="val 16667"/>
                    </a:avLst>
                  </a:prstGeom>
                  <a:solidFill>
                    <a:schemeClr val="accent2"/>
                  </a:solidFill>
                  <a:ln w="9525">
                    <a:solidFill>
                      <a:schemeClr val="tx1"/>
                    </a:solidFill>
                    <a:round/>
                    <a:headEnd/>
                    <a:tailEnd/>
                  </a:ln>
                </p:spPr>
                <p:txBody>
                  <a:bodyPr wrap="none" anchor="ctr"/>
                  <a:lstStyle/>
                  <a:p>
                    <a:pPr eaLnBrk="0" hangingPunct="0"/>
                    <a:endParaRPr lang="en-US" sz="1800" b="0">
                      <a:solidFill>
                        <a:schemeClr val="accent2"/>
                      </a:solidFill>
                      <a:latin typeface="Times" charset="0"/>
                    </a:endParaRPr>
                  </a:p>
                </p:txBody>
              </p:sp>
            </p:grpSp>
            <p:grpSp>
              <p:nvGrpSpPr>
                <p:cNvPr id="77845" name="Group 70"/>
                <p:cNvGrpSpPr>
                  <a:grpSpLocks/>
                </p:cNvGrpSpPr>
                <p:nvPr/>
              </p:nvGrpSpPr>
              <p:grpSpPr bwMode="auto">
                <a:xfrm>
                  <a:off x="3264" y="2544"/>
                  <a:ext cx="624" cy="96"/>
                  <a:chOff x="816" y="2688"/>
                  <a:chExt cx="912" cy="96"/>
                </a:xfrm>
              </p:grpSpPr>
              <p:sp>
                <p:nvSpPr>
                  <p:cNvPr id="267335" name="AutoShape 71"/>
                  <p:cNvSpPr>
                    <a:spLocks noChangeArrowheads="1"/>
                  </p:cNvSpPr>
                  <p:nvPr/>
                </p:nvSpPr>
                <p:spPr bwMode="auto">
                  <a:xfrm>
                    <a:off x="816" y="2688"/>
                    <a:ext cx="577" cy="97"/>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67336" name="AutoShape 72"/>
                  <p:cNvSpPr>
                    <a:spLocks noChangeArrowheads="1"/>
                  </p:cNvSpPr>
                  <p:nvPr/>
                </p:nvSpPr>
                <p:spPr bwMode="auto">
                  <a:xfrm>
                    <a:off x="1488" y="2688"/>
                    <a:ext cx="241" cy="97"/>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7856" name="AutoShape 73"/>
                  <p:cNvSpPr>
                    <a:spLocks noChangeArrowheads="1"/>
                  </p:cNvSpPr>
                  <p:nvPr/>
                </p:nvSpPr>
                <p:spPr bwMode="auto">
                  <a:xfrm>
                    <a:off x="1392" y="2688"/>
                    <a:ext cx="96" cy="96"/>
                  </a:xfrm>
                  <a:prstGeom prst="roundRect">
                    <a:avLst>
                      <a:gd name="adj" fmla="val 16667"/>
                    </a:avLst>
                  </a:prstGeom>
                  <a:solidFill>
                    <a:schemeClr val="accent2"/>
                  </a:solidFill>
                  <a:ln w="9525">
                    <a:solidFill>
                      <a:schemeClr val="tx1"/>
                    </a:solidFill>
                    <a:round/>
                    <a:headEnd/>
                    <a:tailEnd/>
                  </a:ln>
                </p:spPr>
                <p:txBody>
                  <a:bodyPr wrap="none" anchor="ctr"/>
                  <a:lstStyle/>
                  <a:p>
                    <a:pPr eaLnBrk="0" hangingPunct="0"/>
                    <a:endParaRPr lang="en-US" sz="1800" b="0">
                      <a:solidFill>
                        <a:schemeClr val="accent2"/>
                      </a:solidFill>
                      <a:latin typeface="Times" charset="0"/>
                    </a:endParaRPr>
                  </a:p>
                </p:txBody>
              </p:sp>
            </p:grpSp>
            <p:grpSp>
              <p:nvGrpSpPr>
                <p:cNvPr id="77846" name="Group 74"/>
                <p:cNvGrpSpPr>
                  <a:grpSpLocks/>
                </p:cNvGrpSpPr>
                <p:nvPr/>
              </p:nvGrpSpPr>
              <p:grpSpPr bwMode="auto">
                <a:xfrm>
                  <a:off x="3264" y="2688"/>
                  <a:ext cx="624" cy="96"/>
                  <a:chOff x="816" y="2688"/>
                  <a:chExt cx="912" cy="96"/>
                </a:xfrm>
              </p:grpSpPr>
              <p:sp>
                <p:nvSpPr>
                  <p:cNvPr id="267339" name="AutoShape 75"/>
                  <p:cNvSpPr>
                    <a:spLocks noChangeArrowheads="1"/>
                  </p:cNvSpPr>
                  <p:nvPr/>
                </p:nvSpPr>
                <p:spPr bwMode="auto">
                  <a:xfrm>
                    <a:off x="816" y="2688"/>
                    <a:ext cx="577" cy="97"/>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67340" name="AutoShape 76"/>
                  <p:cNvSpPr>
                    <a:spLocks noChangeArrowheads="1"/>
                  </p:cNvSpPr>
                  <p:nvPr/>
                </p:nvSpPr>
                <p:spPr bwMode="auto">
                  <a:xfrm>
                    <a:off x="1488" y="2688"/>
                    <a:ext cx="241" cy="97"/>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7853" name="AutoShape 77"/>
                  <p:cNvSpPr>
                    <a:spLocks noChangeArrowheads="1"/>
                  </p:cNvSpPr>
                  <p:nvPr/>
                </p:nvSpPr>
                <p:spPr bwMode="auto">
                  <a:xfrm>
                    <a:off x="1392" y="2688"/>
                    <a:ext cx="96" cy="96"/>
                  </a:xfrm>
                  <a:prstGeom prst="roundRect">
                    <a:avLst>
                      <a:gd name="adj" fmla="val 16667"/>
                    </a:avLst>
                  </a:prstGeom>
                  <a:solidFill>
                    <a:schemeClr val="accent2"/>
                  </a:solidFill>
                  <a:ln w="9525">
                    <a:solidFill>
                      <a:schemeClr val="tx1"/>
                    </a:solidFill>
                    <a:round/>
                    <a:headEnd/>
                    <a:tailEnd/>
                  </a:ln>
                </p:spPr>
                <p:txBody>
                  <a:bodyPr wrap="none" anchor="ctr"/>
                  <a:lstStyle/>
                  <a:p>
                    <a:pPr eaLnBrk="0" hangingPunct="0"/>
                    <a:endParaRPr lang="en-US" sz="1800" b="0">
                      <a:solidFill>
                        <a:schemeClr val="accent2"/>
                      </a:solidFill>
                      <a:latin typeface="Times" charset="0"/>
                    </a:endParaRPr>
                  </a:p>
                </p:txBody>
              </p:sp>
            </p:grpSp>
            <p:grpSp>
              <p:nvGrpSpPr>
                <p:cNvPr id="77847" name="Group 78"/>
                <p:cNvGrpSpPr>
                  <a:grpSpLocks/>
                </p:cNvGrpSpPr>
                <p:nvPr/>
              </p:nvGrpSpPr>
              <p:grpSpPr bwMode="auto">
                <a:xfrm>
                  <a:off x="3264" y="2832"/>
                  <a:ext cx="624" cy="96"/>
                  <a:chOff x="816" y="2688"/>
                  <a:chExt cx="912" cy="96"/>
                </a:xfrm>
              </p:grpSpPr>
              <p:sp>
                <p:nvSpPr>
                  <p:cNvPr id="267343" name="AutoShape 79"/>
                  <p:cNvSpPr>
                    <a:spLocks noChangeArrowheads="1"/>
                  </p:cNvSpPr>
                  <p:nvPr/>
                </p:nvSpPr>
                <p:spPr bwMode="auto">
                  <a:xfrm>
                    <a:off x="816" y="2689"/>
                    <a:ext cx="577" cy="95"/>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67344" name="AutoShape 80"/>
                  <p:cNvSpPr>
                    <a:spLocks noChangeArrowheads="1"/>
                  </p:cNvSpPr>
                  <p:nvPr/>
                </p:nvSpPr>
                <p:spPr bwMode="auto">
                  <a:xfrm>
                    <a:off x="1488" y="2689"/>
                    <a:ext cx="241" cy="95"/>
                  </a:xfrm>
                  <a:prstGeom prst="roundRect">
                    <a:avLst>
                      <a:gd name="adj" fmla="val 16667"/>
                    </a:avLst>
                  </a:prstGeom>
                  <a:solidFill>
                    <a:schemeClr val="accent1"/>
                  </a:solid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7850" name="AutoShape 81"/>
                  <p:cNvSpPr>
                    <a:spLocks noChangeArrowheads="1"/>
                  </p:cNvSpPr>
                  <p:nvPr/>
                </p:nvSpPr>
                <p:spPr bwMode="auto">
                  <a:xfrm>
                    <a:off x="1392" y="2688"/>
                    <a:ext cx="96" cy="96"/>
                  </a:xfrm>
                  <a:prstGeom prst="roundRect">
                    <a:avLst>
                      <a:gd name="adj" fmla="val 16667"/>
                    </a:avLst>
                  </a:prstGeom>
                  <a:solidFill>
                    <a:schemeClr val="accent2"/>
                  </a:solidFill>
                  <a:ln w="9525">
                    <a:solidFill>
                      <a:schemeClr val="tx1"/>
                    </a:solidFill>
                    <a:round/>
                    <a:headEnd/>
                    <a:tailEnd/>
                  </a:ln>
                </p:spPr>
                <p:txBody>
                  <a:bodyPr wrap="none" anchor="ctr"/>
                  <a:lstStyle/>
                  <a:p>
                    <a:pPr eaLnBrk="0" hangingPunct="0"/>
                    <a:endParaRPr lang="en-US" sz="1800" b="0">
                      <a:solidFill>
                        <a:schemeClr val="accent2"/>
                      </a:solidFill>
                      <a:latin typeface="Times" charset="0"/>
                    </a:endParaRPr>
                  </a:p>
                </p:txBody>
              </p:sp>
            </p:grpSp>
          </p:grpSp>
        </p:grpSp>
        <p:grpSp>
          <p:nvGrpSpPr>
            <p:cNvPr id="77837" name="Group 82"/>
            <p:cNvGrpSpPr>
              <a:grpSpLocks/>
            </p:cNvGrpSpPr>
            <p:nvPr/>
          </p:nvGrpSpPr>
          <p:grpSpPr bwMode="auto">
            <a:xfrm>
              <a:off x="3600" y="2112"/>
              <a:ext cx="1971" cy="734"/>
              <a:chOff x="3665" y="2146"/>
              <a:chExt cx="1971" cy="734"/>
            </a:xfrm>
          </p:grpSpPr>
          <p:grpSp>
            <p:nvGrpSpPr>
              <p:cNvPr id="77838" name="Group 83"/>
              <p:cNvGrpSpPr>
                <a:grpSpLocks/>
              </p:cNvGrpSpPr>
              <p:nvPr/>
            </p:nvGrpSpPr>
            <p:grpSpPr bwMode="auto">
              <a:xfrm>
                <a:off x="3665" y="2146"/>
                <a:ext cx="991" cy="734"/>
                <a:chOff x="4176" y="2064"/>
                <a:chExt cx="1200" cy="960"/>
              </a:xfrm>
            </p:grpSpPr>
            <p:sp>
              <p:nvSpPr>
                <p:cNvPr id="267348" name="Line 84"/>
                <p:cNvSpPr>
                  <a:spLocks noChangeShapeType="1"/>
                </p:cNvSpPr>
                <p:nvPr/>
              </p:nvSpPr>
              <p:spPr bwMode="auto">
                <a:xfrm>
                  <a:off x="4176" y="2064"/>
                  <a:ext cx="1200" cy="960"/>
                </a:xfrm>
                <a:prstGeom prst="line">
                  <a:avLst/>
                </a:prstGeom>
                <a:noFill/>
                <a:ln w="76200">
                  <a:solidFill>
                    <a:srgbClr val="FF0000"/>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67349" name="Line 85"/>
                <p:cNvSpPr>
                  <a:spLocks noChangeShapeType="1"/>
                </p:cNvSpPr>
                <p:nvPr/>
              </p:nvSpPr>
              <p:spPr bwMode="auto">
                <a:xfrm flipH="1">
                  <a:off x="4176" y="2064"/>
                  <a:ext cx="1200" cy="960"/>
                </a:xfrm>
                <a:prstGeom prst="line">
                  <a:avLst/>
                </a:prstGeom>
                <a:noFill/>
                <a:ln w="76200">
                  <a:solidFill>
                    <a:srgbClr val="FF0000"/>
                  </a:solidFill>
                  <a:round/>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grpSp>
          <p:sp>
            <p:nvSpPr>
              <p:cNvPr id="77839" name="Text Box 86"/>
              <p:cNvSpPr txBox="1">
                <a:spLocks noChangeArrowheads="1"/>
              </p:cNvSpPr>
              <p:nvPr/>
            </p:nvSpPr>
            <p:spPr bwMode="auto">
              <a:xfrm>
                <a:off x="4944" y="2218"/>
                <a:ext cx="692" cy="518"/>
              </a:xfrm>
              <a:prstGeom prst="rect">
                <a:avLst/>
              </a:prstGeom>
              <a:noFill/>
              <a:ln w="9525">
                <a:noFill/>
                <a:miter lim="800000"/>
                <a:headEnd/>
                <a:tailEnd/>
              </a:ln>
            </p:spPr>
            <p:txBody>
              <a:bodyPr wrap="none">
                <a:spAutoFit/>
              </a:bodyPr>
              <a:lstStyle/>
              <a:p>
                <a:pPr algn="l" eaLnBrk="0" hangingPunct="0"/>
                <a:r>
                  <a:rPr lang="en-US">
                    <a:solidFill>
                      <a:srgbClr val="FF0000"/>
                    </a:solidFill>
                    <a:latin typeface="Helvetica" charset="0"/>
                  </a:rPr>
                  <a:t>too</a:t>
                </a:r>
              </a:p>
              <a:p>
                <a:pPr algn="l" eaLnBrk="0" hangingPunct="0"/>
                <a:r>
                  <a:rPr lang="en-US">
                    <a:solidFill>
                      <a:srgbClr val="FF0000"/>
                    </a:solidFill>
                    <a:latin typeface="Helvetica" charset="0"/>
                  </a:rPr>
                  <a:t>much!</a:t>
                </a:r>
              </a:p>
            </p:txBody>
          </p:sp>
        </p:grpSp>
      </p:grpSp>
      <p:sp>
        <p:nvSpPr>
          <p:cNvPr id="267354" name="Text Box 90"/>
          <p:cNvSpPr txBox="1">
            <a:spLocks noChangeArrowheads="1"/>
          </p:cNvSpPr>
          <p:nvPr/>
        </p:nvSpPr>
        <p:spPr bwMode="auto">
          <a:xfrm>
            <a:off x="7620000" y="5638800"/>
            <a:ext cx="1143000" cy="823913"/>
          </a:xfrm>
          <a:prstGeom prst="rect">
            <a:avLst/>
          </a:prstGeom>
          <a:noFill/>
          <a:ln w="38100">
            <a:noFill/>
            <a:miter lim="800000"/>
            <a:headEnd/>
            <a:tailEnd/>
          </a:ln>
          <a:effectLst/>
        </p:spPr>
        <p:txBody>
          <a:bodyPr>
            <a:spAutoFit/>
          </a:bodyPr>
          <a:lstStyle/>
          <a:p>
            <a:pPr>
              <a:spcBef>
                <a:spcPct val="50000"/>
              </a:spcBef>
              <a:defRPr/>
            </a:pPr>
            <a:endParaRPr lang="en-US" sz="4800">
              <a:effectLst>
                <a:outerShdw blurRad="38100" dist="38100" dir="2700000" algn="tl">
                  <a:srgbClr val="C0C0C0"/>
                </a:outerShdw>
              </a:effectLst>
            </a:endParaRPr>
          </a:p>
        </p:txBody>
      </p:sp>
      <p:sp>
        <p:nvSpPr>
          <p:cNvPr id="267360" name="Text Box 96"/>
          <p:cNvSpPr txBox="1">
            <a:spLocks noChangeArrowheads="1"/>
          </p:cNvSpPr>
          <p:nvPr/>
        </p:nvSpPr>
        <p:spPr bwMode="auto">
          <a:xfrm>
            <a:off x="7467600" y="5486400"/>
            <a:ext cx="1676400" cy="822325"/>
          </a:xfrm>
          <a:prstGeom prst="rect">
            <a:avLst/>
          </a:prstGeom>
          <a:noFill/>
          <a:ln w="38100">
            <a:noFill/>
            <a:miter lim="800000"/>
            <a:headEnd/>
            <a:tailEnd/>
          </a:ln>
        </p:spPr>
        <p:txBody>
          <a:bodyPr>
            <a:spAutoFit/>
          </a:bodyPr>
          <a:lstStyle/>
          <a:p>
            <a:pPr algn="l" eaLnBrk="0" hangingPunct="0"/>
            <a:r>
              <a:rPr lang="en-US">
                <a:solidFill>
                  <a:srgbClr val="FF0000"/>
                </a:solidFill>
                <a:latin typeface="Helvetica" charset="0"/>
              </a:rPr>
              <a:t>The right number!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Process of Meiosis </a:t>
            </a:r>
          </a:p>
        </p:txBody>
      </p:sp>
      <p:sp>
        <p:nvSpPr>
          <p:cNvPr id="5" name="Footer Placeholder 4"/>
          <p:cNvSpPr>
            <a:spLocks noGrp="1"/>
          </p:cNvSpPr>
          <p:nvPr>
            <p:ph type="ftr" sz="quarter" idx="11"/>
          </p:nvPr>
        </p:nvSpPr>
        <p:spPr/>
        <p:txBody>
          <a:bodyPr/>
          <a:lstStyle/>
          <a:p>
            <a:pPr>
              <a:defRPr/>
            </a:pPr>
            <a:r>
              <a:rPr lang="en-US"/>
              <a:t>copyright cmassengale</a:t>
            </a:r>
          </a:p>
        </p:txBody>
      </p:sp>
      <p:sp>
        <p:nvSpPr>
          <p:cNvPr id="6" name="Slide Number Placeholder 5"/>
          <p:cNvSpPr>
            <a:spLocks noGrp="1"/>
          </p:cNvSpPr>
          <p:nvPr>
            <p:ph type="sldNum" sz="quarter" idx="12"/>
          </p:nvPr>
        </p:nvSpPr>
        <p:spPr/>
        <p:txBody>
          <a:bodyPr>
            <a:normAutofit fontScale="85000" lnSpcReduction="20000"/>
          </a:bodyPr>
          <a:lstStyle/>
          <a:p>
            <a:pPr>
              <a:defRPr/>
            </a:pPr>
            <a:fld id="{E97846E1-E9C1-4DCD-A5DE-51F8D2C1811C}" type="slidenum">
              <a:rPr lang="en-US" smtClean="0"/>
              <a:pPr>
                <a:defRPr/>
              </a:pPr>
              <a:t>37</a:t>
            </a:fld>
            <a:endParaRPr lang="en-US"/>
          </a:p>
        </p:txBody>
      </p:sp>
      <p:sp>
        <p:nvSpPr>
          <p:cNvPr id="8" name="Content Placeholder 7"/>
          <p:cNvSpPr>
            <a:spLocks noGrp="1"/>
          </p:cNvSpPr>
          <p:nvPr>
            <p:ph sz="quarter" idx="1"/>
          </p:nvPr>
        </p:nvSpPr>
        <p:spPr/>
        <p:txBody>
          <a:bodyPr/>
          <a:lstStyle/>
          <a:p>
            <a:r>
              <a:rPr lang="en-US" dirty="0">
                <a:hlinkClick r:id="rId2"/>
              </a:rPr>
              <a:t>Meiosis animation</a:t>
            </a:r>
            <a:endParaRPr lang="en-US" dirty="0"/>
          </a:p>
        </p:txBody>
      </p:sp>
    </p:spTree>
    <p:extLst>
      <p:ext uri="{BB962C8B-B14F-4D97-AF65-F5344CB8AC3E}">
        <p14:creationId xmlns:p14="http://schemas.microsoft.com/office/powerpoint/2010/main" val="17931897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1026"/>
          <p:cNvSpPr>
            <a:spLocks noGrp="1" noChangeArrowheads="1"/>
          </p:cNvSpPr>
          <p:nvPr>
            <p:ph type="title"/>
          </p:nvPr>
        </p:nvSpPr>
        <p:spPr>
          <a:xfrm>
            <a:off x="1447800" y="2895600"/>
            <a:ext cx="6705600" cy="685800"/>
          </a:xfrm>
        </p:spPr>
        <p:txBody>
          <a:bodyPr>
            <a:normAutofit fontScale="90000"/>
          </a:bodyPr>
          <a:lstStyle/>
          <a:p>
            <a:pPr algn="ctr" eaLnBrk="1" hangingPunct="1">
              <a:defRPr/>
            </a:pPr>
            <a:r>
              <a:rPr lang="en-US" sz="6600" b="1">
                <a:effectLst>
                  <a:outerShdw blurRad="38100" dist="38100" dir="2700000" algn="tl">
                    <a:srgbClr val="C0C0C0"/>
                  </a:outerShdw>
                </a:effectLst>
                <a:latin typeface="Comic Sans MS" pitchFamily="66" charset="0"/>
              </a:rPr>
              <a:t>Comparing Mitosis and Meiosis</a:t>
            </a:r>
          </a:p>
        </p:txBody>
      </p:sp>
      <p:sp>
        <p:nvSpPr>
          <p:cNvPr id="104450" name="Slide Number Placeholder 4"/>
          <p:cNvSpPr>
            <a:spLocks noGrp="1"/>
          </p:cNvSpPr>
          <p:nvPr>
            <p:ph type="sldNum" sz="quarter" idx="12"/>
          </p:nvPr>
        </p:nvSpPr>
        <p:spPr>
          <a:noFill/>
        </p:spPr>
        <p:txBody>
          <a:bodyPr>
            <a:normAutofit fontScale="85000" lnSpcReduction="20000"/>
          </a:bodyPr>
          <a:lstStyle/>
          <a:p>
            <a:fld id="{89096C57-F63C-49AC-A135-BA8A8F6CCE37}" type="slidenum">
              <a:rPr lang="en-US"/>
              <a:pPr/>
              <a:t>38</a:t>
            </a:fld>
            <a:endParaRPr lang="en-US"/>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0" name="Rectangle 50"/>
          <p:cNvSpPr>
            <a:spLocks noGrp="1" noChangeArrowheads="1"/>
          </p:cNvSpPr>
          <p:nvPr>
            <p:ph type="title"/>
          </p:nvPr>
        </p:nvSpPr>
        <p:spPr>
          <a:xfrm>
            <a:off x="76200" y="304800"/>
            <a:ext cx="9067800" cy="685800"/>
          </a:xfrm>
        </p:spPr>
        <p:txBody>
          <a:bodyPr>
            <a:normAutofit fontScale="90000"/>
          </a:bodyPr>
          <a:lstStyle/>
          <a:p>
            <a:pPr algn="ctr" eaLnBrk="1" hangingPunct="1">
              <a:defRPr/>
            </a:pPr>
            <a:r>
              <a:rPr lang="en-US" sz="4800" b="1" dirty="0">
                <a:solidFill>
                  <a:srgbClr val="C00000"/>
                </a:solidFill>
                <a:effectLst>
                  <a:outerShdw blurRad="38100" dist="38100" dir="2700000" algn="tl">
                    <a:srgbClr val="C0C0C0"/>
                  </a:outerShdw>
                </a:effectLst>
                <a:latin typeface="Comic Sans MS" pitchFamily="66" charset="0"/>
              </a:rPr>
              <a:t>Comparison of Divisions</a:t>
            </a:r>
          </a:p>
        </p:txBody>
      </p:sp>
      <p:sp>
        <p:nvSpPr>
          <p:cNvPr id="105474" name="Slide Number Placeholder 5"/>
          <p:cNvSpPr>
            <a:spLocks noGrp="1"/>
          </p:cNvSpPr>
          <p:nvPr>
            <p:ph type="sldNum" sz="quarter" idx="12"/>
          </p:nvPr>
        </p:nvSpPr>
        <p:spPr>
          <a:noFill/>
        </p:spPr>
        <p:txBody>
          <a:bodyPr>
            <a:normAutofit fontScale="85000" lnSpcReduction="20000"/>
          </a:bodyPr>
          <a:lstStyle/>
          <a:p>
            <a:fld id="{71725402-3BE3-45D8-98E7-8AA9028C8AB5}" type="slidenum">
              <a:rPr lang="en-US"/>
              <a:pPr/>
              <a:t>39</a:t>
            </a:fld>
            <a:endParaRPr lang="en-US"/>
          </a:p>
        </p:txBody>
      </p:sp>
      <p:graphicFrame>
        <p:nvGraphicFramePr>
          <p:cNvPr id="297009" name="Group 49"/>
          <p:cNvGraphicFramePr>
            <a:graphicFrameLocks noGrp="1"/>
          </p:cNvGraphicFramePr>
          <p:nvPr/>
        </p:nvGraphicFramePr>
        <p:xfrm>
          <a:off x="596900" y="1517806"/>
          <a:ext cx="7937500" cy="5187794"/>
        </p:xfrm>
        <a:graphic>
          <a:graphicData uri="http://schemas.openxmlformats.org/drawingml/2006/table">
            <a:tbl>
              <a:tblPr/>
              <a:tblGrid>
                <a:gridCol w="2513896">
                  <a:extLst>
                    <a:ext uri="{9D8B030D-6E8A-4147-A177-3AD203B41FA5}">
                      <a16:colId xmlns:a16="http://schemas.microsoft.com/office/drawing/2014/main" val="20000"/>
                    </a:ext>
                  </a:extLst>
                </a:gridCol>
                <a:gridCol w="2513896">
                  <a:extLst>
                    <a:ext uri="{9D8B030D-6E8A-4147-A177-3AD203B41FA5}">
                      <a16:colId xmlns:a16="http://schemas.microsoft.com/office/drawing/2014/main" val="20001"/>
                    </a:ext>
                  </a:extLst>
                </a:gridCol>
                <a:gridCol w="2909708">
                  <a:extLst>
                    <a:ext uri="{9D8B030D-6E8A-4147-A177-3AD203B41FA5}">
                      <a16:colId xmlns:a16="http://schemas.microsoft.com/office/drawing/2014/main" val="20002"/>
                    </a:ext>
                  </a:extLst>
                </a:gridCol>
              </a:tblGrid>
              <a:tr h="76937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Franklin Gothic Heavy" pitchFamily="34" charset="0"/>
                      </a:endParaRPr>
                    </a:p>
                  </a:txBody>
                  <a:tcPr anchor="ct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a:ln>
                            <a:noFill/>
                          </a:ln>
                          <a:solidFill>
                            <a:schemeClr val="tx1"/>
                          </a:solidFill>
                          <a:effectLst>
                            <a:outerShdw blurRad="38100" dist="38100" dir="2700000" algn="tl">
                              <a:srgbClr val="C0C0C0"/>
                            </a:outerShdw>
                          </a:effectLst>
                          <a:latin typeface="Comic Sans MS" pitchFamily="66" charset="0"/>
                        </a:rPr>
                        <a:t>Mitosis</a:t>
                      </a:r>
                    </a:p>
                  </a:txBody>
                  <a:tcPr anchor="ct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a:ln>
                            <a:noFill/>
                          </a:ln>
                          <a:solidFill>
                            <a:schemeClr val="tx1"/>
                          </a:solidFill>
                          <a:effectLst>
                            <a:outerShdw blurRad="38100" dist="38100" dir="2700000" algn="tl">
                              <a:srgbClr val="C0C0C0"/>
                            </a:outerShdw>
                          </a:effectLst>
                          <a:latin typeface="Comic Sans MS" pitchFamily="66" charset="0"/>
                        </a:rPr>
                        <a:t>Meiosis</a:t>
                      </a:r>
                    </a:p>
                  </a:txBody>
                  <a:tcPr anchor="ct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770713">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outerShdw blurRad="38100" dist="38100" dir="2700000" algn="tl">
                              <a:srgbClr val="C0C0C0"/>
                            </a:outerShdw>
                          </a:effectLst>
                          <a:latin typeface="Comic Sans MS" pitchFamily="66" charset="0"/>
                        </a:rPr>
                        <a:t>Number of divisions</a:t>
                      </a:r>
                    </a:p>
                  </a:txBody>
                  <a:tcPr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outerShdw blurRad="38100" dist="38100" dir="2700000" algn="tl">
                              <a:srgbClr val="C0C0C0"/>
                            </a:outerShdw>
                          </a:effectLst>
                          <a:latin typeface="Comic Sans MS" pitchFamily="66" charset="0"/>
                        </a:rPr>
                        <a:t>1</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outerShdw blurRad="38100" dist="38100" dir="2700000" algn="tl">
                              <a:srgbClr val="C0C0C0"/>
                            </a:outerShdw>
                          </a:effectLst>
                          <a:latin typeface="Comic Sans MS" pitchFamily="66" charset="0"/>
                        </a:rPr>
                        <a:t>2</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chemeClr val="tx1"/>
                        </a:solidFill>
                        <a:effectLst>
                          <a:outerShdw blurRad="38100" dist="38100" dir="2700000" algn="tl">
                            <a:srgbClr val="C0C0C0"/>
                          </a:outerShdw>
                        </a:effectLst>
                        <a:latin typeface="Comic Sans MS" pitchFamily="66" charset="0"/>
                      </a:endParaRP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709056">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outerShdw blurRad="38100" dist="38100" dir="2700000" algn="tl">
                              <a:srgbClr val="C0C0C0"/>
                            </a:outerShdw>
                          </a:effectLst>
                          <a:latin typeface="Comic Sans MS" pitchFamily="66" charset="0"/>
                        </a:rPr>
                        <a:t>Number of daughter cells</a:t>
                      </a:r>
                    </a:p>
                  </a:txBody>
                  <a:tcPr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outerShdw blurRad="38100" dist="38100" dir="2700000" algn="tl">
                              <a:srgbClr val="C0C0C0"/>
                            </a:outerShdw>
                          </a:effectLst>
                          <a:latin typeface="Comic Sans MS" pitchFamily="66" charset="0"/>
                        </a:rPr>
                        <a:t>2</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outerShdw blurRad="38100" dist="38100" dir="2700000" algn="tl">
                              <a:srgbClr val="C0C0C0"/>
                            </a:outerShdw>
                          </a:effectLst>
                          <a:latin typeface="Comic Sans MS" pitchFamily="66" charset="0"/>
                        </a:rPr>
                        <a:t>4</a:t>
                      </a: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694847">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outerShdw blurRad="38100" dist="38100" dir="2700000" algn="tl">
                              <a:srgbClr val="C0C0C0"/>
                            </a:outerShdw>
                          </a:effectLst>
                          <a:latin typeface="Comic Sans MS" pitchFamily="66" charset="0"/>
                        </a:rPr>
                        <a:t>Genetically identical?</a:t>
                      </a:r>
                    </a:p>
                  </a:txBody>
                  <a:tcPr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outerShdw blurRad="38100" dist="38100" dir="2700000" algn="tl">
                              <a:srgbClr val="C0C0C0"/>
                            </a:outerShdw>
                          </a:effectLst>
                          <a:latin typeface="Comic Sans MS" pitchFamily="66" charset="0"/>
                        </a:rPr>
                        <a:t>Yes</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outerShdw blurRad="38100" dist="38100" dir="2700000" algn="tl">
                              <a:srgbClr val="C0C0C0"/>
                            </a:outerShdw>
                          </a:effectLst>
                          <a:latin typeface="Comic Sans MS" pitchFamily="66" charset="0"/>
                        </a:rPr>
                        <a:t>No</a:t>
                      </a: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47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outerShdw blurRad="38100" dist="38100" dir="2700000" algn="tl">
                              <a:srgbClr val="C0C0C0"/>
                            </a:outerShdw>
                          </a:effectLst>
                          <a:latin typeface="Comic Sans MS" pitchFamily="66" charset="0"/>
                        </a:rPr>
                        <a:t>Chromosome #</a:t>
                      </a:r>
                    </a:p>
                  </a:txBody>
                  <a:tcPr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outerShdw blurRad="38100" dist="38100" dir="2700000" algn="tl">
                              <a:srgbClr val="C0C0C0"/>
                            </a:outerShdw>
                          </a:effectLst>
                          <a:latin typeface="Comic Sans MS" pitchFamily="66" charset="0"/>
                        </a:rPr>
                        <a:t>Same as parent</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outerShdw blurRad="38100" dist="38100" dir="2700000" algn="tl">
                              <a:srgbClr val="C0C0C0"/>
                            </a:outerShdw>
                          </a:effectLst>
                          <a:latin typeface="Comic Sans MS" pitchFamily="66" charset="0"/>
                        </a:rPr>
                        <a:t>Half of parent</a:t>
                      </a: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47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outerShdw blurRad="38100" dist="38100" dir="2700000" algn="tl">
                              <a:srgbClr val="C0C0C0"/>
                            </a:outerShdw>
                          </a:effectLst>
                          <a:latin typeface="Comic Sans MS" pitchFamily="66" charset="0"/>
                        </a:rPr>
                        <a:t>Where</a:t>
                      </a:r>
                    </a:p>
                  </a:txBody>
                  <a:tcPr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outerShdw blurRad="38100" dist="38100" dir="2700000" algn="tl">
                              <a:srgbClr val="C0C0C0"/>
                            </a:outerShdw>
                          </a:effectLst>
                          <a:latin typeface="Comic Sans MS" pitchFamily="66" charset="0"/>
                        </a:rPr>
                        <a:t>Somatic cells</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outerShdw blurRad="38100" dist="38100" dir="2700000" algn="tl">
                              <a:srgbClr val="C0C0C0"/>
                            </a:outerShdw>
                          </a:effectLst>
                          <a:latin typeface="Comic Sans MS" pitchFamily="66" charset="0"/>
                        </a:rPr>
                        <a:t>Germ cells</a:t>
                      </a: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336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outerShdw blurRad="38100" dist="38100" dir="2700000" algn="tl">
                              <a:srgbClr val="C0C0C0"/>
                            </a:outerShdw>
                          </a:effectLst>
                          <a:latin typeface="Comic Sans MS" pitchFamily="66" charset="0"/>
                        </a:rPr>
                        <a:t>When</a:t>
                      </a:r>
                    </a:p>
                  </a:txBody>
                  <a:tcPr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outerShdw blurRad="38100" dist="38100" dir="2700000" algn="tl">
                              <a:srgbClr val="C0C0C0"/>
                            </a:outerShdw>
                          </a:effectLst>
                          <a:latin typeface="Comic Sans MS" pitchFamily="66" charset="0"/>
                        </a:rPr>
                        <a:t>Throughout life</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outerShdw blurRad="38100" dist="38100" dir="2700000" algn="tl">
                              <a:srgbClr val="C0C0C0"/>
                            </a:outerShdw>
                          </a:effectLst>
                          <a:latin typeface="Comic Sans MS" pitchFamily="66" charset="0"/>
                        </a:rPr>
                        <a:t>At sexual maturity</a:t>
                      </a: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694847">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outerShdw blurRad="38100" dist="38100" dir="2700000" algn="tl">
                              <a:srgbClr val="C0C0C0"/>
                            </a:outerShdw>
                          </a:effectLst>
                          <a:latin typeface="Comic Sans MS" pitchFamily="66" charset="0"/>
                        </a:rPr>
                        <a:t>Role</a:t>
                      </a:r>
                    </a:p>
                  </a:txBody>
                  <a:tcPr anchor="ct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outerShdw blurRad="38100" dist="38100" dir="2700000" algn="tl">
                              <a:srgbClr val="C0C0C0"/>
                            </a:outerShdw>
                          </a:effectLst>
                          <a:latin typeface="Comic Sans MS" pitchFamily="66" charset="0"/>
                        </a:rPr>
                        <a:t>Growth and repair</a:t>
                      </a:r>
                    </a:p>
                  </a:txBody>
                  <a:tcPr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outerShdw blurRad="38100" dist="38100" dir="2700000" algn="tl">
                              <a:srgbClr val="C0C0C0"/>
                            </a:outerShdw>
                          </a:effectLst>
                          <a:latin typeface="Comic Sans MS" pitchFamily="66" charset="0"/>
                        </a:rPr>
                        <a:t>Sexual reproduction</a:t>
                      </a:r>
                    </a:p>
                  </a:txBody>
                  <a:tcPr anchor="ct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81000"/>
            <a:ext cx="9067800" cy="685800"/>
          </a:xfrm>
        </p:spPr>
        <p:txBody>
          <a:bodyPr>
            <a:normAutofit fontScale="90000"/>
          </a:bodyPr>
          <a:lstStyle/>
          <a:p>
            <a:r>
              <a:rPr lang="en-US" b="1" dirty="0">
                <a:solidFill>
                  <a:srgbClr val="C00000"/>
                </a:solidFill>
              </a:rPr>
              <a:t>Types of Cell Reproduction</a:t>
            </a:r>
          </a:p>
        </p:txBody>
      </p:sp>
      <p:sp>
        <p:nvSpPr>
          <p:cNvPr id="5" name="Slide Number Placeholder 4"/>
          <p:cNvSpPr>
            <a:spLocks noGrp="1"/>
          </p:cNvSpPr>
          <p:nvPr>
            <p:ph type="sldNum" sz="quarter" idx="12"/>
          </p:nvPr>
        </p:nvSpPr>
        <p:spPr/>
        <p:txBody>
          <a:bodyPr>
            <a:normAutofit fontScale="85000" lnSpcReduction="20000"/>
          </a:bodyPr>
          <a:lstStyle/>
          <a:p>
            <a:pPr>
              <a:defRPr/>
            </a:pPr>
            <a:fld id="{BFF81A94-89AE-41EC-9469-EBC7292D316B}" type="slidenum">
              <a:rPr lang="en-US" smtClean="0"/>
              <a:pPr>
                <a:defRPr/>
              </a:pPr>
              <a:t>40</a:t>
            </a:fld>
            <a:endParaRPr lang="en-US"/>
          </a:p>
        </p:txBody>
      </p:sp>
      <p:sp>
        <p:nvSpPr>
          <p:cNvPr id="7" name="Rectangle 6"/>
          <p:cNvSpPr/>
          <p:nvPr/>
        </p:nvSpPr>
        <p:spPr>
          <a:xfrm>
            <a:off x="457200" y="1295400"/>
            <a:ext cx="8229600" cy="4893647"/>
          </a:xfrm>
          <a:prstGeom prst="rect">
            <a:avLst/>
          </a:prstGeom>
        </p:spPr>
        <p:txBody>
          <a:bodyPr wrap="square">
            <a:spAutoFit/>
          </a:bodyPr>
          <a:lstStyle/>
          <a:p>
            <a:pPr algn="l"/>
            <a:endParaRPr lang="en-US" dirty="0">
              <a:solidFill>
                <a:schemeClr val="tx1"/>
              </a:solidFill>
            </a:endParaRPr>
          </a:p>
          <a:p>
            <a:pPr algn="l"/>
            <a:r>
              <a:rPr lang="en-US" dirty="0">
                <a:solidFill>
                  <a:schemeClr val="tx1"/>
                </a:solidFill>
              </a:rPr>
              <a:t>Asexual reproduction:</a:t>
            </a:r>
          </a:p>
          <a:p>
            <a:pPr algn="l"/>
            <a:r>
              <a:rPr lang="en-US" b="0" dirty="0">
                <a:solidFill>
                  <a:schemeClr val="tx1"/>
                </a:solidFill>
              </a:rPr>
              <a:t>Involves a single cell dividing to make 2 new, identical daughter cells </a:t>
            </a:r>
          </a:p>
          <a:p>
            <a:pPr algn="l"/>
            <a:endParaRPr lang="en-US" b="0" dirty="0">
              <a:solidFill>
                <a:schemeClr val="tx1"/>
              </a:solidFill>
            </a:endParaRPr>
          </a:p>
          <a:p>
            <a:pPr algn="l"/>
            <a:r>
              <a:rPr lang="en-US" b="0" dirty="0">
                <a:solidFill>
                  <a:schemeClr val="tx1"/>
                </a:solidFill>
              </a:rPr>
              <a:t>• Binary fission and budding are examples of asexual reproduction </a:t>
            </a:r>
          </a:p>
          <a:p>
            <a:pPr algn="l"/>
            <a:endParaRPr lang="en-US" dirty="0">
              <a:solidFill>
                <a:schemeClr val="tx1"/>
              </a:solidFill>
            </a:endParaRPr>
          </a:p>
          <a:p>
            <a:pPr algn="l"/>
            <a:r>
              <a:rPr lang="en-US" dirty="0">
                <a:solidFill>
                  <a:schemeClr val="tx1"/>
                </a:solidFill>
              </a:rPr>
              <a:t>Sexual reproduction </a:t>
            </a:r>
          </a:p>
          <a:p>
            <a:pPr algn="l"/>
            <a:r>
              <a:rPr lang="en-US" b="0" dirty="0">
                <a:solidFill>
                  <a:schemeClr val="tx1"/>
                </a:solidFill>
              </a:rPr>
              <a:t>Involves two cells (egg &amp; sperm) joining to make a new cell (zygote) that is NOT identical to the original cells.</a:t>
            </a:r>
          </a:p>
          <a:p>
            <a:pPr algn="l"/>
            <a:r>
              <a:rPr lang="en-US" b="0" dirty="0">
                <a:solidFill>
                  <a:schemeClr val="tx1"/>
                </a:solidFill>
              </a:rPr>
              <a:t> </a:t>
            </a:r>
          </a:p>
          <a:p>
            <a:pPr algn="l">
              <a:buFont typeface="Arial" pitchFamily="34" charset="0"/>
              <a:buChar char="•"/>
            </a:pPr>
            <a:r>
              <a:rPr lang="en-US" b="0" dirty="0">
                <a:solidFill>
                  <a:schemeClr val="tx1"/>
                </a:solidFill>
              </a:rPr>
              <a:t> Meiosis is an example </a:t>
            </a: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br>
              <a:rPr lang="en-US" dirty="0">
                <a:solidFill>
                  <a:schemeClr val="tx1"/>
                </a:solidFill>
              </a:rPr>
            </a:br>
            <a:r>
              <a:rPr lang="en-US" dirty="0">
                <a:solidFill>
                  <a:schemeClr val="tx1"/>
                </a:solidFill>
              </a:rPr>
              <a:t>Asexual reproduction:</a:t>
            </a:r>
            <a:br>
              <a:rPr lang="en-US" dirty="0">
                <a:solidFill>
                  <a:schemeClr val="tx1"/>
                </a:solidFill>
              </a:rPr>
            </a:br>
            <a:endParaRPr lang="en-US" dirty="0"/>
          </a:p>
        </p:txBody>
      </p:sp>
      <p:sp>
        <p:nvSpPr>
          <p:cNvPr id="5" name="Slide Number Placeholder 4"/>
          <p:cNvSpPr>
            <a:spLocks noGrp="1"/>
          </p:cNvSpPr>
          <p:nvPr>
            <p:ph type="sldNum" sz="quarter" idx="12"/>
          </p:nvPr>
        </p:nvSpPr>
        <p:spPr/>
        <p:txBody>
          <a:bodyPr>
            <a:normAutofit fontScale="85000" lnSpcReduction="20000"/>
          </a:bodyPr>
          <a:lstStyle/>
          <a:p>
            <a:pPr>
              <a:defRPr/>
            </a:pPr>
            <a:fld id="{BFF81A94-89AE-41EC-9469-EBC7292D316B}" type="slidenum">
              <a:rPr lang="en-US" smtClean="0"/>
              <a:pPr>
                <a:defRPr/>
              </a:pPr>
              <a:t>41</a:t>
            </a:fld>
            <a:endParaRPr lang="en-US"/>
          </a:p>
        </p:txBody>
      </p:sp>
      <p:sp>
        <p:nvSpPr>
          <p:cNvPr id="7" name="Content Placeholder 6"/>
          <p:cNvSpPr>
            <a:spLocks noGrp="1"/>
          </p:cNvSpPr>
          <p:nvPr>
            <p:ph sz="quarter" idx="1"/>
          </p:nvPr>
        </p:nvSpPr>
        <p:spPr/>
        <p:txBody>
          <a:bodyPr>
            <a:normAutofit fontScale="92500"/>
          </a:bodyPr>
          <a:lstStyle/>
          <a:p>
            <a:pPr marL="0" indent="0">
              <a:buNone/>
            </a:pPr>
            <a:r>
              <a:rPr lang="en-US" b="1" dirty="0"/>
              <a:t>Binary Fission: </a:t>
            </a:r>
          </a:p>
          <a:p>
            <a:r>
              <a:rPr lang="en-US" dirty="0"/>
              <a:t>Binary fission is the simplest form and involves the division of a single organism into two complete organisms, each identical to the other and to the parent. </a:t>
            </a:r>
          </a:p>
          <a:p>
            <a:r>
              <a:rPr lang="en-US" dirty="0"/>
              <a:t>Fission is common among unicellular organisms such as bacteria, many </a:t>
            </a:r>
            <a:r>
              <a:rPr lang="en-US" dirty="0" err="1"/>
              <a:t>protists</a:t>
            </a:r>
            <a:r>
              <a:rPr lang="en-US" dirty="0"/>
              <a:t>, some algae such as Spirogyra and Euglena, as well as a few higher organisms such as flatworms and certain species of </a:t>
            </a:r>
            <a:r>
              <a:rPr lang="en-US" dirty="0" err="1"/>
              <a:t>polychaete</a:t>
            </a:r>
            <a:r>
              <a:rPr lang="en-US" dirty="0"/>
              <a:t> worms. </a:t>
            </a:r>
            <a:br>
              <a:rPr lang="en-US" dirty="0"/>
            </a:br>
            <a:endParaRPr lang="en-US" dirty="0"/>
          </a:p>
        </p:txBody>
      </p:sp>
    </p:spTree>
    <p:extLst>
      <p:ext uri="{BB962C8B-B14F-4D97-AF65-F5344CB8AC3E}">
        <p14:creationId xmlns:p14="http://schemas.microsoft.com/office/powerpoint/2010/main" val="12643697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tx1"/>
                </a:solidFill>
              </a:rPr>
              <a:t>Asexual reproduction:</a:t>
            </a:r>
            <a:endParaRPr lang="en-US" dirty="0"/>
          </a:p>
        </p:txBody>
      </p:sp>
      <p:sp>
        <p:nvSpPr>
          <p:cNvPr id="4" name="Slide Number Placeholder 3"/>
          <p:cNvSpPr>
            <a:spLocks noGrp="1"/>
          </p:cNvSpPr>
          <p:nvPr>
            <p:ph type="sldNum" sz="quarter" idx="12"/>
          </p:nvPr>
        </p:nvSpPr>
        <p:spPr/>
        <p:txBody>
          <a:bodyPr>
            <a:normAutofit fontScale="85000" lnSpcReduction="20000"/>
          </a:bodyPr>
          <a:lstStyle/>
          <a:p>
            <a:pPr>
              <a:defRPr/>
            </a:pPr>
            <a:fld id="{17A12585-9F68-4899-931D-CDB0D37D1C92}" type="slidenum">
              <a:rPr lang="en-US" smtClean="0"/>
              <a:pPr>
                <a:defRPr/>
              </a:pPr>
              <a:t>42</a:t>
            </a:fld>
            <a:endParaRPr lang="en-US"/>
          </a:p>
        </p:txBody>
      </p:sp>
      <p:sp>
        <p:nvSpPr>
          <p:cNvPr id="5" name="Content Placeholder 4"/>
          <p:cNvSpPr>
            <a:spLocks noGrp="1"/>
          </p:cNvSpPr>
          <p:nvPr>
            <p:ph sz="quarter" idx="1"/>
          </p:nvPr>
        </p:nvSpPr>
        <p:spPr/>
        <p:txBody>
          <a:bodyPr>
            <a:normAutofit/>
          </a:bodyPr>
          <a:lstStyle/>
          <a:p>
            <a:pPr marL="0" indent="0">
              <a:buNone/>
            </a:pPr>
            <a:r>
              <a:rPr lang="en-US" b="1" dirty="0"/>
              <a:t>Regeneration: </a:t>
            </a:r>
          </a:p>
          <a:p>
            <a:r>
              <a:rPr lang="en-US" dirty="0"/>
              <a:t>A similar form of asexual reproduction is regeneration, in which an entire organism may be generated from a part of its parent. </a:t>
            </a:r>
          </a:p>
          <a:p>
            <a:endParaRPr lang="en-US" dirty="0"/>
          </a:p>
          <a:p>
            <a:r>
              <a:rPr lang="en-US" dirty="0"/>
              <a:t>The term regeneration normally refers to </a:t>
            </a:r>
            <a:r>
              <a:rPr lang="en-US" b="1" dirty="0"/>
              <a:t>re-growth</a:t>
            </a:r>
            <a:br>
              <a:rPr lang="en-US" b="1" dirty="0"/>
            </a:br>
            <a:r>
              <a:rPr lang="en-US" dirty="0"/>
              <a:t>of missing, or damaged body parts in higher organisms, but whole body regeneration occurs in</a:t>
            </a:r>
            <a:br>
              <a:rPr lang="en-US" dirty="0"/>
            </a:br>
            <a:r>
              <a:rPr lang="en-US" dirty="0"/>
              <a:t>Hydra, starfish, and many plants.</a:t>
            </a:r>
          </a:p>
          <a:p>
            <a:endParaRPr lang="en-US" dirty="0"/>
          </a:p>
        </p:txBody>
      </p:sp>
    </p:spTree>
    <p:extLst>
      <p:ext uri="{BB962C8B-B14F-4D97-AF65-F5344CB8AC3E}">
        <p14:creationId xmlns:p14="http://schemas.microsoft.com/office/powerpoint/2010/main" val="9752709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tx1"/>
                </a:solidFill>
              </a:rPr>
              <a:t>Asexual reproduction:</a:t>
            </a:r>
            <a:endParaRPr lang="en-US" dirty="0"/>
          </a:p>
        </p:txBody>
      </p:sp>
      <p:sp>
        <p:nvSpPr>
          <p:cNvPr id="4" name="Slide Number Placeholder 3"/>
          <p:cNvSpPr>
            <a:spLocks noGrp="1"/>
          </p:cNvSpPr>
          <p:nvPr>
            <p:ph type="sldNum" sz="quarter" idx="12"/>
          </p:nvPr>
        </p:nvSpPr>
        <p:spPr/>
        <p:txBody>
          <a:bodyPr>
            <a:normAutofit fontScale="85000" lnSpcReduction="20000"/>
          </a:bodyPr>
          <a:lstStyle/>
          <a:p>
            <a:pPr>
              <a:defRPr/>
            </a:pPr>
            <a:fld id="{17A12585-9F68-4899-931D-CDB0D37D1C92}" type="slidenum">
              <a:rPr lang="en-US" smtClean="0"/>
              <a:pPr>
                <a:defRPr/>
              </a:pPr>
              <a:t>43</a:t>
            </a:fld>
            <a:endParaRPr lang="en-US"/>
          </a:p>
        </p:txBody>
      </p:sp>
      <p:sp>
        <p:nvSpPr>
          <p:cNvPr id="5" name="Content Placeholder 4"/>
          <p:cNvSpPr>
            <a:spLocks noGrp="1"/>
          </p:cNvSpPr>
          <p:nvPr>
            <p:ph sz="quarter" idx="1"/>
          </p:nvPr>
        </p:nvSpPr>
        <p:spPr/>
        <p:txBody>
          <a:bodyPr>
            <a:normAutofit lnSpcReduction="10000"/>
          </a:bodyPr>
          <a:lstStyle/>
          <a:p>
            <a:pPr marL="0" indent="0">
              <a:buNone/>
            </a:pPr>
            <a:r>
              <a:rPr lang="en-US" b="1" dirty="0"/>
              <a:t>Asexual Spore: </a:t>
            </a:r>
          </a:p>
          <a:p>
            <a:r>
              <a:rPr lang="en-US" dirty="0"/>
              <a:t>Spores are another form of asexual reproduction and are common among bacteria, </a:t>
            </a:r>
            <a:r>
              <a:rPr lang="en-US" dirty="0" err="1"/>
              <a:t>protists</a:t>
            </a:r>
            <a:r>
              <a:rPr lang="en-US" dirty="0"/>
              <a:t>, and fungi. </a:t>
            </a:r>
          </a:p>
          <a:p>
            <a:endParaRPr lang="en-US" dirty="0"/>
          </a:p>
          <a:p>
            <a:r>
              <a:rPr lang="en-US" dirty="0"/>
              <a:t>Spores are DNA-containing capsules capable of sprouting into new organisms; unlike most seeds, spores are produced without sexual union of gametes, that is, reproductive cells. </a:t>
            </a:r>
            <a:br>
              <a:rPr lang="en-US" dirty="0"/>
            </a:br>
            <a:endParaRPr lang="en-US" dirty="0"/>
          </a:p>
        </p:txBody>
      </p:sp>
    </p:spTree>
    <p:extLst>
      <p:ext uri="{BB962C8B-B14F-4D97-AF65-F5344CB8AC3E}">
        <p14:creationId xmlns:p14="http://schemas.microsoft.com/office/powerpoint/2010/main" val="3878808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tx1"/>
                </a:solidFill>
              </a:rPr>
              <a:t>Asexual reproduction:</a:t>
            </a:r>
            <a:endParaRPr lang="en-US" dirty="0"/>
          </a:p>
        </p:txBody>
      </p:sp>
      <p:sp>
        <p:nvSpPr>
          <p:cNvPr id="4" name="Slide Number Placeholder 3"/>
          <p:cNvSpPr>
            <a:spLocks noGrp="1"/>
          </p:cNvSpPr>
          <p:nvPr>
            <p:ph type="sldNum" sz="quarter" idx="12"/>
          </p:nvPr>
        </p:nvSpPr>
        <p:spPr/>
        <p:txBody>
          <a:bodyPr>
            <a:normAutofit fontScale="85000" lnSpcReduction="20000"/>
          </a:bodyPr>
          <a:lstStyle/>
          <a:p>
            <a:pPr>
              <a:defRPr/>
            </a:pPr>
            <a:fld id="{17A12585-9F68-4899-931D-CDB0D37D1C92}" type="slidenum">
              <a:rPr lang="en-US" smtClean="0"/>
              <a:pPr>
                <a:defRPr/>
              </a:pPr>
              <a:t>44</a:t>
            </a:fld>
            <a:endParaRPr lang="en-US"/>
          </a:p>
        </p:txBody>
      </p:sp>
      <p:sp>
        <p:nvSpPr>
          <p:cNvPr id="5" name="Content Placeholder 4"/>
          <p:cNvSpPr>
            <a:spLocks noGrp="1"/>
          </p:cNvSpPr>
          <p:nvPr>
            <p:ph sz="quarter" idx="1"/>
          </p:nvPr>
        </p:nvSpPr>
        <p:spPr/>
        <p:txBody>
          <a:bodyPr/>
          <a:lstStyle/>
          <a:p>
            <a:pPr marL="0" indent="0">
              <a:buNone/>
            </a:pPr>
            <a:r>
              <a:rPr lang="en-US" b="1" dirty="0"/>
              <a:t>Budding: </a:t>
            </a:r>
          </a:p>
          <a:p>
            <a:r>
              <a:rPr lang="en-US" dirty="0"/>
              <a:t>Budding is another method of asexual reproduction in which a group of self-supportive cells sprouts from and then detaches from the parent organism. </a:t>
            </a:r>
          </a:p>
          <a:p>
            <a:r>
              <a:rPr lang="en-US" dirty="0"/>
              <a:t>Unlike eggs or spores, buds are multicellular and usually contain more than one cell layer. </a:t>
            </a:r>
          </a:p>
          <a:p>
            <a:r>
              <a:rPr lang="en-US" dirty="0"/>
              <a:t>Hydra and sea squirts reproduce by budding. </a:t>
            </a:r>
            <a:br>
              <a:rPr lang="en-US" dirty="0"/>
            </a:br>
            <a:endParaRPr lang="en-US" dirty="0"/>
          </a:p>
        </p:txBody>
      </p:sp>
    </p:spTree>
    <p:extLst>
      <p:ext uri="{BB962C8B-B14F-4D97-AF65-F5344CB8AC3E}">
        <p14:creationId xmlns:p14="http://schemas.microsoft.com/office/powerpoint/2010/main" val="16272388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tx1"/>
                </a:solidFill>
              </a:rPr>
              <a:t>Asexual reproduction:</a:t>
            </a:r>
            <a:endParaRPr lang="en-US" dirty="0"/>
          </a:p>
        </p:txBody>
      </p:sp>
      <p:sp>
        <p:nvSpPr>
          <p:cNvPr id="4" name="Slide Number Placeholder 3"/>
          <p:cNvSpPr>
            <a:spLocks noGrp="1"/>
          </p:cNvSpPr>
          <p:nvPr>
            <p:ph type="sldNum" sz="quarter" idx="12"/>
          </p:nvPr>
        </p:nvSpPr>
        <p:spPr/>
        <p:txBody>
          <a:bodyPr>
            <a:normAutofit fontScale="85000" lnSpcReduction="20000"/>
          </a:bodyPr>
          <a:lstStyle/>
          <a:p>
            <a:pPr>
              <a:defRPr/>
            </a:pPr>
            <a:fld id="{17A12585-9F68-4899-931D-CDB0D37D1C92}" type="slidenum">
              <a:rPr lang="en-US" smtClean="0"/>
              <a:pPr>
                <a:defRPr/>
              </a:pPr>
              <a:t>45</a:t>
            </a:fld>
            <a:endParaRPr lang="en-US"/>
          </a:p>
        </p:txBody>
      </p:sp>
      <p:sp>
        <p:nvSpPr>
          <p:cNvPr id="5" name="Content Placeholder 4"/>
          <p:cNvSpPr>
            <a:spLocks noGrp="1"/>
          </p:cNvSpPr>
          <p:nvPr>
            <p:ph sz="quarter" idx="1"/>
          </p:nvPr>
        </p:nvSpPr>
        <p:spPr>
          <a:xfrm>
            <a:off x="612648" y="1752600"/>
            <a:ext cx="8153400" cy="4495800"/>
          </a:xfrm>
        </p:spPr>
        <p:txBody>
          <a:bodyPr>
            <a:noAutofit/>
          </a:bodyPr>
          <a:lstStyle/>
          <a:p>
            <a:pPr marL="0" indent="0">
              <a:buNone/>
            </a:pPr>
            <a:r>
              <a:rPr lang="en-US" sz="2400" b="1" dirty="0"/>
              <a:t>Vegetative Reproduction: </a:t>
            </a:r>
          </a:p>
          <a:p>
            <a:r>
              <a:rPr lang="en-US" sz="2400" dirty="0"/>
              <a:t>Vegetative reproduction is common among plants and consists of certain parts that grow out from a main parent plant and eventually root and sprout to form new, independent plants. </a:t>
            </a:r>
          </a:p>
          <a:p>
            <a:r>
              <a:rPr lang="en-US" sz="2400" dirty="0"/>
              <a:t>Examples are the runners of strawberries, the tubers of potatoes, and the bulbs of onions. </a:t>
            </a:r>
          </a:p>
          <a:p>
            <a:pPr marL="0" indent="0">
              <a:buNone/>
            </a:pPr>
            <a:r>
              <a:rPr lang="en-US" sz="2400" b="1" dirty="0"/>
              <a:t>Parthenogenesis: </a:t>
            </a:r>
          </a:p>
          <a:p>
            <a:r>
              <a:rPr lang="en-US" sz="2400" dirty="0"/>
              <a:t>Parthenogenesis is an important means of asexual reproduction in which new individuals are formed from unfertilized eggs. </a:t>
            </a:r>
          </a:p>
          <a:p>
            <a:r>
              <a:rPr lang="en-US" sz="2400" dirty="0"/>
              <a:t>It occurs in some insects, amphibians, reptiles, and birds and in some species of plants.</a:t>
            </a:r>
            <a:br>
              <a:rPr lang="en-US" sz="2400" dirty="0"/>
            </a:br>
            <a:br>
              <a:rPr lang="en-US" sz="2400" dirty="0"/>
            </a:br>
            <a:endParaRPr lang="en-US" sz="2400" dirty="0"/>
          </a:p>
          <a:p>
            <a:endParaRPr lang="en-US" sz="2400" dirty="0"/>
          </a:p>
          <a:p>
            <a:endParaRPr lang="en-US" sz="2400" dirty="0"/>
          </a:p>
        </p:txBody>
      </p:sp>
    </p:spTree>
    <p:extLst>
      <p:ext uri="{BB962C8B-B14F-4D97-AF65-F5344CB8AC3E}">
        <p14:creationId xmlns:p14="http://schemas.microsoft.com/office/powerpoint/2010/main" val="76229023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16712</TotalTime>
  <Words>1832</Words>
  <Application>Microsoft Office PowerPoint</Application>
  <PresentationFormat>On-screen Show (4:3)</PresentationFormat>
  <Paragraphs>316</Paragraphs>
  <Slides>45</Slides>
  <Notes>36</Notes>
  <HiddenSlides>0</HiddenSlides>
  <MMClips>1</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45</vt:i4>
      </vt:variant>
    </vt:vector>
  </HeadingPairs>
  <TitlesOfParts>
    <vt:vector size="57" baseType="lpstr">
      <vt:lpstr>Arial</vt:lpstr>
      <vt:lpstr>Arial Narrow</vt:lpstr>
      <vt:lpstr>Bookman Old Style</vt:lpstr>
      <vt:lpstr>Comic Sans MS</vt:lpstr>
      <vt:lpstr>Franklin Gothic Heavy</vt:lpstr>
      <vt:lpstr>Helvetica</vt:lpstr>
      <vt:lpstr>Times</vt:lpstr>
      <vt:lpstr>Times New Roman</vt:lpstr>
      <vt:lpstr>Tw Cen MT</vt:lpstr>
      <vt:lpstr>Wingdings</vt:lpstr>
      <vt:lpstr>Wingdings 2</vt:lpstr>
      <vt:lpstr>Median</vt:lpstr>
      <vt:lpstr> Cellular Division  Prof. Dr. md. Mahbubul Morshed</vt:lpstr>
      <vt:lpstr>Cell Division</vt:lpstr>
      <vt:lpstr>Keeping Cells Identical</vt:lpstr>
      <vt:lpstr>DNA Replication</vt:lpstr>
      <vt:lpstr>Identical Daughter Cells</vt:lpstr>
      <vt:lpstr>Prokaryotic Chromosome</vt:lpstr>
      <vt:lpstr>Eukaryotic Chromosomes</vt:lpstr>
      <vt:lpstr>Compacting DNA into Chromosomes</vt:lpstr>
      <vt:lpstr>Chromosomes in Dividing Cells</vt:lpstr>
      <vt:lpstr>Karyotype</vt:lpstr>
      <vt:lpstr>Boy or Girl?</vt:lpstr>
      <vt:lpstr>Aging</vt:lpstr>
      <vt:lpstr>Cell Reproduction</vt:lpstr>
      <vt:lpstr>Cell Division in Prokaryotes</vt:lpstr>
      <vt:lpstr>Cell Division in Prokaryotes</vt:lpstr>
      <vt:lpstr>Prokaryotic Cell Undergoing Binary Fission</vt:lpstr>
      <vt:lpstr>The Cell Cycle</vt:lpstr>
      <vt:lpstr>Five Phases of the Cell Cycle</vt:lpstr>
      <vt:lpstr>Mitosis</vt:lpstr>
      <vt:lpstr>Mitosis</vt:lpstr>
      <vt:lpstr>Four Mitotic Stages</vt:lpstr>
      <vt:lpstr>Prophase</vt:lpstr>
      <vt:lpstr>Metaphase…</vt:lpstr>
      <vt:lpstr>Anaphase…</vt:lpstr>
      <vt:lpstr>Telophase…</vt:lpstr>
      <vt:lpstr>Mitosis</vt:lpstr>
      <vt:lpstr>CYTO KINESIS – Cytoplasm splits into 2 cells.</vt:lpstr>
      <vt:lpstr>Cell cycle</vt:lpstr>
      <vt:lpstr>Daughter Cells of Mitosis</vt:lpstr>
      <vt:lpstr>Animation on cell cycle and mitosis</vt:lpstr>
      <vt:lpstr>Meiosis  Formation of Gametes  (Eggs &amp; Sperm)</vt:lpstr>
      <vt:lpstr>Facts About Meiosis</vt:lpstr>
      <vt:lpstr>Facts About Meiosis</vt:lpstr>
      <vt:lpstr>Why Do we Need Meiosis?</vt:lpstr>
      <vt:lpstr>Fertilization – “Putting it all together”</vt:lpstr>
      <vt:lpstr>Meiosis Forms Haploid Gametes</vt:lpstr>
      <vt:lpstr>Process of Meiosis </vt:lpstr>
      <vt:lpstr>Comparing Mitosis and Meiosis</vt:lpstr>
      <vt:lpstr>Comparison of Divisions</vt:lpstr>
      <vt:lpstr>Types of Cell Reproduction</vt:lpstr>
      <vt:lpstr> Asexual reproduction: </vt:lpstr>
      <vt:lpstr>Asexual reproduction:</vt:lpstr>
      <vt:lpstr>Asexual reproduction:</vt:lpstr>
      <vt:lpstr>Asexual reproduction:</vt:lpstr>
      <vt:lpstr>Asexual reproduction:</vt:lpstr>
    </vt:vector>
  </TitlesOfParts>
  <Company>SHS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Cell Cycle &amp; Cell Division</dc:title>
  <dc:creator>Cheryl Massengale</dc:creator>
  <cp:lastModifiedBy>mahbubul.morshed@gmail.com</cp:lastModifiedBy>
  <cp:revision>204</cp:revision>
  <cp:lastPrinted>2006-02-22T19:50:02Z</cp:lastPrinted>
  <dcterms:created xsi:type="dcterms:W3CDTF">2006-01-05T02:36:12Z</dcterms:created>
  <dcterms:modified xsi:type="dcterms:W3CDTF">2026-05-31T05:39:25Z</dcterms:modified>
</cp:coreProperties>
</file>