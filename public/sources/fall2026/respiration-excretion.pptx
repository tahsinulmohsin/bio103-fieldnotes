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5"/>
  </p:notesMasterIdLst>
  <p:handoutMasterIdLst>
    <p:handoutMasterId r:id="rId26"/>
  </p:handoutMasterIdLst>
  <p:sldIdLst>
    <p:sldId id="256" r:id="rId2"/>
    <p:sldId id="257" r:id="rId3"/>
    <p:sldId id="271" r:id="rId4"/>
    <p:sldId id="258" r:id="rId5"/>
    <p:sldId id="259" r:id="rId6"/>
    <p:sldId id="260" r:id="rId7"/>
    <p:sldId id="261" r:id="rId8"/>
    <p:sldId id="273" r:id="rId9"/>
    <p:sldId id="262" r:id="rId10"/>
    <p:sldId id="263" r:id="rId11"/>
    <p:sldId id="264" r:id="rId12"/>
    <p:sldId id="265" r:id="rId13"/>
    <p:sldId id="266" r:id="rId14"/>
    <p:sldId id="267" r:id="rId15"/>
    <p:sldId id="268" r:id="rId16"/>
    <p:sldId id="269" r:id="rId17"/>
    <p:sldId id="279" r:id="rId18"/>
    <p:sldId id="274" r:id="rId19"/>
    <p:sldId id="275" r:id="rId20"/>
    <p:sldId id="276" r:id="rId21"/>
    <p:sldId id="277" r:id="rId22"/>
    <p:sldId id="278" r:id="rId23"/>
    <p:sldId id="272" r:id="rId24"/>
  </p:sldIdLst>
  <p:sldSz cx="9144000" cy="6858000" type="screen4x3"/>
  <p:notesSz cx="9928225" cy="67976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2F42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7" d="100"/>
          <a:sy n="67" d="100"/>
        </p:scale>
        <p:origin x="1476" y="6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303313" cy="34021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5622594" y="0"/>
            <a:ext cx="4303313" cy="340210"/>
          </a:xfrm>
          <a:prstGeom prst="rect">
            <a:avLst/>
          </a:prstGeom>
        </p:spPr>
        <p:txBody>
          <a:bodyPr vert="horz" lIns="91440" tIns="45720" rIns="91440" bIns="45720" rtlCol="0"/>
          <a:lstStyle>
            <a:lvl1pPr algn="r">
              <a:defRPr sz="1200"/>
            </a:lvl1pPr>
          </a:lstStyle>
          <a:p>
            <a:fld id="{00B2D407-A15E-4609-880C-E0562488ACB8}" type="datetimeFigureOut">
              <a:rPr lang="en-US" smtClean="0"/>
              <a:pPr/>
              <a:t>8/19/2026</a:t>
            </a:fld>
            <a:endParaRPr lang="en-US"/>
          </a:p>
        </p:txBody>
      </p:sp>
      <p:sp>
        <p:nvSpPr>
          <p:cNvPr id="4" name="Footer Placeholder 3"/>
          <p:cNvSpPr>
            <a:spLocks noGrp="1"/>
          </p:cNvSpPr>
          <p:nvPr>
            <p:ph type="ftr" sz="quarter" idx="2"/>
          </p:nvPr>
        </p:nvSpPr>
        <p:spPr>
          <a:xfrm>
            <a:off x="0" y="6456378"/>
            <a:ext cx="4303313" cy="34021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5622594" y="6456378"/>
            <a:ext cx="4303313" cy="340210"/>
          </a:xfrm>
          <a:prstGeom prst="rect">
            <a:avLst/>
          </a:prstGeom>
        </p:spPr>
        <p:txBody>
          <a:bodyPr vert="horz" lIns="91440" tIns="45720" rIns="91440" bIns="45720" rtlCol="0" anchor="b"/>
          <a:lstStyle>
            <a:lvl1pPr algn="r">
              <a:defRPr sz="1200"/>
            </a:lvl1pPr>
          </a:lstStyle>
          <a:p>
            <a:fld id="{C04A304F-4D95-4A07-88C1-090FA50D6164}" type="slidenum">
              <a:rPr lang="en-US" smtClean="0"/>
              <a:pPr/>
              <a:t>‹#›</a:t>
            </a:fld>
            <a:endParaRPr lang="en-US"/>
          </a:p>
        </p:txBody>
      </p:sp>
    </p:spTree>
    <p:extLst>
      <p:ext uri="{BB962C8B-B14F-4D97-AF65-F5344CB8AC3E}">
        <p14:creationId xmlns:p14="http://schemas.microsoft.com/office/powerpoint/2010/main" val="74491015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4302231" cy="339884"/>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623698" y="0"/>
            <a:ext cx="4302231" cy="339884"/>
          </a:xfrm>
          <a:prstGeom prst="rect">
            <a:avLst/>
          </a:prstGeom>
        </p:spPr>
        <p:txBody>
          <a:bodyPr vert="horz" lIns="91440" tIns="45720" rIns="91440" bIns="45720" rtlCol="0"/>
          <a:lstStyle>
            <a:lvl1pPr algn="r">
              <a:defRPr sz="1200"/>
            </a:lvl1pPr>
          </a:lstStyle>
          <a:p>
            <a:fld id="{C5D0E546-0944-4C4C-B28C-2F2F657DACF0}" type="datetimeFigureOut">
              <a:rPr lang="en-US" smtClean="0"/>
              <a:pPr/>
              <a:t>8/19/2026</a:t>
            </a:fld>
            <a:endParaRPr lang="en-US"/>
          </a:p>
        </p:txBody>
      </p:sp>
      <p:sp>
        <p:nvSpPr>
          <p:cNvPr id="4" name="Slide Image Placeholder 3"/>
          <p:cNvSpPr>
            <a:spLocks noGrp="1" noRot="1" noChangeAspect="1"/>
          </p:cNvSpPr>
          <p:nvPr>
            <p:ph type="sldImg" idx="2"/>
          </p:nvPr>
        </p:nvSpPr>
        <p:spPr>
          <a:xfrm>
            <a:off x="3263900" y="509588"/>
            <a:ext cx="3400425" cy="254952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92823" y="3228896"/>
            <a:ext cx="7942580" cy="305895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1" y="6456612"/>
            <a:ext cx="4302231" cy="339884"/>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623698" y="6456612"/>
            <a:ext cx="4302231" cy="339884"/>
          </a:xfrm>
          <a:prstGeom prst="rect">
            <a:avLst/>
          </a:prstGeom>
        </p:spPr>
        <p:txBody>
          <a:bodyPr vert="horz" lIns="91440" tIns="45720" rIns="91440" bIns="45720" rtlCol="0" anchor="b"/>
          <a:lstStyle>
            <a:lvl1pPr algn="r">
              <a:defRPr sz="1200"/>
            </a:lvl1pPr>
          </a:lstStyle>
          <a:p>
            <a:fld id="{34514DD8-87B1-4790-AE62-16B6DE7FEB0B}" type="slidenum">
              <a:rPr lang="en-US" smtClean="0"/>
              <a:pPr/>
              <a:t>‹#›</a:t>
            </a:fld>
            <a:endParaRPr lang="en-US"/>
          </a:p>
        </p:txBody>
      </p:sp>
    </p:spTree>
    <p:extLst>
      <p:ext uri="{BB962C8B-B14F-4D97-AF65-F5344CB8AC3E}">
        <p14:creationId xmlns:p14="http://schemas.microsoft.com/office/powerpoint/2010/main" val="32579709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4514DD8-87B1-4790-AE62-16B6DE7FEB0B}" type="slidenum">
              <a:rPr lang="en-US" smtClean="0"/>
              <a:pPr/>
              <a:t>16</a:t>
            </a:fld>
            <a:endParaRPr lang="en-US"/>
          </a:p>
        </p:txBody>
      </p:sp>
    </p:spTree>
    <p:extLst>
      <p:ext uri="{BB962C8B-B14F-4D97-AF65-F5344CB8AC3E}">
        <p14:creationId xmlns:p14="http://schemas.microsoft.com/office/powerpoint/2010/main" val="6199524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3">
        <a:schemeClr val="bg1"/>
      </p:bgRef>
    </p:bg>
    <p:spTree>
      <p:nvGrpSpPr>
        <p:cNvPr id="1" name=""/>
        <p:cNvGrpSpPr/>
        <p:nvPr/>
      </p:nvGrpSpPr>
      <p:grpSpPr>
        <a:xfrm>
          <a:off x="0" y="0"/>
          <a:ext cx="0" cy="0"/>
          <a:chOff x="0" y="0"/>
          <a:chExt cx="0" cy="0"/>
        </a:xfrm>
      </p:grpSpPr>
      <p:sp>
        <p:nvSpPr>
          <p:cNvPr id="12" name="Rectangle 11"/>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3" name="Rounded Rectangle 12"/>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p:txBody>
          <a:bodyPr/>
          <a:lstStyle/>
          <a:p>
            <a:fld id="{96CBFB8E-B642-4A9D-8F47-7465C47E983F}" type="datetimeFigureOut">
              <a:rPr lang="en-US" smtClean="0"/>
              <a:pPr/>
              <a:t>8/19/2026</a:t>
            </a:fld>
            <a:endParaRPr lang="en-US"/>
          </a:p>
        </p:txBody>
      </p:sp>
      <p:sp>
        <p:nvSpPr>
          <p:cNvPr id="17" name="Footer Placeholder 16"/>
          <p:cNvSpPr>
            <a:spLocks noGrp="1"/>
          </p:cNvSpPr>
          <p:nvPr>
            <p:ph type="ftr" sz="quarter" idx="11"/>
          </p:nvPr>
        </p:nvSpPr>
        <p:spPr/>
        <p:txBody>
          <a:bodyPr/>
          <a:lstStyle/>
          <a:p>
            <a:endParaRPr lang="en-US"/>
          </a:p>
        </p:txBody>
      </p:sp>
      <p:sp>
        <p:nvSpPr>
          <p:cNvPr id="29" name="Slide Number Placeholder 28"/>
          <p:cNvSpPr>
            <a:spLocks noGrp="1"/>
          </p:cNvSpPr>
          <p:nvPr>
            <p:ph type="sldNum" sz="quarter" idx="12"/>
          </p:nvPr>
        </p:nvSpPr>
        <p:spPr/>
        <p:txBody>
          <a:bodyPr lIns="0" tIns="0" rIns="0" bIns="0">
            <a:noAutofit/>
          </a:bodyPr>
          <a:lstStyle>
            <a:lvl1pPr>
              <a:defRPr sz="1400">
                <a:solidFill>
                  <a:srgbClr val="FFFFFF"/>
                </a:solidFill>
              </a:defRPr>
            </a:lvl1pPr>
          </a:lstStyle>
          <a:p>
            <a:fld id="{3BDBB854-D73F-4175-B1A0-5FF96D84065E}" type="slidenum">
              <a:rPr lang="en-US" smtClean="0"/>
              <a:pPr/>
              <a:t>‹#›</a:t>
            </a:fld>
            <a:endParaRPr lang="en-US"/>
          </a:p>
        </p:txBody>
      </p:sp>
      <p:sp>
        <p:nvSpPr>
          <p:cNvPr id="7" name="Rectangle 6"/>
          <p:cNvSpPr/>
          <p:nvPr/>
        </p:nvSpPr>
        <p:spPr>
          <a:xfrm>
            <a:off x="62931" y="1449303"/>
            <a:ext cx="9021537"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62931" y="1396720"/>
            <a:ext cx="9021537"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62931" y="2976649"/>
            <a:ext cx="9021537"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kumimoji="0" lang="en-US"/>
              <a:t>Click to edit Master title style</a:t>
            </a:r>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fld id="{96CBFB8E-B642-4A9D-8F47-7465C47E983F}" type="datetimeFigureOut">
              <a:rPr lang="en-US" smtClean="0"/>
              <a:pPr/>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BDBB854-D73F-4175-B1A0-5FF96D84065E}" type="slidenum">
              <a:rPr lang="en-US" smtClean="0"/>
              <a:pPr/>
              <a:t>‹#›</a:t>
            </a:fld>
            <a:endParaRPr lang="en-US"/>
          </a:p>
        </p:txBody>
      </p:sp>
      <p:sp>
        <p:nvSpPr>
          <p:cNvPr id="8" name="Content Placeholder 7"/>
          <p:cNvSpPr>
            <a:spLocks noGrp="1"/>
          </p:cNvSpPr>
          <p:nvPr>
            <p:ph sz="quarter" idx="1"/>
          </p:nvPr>
        </p:nvSpPr>
        <p:spPr>
          <a:xfrm>
            <a:off x="914400" y="1447800"/>
            <a:ext cx="777240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11" name="Rectangle 10"/>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0" name="Rounded Rectangle 9"/>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722313" y="952500"/>
            <a:ext cx="7772400" cy="1362075"/>
          </a:xfrm>
        </p:spPr>
        <p:txBody>
          <a:bodyPr anchor="b" anchorCtr="0"/>
          <a:lstStyle>
            <a:lvl1pPr algn="l">
              <a:buNone/>
              <a:defRPr sz="4000" b="0" cap="none"/>
            </a:lvl1pPr>
          </a:lstStyle>
          <a:p>
            <a:r>
              <a:rPr kumimoji="0" lang="en-US"/>
              <a:t>Click to edit Master title style</a:t>
            </a:r>
          </a:p>
        </p:txBody>
      </p:sp>
      <p:sp>
        <p:nvSpPr>
          <p:cNvPr id="3" name="Text Placeholder 2"/>
          <p:cNvSpPr>
            <a:spLocks noGrp="1"/>
          </p:cNvSpPr>
          <p:nvPr>
            <p:ph type="body" idx="1"/>
          </p:nvPr>
        </p:nvSpPr>
        <p:spPr>
          <a:xfrm>
            <a:off x="722313" y="2547938"/>
            <a:ext cx="77724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96CBFB8E-B642-4A9D-8F47-7465C47E983F}" type="datetimeFigureOut">
              <a:rPr lang="en-US" smtClean="0"/>
              <a:pPr/>
              <a:t>8/19/2026</a:t>
            </a:fld>
            <a:endParaRPr lang="en-US"/>
          </a:p>
        </p:txBody>
      </p:sp>
      <p:sp>
        <p:nvSpPr>
          <p:cNvPr id="5" name="Footer Placeholder 4"/>
          <p:cNvSpPr>
            <a:spLocks noGrp="1"/>
          </p:cNvSpPr>
          <p:nvPr>
            <p:ph type="ftr" sz="quarter" idx="11"/>
          </p:nvPr>
        </p:nvSpPr>
        <p:spPr>
          <a:xfrm>
            <a:off x="800100" y="6172200"/>
            <a:ext cx="4000500" cy="457200"/>
          </a:xfrm>
        </p:spPr>
        <p:txBody>
          <a:bodyPr/>
          <a:lstStyle/>
          <a:p>
            <a:endParaRPr lang="en-US"/>
          </a:p>
        </p:txBody>
      </p:sp>
      <p:sp>
        <p:nvSpPr>
          <p:cNvPr id="7" name="Rectangle 6"/>
          <p:cNvSpPr/>
          <p:nvPr/>
        </p:nvSpPr>
        <p:spPr>
          <a:xfrm flipV="1">
            <a:off x="69412" y="2376830"/>
            <a:ext cx="9013515"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69146" y="2341475"/>
            <a:ext cx="9013781"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68306" y="2468880"/>
            <a:ext cx="9014621"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146304" y="6208776"/>
            <a:ext cx="457200" cy="457200"/>
          </a:xfrm>
        </p:spPr>
        <p:txBody>
          <a:bodyPr/>
          <a:lstStyle/>
          <a:p>
            <a:fld id="{3BDBB854-D73F-4175-B1A0-5FF96D84065E}"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5" name="Date Placeholder 4"/>
          <p:cNvSpPr>
            <a:spLocks noGrp="1"/>
          </p:cNvSpPr>
          <p:nvPr>
            <p:ph type="dt" sz="half" idx="10"/>
          </p:nvPr>
        </p:nvSpPr>
        <p:spPr/>
        <p:txBody>
          <a:bodyPr/>
          <a:lstStyle/>
          <a:p>
            <a:fld id="{96CBFB8E-B642-4A9D-8F47-7465C47E983F}" type="datetimeFigureOut">
              <a:rPr lang="en-US" smtClean="0"/>
              <a:pPr/>
              <a:t>8/19/2026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BDBB854-D73F-4175-B1A0-5FF96D84065E}" type="slidenum">
              <a:rPr lang="en-US" smtClean="0"/>
              <a:pPr/>
              <a:t>‹#›</a:t>
            </a:fld>
            <a:endParaRPr lang="en-US"/>
          </a:p>
        </p:txBody>
      </p:sp>
      <p:sp>
        <p:nvSpPr>
          <p:cNvPr id="9" name="Content Placeholder 8"/>
          <p:cNvSpPr>
            <a:spLocks noGrp="1"/>
          </p:cNvSpPr>
          <p:nvPr>
            <p:ph sz="quarter" idx="1"/>
          </p:nvPr>
        </p:nvSpPr>
        <p:spPr>
          <a:xfrm>
            <a:off x="914400" y="1447800"/>
            <a:ext cx="374904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933950" y="1447800"/>
            <a:ext cx="374904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7772400" cy="1143000"/>
          </a:xfrm>
        </p:spPr>
        <p:txBody>
          <a:bodyPr anchor="b" anchorCtr="0"/>
          <a:lstStyle>
            <a:lvl1pPr>
              <a:defRPr/>
            </a:lvl1pPr>
          </a:lstStyle>
          <a:p>
            <a:r>
              <a:rPr kumimoji="0" lang="en-US"/>
              <a:t>Click to edit Master title style</a:t>
            </a:r>
          </a:p>
        </p:txBody>
      </p:sp>
      <p:sp>
        <p:nvSpPr>
          <p:cNvPr id="3" name="Text Placeholder 2"/>
          <p:cNvSpPr>
            <a:spLocks noGrp="1"/>
          </p:cNvSpPr>
          <p:nvPr>
            <p:ph type="body" idx="1"/>
          </p:nvPr>
        </p:nvSpPr>
        <p:spPr>
          <a:xfrm>
            <a:off x="9144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9530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fld id="{96CBFB8E-B642-4A9D-8F47-7465C47E983F}" type="datetimeFigureOut">
              <a:rPr lang="en-US" smtClean="0"/>
              <a:pPr/>
              <a:t>8/19/2026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BDBB854-D73F-4175-B1A0-5FF96D84065E}" type="slidenum">
              <a:rPr lang="en-US" smtClean="0"/>
              <a:pPr/>
              <a:t>‹#›</a:t>
            </a:fld>
            <a:endParaRPr lang="en-US"/>
          </a:p>
        </p:txBody>
      </p:sp>
      <p:sp>
        <p:nvSpPr>
          <p:cNvPr id="11" name="Content Placeholder 10"/>
          <p:cNvSpPr>
            <a:spLocks noGrp="1"/>
          </p:cNvSpPr>
          <p:nvPr>
            <p:ph sz="half" idx="2"/>
          </p:nvPr>
        </p:nvSpPr>
        <p:spPr>
          <a:xfrm>
            <a:off x="914400" y="2247900"/>
            <a:ext cx="3733800" cy="38862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half" idx="4"/>
          </p:nvPr>
        </p:nvSpPr>
        <p:spPr>
          <a:xfrm>
            <a:off x="4953000" y="2247900"/>
            <a:ext cx="3733800" cy="38862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96CBFB8E-B642-4A9D-8F47-7465C47E983F}" type="datetimeFigureOut">
              <a:rPr lang="en-US" smtClean="0"/>
              <a:pPr/>
              <a:t>8/19/2026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BDBB854-D73F-4175-B1A0-5FF96D84065E}"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6CBFB8E-B642-4A9D-8F47-7465C47E983F}" type="datetimeFigureOut">
              <a:rPr lang="en-US" smtClean="0"/>
              <a:pPr/>
              <a:t>8/19/2026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BDBB854-D73F-4175-B1A0-5FF96D84065E}"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9" name="Rounded Rectangle 8"/>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914400" y="273050"/>
            <a:ext cx="7772400" cy="1143000"/>
          </a:xfrm>
        </p:spPr>
        <p:txBody>
          <a:bodyPr anchor="b" anchorCtr="0"/>
          <a:lstStyle>
            <a:lvl1pPr algn="l">
              <a:buNone/>
              <a:defRPr sz="4000" b="0"/>
            </a:lvl1pPr>
          </a:lstStyle>
          <a:p>
            <a:r>
              <a:rPr kumimoji="0" lang="en-US"/>
              <a:t>Click to edit Master title style</a:t>
            </a:r>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96CBFB8E-B642-4A9D-8F47-7465C47E983F}" type="datetimeFigureOut">
              <a:rPr lang="en-US" smtClean="0"/>
              <a:pPr/>
              <a:t>8/19/2026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BDBB854-D73F-4175-B1A0-5FF96D84065E}" type="slidenum">
              <a:rPr lang="en-US" smtClean="0"/>
              <a:pPr/>
              <a:t>‹#›</a:t>
            </a:fld>
            <a:endParaRPr lang="en-US"/>
          </a:p>
        </p:txBody>
      </p:sp>
      <p:sp>
        <p:nvSpPr>
          <p:cNvPr id="11" name="Content Placeholder 10"/>
          <p:cNvSpPr>
            <a:spLocks noGrp="1"/>
          </p:cNvSpPr>
          <p:nvPr>
            <p:ph sz="quarter" idx="1"/>
          </p:nvPr>
        </p:nvSpPr>
        <p:spPr>
          <a:xfrm>
            <a:off x="2971800" y="1600200"/>
            <a:ext cx="5715000" cy="44958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kumimoji="0" lang="en-US"/>
              <a:t>Click to edit Master title style</a:t>
            </a:r>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96CBFB8E-B642-4A9D-8F47-7465C47E983F}" type="datetimeFigureOut">
              <a:rPr lang="en-US" smtClean="0"/>
              <a:pPr/>
              <a:t>8/19/2026</a:t>
            </a:fld>
            <a:endParaRPr lang="en-US"/>
          </a:p>
        </p:txBody>
      </p:sp>
      <p:sp>
        <p:nvSpPr>
          <p:cNvPr id="6" name="Footer Placeholder 5"/>
          <p:cNvSpPr>
            <a:spLocks noGrp="1"/>
          </p:cNvSpPr>
          <p:nvPr>
            <p:ph type="ftr" sz="quarter" idx="11"/>
          </p:nvPr>
        </p:nvSpPr>
        <p:spPr>
          <a:xfrm>
            <a:off x="914400" y="6172200"/>
            <a:ext cx="3886200" cy="457200"/>
          </a:xfrm>
        </p:spPr>
        <p:txBody>
          <a:bodyPr/>
          <a:lstStyle/>
          <a:p>
            <a:endParaRPr lang="en-US"/>
          </a:p>
        </p:txBody>
      </p:sp>
      <p:sp>
        <p:nvSpPr>
          <p:cNvPr id="7" name="Slide Number Placeholder 6"/>
          <p:cNvSpPr>
            <a:spLocks noGrp="1"/>
          </p:cNvSpPr>
          <p:nvPr>
            <p:ph type="sldNum" sz="quarter" idx="12"/>
          </p:nvPr>
        </p:nvSpPr>
        <p:spPr>
          <a:xfrm>
            <a:off x="146304" y="6208776"/>
            <a:ext cx="457200" cy="457200"/>
          </a:xfrm>
        </p:spPr>
        <p:txBody>
          <a:bodyPr/>
          <a:lstStyle/>
          <a:p>
            <a:fld id="{3BDBB854-D73F-4175-B1A0-5FF96D84065E}" type="slidenum">
              <a:rPr lang="en-US" smtClean="0"/>
              <a:pPr/>
              <a:t>‹#›</a:t>
            </a:fld>
            <a:endParaRPr lang="en-US"/>
          </a:p>
        </p:txBody>
      </p:sp>
      <p:sp>
        <p:nvSpPr>
          <p:cNvPr id="11" name="Rectangle 10"/>
          <p:cNvSpPr/>
          <p:nvPr/>
        </p:nvSpPr>
        <p:spPr>
          <a:xfrm flipV="1">
            <a:off x="68307" y="4683555"/>
            <a:ext cx="900684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68508" y="4650474"/>
            <a:ext cx="9006639"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p:nvPr/>
        </p:nvSpPr>
        <p:spPr>
          <a:xfrm>
            <a:off x="68510" y="4773224"/>
            <a:ext cx="9006637"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en-US"/>
              <a:t>Click icon to add picture</a:t>
            </a:r>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96CBFB8E-B642-4A9D-8F47-7465C47E983F}" type="datetimeFigureOut">
              <a:rPr lang="en-US" smtClean="0"/>
              <a:pPr/>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BDBB854-D73F-4175-B1A0-5FF96D84065E}"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1168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914400" y="274640"/>
            <a:ext cx="55626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96CBFB8E-B642-4A9D-8F47-7465C47E983F}" type="datetimeFigureOut">
              <a:rPr lang="en-US" smtClean="0"/>
              <a:pPr/>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BDBB854-D73F-4175-B1A0-5FF96D84065E}"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8" name="Rounded Rectangle 7"/>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2" name="Title Placeholder 21"/>
          <p:cNvSpPr>
            <a:spLocks noGrp="1"/>
          </p:cNvSpPr>
          <p:nvPr>
            <p:ph type="title"/>
          </p:nvPr>
        </p:nvSpPr>
        <p:spPr>
          <a:xfrm>
            <a:off x="914400" y="274638"/>
            <a:ext cx="7772400" cy="1143000"/>
          </a:xfrm>
          <a:prstGeom prst="rect">
            <a:avLst/>
          </a:prstGeom>
        </p:spPr>
        <p:txBody>
          <a:bodyPr bIns="91440" anchor="b" anchorCtr="0">
            <a:normAutofit/>
          </a:bodyPr>
          <a:lstStyle/>
          <a:p>
            <a:r>
              <a:rPr kumimoji="0" lang="en-US"/>
              <a:t>Click to edit Master title style</a:t>
            </a:r>
          </a:p>
        </p:txBody>
      </p:sp>
      <p:sp>
        <p:nvSpPr>
          <p:cNvPr id="13" name="Text Placeholder 12"/>
          <p:cNvSpPr>
            <a:spLocks noGrp="1"/>
          </p:cNvSpPr>
          <p:nvPr>
            <p:ph type="body" idx="1"/>
          </p:nvPr>
        </p:nvSpPr>
        <p:spPr>
          <a:xfrm>
            <a:off x="914400" y="1447800"/>
            <a:ext cx="7772400" cy="4572000"/>
          </a:xfrm>
          <a:prstGeom prst="rect">
            <a:avLst/>
          </a:prstGeom>
        </p:spPr>
        <p:txBody>
          <a:bodyPr>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defRPr>
            </a:lvl1pPr>
          </a:lstStyle>
          <a:p>
            <a:fld id="{96CBFB8E-B642-4A9D-8F47-7465C47E983F}" type="datetimeFigureOut">
              <a:rPr lang="en-US" smtClean="0"/>
              <a:pPr/>
              <a:t>8/19/2026</a:t>
            </a:fld>
            <a:endParaRPr lang="en-US"/>
          </a:p>
        </p:txBody>
      </p:sp>
      <p:sp>
        <p:nvSpPr>
          <p:cNvPr id="3" name="Footer Placeholder 2"/>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defRPr>
            </a:lvl1pPr>
          </a:lstStyle>
          <a:p>
            <a:endParaRPr lang="en-US"/>
          </a:p>
        </p:txBody>
      </p:sp>
      <p:sp>
        <p:nvSpPr>
          <p:cNvPr id="23" name="Slide Number Placeholder 22"/>
          <p:cNvSpPr>
            <a:spLocks noGrp="1"/>
          </p:cNvSpPr>
          <p:nvPr>
            <p:ph type="sldNum" sz="quarter" idx="4"/>
          </p:nvPr>
        </p:nvSpPr>
        <p:spPr>
          <a:xfrm>
            <a:off x="146304" y="6210300"/>
            <a:ext cx="4572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3BDBB854-D73F-4175-B1A0-5FF96D84065E}"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gi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normAutofit/>
          </a:bodyPr>
          <a:lstStyle/>
          <a:p>
            <a:r>
              <a:rPr lang="en-US" sz="2800" dirty="0"/>
              <a:t>BIO103</a:t>
            </a:r>
          </a:p>
          <a:p>
            <a:r>
              <a:rPr lang="en-US" sz="2800" dirty="0"/>
              <a:t>Prof. Dr. Md. </a:t>
            </a:r>
            <a:r>
              <a:rPr lang="en-US" sz="2800" dirty="0" err="1"/>
              <a:t>Mahbubul</a:t>
            </a:r>
            <a:r>
              <a:rPr lang="en-US" sz="2800" dirty="0"/>
              <a:t> Morshed</a:t>
            </a:r>
          </a:p>
        </p:txBody>
      </p:sp>
      <p:sp>
        <p:nvSpPr>
          <p:cNvPr id="2" name="Title 1"/>
          <p:cNvSpPr>
            <a:spLocks noGrp="1"/>
          </p:cNvSpPr>
          <p:nvPr>
            <p:ph type="ctrTitle"/>
          </p:nvPr>
        </p:nvSpPr>
        <p:spPr/>
        <p:txBody>
          <a:bodyPr/>
          <a:lstStyle/>
          <a:p>
            <a:r>
              <a:rPr>
                <a:latin typeface="Albertus Medium" pitchFamily="34" charset="0"/>
              </a:rPr>
              <a:t>Human Respiratory System</a:t>
            </a:r>
            <a:endParaRPr lang="en-US" dirty="0">
              <a:latin typeface="Albertus Medium"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152400"/>
            <a:ext cx="7772400" cy="1143000"/>
          </a:xfrm>
        </p:spPr>
        <p:txBody>
          <a:bodyPr>
            <a:normAutofit/>
          </a:bodyPr>
          <a:lstStyle/>
          <a:p>
            <a:r>
              <a:rPr lang="en-US" b="1" dirty="0">
                <a:solidFill>
                  <a:schemeClr val="accent2">
                    <a:lumMod val="75000"/>
                  </a:schemeClr>
                </a:solidFill>
                <a:latin typeface="Albertus Medium" pitchFamily="34" charset="0"/>
              </a:rPr>
              <a:t>Lecture Plan</a:t>
            </a:r>
          </a:p>
        </p:txBody>
      </p:sp>
      <p:sp>
        <p:nvSpPr>
          <p:cNvPr id="3" name="Content Placeholder 2"/>
          <p:cNvSpPr>
            <a:spLocks noGrp="1"/>
          </p:cNvSpPr>
          <p:nvPr>
            <p:ph sz="quarter" idx="1"/>
          </p:nvPr>
        </p:nvSpPr>
        <p:spPr/>
        <p:txBody>
          <a:bodyPr>
            <a:normAutofit/>
          </a:bodyPr>
          <a:lstStyle/>
          <a:p>
            <a:pPr lvl="1">
              <a:lnSpc>
                <a:spcPct val="150000"/>
              </a:lnSpc>
            </a:pPr>
            <a:r>
              <a:rPr lang="en-GB" sz="2800" b="1" dirty="0"/>
              <a:t>Gas Exchange and Breathing</a:t>
            </a:r>
            <a:endParaRPr lang="en-US" sz="2800" b="1" dirty="0"/>
          </a:p>
          <a:p>
            <a:pPr lvl="1">
              <a:lnSpc>
                <a:spcPct val="150000"/>
              </a:lnSpc>
            </a:pPr>
            <a:r>
              <a:rPr lang="en-GB" sz="2800" b="1" dirty="0"/>
              <a:t>Cellular Respiration vs. Breathing</a:t>
            </a:r>
            <a:endParaRPr lang="en-US" sz="2800" b="1" dirty="0"/>
          </a:p>
          <a:p>
            <a:pPr lvl="1">
              <a:lnSpc>
                <a:spcPct val="150000"/>
              </a:lnSpc>
            </a:pPr>
            <a:r>
              <a:rPr lang="en-GB" sz="2800" b="1" dirty="0"/>
              <a:t>The Human Respiratory or Gas Exchange System</a:t>
            </a:r>
            <a:endParaRPr lang="en-US" sz="2800" b="1" dirty="0"/>
          </a:p>
          <a:p>
            <a:pPr lvl="1">
              <a:lnSpc>
                <a:spcPct val="150000"/>
              </a:lnSpc>
            </a:pPr>
            <a:r>
              <a:rPr lang="en-GB" sz="2800" b="1" dirty="0"/>
              <a:t>Gas Exchange in Lungs</a:t>
            </a:r>
            <a:endParaRPr lang="en-US" sz="2800" b="1" dirty="0"/>
          </a:p>
          <a:p>
            <a:pPr lvl="1">
              <a:lnSpc>
                <a:spcPct val="150000"/>
              </a:lnSpc>
            </a:pPr>
            <a:endParaRPr lang="en-US"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76200"/>
            <a:ext cx="7772400" cy="1143000"/>
          </a:xfrm>
        </p:spPr>
        <p:txBody>
          <a:bodyPr/>
          <a:lstStyle/>
          <a:p>
            <a:r>
              <a:rPr lang="en-US" dirty="0">
                <a:solidFill>
                  <a:schemeClr val="accent2">
                    <a:lumMod val="75000"/>
                  </a:schemeClr>
                </a:solidFill>
                <a:latin typeface="Albertus Medium" pitchFamily="34" charset="0"/>
              </a:rPr>
              <a:t>Introduction</a:t>
            </a:r>
          </a:p>
        </p:txBody>
      </p:sp>
      <p:sp>
        <p:nvSpPr>
          <p:cNvPr id="3" name="Content Placeholder 2"/>
          <p:cNvSpPr>
            <a:spLocks noGrp="1"/>
          </p:cNvSpPr>
          <p:nvPr>
            <p:ph sz="quarter" idx="1"/>
          </p:nvPr>
        </p:nvSpPr>
        <p:spPr>
          <a:xfrm>
            <a:off x="838200" y="1600200"/>
            <a:ext cx="7772400" cy="4572000"/>
          </a:xfrm>
        </p:spPr>
        <p:txBody>
          <a:bodyPr>
            <a:normAutofit fontScale="92500" lnSpcReduction="20000"/>
          </a:bodyPr>
          <a:lstStyle/>
          <a:p>
            <a:r>
              <a:rPr lang="en-AU" dirty="0"/>
              <a:t>All animals must exchange gases between themselves and their environment on a continual basis.</a:t>
            </a:r>
          </a:p>
          <a:p>
            <a:r>
              <a:rPr lang="en-AU" dirty="0"/>
              <a:t>Simple animals exchange gases throughout their entire body surfaces, whereas more complex animals have respiratory systems. </a:t>
            </a:r>
          </a:p>
          <a:p>
            <a:r>
              <a:rPr lang="en-AU" dirty="0"/>
              <a:t>Complex organisms rely on breathing to simultaneously move oxygen gas from the air into the body and remove carbon dioxide from the body and return it to the air. </a:t>
            </a:r>
          </a:p>
          <a:p>
            <a:r>
              <a:rPr lang="en-AU" i="1" dirty="0"/>
              <a:t>Respiration </a:t>
            </a:r>
            <a:r>
              <a:rPr lang="en-AU" dirty="0"/>
              <a:t>is the entire process of taking air in, exchanging oxygen for carbon dioxide and releasing air out. </a:t>
            </a:r>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28600"/>
            <a:ext cx="7772400" cy="838200"/>
          </a:xfrm>
        </p:spPr>
        <p:txBody>
          <a:bodyPr/>
          <a:lstStyle/>
          <a:p>
            <a:r>
              <a:rPr lang="en-US" b="1" dirty="0">
                <a:solidFill>
                  <a:schemeClr val="accent2">
                    <a:lumMod val="75000"/>
                  </a:schemeClr>
                </a:solidFill>
                <a:latin typeface="Albertus Medium" pitchFamily="34" charset="0"/>
              </a:rPr>
              <a:t>Gas Exchange and Breathing</a:t>
            </a:r>
          </a:p>
        </p:txBody>
      </p:sp>
      <p:sp>
        <p:nvSpPr>
          <p:cNvPr id="3" name="Content Placeholder 2"/>
          <p:cNvSpPr>
            <a:spLocks noGrp="1"/>
          </p:cNvSpPr>
          <p:nvPr>
            <p:ph sz="quarter" idx="1"/>
          </p:nvPr>
        </p:nvSpPr>
        <p:spPr>
          <a:xfrm>
            <a:off x="685800" y="1295400"/>
            <a:ext cx="7772400" cy="4572000"/>
          </a:xfrm>
        </p:spPr>
        <p:txBody>
          <a:bodyPr>
            <a:normAutofit lnSpcReduction="10000"/>
          </a:bodyPr>
          <a:lstStyle/>
          <a:p>
            <a:r>
              <a:rPr lang="en-GB" dirty="0"/>
              <a:t>Most animals are aerobic, that is, they need oxygen</a:t>
            </a:r>
          </a:p>
          <a:p>
            <a:r>
              <a:rPr lang="en-GB" b="1" i="1" dirty="0"/>
              <a:t>Carbon dioxide</a:t>
            </a:r>
            <a:r>
              <a:rPr lang="en-GB" dirty="0"/>
              <a:t> also affects animals, since too much of it can be harmful</a:t>
            </a:r>
          </a:p>
          <a:p>
            <a:r>
              <a:rPr lang="en-GB" dirty="0"/>
              <a:t>The </a:t>
            </a:r>
            <a:r>
              <a:rPr lang="en-GB" i="1" dirty="0"/>
              <a:t>respiratory</a:t>
            </a:r>
            <a:r>
              <a:rPr lang="en-GB" dirty="0"/>
              <a:t> and </a:t>
            </a:r>
            <a:r>
              <a:rPr lang="en-GB" i="1" dirty="0"/>
              <a:t>circulatory systems</a:t>
            </a:r>
            <a:r>
              <a:rPr lang="en-GB" dirty="0"/>
              <a:t> work together to deliver oxygen to cells and remove carbon dioxide in a two-phase process called respiration.</a:t>
            </a:r>
            <a:endParaRPr lang="en-US" dirty="0"/>
          </a:p>
          <a:p>
            <a:r>
              <a:rPr lang="en-US" dirty="0"/>
              <a:t>Two phases:</a:t>
            </a:r>
          </a:p>
          <a:p>
            <a:pPr lvl="1"/>
            <a:r>
              <a:rPr lang="en-GB" b="1" i="1" dirty="0"/>
              <a:t>Inhalation</a:t>
            </a:r>
          </a:p>
          <a:p>
            <a:pPr lvl="1"/>
            <a:r>
              <a:rPr lang="en-GB" b="1" i="1" dirty="0"/>
              <a:t>Exhalation</a:t>
            </a:r>
            <a:endParaRPr lang="en-US" dirty="0"/>
          </a:p>
        </p:txBody>
      </p:sp>
      <p:pic>
        <p:nvPicPr>
          <p:cNvPr id="1026" name="Picture 2" descr="http://image.shutterstock.com/display_pic_with_logo/150193/108606032/stock-photo-respiration-inhalation-exhalation-108606032.jpg"/>
          <p:cNvPicPr>
            <a:picLocks noChangeAspect="1" noChangeArrowheads="1"/>
          </p:cNvPicPr>
          <p:nvPr/>
        </p:nvPicPr>
        <p:blipFill>
          <a:blip r:embed="rId2" cstate="print"/>
          <a:srcRect b="6838"/>
          <a:stretch>
            <a:fillRect/>
          </a:stretch>
        </p:blipFill>
        <p:spPr bwMode="auto">
          <a:xfrm>
            <a:off x="4495800" y="3581400"/>
            <a:ext cx="4286250" cy="3114675"/>
          </a:xfrm>
          <a:prstGeom prst="rect">
            <a:avLst/>
          </a:prstGeom>
          <a:noFill/>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2"/>
          <p:cNvPicPr>
            <a:picLocks noChangeAspect="1" noChangeArrowheads="1"/>
          </p:cNvPicPr>
          <p:nvPr/>
        </p:nvPicPr>
        <p:blipFill>
          <a:blip r:embed="rId2" cstate="print"/>
          <a:srcRect/>
          <a:stretch>
            <a:fillRect/>
          </a:stretch>
        </p:blipFill>
        <p:spPr bwMode="auto">
          <a:xfrm>
            <a:off x="6324600" y="1828800"/>
            <a:ext cx="2591317" cy="3352800"/>
          </a:xfrm>
          <a:prstGeom prst="rect">
            <a:avLst/>
          </a:prstGeom>
          <a:noFill/>
          <a:ln w="9525">
            <a:noFill/>
            <a:miter lim="800000"/>
            <a:headEnd/>
            <a:tailEnd/>
          </a:ln>
          <a:effectLst/>
        </p:spPr>
      </p:pic>
      <p:sp>
        <p:nvSpPr>
          <p:cNvPr id="2" name="Title 1"/>
          <p:cNvSpPr>
            <a:spLocks noGrp="1"/>
          </p:cNvSpPr>
          <p:nvPr>
            <p:ph type="title"/>
          </p:nvPr>
        </p:nvSpPr>
        <p:spPr>
          <a:xfrm>
            <a:off x="304800" y="152400"/>
            <a:ext cx="8229600" cy="1143000"/>
          </a:xfrm>
        </p:spPr>
        <p:txBody>
          <a:bodyPr>
            <a:normAutofit/>
          </a:bodyPr>
          <a:lstStyle/>
          <a:p>
            <a:r>
              <a:rPr lang="en-US" b="1" dirty="0">
                <a:solidFill>
                  <a:schemeClr val="accent2">
                    <a:lumMod val="75000"/>
                  </a:schemeClr>
                </a:solidFill>
                <a:latin typeface="Albertus Medium" pitchFamily="34" charset="0"/>
              </a:rPr>
              <a:t>Gas Exchange and Breathing</a:t>
            </a:r>
            <a:endParaRPr lang="en-US" dirty="0">
              <a:solidFill>
                <a:schemeClr val="accent2">
                  <a:lumMod val="75000"/>
                </a:schemeClr>
              </a:solidFill>
              <a:latin typeface="Albertus Medium" pitchFamily="34" charset="0"/>
            </a:endParaRPr>
          </a:p>
        </p:txBody>
      </p:sp>
      <p:sp>
        <p:nvSpPr>
          <p:cNvPr id="3" name="Content Placeholder 2"/>
          <p:cNvSpPr>
            <a:spLocks noGrp="1"/>
          </p:cNvSpPr>
          <p:nvPr>
            <p:ph sz="quarter" idx="1"/>
          </p:nvPr>
        </p:nvSpPr>
        <p:spPr>
          <a:xfrm>
            <a:off x="228600" y="1219200"/>
            <a:ext cx="6248400" cy="5257800"/>
          </a:xfrm>
        </p:spPr>
        <p:txBody>
          <a:bodyPr>
            <a:normAutofit lnSpcReduction="10000"/>
          </a:bodyPr>
          <a:lstStyle/>
          <a:p>
            <a:pPr marL="274320" lvl="1" indent="-274320">
              <a:spcBef>
                <a:spcPts val="580"/>
              </a:spcBef>
              <a:buClr>
                <a:schemeClr val="accent1"/>
              </a:buClr>
            </a:pPr>
            <a:r>
              <a:rPr lang="en-GB" sz="3200" b="1" i="1" dirty="0"/>
              <a:t>Inhalation</a:t>
            </a:r>
          </a:p>
          <a:p>
            <a:pPr lvl="1"/>
            <a:r>
              <a:rPr lang="en-GB" dirty="0"/>
              <a:t>Inhalation brings air from outside the body into the lungs.</a:t>
            </a:r>
          </a:p>
          <a:p>
            <a:pPr lvl="1"/>
            <a:r>
              <a:rPr lang="en-GB" dirty="0"/>
              <a:t>Oxygen in the air moves from the lungs through blood vessels to the heart,</a:t>
            </a:r>
          </a:p>
          <a:p>
            <a:pPr lvl="1"/>
            <a:r>
              <a:rPr lang="en-GB" dirty="0"/>
              <a:t> Heart pumps the oxygen-rich blood to all parts of the body.</a:t>
            </a:r>
          </a:p>
          <a:p>
            <a:pPr lvl="1"/>
            <a:r>
              <a:rPr lang="en-GB" dirty="0"/>
              <a:t>Oxygen then moves from the bloodstream into cells, which completes the first phase of respiration. </a:t>
            </a:r>
          </a:p>
          <a:p>
            <a:pPr lvl="1"/>
            <a:r>
              <a:rPr lang="en-GB" dirty="0"/>
              <a:t>In the cells, oxygen is used in a separate energy-producing process called </a:t>
            </a:r>
            <a:r>
              <a:rPr lang="en-GB" i="1" dirty="0"/>
              <a:t>cellular respiration</a:t>
            </a:r>
            <a:r>
              <a:rPr lang="en-GB" dirty="0"/>
              <a:t>, which produces carbon dioxide as a by-product.</a:t>
            </a:r>
            <a:endParaRPr lang="en-US" dirty="0"/>
          </a:p>
          <a:p>
            <a:pPr>
              <a:buNone/>
            </a:pP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2"/>
          <p:cNvPicPr>
            <a:picLocks noChangeAspect="1" noChangeArrowheads="1"/>
          </p:cNvPicPr>
          <p:nvPr/>
        </p:nvPicPr>
        <p:blipFill>
          <a:blip r:embed="rId2" cstate="print"/>
          <a:srcRect/>
          <a:stretch>
            <a:fillRect/>
          </a:stretch>
        </p:blipFill>
        <p:spPr bwMode="auto">
          <a:xfrm>
            <a:off x="6324600" y="1828800"/>
            <a:ext cx="2498531" cy="3048000"/>
          </a:xfrm>
          <a:prstGeom prst="rect">
            <a:avLst/>
          </a:prstGeom>
          <a:noFill/>
          <a:ln w="9525">
            <a:noFill/>
            <a:miter lim="800000"/>
            <a:headEnd/>
            <a:tailEnd/>
          </a:ln>
          <a:effectLst/>
        </p:spPr>
      </p:pic>
      <p:sp>
        <p:nvSpPr>
          <p:cNvPr id="2" name="Title 1"/>
          <p:cNvSpPr>
            <a:spLocks noGrp="1"/>
          </p:cNvSpPr>
          <p:nvPr>
            <p:ph type="title"/>
          </p:nvPr>
        </p:nvSpPr>
        <p:spPr>
          <a:xfrm>
            <a:off x="381000" y="76200"/>
            <a:ext cx="5943600" cy="1143000"/>
          </a:xfrm>
        </p:spPr>
        <p:txBody>
          <a:bodyPr>
            <a:normAutofit fontScale="90000"/>
          </a:bodyPr>
          <a:lstStyle/>
          <a:p>
            <a:r>
              <a:rPr lang="en-US" b="1" dirty="0">
                <a:solidFill>
                  <a:schemeClr val="accent2">
                    <a:lumMod val="75000"/>
                  </a:schemeClr>
                </a:solidFill>
                <a:latin typeface="Albertus Medium" pitchFamily="34" charset="0"/>
              </a:rPr>
              <a:t>Gas Exchange and Breathing</a:t>
            </a:r>
            <a:endParaRPr lang="en-US" dirty="0">
              <a:solidFill>
                <a:schemeClr val="accent2">
                  <a:lumMod val="75000"/>
                </a:schemeClr>
              </a:solidFill>
              <a:latin typeface="Albertus Medium" pitchFamily="34" charset="0"/>
            </a:endParaRPr>
          </a:p>
        </p:txBody>
      </p:sp>
      <p:sp>
        <p:nvSpPr>
          <p:cNvPr id="3" name="Content Placeholder 2"/>
          <p:cNvSpPr>
            <a:spLocks noGrp="1"/>
          </p:cNvSpPr>
          <p:nvPr>
            <p:ph sz="quarter" idx="1"/>
          </p:nvPr>
        </p:nvSpPr>
        <p:spPr>
          <a:xfrm>
            <a:off x="457200" y="1447800"/>
            <a:ext cx="5943600" cy="4572000"/>
          </a:xfrm>
        </p:spPr>
        <p:txBody>
          <a:bodyPr>
            <a:normAutofit fontScale="92500"/>
          </a:bodyPr>
          <a:lstStyle/>
          <a:p>
            <a:pPr marL="274320" lvl="1" indent="-274320">
              <a:spcBef>
                <a:spcPts val="580"/>
              </a:spcBef>
              <a:buClr>
                <a:schemeClr val="accent1"/>
              </a:buClr>
            </a:pPr>
            <a:r>
              <a:rPr lang="en-GB" sz="2800" b="1" i="1" dirty="0"/>
              <a:t>Exhalation</a:t>
            </a:r>
            <a:endParaRPr lang="en-US" sz="2800" dirty="0"/>
          </a:p>
          <a:p>
            <a:pPr lvl="1"/>
            <a:r>
              <a:rPr lang="en-GB" dirty="0"/>
              <a:t>The second phase of respiration begins with the movement of carbon dioxide from the cells to the bloodstream. </a:t>
            </a:r>
          </a:p>
          <a:p>
            <a:pPr lvl="1"/>
            <a:r>
              <a:rPr lang="en-GB" dirty="0"/>
              <a:t>The bloodstream carries carbon dioxide to the heart, </a:t>
            </a:r>
          </a:p>
          <a:p>
            <a:pPr lvl="1"/>
            <a:r>
              <a:rPr lang="en-GB" dirty="0"/>
              <a:t>which pumps the carbon dioxide-laden blood to the lungs. </a:t>
            </a:r>
          </a:p>
          <a:p>
            <a:pPr lvl="1"/>
            <a:r>
              <a:rPr lang="en-GB" dirty="0"/>
              <a:t>In the lungs, breathing out, or </a:t>
            </a:r>
            <a:r>
              <a:rPr lang="en-GB" b="1" i="1" dirty="0"/>
              <a:t>exhalation</a:t>
            </a:r>
            <a:r>
              <a:rPr lang="en-GB" dirty="0"/>
              <a:t>, removes carbon dioxide from the body, thus completing the respiration cycle.</a:t>
            </a:r>
            <a:endParaRPr lang="en-US" dirty="0"/>
          </a:p>
          <a:p>
            <a:pPr lvl="1"/>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0"/>
            <a:ext cx="7772400" cy="1143000"/>
          </a:xfrm>
        </p:spPr>
        <p:txBody>
          <a:bodyPr>
            <a:normAutofit fontScale="90000"/>
          </a:bodyPr>
          <a:lstStyle/>
          <a:p>
            <a:r>
              <a:rPr lang="en-GB" b="1" dirty="0">
                <a:solidFill>
                  <a:schemeClr val="accent2">
                    <a:lumMod val="75000"/>
                  </a:schemeClr>
                </a:solidFill>
                <a:latin typeface="Albertus Medium" pitchFamily="34" charset="0"/>
              </a:rPr>
              <a:t>Cellular Respiration vs. Breathing</a:t>
            </a:r>
            <a:endParaRPr lang="en-US" dirty="0">
              <a:solidFill>
                <a:schemeClr val="accent2">
                  <a:lumMod val="75000"/>
                </a:schemeClr>
              </a:solidFill>
              <a:latin typeface="Albertus Medium" pitchFamily="34" charset="0"/>
            </a:endParaRPr>
          </a:p>
        </p:txBody>
      </p:sp>
      <p:sp>
        <p:nvSpPr>
          <p:cNvPr id="3" name="Content Placeholder 2"/>
          <p:cNvSpPr>
            <a:spLocks noGrp="1"/>
          </p:cNvSpPr>
          <p:nvPr>
            <p:ph sz="quarter" idx="1"/>
          </p:nvPr>
        </p:nvSpPr>
        <p:spPr/>
        <p:txBody>
          <a:bodyPr>
            <a:normAutofit fontScale="92500" lnSpcReduction="10000"/>
          </a:bodyPr>
          <a:lstStyle/>
          <a:p>
            <a:r>
              <a:rPr lang="en-GB" b="1" i="1" dirty="0"/>
              <a:t>Cellular Respiration</a:t>
            </a:r>
            <a:r>
              <a:rPr lang="en-GB" i="1" dirty="0"/>
              <a:t> is the process by which living cells break down foods and release the stored chemical potential energy.</a:t>
            </a:r>
            <a:endParaRPr lang="en-US" dirty="0"/>
          </a:p>
          <a:p>
            <a:pPr>
              <a:buNone/>
            </a:pPr>
            <a:endParaRPr lang="en-US" dirty="0"/>
          </a:p>
          <a:p>
            <a:r>
              <a:rPr lang="en-GB" b="1" i="1" dirty="0"/>
              <a:t>Breathing</a:t>
            </a:r>
            <a:r>
              <a:rPr lang="en-GB" i="1" dirty="0"/>
              <a:t> is the means by which respiratory gases are exchanged between the entire organism and its environment</a:t>
            </a:r>
            <a:r>
              <a:rPr lang="en-GB" dirty="0"/>
              <a:t>. </a:t>
            </a:r>
          </a:p>
          <a:p>
            <a:endParaRPr lang="en-GB" dirty="0"/>
          </a:p>
          <a:p>
            <a:r>
              <a:rPr lang="en-GB" dirty="0"/>
              <a:t>Breathing is simply a mechanical process. Breathing causes air containing a high concentration of oxygen to enter the lungs and cause air containing a high concentration of carbon dioxide to leave the lungs. </a:t>
            </a:r>
            <a:endParaRPr lang="en-US" dirty="0"/>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Documents and Settings\Guest\My Documents\Downloads\07-12.gif"/>
          <p:cNvPicPr>
            <a:picLocks noGrp="1" noChangeAspect="1" noChangeArrowheads="1"/>
          </p:cNvPicPr>
          <p:nvPr>
            <p:ph sz="quarter" idx="1"/>
          </p:nvPr>
        </p:nvPicPr>
        <p:blipFill>
          <a:blip r:embed="rId2"/>
          <a:srcRect/>
          <a:stretch>
            <a:fillRect/>
          </a:stretch>
        </p:blipFill>
        <p:spPr bwMode="auto">
          <a:xfrm>
            <a:off x="1243827" y="1438303"/>
            <a:ext cx="6909573" cy="5267297"/>
          </a:xfrm>
          <a:prstGeom prst="rect">
            <a:avLst/>
          </a:prstGeom>
          <a:noFill/>
        </p:spPr>
      </p:pic>
      <p:sp>
        <p:nvSpPr>
          <p:cNvPr id="5" name="Title 1"/>
          <p:cNvSpPr>
            <a:spLocks noGrp="1"/>
          </p:cNvSpPr>
          <p:nvPr>
            <p:ph type="title"/>
          </p:nvPr>
        </p:nvSpPr>
        <p:spPr>
          <a:xfrm>
            <a:off x="914400" y="-76200"/>
            <a:ext cx="7772400" cy="1143000"/>
          </a:xfrm>
        </p:spPr>
        <p:txBody>
          <a:bodyPr>
            <a:normAutofit fontScale="90000"/>
          </a:bodyPr>
          <a:lstStyle/>
          <a:p>
            <a:r>
              <a:rPr lang="en-GB" b="1" dirty="0">
                <a:solidFill>
                  <a:schemeClr val="accent2">
                    <a:lumMod val="75000"/>
                  </a:schemeClr>
                </a:solidFill>
                <a:latin typeface="Albertus Medium" pitchFamily="34" charset="0"/>
              </a:rPr>
              <a:t>Cellular Respiration vs. Breathing</a:t>
            </a:r>
            <a:endParaRPr lang="en-US" dirty="0">
              <a:solidFill>
                <a:schemeClr val="accent2">
                  <a:lumMod val="75000"/>
                </a:schemeClr>
              </a:solidFill>
              <a:latin typeface="Albertus Medium"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28600"/>
            <a:ext cx="7772400" cy="1143000"/>
          </a:xfrm>
        </p:spPr>
        <p:txBody>
          <a:bodyPr>
            <a:normAutofit fontScale="90000"/>
          </a:bodyPr>
          <a:lstStyle/>
          <a:p>
            <a:r>
              <a:rPr lang="en-GB" b="1" dirty="0">
                <a:solidFill>
                  <a:schemeClr val="accent2">
                    <a:lumMod val="75000"/>
                  </a:schemeClr>
                </a:solidFill>
                <a:latin typeface="Albertus Medium" pitchFamily="34" charset="0"/>
              </a:rPr>
              <a:t>The Human Respiratory or Gas Exchange System</a:t>
            </a:r>
            <a:endParaRPr lang="en-US" dirty="0">
              <a:solidFill>
                <a:schemeClr val="accent2">
                  <a:lumMod val="75000"/>
                </a:schemeClr>
              </a:solidFill>
              <a:latin typeface="Albertus Medium" pitchFamily="34" charset="0"/>
            </a:endParaRPr>
          </a:p>
        </p:txBody>
      </p:sp>
      <p:sp>
        <p:nvSpPr>
          <p:cNvPr id="3" name="Content Placeholder 2"/>
          <p:cNvSpPr>
            <a:spLocks noGrp="1"/>
          </p:cNvSpPr>
          <p:nvPr>
            <p:ph sz="quarter" idx="1"/>
          </p:nvPr>
        </p:nvSpPr>
        <p:spPr>
          <a:xfrm>
            <a:off x="152400" y="1447800"/>
            <a:ext cx="5943600" cy="5105400"/>
          </a:xfrm>
        </p:spPr>
        <p:txBody>
          <a:bodyPr>
            <a:normAutofit fontScale="92500"/>
          </a:bodyPr>
          <a:lstStyle/>
          <a:p>
            <a:r>
              <a:rPr lang="en-GB" dirty="0"/>
              <a:t>Nose to the lungs </a:t>
            </a:r>
          </a:p>
          <a:p>
            <a:pPr lvl="0"/>
            <a:r>
              <a:rPr lang="en-GB" dirty="0"/>
              <a:t>The </a:t>
            </a:r>
            <a:r>
              <a:rPr lang="en-GB" b="1" i="1" dirty="0"/>
              <a:t>upper respiratory tract</a:t>
            </a:r>
            <a:r>
              <a:rPr lang="en-GB" dirty="0"/>
              <a:t> consists of</a:t>
            </a:r>
          </a:p>
          <a:p>
            <a:pPr lvl="1">
              <a:buNone/>
            </a:pPr>
            <a:r>
              <a:rPr lang="en-GB" dirty="0"/>
              <a:t>(1) the </a:t>
            </a:r>
            <a:r>
              <a:rPr lang="en-GB" b="1" i="1" dirty="0"/>
              <a:t>nose</a:t>
            </a:r>
            <a:r>
              <a:rPr lang="en-GB" dirty="0"/>
              <a:t> or nasal passages and </a:t>
            </a:r>
          </a:p>
          <a:p>
            <a:pPr lvl="1">
              <a:buNone/>
            </a:pPr>
            <a:r>
              <a:rPr lang="en-GB" dirty="0"/>
              <a:t>(2) the </a:t>
            </a:r>
            <a:r>
              <a:rPr lang="en-GB" b="1" i="1" dirty="0"/>
              <a:t>pharynx</a:t>
            </a:r>
            <a:r>
              <a:rPr lang="en-GB" dirty="0"/>
              <a:t>, or throat.</a:t>
            </a:r>
          </a:p>
          <a:p>
            <a:pPr lvl="1">
              <a:buNone/>
            </a:pPr>
            <a:endParaRPr lang="en-US" dirty="0"/>
          </a:p>
          <a:p>
            <a:pPr lvl="0"/>
            <a:r>
              <a:rPr lang="en-GB" dirty="0"/>
              <a:t>The </a:t>
            </a:r>
            <a:r>
              <a:rPr lang="en-GB" b="1" i="1" dirty="0"/>
              <a:t>lower respiratory tract</a:t>
            </a:r>
            <a:r>
              <a:rPr lang="en-GB" dirty="0"/>
              <a:t> includes</a:t>
            </a:r>
          </a:p>
          <a:p>
            <a:pPr lvl="1">
              <a:buNone/>
            </a:pPr>
            <a:r>
              <a:rPr lang="en-GB" dirty="0"/>
              <a:t>(3) the </a:t>
            </a:r>
            <a:r>
              <a:rPr lang="en-GB" b="1" i="1" dirty="0"/>
              <a:t>larynx</a:t>
            </a:r>
            <a:r>
              <a:rPr lang="en-GB" dirty="0"/>
              <a:t>, or voice box; </a:t>
            </a:r>
          </a:p>
          <a:p>
            <a:pPr lvl="1">
              <a:buNone/>
            </a:pPr>
            <a:r>
              <a:rPr lang="en-GB" dirty="0"/>
              <a:t>(4) the </a:t>
            </a:r>
            <a:r>
              <a:rPr lang="en-GB" b="1" i="1" dirty="0"/>
              <a:t>trachea</a:t>
            </a:r>
            <a:r>
              <a:rPr lang="en-GB" dirty="0"/>
              <a:t>, or windpipe, which splits into two main branches called </a:t>
            </a:r>
            <a:r>
              <a:rPr lang="en-GB" i="1" dirty="0"/>
              <a:t>bronchi</a:t>
            </a:r>
            <a:r>
              <a:rPr lang="en-GB" dirty="0"/>
              <a:t>; tiny branches of the </a:t>
            </a:r>
            <a:r>
              <a:rPr lang="en-GB" b="1" dirty="0"/>
              <a:t>bronchi</a:t>
            </a:r>
            <a:r>
              <a:rPr lang="en-GB" dirty="0"/>
              <a:t> called </a:t>
            </a:r>
            <a:r>
              <a:rPr lang="en-GB" i="1" dirty="0"/>
              <a:t>bronchioles</a:t>
            </a:r>
            <a:r>
              <a:rPr lang="en-GB" dirty="0"/>
              <a:t>; and</a:t>
            </a:r>
          </a:p>
          <a:p>
            <a:pPr lvl="1">
              <a:buNone/>
            </a:pPr>
            <a:r>
              <a:rPr lang="en-GB" dirty="0"/>
              <a:t>(5) the </a:t>
            </a:r>
            <a:r>
              <a:rPr lang="en-GB" b="1" i="1" dirty="0"/>
              <a:t>lungs</a:t>
            </a:r>
            <a:r>
              <a:rPr lang="en-GB" dirty="0"/>
              <a:t>, a pair of saclike, spongy organs.</a:t>
            </a:r>
            <a:endParaRPr lang="en-US" dirty="0"/>
          </a:p>
        </p:txBody>
      </p:sp>
      <p:pic>
        <p:nvPicPr>
          <p:cNvPr id="5" name="Content Placeholder 3" descr="respiratory_system.jpg"/>
          <p:cNvPicPr>
            <a:picLocks noChangeAspect="1"/>
          </p:cNvPicPr>
          <p:nvPr/>
        </p:nvPicPr>
        <p:blipFill>
          <a:blip r:embed="rId2" cstate="print"/>
          <a:stretch>
            <a:fillRect/>
          </a:stretch>
        </p:blipFill>
        <p:spPr>
          <a:xfrm>
            <a:off x="5943600" y="990599"/>
            <a:ext cx="3124200" cy="4692853"/>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76200"/>
            <a:ext cx="7772400" cy="1143000"/>
          </a:xfrm>
        </p:spPr>
        <p:txBody>
          <a:bodyPr>
            <a:normAutofit/>
          </a:bodyPr>
          <a:lstStyle/>
          <a:p>
            <a:r>
              <a:rPr lang="en-GB" b="1" dirty="0">
                <a:solidFill>
                  <a:schemeClr val="accent2">
                    <a:lumMod val="75000"/>
                  </a:schemeClr>
                </a:solidFill>
                <a:latin typeface="Albertus Medium" pitchFamily="34" charset="0"/>
              </a:rPr>
              <a:t>Upper Respiratory Tract</a:t>
            </a:r>
            <a:endParaRPr lang="en-US" dirty="0">
              <a:solidFill>
                <a:schemeClr val="accent2">
                  <a:lumMod val="75000"/>
                </a:schemeClr>
              </a:solidFill>
              <a:latin typeface="Albertus Medium" pitchFamily="34" charset="0"/>
            </a:endParaRPr>
          </a:p>
        </p:txBody>
      </p:sp>
      <p:sp>
        <p:nvSpPr>
          <p:cNvPr id="5" name="Content Placeholder 4"/>
          <p:cNvSpPr>
            <a:spLocks noGrp="1"/>
          </p:cNvSpPr>
          <p:nvPr>
            <p:ph sz="quarter" idx="1"/>
          </p:nvPr>
        </p:nvSpPr>
        <p:spPr>
          <a:xfrm>
            <a:off x="457200" y="1295400"/>
            <a:ext cx="8229600" cy="2667000"/>
          </a:xfrm>
        </p:spPr>
        <p:txBody>
          <a:bodyPr>
            <a:normAutofit lnSpcReduction="10000"/>
          </a:bodyPr>
          <a:lstStyle/>
          <a:p>
            <a:pPr>
              <a:buNone/>
            </a:pPr>
            <a:r>
              <a:rPr lang="en-GB" sz="2400" b="1" i="1" dirty="0"/>
              <a:t>1.  Nasal Passages</a:t>
            </a:r>
            <a:endParaRPr lang="en-US" sz="2400" b="1" dirty="0"/>
          </a:p>
          <a:p>
            <a:pPr>
              <a:buNone/>
            </a:pPr>
            <a:r>
              <a:rPr lang="en-GB" sz="2400" dirty="0"/>
              <a:t>The uppermost portion of the human respiratory system, the nose is a hollow air passage that functions in breathing and in the sense of smell. </a:t>
            </a:r>
          </a:p>
          <a:p>
            <a:pPr>
              <a:buNone/>
            </a:pPr>
            <a:r>
              <a:rPr lang="en-GB" sz="2400" dirty="0"/>
              <a:t>The nasal cavity moistens and warms incoming air, while small hairs and mucus filter out harmful particles and microorganisms.</a:t>
            </a:r>
          </a:p>
          <a:p>
            <a:pPr>
              <a:buNone/>
            </a:pPr>
            <a:endParaRPr lang="en-GB" sz="2400" dirty="0"/>
          </a:p>
          <a:p>
            <a:endParaRPr lang="en-US" sz="2400" dirty="0"/>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57800" y="3429000"/>
            <a:ext cx="3619500" cy="32173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Rectangle 5"/>
          <p:cNvSpPr/>
          <p:nvPr/>
        </p:nvSpPr>
        <p:spPr>
          <a:xfrm>
            <a:off x="457200" y="3429000"/>
            <a:ext cx="4572000" cy="2308324"/>
          </a:xfrm>
          <a:prstGeom prst="rect">
            <a:avLst/>
          </a:prstGeom>
        </p:spPr>
        <p:txBody>
          <a:bodyPr wrap="square">
            <a:spAutoFit/>
          </a:bodyPr>
          <a:lstStyle/>
          <a:p>
            <a:pPr>
              <a:buNone/>
            </a:pPr>
            <a:endParaRPr lang="en-US" sz="2400" dirty="0"/>
          </a:p>
          <a:p>
            <a:pPr>
              <a:buNone/>
            </a:pPr>
            <a:r>
              <a:rPr lang="en-GB" sz="2400" b="1" i="1" dirty="0"/>
              <a:t>2. Pharynx </a:t>
            </a:r>
            <a:endParaRPr lang="en-US" sz="2400" b="1" dirty="0"/>
          </a:p>
          <a:p>
            <a:pPr>
              <a:buNone/>
            </a:pPr>
            <a:r>
              <a:rPr lang="en-GB" sz="2400" dirty="0"/>
              <a:t>Air leaves the nasal passages and flows to the pharynx, a short, funnel-shaped tube about 13 cm (5 in) long that transports air to the larynx.</a:t>
            </a:r>
            <a:endParaRPr lang="en-US" sz="2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152400"/>
            <a:ext cx="4343400" cy="1143000"/>
          </a:xfrm>
        </p:spPr>
        <p:txBody>
          <a:bodyPr>
            <a:normAutofit fontScale="90000"/>
          </a:bodyPr>
          <a:lstStyle/>
          <a:p>
            <a:pPr algn="ctr"/>
            <a:r>
              <a:rPr lang="en-GB" b="1" dirty="0">
                <a:solidFill>
                  <a:schemeClr val="accent2">
                    <a:lumMod val="75000"/>
                  </a:schemeClr>
                </a:solidFill>
                <a:latin typeface="Albertus Medium" pitchFamily="34" charset="0"/>
              </a:rPr>
              <a:t>Lower Respiratory Tract</a:t>
            </a:r>
            <a:endParaRPr lang="en-US" dirty="0">
              <a:solidFill>
                <a:schemeClr val="accent2">
                  <a:lumMod val="75000"/>
                </a:schemeClr>
              </a:solidFill>
              <a:latin typeface="Albertus Medium" pitchFamily="34" charset="0"/>
            </a:endParaRPr>
          </a:p>
        </p:txBody>
      </p:sp>
      <p:sp>
        <p:nvSpPr>
          <p:cNvPr id="3" name="Content Placeholder 2"/>
          <p:cNvSpPr>
            <a:spLocks noGrp="1"/>
          </p:cNvSpPr>
          <p:nvPr>
            <p:ph sz="quarter" idx="1"/>
          </p:nvPr>
        </p:nvSpPr>
        <p:spPr>
          <a:xfrm>
            <a:off x="457200" y="1295400"/>
            <a:ext cx="8229600" cy="5334000"/>
          </a:xfrm>
        </p:spPr>
        <p:txBody>
          <a:bodyPr>
            <a:normAutofit fontScale="92500" lnSpcReduction="10000"/>
          </a:bodyPr>
          <a:lstStyle/>
          <a:p>
            <a:pPr>
              <a:buNone/>
            </a:pPr>
            <a:r>
              <a:rPr lang="en-GB" b="1" i="1" dirty="0"/>
              <a:t>3. Larynx </a:t>
            </a:r>
            <a:endParaRPr lang="en-US" b="1" dirty="0"/>
          </a:p>
          <a:p>
            <a:pPr>
              <a:buNone/>
            </a:pPr>
            <a:r>
              <a:rPr lang="en-GB" dirty="0"/>
              <a:t>Air moves from the pharynx to the </a:t>
            </a:r>
          </a:p>
          <a:p>
            <a:pPr>
              <a:buNone/>
            </a:pPr>
            <a:r>
              <a:rPr lang="en-GB" dirty="0"/>
              <a:t>larynx, a structure about 5 cm (2 in)</a:t>
            </a:r>
          </a:p>
          <a:p>
            <a:pPr>
              <a:buNone/>
            </a:pPr>
            <a:r>
              <a:rPr lang="en-GB" dirty="0"/>
              <a:t>long located approximately in the </a:t>
            </a:r>
          </a:p>
          <a:p>
            <a:pPr>
              <a:buNone/>
            </a:pPr>
            <a:r>
              <a:rPr lang="en-GB" dirty="0"/>
              <a:t>middle of the neck.</a:t>
            </a:r>
          </a:p>
          <a:p>
            <a:pPr>
              <a:buNone/>
            </a:pPr>
            <a:endParaRPr lang="en-US" dirty="0"/>
          </a:p>
          <a:p>
            <a:pPr>
              <a:buNone/>
            </a:pPr>
            <a:r>
              <a:rPr lang="en-GB" b="1" i="1" dirty="0"/>
              <a:t>4.Trachea, Bronchi, and Bronchioles</a:t>
            </a:r>
            <a:endParaRPr lang="en-US" b="1" dirty="0"/>
          </a:p>
          <a:p>
            <a:pPr>
              <a:buNone/>
            </a:pPr>
            <a:r>
              <a:rPr lang="en-GB" dirty="0"/>
              <a:t>Air passes from the larynx into the trachea, a tube about 12 to 15 cm (about 5 to 6 in) long located just below the larynx. The trachea branches into two tubes, the </a:t>
            </a:r>
            <a:r>
              <a:rPr lang="en-GB" i="1" dirty="0"/>
              <a:t>left and right bronchi</a:t>
            </a:r>
            <a:r>
              <a:rPr lang="en-GB" dirty="0"/>
              <a:t>, which deliver air to the left and right lungs, respectively. Within the lungs, the bronchi branch into smaller tubes called </a:t>
            </a:r>
            <a:r>
              <a:rPr lang="en-GB" i="1" dirty="0"/>
              <a:t>bronchioles</a:t>
            </a:r>
            <a:r>
              <a:rPr lang="en-GB" dirty="0"/>
              <a:t>.</a:t>
            </a:r>
            <a:endParaRPr lang="en-US" dirty="0"/>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81600" y="533400"/>
            <a:ext cx="3619500" cy="32173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Lungs_AnatomyPage2.jpg"/>
          <p:cNvPicPr>
            <a:picLocks noChangeAspect="1"/>
          </p:cNvPicPr>
          <p:nvPr/>
        </p:nvPicPr>
        <p:blipFill>
          <a:blip r:embed="rId2" cstate="print"/>
          <a:stretch>
            <a:fillRect/>
          </a:stretch>
        </p:blipFill>
        <p:spPr>
          <a:xfrm>
            <a:off x="4953000" y="2209800"/>
            <a:ext cx="3962400" cy="2971800"/>
          </a:xfrm>
          <a:prstGeom prst="rect">
            <a:avLst/>
          </a:prstGeom>
        </p:spPr>
      </p:pic>
      <p:sp>
        <p:nvSpPr>
          <p:cNvPr id="2" name="Title 1"/>
          <p:cNvSpPr>
            <a:spLocks noGrp="1"/>
          </p:cNvSpPr>
          <p:nvPr>
            <p:ph type="title"/>
          </p:nvPr>
        </p:nvSpPr>
        <p:spPr>
          <a:xfrm>
            <a:off x="1447800" y="-152400"/>
            <a:ext cx="7315200" cy="1143000"/>
          </a:xfrm>
        </p:spPr>
        <p:txBody>
          <a:bodyPr>
            <a:normAutofit/>
          </a:bodyPr>
          <a:lstStyle/>
          <a:p>
            <a:r>
              <a:rPr lang="en-GB" b="1" dirty="0">
                <a:solidFill>
                  <a:schemeClr val="accent2">
                    <a:lumMod val="75000"/>
                  </a:schemeClr>
                </a:solidFill>
                <a:latin typeface="Albertus Medium" pitchFamily="34" charset="0"/>
              </a:rPr>
              <a:t>Lower Respiratory Tract</a:t>
            </a:r>
            <a:endParaRPr lang="en-US" dirty="0">
              <a:solidFill>
                <a:schemeClr val="accent2">
                  <a:lumMod val="75000"/>
                </a:schemeClr>
              </a:solidFill>
              <a:latin typeface="Albertus Medium" pitchFamily="34" charset="0"/>
            </a:endParaRPr>
          </a:p>
        </p:txBody>
      </p:sp>
      <p:sp>
        <p:nvSpPr>
          <p:cNvPr id="3" name="Content Placeholder 2"/>
          <p:cNvSpPr>
            <a:spLocks noGrp="1"/>
          </p:cNvSpPr>
          <p:nvPr>
            <p:ph sz="quarter" idx="1"/>
          </p:nvPr>
        </p:nvSpPr>
        <p:spPr>
          <a:xfrm>
            <a:off x="76200" y="1143000"/>
            <a:ext cx="4800600" cy="5486400"/>
          </a:xfrm>
        </p:spPr>
        <p:txBody>
          <a:bodyPr>
            <a:normAutofit fontScale="92500" lnSpcReduction="10000"/>
          </a:bodyPr>
          <a:lstStyle/>
          <a:p>
            <a:pPr>
              <a:buNone/>
            </a:pPr>
            <a:r>
              <a:rPr lang="en-GB" sz="2800" b="1" i="1" dirty="0"/>
              <a:t>5.	Lungs</a:t>
            </a:r>
            <a:endParaRPr lang="en-US" sz="2800" b="1" dirty="0"/>
          </a:p>
          <a:p>
            <a:pPr>
              <a:buNone/>
            </a:pPr>
            <a:r>
              <a:rPr lang="en-GB" dirty="0"/>
              <a:t>The two branches of the trachea, called </a:t>
            </a:r>
            <a:r>
              <a:rPr lang="en-GB" i="1" dirty="0"/>
              <a:t>bronchi</a:t>
            </a:r>
            <a:r>
              <a:rPr lang="en-GB" dirty="0"/>
              <a:t>, subdivide within the lobes into smaller and smaller air vessels. They terminate in </a:t>
            </a:r>
            <a:r>
              <a:rPr lang="en-GB" i="1" dirty="0"/>
              <a:t>alveoli</a:t>
            </a:r>
            <a:r>
              <a:rPr lang="en-GB" dirty="0"/>
              <a:t>, tiny air sacs surrounded by capillaries. </a:t>
            </a:r>
          </a:p>
          <a:p>
            <a:pPr>
              <a:buNone/>
            </a:pPr>
            <a:r>
              <a:rPr lang="en-GB" dirty="0"/>
              <a:t>When the alveoli inflate with inhaled air, oxygen diffuses into the blood in the capillaries to be pumped by the heart to the tissues of the body, and carbon dioxide diffuses out of the blood into the lungs, where it is exhaled.</a:t>
            </a:r>
            <a:endParaRPr lang="en-US" dirty="0"/>
          </a:p>
          <a:p>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0"/>
            <a:ext cx="7772400" cy="1143000"/>
          </a:xfrm>
        </p:spPr>
        <p:txBody>
          <a:bodyPr>
            <a:normAutofit fontScale="90000"/>
          </a:bodyPr>
          <a:lstStyle/>
          <a:p>
            <a:r>
              <a:rPr lang="en-GB" dirty="0">
                <a:solidFill>
                  <a:schemeClr val="accent2">
                    <a:lumMod val="75000"/>
                  </a:schemeClr>
                </a:solidFill>
                <a:latin typeface="Albertus Medium" pitchFamily="34" charset="0"/>
              </a:rPr>
              <a:t> </a:t>
            </a:r>
            <a:br>
              <a:rPr lang="en-US" dirty="0">
                <a:solidFill>
                  <a:schemeClr val="accent2">
                    <a:lumMod val="75000"/>
                  </a:schemeClr>
                </a:solidFill>
                <a:latin typeface="Albertus Medium" pitchFamily="34" charset="0"/>
              </a:rPr>
            </a:br>
            <a:r>
              <a:rPr lang="en-GB" b="1" dirty="0">
                <a:solidFill>
                  <a:schemeClr val="accent2">
                    <a:lumMod val="75000"/>
                  </a:schemeClr>
                </a:solidFill>
                <a:latin typeface="Albertus Medium" pitchFamily="34" charset="0"/>
              </a:rPr>
              <a:t>Gas Exchange in Lungs</a:t>
            </a:r>
            <a:endParaRPr lang="en-US" dirty="0">
              <a:solidFill>
                <a:schemeClr val="accent2">
                  <a:lumMod val="75000"/>
                </a:schemeClr>
              </a:solidFill>
              <a:latin typeface="Albertus Medium" pitchFamily="34" charset="0"/>
            </a:endParaRPr>
          </a:p>
        </p:txBody>
      </p:sp>
      <p:pic>
        <p:nvPicPr>
          <p:cNvPr id="6" name="Content Placeholder 5" descr="300px-Alveoli.svg.png"/>
          <p:cNvPicPr>
            <a:picLocks noGrp="1" noChangeAspect="1"/>
          </p:cNvPicPr>
          <p:nvPr>
            <p:ph sz="quarter" idx="1"/>
          </p:nvPr>
        </p:nvPicPr>
        <p:blipFill>
          <a:blip r:embed="rId2" cstate="print"/>
          <a:stretch>
            <a:fillRect/>
          </a:stretch>
        </p:blipFill>
        <p:spPr>
          <a:xfrm>
            <a:off x="1295401" y="1447800"/>
            <a:ext cx="7172578" cy="4470907"/>
          </a:xfr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http://www.texasheartinstitute.org/HIC/Topics/images/fig26_tga_3.jpg"/>
          <p:cNvPicPr>
            <a:picLocks noChangeAspect="1" noChangeArrowheads="1"/>
          </p:cNvPicPr>
          <p:nvPr/>
        </p:nvPicPr>
        <p:blipFill>
          <a:blip r:embed="rId2" cstate="print"/>
          <a:srcRect/>
          <a:stretch>
            <a:fillRect/>
          </a:stretch>
        </p:blipFill>
        <p:spPr bwMode="auto">
          <a:xfrm>
            <a:off x="6553200" y="2209800"/>
            <a:ext cx="2381250" cy="2619375"/>
          </a:xfrm>
          <a:prstGeom prst="rect">
            <a:avLst/>
          </a:prstGeom>
          <a:noFill/>
        </p:spPr>
      </p:pic>
      <p:sp>
        <p:nvSpPr>
          <p:cNvPr id="2" name="Title 1"/>
          <p:cNvSpPr>
            <a:spLocks noGrp="1"/>
          </p:cNvSpPr>
          <p:nvPr>
            <p:ph type="title"/>
          </p:nvPr>
        </p:nvSpPr>
        <p:spPr>
          <a:xfrm>
            <a:off x="914400" y="76200"/>
            <a:ext cx="7772400" cy="1143000"/>
          </a:xfrm>
        </p:spPr>
        <p:txBody>
          <a:bodyPr/>
          <a:lstStyle/>
          <a:p>
            <a:r>
              <a:rPr lang="en-GB" b="1" dirty="0">
                <a:solidFill>
                  <a:schemeClr val="accent2">
                    <a:lumMod val="75000"/>
                  </a:schemeClr>
                </a:solidFill>
                <a:latin typeface="Albertus Medium" pitchFamily="34" charset="0"/>
              </a:rPr>
              <a:t>Gas Exchange in Lungs</a:t>
            </a:r>
            <a:endParaRPr lang="en-US" dirty="0">
              <a:solidFill>
                <a:schemeClr val="accent2">
                  <a:lumMod val="75000"/>
                </a:schemeClr>
              </a:solidFill>
              <a:latin typeface="Albertus Medium" pitchFamily="34" charset="0"/>
            </a:endParaRPr>
          </a:p>
        </p:txBody>
      </p:sp>
      <p:sp>
        <p:nvSpPr>
          <p:cNvPr id="3" name="Content Placeholder 2"/>
          <p:cNvSpPr>
            <a:spLocks noGrp="1"/>
          </p:cNvSpPr>
          <p:nvPr>
            <p:ph sz="quarter" idx="1"/>
          </p:nvPr>
        </p:nvSpPr>
        <p:spPr>
          <a:xfrm>
            <a:off x="0" y="1447800"/>
            <a:ext cx="6553200" cy="4953000"/>
          </a:xfrm>
        </p:spPr>
        <p:txBody>
          <a:bodyPr>
            <a:noAutofit/>
          </a:bodyPr>
          <a:lstStyle/>
          <a:p>
            <a:r>
              <a:rPr lang="en-GB" sz="2800" b="1" dirty="0"/>
              <a:t>Deoxygenated blood poor in oxygen </a:t>
            </a:r>
            <a:r>
              <a:rPr lang="en-GB" sz="2800" dirty="0"/>
              <a:t>and </a:t>
            </a:r>
            <a:r>
              <a:rPr lang="en-GB" sz="2800" b="1" dirty="0"/>
              <a:t>rich in carbon dioxide </a:t>
            </a:r>
            <a:r>
              <a:rPr lang="en-GB" sz="2800" dirty="0"/>
              <a:t>is pumped by the heart into the capillary surrounding the airspace of an </a:t>
            </a:r>
            <a:r>
              <a:rPr lang="en-GB" sz="2800" u="sng" dirty="0"/>
              <a:t>alveolus</a:t>
            </a:r>
            <a:r>
              <a:rPr lang="en-GB" sz="2800" dirty="0"/>
              <a:t>. </a:t>
            </a:r>
          </a:p>
          <a:p>
            <a:r>
              <a:rPr lang="en-GB" sz="2800" dirty="0"/>
              <a:t>Fresh air contains only 0.034% carbon dioxide, which is a lower concentration than that in the blood. </a:t>
            </a:r>
          </a:p>
          <a:p>
            <a:r>
              <a:rPr lang="en-GB" sz="2800" dirty="0"/>
              <a:t>Since inside of the alveolus has lower concentration of carbon dioxide, it diffuses into the airspace and is exhaled out.</a:t>
            </a:r>
          </a:p>
          <a:p>
            <a:endParaRPr lang="en-US" sz="2800" dirty="0"/>
          </a:p>
          <a:p>
            <a:endParaRPr lang="en-GB" sz="2800" dirty="0"/>
          </a:p>
          <a:p>
            <a:r>
              <a:rPr lang="en-GB" sz="2800" dirty="0"/>
              <a:t> </a:t>
            </a:r>
            <a:endParaRPr lang="en-US" sz="2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152400"/>
            <a:ext cx="7772400" cy="1143000"/>
          </a:xfrm>
        </p:spPr>
        <p:txBody>
          <a:bodyPr/>
          <a:lstStyle/>
          <a:p>
            <a:r>
              <a:rPr lang="en-GB" b="1" dirty="0">
                <a:solidFill>
                  <a:schemeClr val="accent2">
                    <a:lumMod val="75000"/>
                  </a:schemeClr>
                </a:solidFill>
                <a:latin typeface="Albertus Medium" pitchFamily="34" charset="0"/>
              </a:rPr>
              <a:t>Gas Exchange in Lungs</a:t>
            </a:r>
            <a:endParaRPr lang="en-US" dirty="0">
              <a:solidFill>
                <a:schemeClr val="accent2">
                  <a:lumMod val="75000"/>
                </a:schemeClr>
              </a:solidFill>
              <a:latin typeface="Albertus Medium" pitchFamily="34" charset="0"/>
            </a:endParaRPr>
          </a:p>
        </p:txBody>
      </p:sp>
      <p:sp>
        <p:nvSpPr>
          <p:cNvPr id="3" name="Content Placeholder 2"/>
          <p:cNvSpPr>
            <a:spLocks noGrp="1"/>
          </p:cNvSpPr>
          <p:nvPr>
            <p:ph sz="quarter" idx="1"/>
          </p:nvPr>
        </p:nvSpPr>
        <p:spPr>
          <a:xfrm>
            <a:off x="0" y="1295400"/>
            <a:ext cx="6705600" cy="5257800"/>
          </a:xfrm>
        </p:spPr>
        <p:txBody>
          <a:bodyPr>
            <a:normAutofit fontScale="92500" lnSpcReduction="20000"/>
          </a:bodyPr>
          <a:lstStyle/>
          <a:p>
            <a:r>
              <a:rPr lang="en-GB" sz="2800" dirty="0"/>
              <a:t>Fresh inhaled air in the airspace contains about 21% oxygen. This is a very high concentration compared to what is in the blood.</a:t>
            </a:r>
          </a:p>
          <a:p>
            <a:r>
              <a:rPr lang="en-GB" sz="2800" dirty="0"/>
              <a:t>Therefore, oxygen molecules diffuse from the airspace into the blood stream through the thin lining of the alveolus.		</a:t>
            </a:r>
          </a:p>
          <a:p>
            <a:r>
              <a:rPr lang="en-GB" sz="2800" dirty="0"/>
              <a:t>The now </a:t>
            </a:r>
            <a:r>
              <a:rPr lang="en-GB" sz="2800" b="1" i="1" dirty="0">
                <a:solidFill>
                  <a:srgbClr val="FF0000"/>
                </a:solidFill>
              </a:rPr>
              <a:t>bright red</a:t>
            </a:r>
            <a:r>
              <a:rPr lang="en-GB" sz="2800" i="1" dirty="0"/>
              <a:t>, </a:t>
            </a:r>
            <a:r>
              <a:rPr lang="en-GB" sz="2800" b="1" i="1" dirty="0">
                <a:solidFill>
                  <a:srgbClr val="00B050"/>
                </a:solidFill>
              </a:rPr>
              <a:t>oxygen-rich blood</a:t>
            </a:r>
            <a:r>
              <a:rPr lang="en-GB" sz="2800" b="1" dirty="0">
                <a:solidFill>
                  <a:srgbClr val="00B050"/>
                </a:solidFill>
              </a:rPr>
              <a:t> </a:t>
            </a:r>
            <a:r>
              <a:rPr lang="en-GB" sz="2800" dirty="0"/>
              <a:t>moves through the capillary into the pulmonary vein and back to the heart.</a:t>
            </a:r>
          </a:p>
          <a:p>
            <a:r>
              <a:rPr lang="en-GB" sz="2800" dirty="0"/>
              <a:t>At the same time that oxygen diffusion is occurring, carbon dioxide is diffusing from the blood into the air space of the alveolus.</a:t>
            </a:r>
            <a:r>
              <a:rPr lang="en-GB" dirty="0"/>
              <a:t> </a:t>
            </a:r>
          </a:p>
          <a:p>
            <a:endParaRPr lang="en-US" dirty="0"/>
          </a:p>
        </p:txBody>
      </p:sp>
      <p:pic>
        <p:nvPicPr>
          <p:cNvPr id="4" name="Picture 2" descr="http://www.texasheartinstitute.org/HIC/Topics/images/fig26_tga_3.jpg"/>
          <p:cNvPicPr>
            <a:picLocks noChangeAspect="1" noChangeArrowheads="1"/>
          </p:cNvPicPr>
          <p:nvPr/>
        </p:nvPicPr>
        <p:blipFill>
          <a:blip r:embed="rId2" cstate="print"/>
          <a:srcRect/>
          <a:stretch>
            <a:fillRect/>
          </a:stretch>
        </p:blipFill>
        <p:spPr bwMode="auto">
          <a:xfrm>
            <a:off x="6553200" y="1905000"/>
            <a:ext cx="2381250" cy="2619375"/>
          </a:xfrm>
          <a:prstGeom prst="rect">
            <a:avLst/>
          </a:prstGeom>
          <a:noFill/>
        </p:spPr>
      </p:pic>
      <p:grpSp>
        <p:nvGrpSpPr>
          <p:cNvPr id="11" name="Group 10"/>
          <p:cNvGrpSpPr/>
          <p:nvPr/>
        </p:nvGrpSpPr>
        <p:grpSpPr>
          <a:xfrm>
            <a:off x="7467600" y="2514600"/>
            <a:ext cx="1527982" cy="2639199"/>
            <a:chOff x="7463618" y="2057400"/>
            <a:chExt cx="1527982" cy="2639199"/>
          </a:xfrm>
        </p:grpSpPr>
        <p:sp>
          <p:nvSpPr>
            <p:cNvPr id="7" name="Oval 6"/>
            <p:cNvSpPr/>
            <p:nvPr/>
          </p:nvSpPr>
          <p:spPr>
            <a:xfrm>
              <a:off x="8077200" y="2057400"/>
              <a:ext cx="533400" cy="685800"/>
            </a:xfrm>
            <a:prstGeom prst="ellipse">
              <a:avLst/>
            </a:prstGeom>
            <a:noFill/>
            <a:ln w="38100">
              <a:solidFill>
                <a:srgbClr val="22F427"/>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p:cNvSpPr txBox="1"/>
            <p:nvPr/>
          </p:nvSpPr>
          <p:spPr>
            <a:xfrm>
              <a:off x="7463618" y="4419600"/>
              <a:ext cx="1527982" cy="276999"/>
            </a:xfrm>
            <a:prstGeom prst="rect">
              <a:avLst/>
            </a:prstGeom>
            <a:noFill/>
            <a:ln w="28575">
              <a:solidFill>
                <a:srgbClr val="22F427"/>
              </a:solidFill>
              <a:prstDash val="sysDash"/>
            </a:ln>
          </p:spPr>
          <p:txBody>
            <a:bodyPr wrap="none" rtlCol="0">
              <a:spAutoFit/>
            </a:bodyPr>
            <a:lstStyle/>
            <a:p>
              <a:r>
                <a:rPr lang="en-US" sz="1200" b="1" dirty="0">
                  <a:solidFill>
                    <a:schemeClr val="accent6">
                      <a:lumMod val="50000"/>
                    </a:schemeClr>
                  </a:solidFill>
                  <a:latin typeface="Antique Olive" pitchFamily="34" charset="0"/>
                </a:rPr>
                <a:t>Pulmonary vein</a:t>
              </a:r>
            </a:p>
          </p:txBody>
        </p:sp>
        <p:cxnSp>
          <p:nvCxnSpPr>
            <p:cNvPr id="10" name="Straight Connector 9"/>
            <p:cNvCxnSpPr>
              <a:stCxn id="7" idx="5"/>
            </p:cNvCxnSpPr>
            <p:nvPr/>
          </p:nvCxnSpPr>
          <p:spPr>
            <a:xfrm rot="16200000" flipH="1">
              <a:off x="7645026" y="3530225"/>
              <a:ext cx="1776833" cy="1915"/>
            </a:xfrm>
            <a:prstGeom prst="line">
              <a:avLst/>
            </a:prstGeom>
            <a:ln w="28575">
              <a:solidFill>
                <a:srgbClr val="22F427"/>
              </a:solidFill>
              <a:prstDash val="sysDash"/>
            </a:ln>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0"/>
            <a:ext cx="7772400" cy="1143000"/>
          </a:xfrm>
        </p:spPr>
        <p:txBody>
          <a:bodyPr/>
          <a:lstStyle/>
          <a:p>
            <a:r>
              <a:rPr lang="en-GB" b="1" dirty="0">
                <a:solidFill>
                  <a:schemeClr val="accent2">
                    <a:lumMod val="75000"/>
                  </a:schemeClr>
                </a:solidFill>
                <a:latin typeface="Albertus Medium" pitchFamily="34" charset="0"/>
              </a:rPr>
              <a:t>Gas Exchange in Lungs</a:t>
            </a:r>
            <a:endParaRPr lang="en-US" dirty="0">
              <a:solidFill>
                <a:schemeClr val="accent2">
                  <a:lumMod val="75000"/>
                </a:schemeClr>
              </a:solidFill>
              <a:latin typeface="Albertus Medium" pitchFamily="34" charset="0"/>
            </a:endParaRPr>
          </a:p>
        </p:txBody>
      </p:sp>
      <p:sp>
        <p:nvSpPr>
          <p:cNvPr id="3" name="Content Placeholder 2"/>
          <p:cNvSpPr>
            <a:spLocks noGrp="1"/>
          </p:cNvSpPr>
          <p:nvPr>
            <p:ph sz="quarter" idx="1"/>
          </p:nvPr>
        </p:nvSpPr>
        <p:spPr/>
        <p:txBody>
          <a:bodyPr>
            <a:normAutofit fontScale="92500"/>
          </a:bodyPr>
          <a:lstStyle/>
          <a:p>
            <a:r>
              <a:rPr lang="en-GB" dirty="0"/>
              <a:t>If you hold your breath you can stop the diffusion;</a:t>
            </a:r>
          </a:p>
          <a:p>
            <a:pPr>
              <a:buNone/>
            </a:pPr>
            <a:endParaRPr lang="en-GB" b="1" i="1" dirty="0"/>
          </a:p>
          <a:p>
            <a:pPr>
              <a:buNone/>
            </a:pPr>
            <a:r>
              <a:rPr lang="en-GB" b="1" i="1" dirty="0"/>
              <a:t>Table: Effect of gas exchange on the air we breathe</a:t>
            </a:r>
            <a:endParaRPr lang="en-US" b="1" dirty="0"/>
          </a:p>
          <a:p>
            <a:endParaRPr lang="en-US" dirty="0"/>
          </a:p>
          <a:p>
            <a:pPr>
              <a:buNone/>
            </a:pPr>
            <a:br>
              <a:rPr lang="en-US" dirty="0">
                <a:solidFill>
                  <a:srgbClr val="0070C0"/>
                </a:solidFill>
              </a:rPr>
            </a:br>
            <a:r>
              <a:rPr lang="en-GB" dirty="0">
                <a:solidFill>
                  <a:srgbClr val="0070C0"/>
                </a:solidFill>
              </a:rPr>
              <a:t>Percent		</a:t>
            </a:r>
            <a:r>
              <a:rPr lang="en-GB" dirty="0" err="1">
                <a:solidFill>
                  <a:srgbClr val="0070C0"/>
                </a:solidFill>
              </a:rPr>
              <a:t>Percent</a:t>
            </a:r>
            <a:r>
              <a:rPr lang="en-GB" dirty="0">
                <a:solidFill>
                  <a:srgbClr val="0070C0"/>
                </a:solidFill>
              </a:rPr>
              <a:t>		</a:t>
            </a:r>
            <a:r>
              <a:rPr lang="en-GB" dirty="0" err="1">
                <a:solidFill>
                  <a:srgbClr val="0070C0"/>
                </a:solidFill>
              </a:rPr>
              <a:t>Percent</a:t>
            </a:r>
            <a:endParaRPr lang="en-US" dirty="0">
              <a:solidFill>
                <a:srgbClr val="0070C0"/>
              </a:solidFill>
            </a:endParaRPr>
          </a:p>
          <a:p>
            <a:pPr>
              <a:buNone/>
            </a:pPr>
            <a:r>
              <a:rPr lang="en-GB" dirty="0">
                <a:solidFill>
                  <a:srgbClr val="0070C0"/>
                </a:solidFill>
              </a:rPr>
              <a:t>	Oxygen	 	Carbon dioxide	Water</a:t>
            </a:r>
            <a:endParaRPr lang="en-US" dirty="0">
              <a:solidFill>
                <a:srgbClr val="0070C0"/>
              </a:solidFill>
            </a:endParaRPr>
          </a:p>
          <a:p>
            <a:pPr>
              <a:buNone/>
            </a:pPr>
            <a:r>
              <a:rPr lang="en-GB" dirty="0">
                <a:solidFill>
                  <a:srgbClr val="0070C0"/>
                </a:solidFill>
              </a:rPr>
              <a:t> </a:t>
            </a:r>
            <a:endParaRPr lang="en-US" dirty="0">
              <a:solidFill>
                <a:srgbClr val="0070C0"/>
              </a:solidFill>
            </a:endParaRPr>
          </a:p>
          <a:p>
            <a:pPr>
              <a:buNone/>
            </a:pPr>
            <a:r>
              <a:rPr lang="en-GB" dirty="0">
                <a:solidFill>
                  <a:srgbClr val="0070C0"/>
                </a:solidFill>
              </a:rPr>
              <a:t>Inhaled air	21		0.034	   	   1</a:t>
            </a:r>
            <a:endParaRPr lang="en-US" dirty="0">
              <a:solidFill>
                <a:srgbClr val="0070C0"/>
              </a:solidFill>
            </a:endParaRPr>
          </a:p>
          <a:p>
            <a:pPr>
              <a:buNone/>
            </a:pPr>
            <a:r>
              <a:rPr lang="en-GB" dirty="0">
                <a:solidFill>
                  <a:srgbClr val="0070C0"/>
                </a:solidFill>
              </a:rPr>
              <a:t>Exhaled air   16		4                  	   6</a:t>
            </a:r>
            <a:endParaRPr lang="en-US" dirty="0">
              <a:solidFill>
                <a:srgbClr val="0070C0"/>
              </a:solidFill>
            </a:endParaRPr>
          </a:p>
          <a:p>
            <a:pPr>
              <a:buNone/>
            </a:pPr>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lstStyle/>
          <a:p>
            <a:endParaRPr lang="en-US"/>
          </a:p>
        </p:txBody>
      </p:sp>
      <p:pic>
        <p:nvPicPr>
          <p:cNvPr id="1026" name="Picture 2" descr="C:\Users\Mahjabeen Hossain\Desktop\alveoli-271133919455913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0"/>
            <a:ext cx="8763000" cy="66532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961979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a:xfrm>
            <a:off x="228600" y="228600"/>
            <a:ext cx="8610600" cy="685800"/>
          </a:xfrm>
          <a:prstGeom prst="rect">
            <a:avLst/>
          </a:prstGeom>
        </p:spPr>
        <p:txBody>
          <a:bodyPr/>
          <a:lstStyle>
            <a:lvl1pPr algn="l" rtl="0" eaLnBrk="1" latinLnBrk="0" hangingPunct="1">
              <a:spcBef>
                <a:spcPct val="0"/>
              </a:spcBef>
              <a:buNone/>
              <a:defRPr kumimoji="0" sz="4000" kern="1200">
                <a:solidFill>
                  <a:schemeClr val="tx2"/>
                </a:solidFill>
                <a:latin typeface="+mj-lt"/>
                <a:ea typeface="+mj-ea"/>
                <a:cs typeface="+mj-cs"/>
              </a:defRPr>
            </a:lvl1pPr>
          </a:lstStyle>
          <a:p>
            <a:r>
              <a:rPr lang="en-US" altLang="en-US" sz="2600">
                <a:solidFill>
                  <a:srgbClr val="FF6600"/>
                </a:solidFill>
              </a:rPr>
              <a:t>How tissue gets oxygen and release carbon dioxide</a:t>
            </a:r>
          </a:p>
        </p:txBody>
      </p:sp>
      <p:pic>
        <p:nvPicPr>
          <p:cNvPr id="5" name="Picture 4" descr="11-29-2007 12-54-15 AM_000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0" y="2286000"/>
            <a:ext cx="9144000" cy="4572000"/>
          </a:xfrm>
          <a:prstGeom prst="rect">
            <a:avLst/>
          </a:prstGeom>
          <a:noFill/>
        </p:spPr>
      </p:pic>
      <p:sp>
        <p:nvSpPr>
          <p:cNvPr id="6" name="Text Box 6"/>
          <p:cNvSpPr txBox="1">
            <a:spLocks noChangeArrowheads="1"/>
          </p:cNvSpPr>
          <p:nvPr/>
        </p:nvSpPr>
        <p:spPr bwMode="auto">
          <a:xfrm>
            <a:off x="1676400" y="1219200"/>
            <a:ext cx="47244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spcBef>
                <a:spcPct val="50000"/>
              </a:spcBef>
            </a:pPr>
            <a:r>
              <a:rPr lang="en-US" altLang="en-US" sz="2400" b="1" dirty="0"/>
              <a:t>How Red blood Cells carry oxygen :</a:t>
            </a:r>
          </a:p>
        </p:txBody>
      </p:sp>
    </p:spTree>
    <p:extLst>
      <p:ext uri="{BB962C8B-B14F-4D97-AF65-F5344CB8AC3E}">
        <p14:creationId xmlns:p14="http://schemas.microsoft.com/office/powerpoint/2010/main" val="1868146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solidFill>
                  <a:schemeClr val="tx1"/>
                </a:solidFill>
              </a:rPr>
              <a:t>Excretory System</a:t>
            </a:r>
            <a:endParaRPr lang="en-GB" dirty="0"/>
          </a:p>
        </p:txBody>
      </p:sp>
      <p:sp>
        <p:nvSpPr>
          <p:cNvPr id="3" name="Content Placeholder 2"/>
          <p:cNvSpPr>
            <a:spLocks noGrp="1"/>
          </p:cNvSpPr>
          <p:nvPr>
            <p:ph sz="quarter" idx="1"/>
          </p:nvPr>
        </p:nvSpPr>
        <p:spPr/>
        <p:txBody>
          <a:bodyPr/>
          <a:lstStyle/>
          <a:p>
            <a:pPr>
              <a:lnSpc>
                <a:spcPct val="80000"/>
              </a:lnSpc>
            </a:pPr>
            <a:r>
              <a:rPr lang="en-US" altLang="en-US" dirty="0"/>
              <a:t>Kidneys are the </a:t>
            </a:r>
            <a:r>
              <a:rPr lang="en-US" altLang="en-US" dirty="0">
                <a:solidFill>
                  <a:srgbClr val="FF6600"/>
                </a:solidFill>
              </a:rPr>
              <a:t>excretory organ</a:t>
            </a:r>
            <a:r>
              <a:rPr lang="en-US" altLang="en-US" dirty="0"/>
              <a:t> of our body. These are the </a:t>
            </a:r>
            <a:r>
              <a:rPr lang="en-US" altLang="en-US" dirty="0">
                <a:solidFill>
                  <a:srgbClr val="FF6600"/>
                </a:solidFill>
              </a:rPr>
              <a:t>major component of urinary system</a:t>
            </a:r>
            <a:r>
              <a:rPr lang="en-US" altLang="en-US" dirty="0"/>
              <a:t>.</a:t>
            </a:r>
          </a:p>
          <a:p>
            <a:pPr>
              <a:lnSpc>
                <a:spcPct val="80000"/>
              </a:lnSpc>
            </a:pPr>
            <a:r>
              <a:rPr lang="en-US" altLang="en-US" dirty="0"/>
              <a:t>Urinary system includes				</a:t>
            </a:r>
          </a:p>
          <a:p>
            <a:pPr marL="0" indent="0">
              <a:lnSpc>
                <a:spcPct val="80000"/>
              </a:lnSpc>
              <a:buNone/>
            </a:pPr>
            <a:r>
              <a:rPr lang="en-US" altLang="en-US" dirty="0"/>
              <a:t>(</a:t>
            </a:r>
            <a:r>
              <a:rPr lang="en-US" altLang="en-US" dirty="0" err="1"/>
              <a:t>i</a:t>
            </a:r>
            <a:r>
              <a:rPr lang="en-US" altLang="en-US" dirty="0"/>
              <a:t>) </a:t>
            </a:r>
            <a:r>
              <a:rPr lang="en-US" altLang="en-US" dirty="0">
                <a:solidFill>
                  <a:srgbClr val="FF6600"/>
                </a:solidFill>
              </a:rPr>
              <a:t>Kidneys</a:t>
            </a:r>
            <a:r>
              <a:rPr lang="en-US" altLang="en-US" dirty="0"/>
              <a:t>...formation of urine			</a:t>
            </a:r>
          </a:p>
          <a:p>
            <a:pPr marL="0" indent="0">
              <a:lnSpc>
                <a:spcPct val="80000"/>
              </a:lnSpc>
              <a:buNone/>
            </a:pPr>
            <a:r>
              <a:rPr lang="en-US" altLang="en-US" dirty="0"/>
              <a:t>(ii) </a:t>
            </a:r>
            <a:r>
              <a:rPr lang="en-US" altLang="en-US" dirty="0">
                <a:solidFill>
                  <a:srgbClr val="FF6600"/>
                </a:solidFill>
              </a:rPr>
              <a:t>Ureters</a:t>
            </a:r>
            <a:r>
              <a:rPr lang="en-US" altLang="en-US" dirty="0"/>
              <a:t>…transport of urine from kidneys to urinary bladder	</a:t>
            </a:r>
          </a:p>
          <a:p>
            <a:pPr marL="0" indent="0">
              <a:lnSpc>
                <a:spcPct val="80000"/>
              </a:lnSpc>
              <a:buNone/>
            </a:pPr>
            <a:r>
              <a:rPr lang="en-US" altLang="en-US" dirty="0"/>
              <a:t>(iii) </a:t>
            </a:r>
            <a:r>
              <a:rPr lang="en-US" altLang="en-US" dirty="0">
                <a:solidFill>
                  <a:srgbClr val="FF6600"/>
                </a:solidFill>
              </a:rPr>
              <a:t>Urinary bladder</a:t>
            </a:r>
            <a:r>
              <a:rPr lang="en-US" altLang="en-US" dirty="0"/>
              <a:t>…reservoir of urine	</a:t>
            </a:r>
          </a:p>
          <a:p>
            <a:pPr marL="0" indent="0">
              <a:lnSpc>
                <a:spcPct val="80000"/>
              </a:lnSpc>
              <a:buNone/>
            </a:pPr>
            <a:r>
              <a:rPr lang="en-US" altLang="en-US" dirty="0"/>
              <a:t>(iv) </a:t>
            </a:r>
            <a:r>
              <a:rPr lang="en-US" altLang="en-US" dirty="0">
                <a:solidFill>
                  <a:srgbClr val="FF6600"/>
                </a:solidFill>
              </a:rPr>
              <a:t>urethra</a:t>
            </a:r>
            <a:r>
              <a:rPr lang="en-US" altLang="en-US" dirty="0"/>
              <a:t>...passage of urine from urinary bladder to outside</a:t>
            </a:r>
            <a:r>
              <a:rPr lang="en-US" altLang="en-US" dirty="0">
                <a:solidFill>
                  <a:srgbClr val="0000FF"/>
                </a:solidFill>
              </a:rPr>
              <a:t>                                 </a:t>
            </a:r>
          </a:p>
          <a:p>
            <a:pPr marL="0" indent="0">
              <a:buNone/>
            </a:pPr>
            <a:endParaRPr lang="en-GB" dirty="0"/>
          </a:p>
        </p:txBody>
      </p:sp>
    </p:spTree>
    <p:extLst>
      <p:ext uri="{BB962C8B-B14F-4D97-AF65-F5344CB8AC3E}">
        <p14:creationId xmlns:p14="http://schemas.microsoft.com/office/powerpoint/2010/main" val="15060769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a:xfrm>
            <a:off x="457200" y="0"/>
            <a:ext cx="8229600" cy="865188"/>
          </a:xfrm>
          <a:prstGeom prst="rect">
            <a:avLst/>
          </a:prstGeom>
        </p:spPr>
        <p:txBody>
          <a:bodyPr bIns="91440" anchor="b" anchorCtr="0">
            <a:normAutofit/>
          </a:bodyPr>
          <a:lstStyle>
            <a:lvl1pPr algn="l" rtl="0" eaLnBrk="1" latinLnBrk="0" hangingPunct="1">
              <a:spcBef>
                <a:spcPct val="0"/>
              </a:spcBef>
              <a:buNone/>
              <a:defRPr kumimoji="0" sz="4000" kern="1200">
                <a:solidFill>
                  <a:schemeClr val="tx2"/>
                </a:solidFill>
                <a:latin typeface="+mj-lt"/>
                <a:ea typeface="+mj-ea"/>
                <a:cs typeface="+mj-cs"/>
              </a:defRPr>
            </a:lvl1pPr>
          </a:lstStyle>
          <a:p>
            <a:r>
              <a:rPr lang="en-US" altLang="en-US" sz="3000">
                <a:solidFill>
                  <a:srgbClr val="FF6600"/>
                </a:solidFill>
              </a:rPr>
              <a:t>Kidney Structure</a:t>
            </a:r>
          </a:p>
        </p:txBody>
      </p:sp>
      <p:sp>
        <p:nvSpPr>
          <p:cNvPr id="5" name="Rectangle 3"/>
          <p:cNvSpPr txBox="1">
            <a:spLocks noChangeArrowheads="1"/>
          </p:cNvSpPr>
          <p:nvPr/>
        </p:nvSpPr>
        <p:spPr>
          <a:xfrm>
            <a:off x="0" y="1143000"/>
            <a:ext cx="8610600" cy="914400"/>
          </a:xfrm>
          <a:prstGeom prst="rect">
            <a:avLst/>
          </a:prstGeom>
        </p:spPr>
        <p:txBody>
          <a:bodyPr vert="horz">
            <a:normAutofit/>
          </a:bodyPr>
          <a:lst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r>
              <a:rPr lang="en-US" altLang="en-US" sz="2200" dirty="0"/>
              <a:t>Each kidney contains about one million </a:t>
            </a:r>
            <a:r>
              <a:rPr lang="en-US" altLang="en-US" sz="2200" b="1" dirty="0" err="1">
                <a:solidFill>
                  <a:srgbClr val="FF6600"/>
                </a:solidFill>
              </a:rPr>
              <a:t>Nephrones</a:t>
            </a:r>
            <a:r>
              <a:rPr lang="en-US" altLang="en-US" sz="2200" dirty="0"/>
              <a:t> which are the structural &amp; functional unit of kidneys.</a:t>
            </a:r>
          </a:p>
        </p:txBody>
      </p:sp>
      <p:pic>
        <p:nvPicPr>
          <p:cNvPr id="6" name="Picture 4" descr="11-29-2007 1-24-36 AM_001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1828800" y="2184400"/>
            <a:ext cx="7315200" cy="4673600"/>
          </a:xfrm>
          <a:prstGeom prst="rect">
            <a:avLst/>
          </a:prstGeom>
          <a:noFill/>
        </p:spPr>
      </p:pic>
      <p:sp>
        <p:nvSpPr>
          <p:cNvPr id="7" name="Text Box 6"/>
          <p:cNvSpPr txBox="1">
            <a:spLocks noChangeArrowheads="1"/>
          </p:cNvSpPr>
          <p:nvPr/>
        </p:nvSpPr>
        <p:spPr bwMode="auto">
          <a:xfrm>
            <a:off x="76200" y="2133600"/>
            <a:ext cx="2057400" cy="264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spcBef>
                <a:spcPct val="50000"/>
              </a:spcBef>
            </a:pPr>
            <a:r>
              <a:rPr lang="en-US" altLang="en-US" sz="2400" b="1" dirty="0"/>
              <a:t>Figure –</a:t>
            </a:r>
            <a:r>
              <a:rPr lang="en-US" altLang="en-US" sz="2400" dirty="0">
                <a:solidFill>
                  <a:srgbClr val="0000FF"/>
                </a:solidFill>
              </a:rPr>
              <a:t> </a:t>
            </a:r>
            <a:r>
              <a:rPr lang="en-US" altLang="en-US" sz="2400" dirty="0"/>
              <a:t>General organization of the kidneys and the urinary system</a:t>
            </a:r>
          </a:p>
        </p:txBody>
      </p:sp>
    </p:spTree>
    <p:extLst>
      <p:ext uri="{BB962C8B-B14F-4D97-AF65-F5344CB8AC3E}">
        <p14:creationId xmlns:p14="http://schemas.microsoft.com/office/powerpoint/2010/main" val="8533345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a:xfrm>
            <a:off x="457200" y="138112"/>
            <a:ext cx="7724775" cy="1004888"/>
          </a:xfrm>
          <a:prstGeom prst="rect">
            <a:avLst/>
          </a:prstGeom>
        </p:spPr>
        <p:txBody>
          <a:bodyPr/>
          <a:lstStyle>
            <a:lvl1pPr algn="l" rtl="0" eaLnBrk="1" latinLnBrk="0" hangingPunct="1">
              <a:spcBef>
                <a:spcPct val="0"/>
              </a:spcBef>
              <a:buNone/>
              <a:defRPr kumimoji="0" sz="4000" kern="1200">
                <a:solidFill>
                  <a:schemeClr val="tx2"/>
                </a:solidFill>
                <a:latin typeface="+mj-lt"/>
                <a:ea typeface="+mj-ea"/>
                <a:cs typeface="+mj-cs"/>
              </a:defRPr>
            </a:lvl1pPr>
          </a:lstStyle>
          <a:p>
            <a:r>
              <a:rPr lang="en-US" altLang="en-US" dirty="0">
                <a:solidFill>
                  <a:srgbClr val="FF6600"/>
                </a:solidFill>
              </a:rPr>
              <a:t>Functions of kidneys</a:t>
            </a:r>
          </a:p>
        </p:txBody>
      </p:sp>
      <p:sp>
        <p:nvSpPr>
          <p:cNvPr id="5" name="Rectangle 3"/>
          <p:cNvSpPr txBox="1">
            <a:spLocks noChangeArrowheads="1"/>
          </p:cNvSpPr>
          <p:nvPr/>
        </p:nvSpPr>
        <p:spPr>
          <a:xfrm>
            <a:off x="685800" y="762000"/>
            <a:ext cx="7772400" cy="5410200"/>
          </a:xfrm>
          <a:prstGeom prst="rect">
            <a:avLst/>
          </a:prstGeom>
        </p:spPr>
        <p:txBody>
          <a:bodyPr/>
          <a:lst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r>
              <a:rPr lang="en-US" altLang="en-US" dirty="0"/>
              <a:t>Excretion of excess unnecessary substances &amp; metabolic waste products</a:t>
            </a:r>
          </a:p>
          <a:p>
            <a:r>
              <a:rPr lang="en-US" altLang="en-US" dirty="0"/>
              <a:t>Osmoregulation</a:t>
            </a:r>
          </a:p>
          <a:p>
            <a:r>
              <a:rPr lang="en-US" altLang="en-US" dirty="0"/>
              <a:t>Regulation of					</a:t>
            </a:r>
          </a:p>
          <a:p>
            <a:pPr marL="0" indent="0">
              <a:buNone/>
            </a:pPr>
            <a:r>
              <a:rPr lang="en-US" altLang="en-US" dirty="0"/>
              <a:t>(</a:t>
            </a:r>
            <a:r>
              <a:rPr lang="en-US" altLang="en-US" dirty="0" err="1"/>
              <a:t>i</a:t>
            </a:r>
            <a:r>
              <a:rPr lang="en-US" altLang="en-US" dirty="0"/>
              <a:t>) water &amp; electrolyte balances		</a:t>
            </a:r>
          </a:p>
          <a:p>
            <a:pPr>
              <a:buFont typeface="Wingdings" pitchFamily="2" charset="2"/>
              <a:buNone/>
            </a:pPr>
            <a:r>
              <a:rPr lang="en-US" altLang="en-US" dirty="0"/>
              <a:t>(ii) acid-base balances			</a:t>
            </a:r>
          </a:p>
          <a:p>
            <a:pPr>
              <a:buFont typeface="Wingdings" pitchFamily="2" charset="2"/>
              <a:buNone/>
            </a:pPr>
            <a:r>
              <a:rPr lang="en-US" altLang="en-US" dirty="0"/>
              <a:t>(iii) blood pressure</a:t>
            </a:r>
          </a:p>
        </p:txBody>
      </p:sp>
      <p:sp>
        <p:nvSpPr>
          <p:cNvPr id="6" name="Rectangle 4"/>
          <p:cNvSpPr>
            <a:spLocks noChangeArrowheads="1"/>
          </p:cNvSpPr>
          <p:nvPr/>
        </p:nvSpPr>
        <p:spPr bwMode="auto">
          <a:xfrm>
            <a:off x="838200" y="5014913"/>
            <a:ext cx="7315200" cy="1293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58700" tIns="39675" rIns="0" bIns="158700" anchor="ct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20000"/>
              </a:spcBef>
              <a:buClr>
                <a:schemeClr val="tx2"/>
              </a:buClr>
              <a:buSzPct val="70000"/>
              <a:buFont typeface="Wingdings" pitchFamily="2" charset="2"/>
              <a:buNone/>
            </a:pPr>
            <a:r>
              <a:rPr lang="en-US" altLang="en-US" sz="2000" i="1"/>
              <a:t>Osmoregulation is </a:t>
            </a:r>
            <a:r>
              <a:rPr lang="en-US" altLang="en-US" sz="2400" i="1"/>
              <a:t>the process by which cells and simple organisms maintain fluid and electrolyte balance with their surroundings. </a:t>
            </a:r>
          </a:p>
        </p:txBody>
      </p:sp>
    </p:spTree>
    <p:extLst>
      <p:ext uri="{BB962C8B-B14F-4D97-AF65-F5344CB8AC3E}">
        <p14:creationId xmlns:p14="http://schemas.microsoft.com/office/powerpoint/2010/main" val="7304230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a:xfrm>
            <a:off x="457200" y="122238"/>
            <a:ext cx="7543800" cy="1295400"/>
          </a:xfrm>
          <a:prstGeom prst="rect">
            <a:avLst/>
          </a:prstGeom>
        </p:spPr>
        <p:txBody>
          <a:bodyPr/>
          <a:lstStyle>
            <a:lvl1pPr algn="l" rtl="0" eaLnBrk="1" latinLnBrk="0" hangingPunct="1">
              <a:spcBef>
                <a:spcPct val="0"/>
              </a:spcBef>
              <a:buNone/>
              <a:defRPr kumimoji="0" sz="4000" kern="1200">
                <a:solidFill>
                  <a:schemeClr val="tx2"/>
                </a:solidFill>
                <a:latin typeface="+mj-lt"/>
                <a:ea typeface="+mj-ea"/>
                <a:cs typeface="+mj-cs"/>
              </a:defRPr>
            </a:lvl1pPr>
          </a:lstStyle>
          <a:p>
            <a:r>
              <a:rPr lang="en-US" altLang="zh-CN">
                <a:solidFill>
                  <a:srgbClr val="FF6600"/>
                </a:solidFill>
                <a:ea typeface="宋体" pitchFamily="2" charset="-122"/>
              </a:rPr>
              <a:t>How kidneys clean blood</a:t>
            </a:r>
            <a:br>
              <a:rPr lang="en-US" altLang="zh-CN">
                <a:solidFill>
                  <a:srgbClr val="FF6600"/>
                </a:solidFill>
                <a:ea typeface="宋体" pitchFamily="2" charset="-122"/>
              </a:rPr>
            </a:br>
            <a:endParaRPr lang="en-US" altLang="en-US" dirty="0">
              <a:solidFill>
                <a:srgbClr val="FF6600"/>
              </a:solidFill>
            </a:endParaRPr>
          </a:p>
        </p:txBody>
      </p:sp>
      <p:sp>
        <p:nvSpPr>
          <p:cNvPr id="5" name="Rectangle 3"/>
          <p:cNvSpPr txBox="1">
            <a:spLocks noChangeArrowheads="1"/>
          </p:cNvSpPr>
          <p:nvPr/>
        </p:nvSpPr>
        <p:spPr>
          <a:xfrm>
            <a:off x="0" y="1219200"/>
            <a:ext cx="8686800" cy="5257800"/>
          </a:xfrm>
          <a:prstGeom prst="rect">
            <a:avLst/>
          </a:prstGeom>
        </p:spPr>
        <p:txBody>
          <a:bodyPr/>
          <a:lst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r>
              <a:rPr lang="en-US" altLang="zh-CN" dirty="0">
                <a:ea typeface="宋体" pitchFamily="2" charset="-122"/>
              </a:rPr>
              <a:t>Kidneys clean blood by filtering it. They filter all our blood 300 times a day. The filtering is done by over a million tubes packed into each kidney. These tubes are called </a:t>
            </a:r>
            <a:r>
              <a:rPr lang="en-US" altLang="zh-CN" dirty="0" err="1">
                <a:solidFill>
                  <a:srgbClr val="FF6600"/>
                </a:solidFill>
                <a:ea typeface="宋体" pitchFamily="2" charset="-122"/>
              </a:rPr>
              <a:t>nephrones</a:t>
            </a:r>
            <a:r>
              <a:rPr lang="en-US" altLang="zh-CN" dirty="0">
                <a:ea typeface="宋体" pitchFamily="2" charset="-122"/>
              </a:rPr>
              <a:t>. </a:t>
            </a:r>
          </a:p>
          <a:p>
            <a:r>
              <a:rPr lang="en-US" altLang="zh-CN" dirty="0">
                <a:ea typeface="宋体" pitchFamily="2" charset="-122"/>
              </a:rPr>
              <a:t>Some people’s kidneys are not very good at filtering blood. Kidney machines help by filtering blood for them. </a:t>
            </a:r>
            <a:endParaRPr lang="en-US" altLang="en-US" dirty="0"/>
          </a:p>
        </p:txBody>
      </p:sp>
    </p:spTree>
    <p:extLst>
      <p:ext uri="{BB962C8B-B14F-4D97-AF65-F5344CB8AC3E}">
        <p14:creationId xmlns:p14="http://schemas.microsoft.com/office/powerpoint/2010/main" val="28973775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685800" y="2514600"/>
            <a:ext cx="7772400" cy="1143000"/>
          </a:xfrm>
        </p:spPr>
        <p:style>
          <a:lnRef idx="2">
            <a:schemeClr val="accent1">
              <a:shade val="50000"/>
            </a:schemeClr>
          </a:lnRef>
          <a:fillRef idx="1">
            <a:schemeClr val="accent1"/>
          </a:fillRef>
          <a:effectRef idx="0">
            <a:schemeClr val="accent1"/>
          </a:effectRef>
          <a:fontRef idx="minor">
            <a:schemeClr val="lt1"/>
          </a:fontRef>
        </p:style>
        <p:txBody>
          <a:bodyPr>
            <a:normAutofit/>
          </a:bodyPr>
          <a:lstStyle/>
          <a:p>
            <a:pPr algn="ctr"/>
            <a:r>
              <a:rPr lang="en-US" sz="6000" dirty="0">
                <a:solidFill>
                  <a:schemeClr val="bg1"/>
                </a:solidFill>
                <a:latin typeface="Albertus Medium" pitchFamily="34" charset="0"/>
              </a:rPr>
              <a:t>Thanks!</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quity">
  <a:themeElements>
    <a:clrScheme name="Foundry">
      <a:dk1>
        <a:sysClr val="windowText" lastClr="000000"/>
      </a:dk1>
      <a:lt1>
        <a:sysClr val="window" lastClr="FFFFFF"/>
      </a:lt1>
      <a:dk2>
        <a:srgbClr val="676A55"/>
      </a:dk2>
      <a:lt2>
        <a:srgbClr val="EAEBDE"/>
      </a:lt2>
      <a:accent1>
        <a:srgbClr val="72A376"/>
      </a:accent1>
      <a:accent2>
        <a:srgbClr val="B0CCB0"/>
      </a:accent2>
      <a:accent3>
        <a:srgbClr val="A8CDD7"/>
      </a:accent3>
      <a:accent4>
        <a:srgbClr val="C0BEAF"/>
      </a:accent4>
      <a:accent5>
        <a:srgbClr val="CEC597"/>
      </a:accent5>
      <a:accent6>
        <a:srgbClr val="E8B7B7"/>
      </a:accent6>
      <a:hlink>
        <a:srgbClr val="DB5353"/>
      </a:hlink>
      <a:folHlink>
        <a:srgbClr val="903638"/>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Equity</Template>
  <TotalTime>313</TotalTime>
  <Words>1274</Words>
  <Application>Microsoft Office PowerPoint</Application>
  <PresentationFormat>On-screen Show (4:3)</PresentationFormat>
  <Paragraphs>119</Paragraphs>
  <Slides>23</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23</vt:i4>
      </vt:variant>
    </vt:vector>
  </HeadingPairs>
  <TitlesOfParts>
    <vt:vector size="32" baseType="lpstr">
      <vt:lpstr>Albertus Medium</vt:lpstr>
      <vt:lpstr>Antique Olive</vt:lpstr>
      <vt:lpstr>Arial</vt:lpstr>
      <vt:lpstr>Calibri</vt:lpstr>
      <vt:lpstr>Franklin Gothic Book</vt:lpstr>
      <vt:lpstr>Perpetua</vt:lpstr>
      <vt:lpstr>Wingdings</vt:lpstr>
      <vt:lpstr>Wingdings 2</vt:lpstr>
      <vt:lpstr>Equity</vt:lpstr>
      <vt:lpstr>Human Respiratory System</vt:lpstr>
      <vt:lpstr>Lecture Plan</vt:lpstr>
      <vt:lpstr>Introduction</vt:lpstr>
      <vt:lpstr>Gas Exchange and Breathing</vt:lpstr>
      <vt:lpstr>Gas Exchange and Breathing</vt:lpstr>
      <vt:lpstr>Gas Exchange and Breathing</vt:lpstr>
      <vt:lpstr>Cellular Respiration vs. Breathing</vt:lpstr>
      <vt:lpstr>Cellular Respiration vs. Breathing</vt:lpstr>
      <vt:lpstr>The Human Respiratory or Gas Exchange System</vt:lpstr>
      <vt:lpstr>Upper Respiratory Tract</vt:lpstr>
      <vt:lpstr>Lower Respiratory Tract</vt:lpstr>
      <vt:lpstr>Lower Respiratory Tract</vt:lpstr>
      <vt:lpstr>  Gas Exchange in Lungs</vt:lpstr>
      <vt:lpstr>Gas Exchange in Lungs</vt:lpstr>
      <vt:lpstr>Gas Exchange in Lungs</vt:lpstr>
      <vt:lpstr>Gas Exchange in Lungs</vt:lpstr>
      <vt:lpstr>PowerPoint Presentation</vt:lpstr>
      <vt:lpstr>PowerPoint Presentation</vt:lpstr>
      <vt:lpstr>Excretory System</vt:lpstr>
      <vt:lpstr>PowerPoint Presentation</vt:lpstr>
      <vt:lpstr>PowerPoint Presentation</vt:lpstr>
      <vt:lpstr>PowerPoint Presentation</vt:lpstr>
      <vt:lpstr>Thanks!</vt:lpstr>
    </vt:vector>
  </TitlesOfParts>
  <Company>SMART Technologies (BD) Ltd.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Biology I Lecture 15</dc:title>
  <dc:creator>Ehsan</dc:creator>
  <cp:lastModifiedBy>mahbubul.morshed@gmail.com</cp:lastModifiedBy>
  <cp:revision>43</cp:revision>
  <dcterms:created xsi:type="dcterms:W3CDTF">2013-03-20T08:27:09Z</dcterms:created>
  <dcterms:modified xsi:type="dcterms:W3CDTF">2026-08-19T16:12:19Z</dcterms:modified>
</cp:coreProperties>
</file>