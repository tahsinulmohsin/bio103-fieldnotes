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B47763-97FF-41AD-9507-07E0376899D1}" type="datetimeFigureOut">
              <a:rPr lang="en-US" smtClean="0"/>
              <a:pPr/>
              <a:t>5/31/2026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C1BE69-FF86-4596-BBE0-AAE1F65706AC}" type="slidenum">
              <a:rPr lang="en-US" smtClean="0"/>
              <a:pPr/>
              <a:t>‹#›</a:t>
            </a:fld>
            <a:endParaRPr lang="en-US"/>
          </a:p>
        </p:txBody>
      </p:sp>
    </p:spTree>
    <p:extLst>
      <p:ext uri="{BB962C8B-B14F-4D97-AF65-F5344CB8AC3E}">
        <p14:creationId xmlns:p14="http://schemas.microsoft.com/office/powerpoint/2010/main" val="2025779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miter lim="800000"/>
            <a:headEnd/>
            <a:tailEnd/>
          </a:ln>
        </p:spPr>
        <p:txBody>
          <a:bodyPr/>
          <a:lstStyle/>
          <a:p>
            <a:fld id="{374C17E8-43AF-4687-B601-3997C0DEA338}" type="slidenum">
              <a:rPr lang="en-US">
                <a:solidFill>
                  <a:srgbClr val="000000"/>
                </a:solidFill>
              </a:rPr>
              <a:pPr/>
              <a:t>6</a:t>
            </a:fld>
            <a:endParaRPr lang="en-US">
              <a:solidFill>
                <a:srgbClr val="000000"/>
              </a:solidFill>
            </a:endParaRPr>
          </a:p>
        </p:txBody>
      </p:sp>
      <p:sp>
        <p:nvSpPr>
          <p:cNvPr id="154627" name="Rectangle 2"/>
          <p:cNvSpPr>
            <a:spLocks noGrp="1" noRot="1" noChangeAspect="1" noChangeArrowheads="1" noTextEdit="1"/>
          </p:cNvSpPr>
          <p:nvPr>
            <p:ph type="sldImg"/>
          </p:nvPr>
        </p:nvSpPr>
        <p:spPr>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dirty="0">
                <a:latin typeface="Times New Roman" pitchFamily="18" charset="0"/>
                <a:ea typeface="ヒラギノ角ゴ Pro W3" charset="-128"/>
              </a:rPr>
              <a:t>Figure 17.3 Overview: the roles of transcription and translation in the flow of genetic information.</a:t>
            </a:r>
          </a:p>
        </p:txBody>
      </p:sp>
    </p:spTree>
    <p:extLst>
      <p:ext uri="{BB962C8B-B14F-4D97-AF65-F5344CB8AC3E}">
        <p14:creationId xmlns:p14="http://schemas.microsoft.com/office/powerpoint/2010/main" val="3283629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miter lim="800000"/>
            <a:headEnd/>
            <a:tailEnd/>
          </a:ln>
        </p:spPr>
        <p:txBody>
          <a:bodyPr/>
          <a:lstStyle/>
          <a:p>
            <a:fld id="{1B8B68AA-D47B-4CEE-BD1D-6DB1C96C6D1C}" type="slidenum">
              <a:rPr lang="en-US">
                <a:solidFill>
                  <a:srgbClr val="000000"/>
                </a:solidFill>
              </a:rPr>
              <a:pPr/>
              <a:t>7</a:t>
            </a:fld>
            <a:endParaRPr lang="en-US">
              <a:solidFill>
                <a:srgbClr val="000000"/>
              </a:solidFill>
            </a:endParaRPr>
          </a:p>
        </p:txBody>
      </p:sp>
      <p:sp>
        <p:nvSpPr>
          <p:cNvPr id="155651" name="Rectangle 2"/>
          <p:cNvSpPr>
            <a:spLocks noGrp="1" noRot="1" noChangeAspect="1" noChangeArrowheads="1" noTextEdit="1"/>
          </p:cNvSpPr>
          <p:nvPr>
            <p:ph type="sldImg"/>
          </p:nvPr>
        </p:nvSpPr>
        <p:spPr>
          <a:solidFill>
            <a:srgbClr val="FFFFFF"/>
          </a:solidFill>
          <a:ln/>
        </p:spPr>
      </p:sp>
      <p:sp>
        <p:nvSpPr>
          <p:cNvPr id="2150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atin typeface="Times New Roman" pitchFamily="18" charset="0"/>
                <a:ea typeface="ヒラギノ角ゴ Pro W3" charset="-128"/>
              </a:rPr>
              <a:t>Figure 17.3 Overview: the roles of transcription and translation in the flow of genetic information.</a:t>
            </a:r>
          </a:p>
        </p:txBody>
      </p:sp>
    </p:spTree>
    <p:extLst>
      <p:ext uri="{BB962C8B-B14F-4D97-AF65-F5344CB8AC3E}">
        <p14:creationId xmlns:p14="http://schemas.microsoft.com/office/powerpoint/2010/main" val="3837977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miter lim="800000"/>
            <a:headEnd/>
            <a:tailEnd/>
          </a:ln>
        </p:spPr>
        <p:txBody>
          <a:bodyPr/>
          <a:lstStyle/>
          <a:p>
            <a:fld id="{7323DDF7-BC52-4B71-B0EE-27879751DDD1}" type="slidenum">
              <a:rPr lang="en-US">
                <a:solidFill>
                  <a:srgbClr val="000000"/>
                </a:solidFill>
              </a:rPr>
              <a:pPr/>
              <a:t>8</a:t>
            </a:fld>
            <a:endParaRPr lang="en-US">
              <a:solidFill>
                <a:srgbClr val="000000"/>
              </a:solidFill>
            </a:endParaRPr>
          </a:p>
        </p:txBody>
      </p:sp>
      <p:sp>
        <p:nvSpPr>
          <p:cNvPr id="156675" name="Rectangle 2"/>
          <p:cNvSpPr>
            <a:spLocks noGrp="1" noRot="1" noChangeAspect="1" noChangeArrowheads="1" noTextEdit="1"/>
          </p:cNvSpPr>
          <p:nvPr>
            <p:ph type="sldImg"/>
          </p:nvPr>
        </p:nvSpPr>
        <p:spPr>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atin typeface="Times New Roman" pitchFamily="18" charset="0"/>
                <a:ea typeface="ヒラギノ角ゴ Pro W3" charset="-128"/>
              </a:rPr>
              <a:t>Figure 17.3 Overview: the roles of transcription and translation in the flow of genetic information.</a:t>
            </a:r>
          </a:p>
        </p:txBody>
      </p:sp>
    </p:spTree>
    <p:extLst>
      <p:ext uri="{BB962C8B-B14F-4D97-AF65-F5344CB8AC3E}">
        <p14:creationId xmlns:p14="http://schemas.microsoft.com/office/powerpoint/2010/main" val="1475877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23555" name="Notes Placeholder 2"/>
          <p:cNvSpPr>
            <a:spLocks noGrp="1"/>
          </p:cNvSpPr>
          <p:nvPr>
            <p:ph type="body" idx="1"/>
          </p:nvPr>
        </p:nvSpPr>
        <p:spPr>
          <a:noFill/>
        </p:spPr>
        <p:txBody>
          <a:bodyPr/>
          <a:lstStyle/>
          <a:p>
            <a:r>
              <a:rPr lang="en-AU" dirty="0">
                <a:latin typeface="Times New Roman" pitchFamily="18" charset="0"/>
                <a:ea typeface="ヒラギノ角ゴ Pro W3" charset="-128"/>
              </a:rPr>
              <a:t>Back to our analogy: it's very easy to carry your notes home from the library. You wouldn't want to have to build your table there in the library, and you certainly wouldn't want to take the library's entire permanent collection of books to your house! Transcription of DNA to RNA just makes sense.</a:t>
            </a:r>
          </a:p>
          <a:p>
            <a:endParaRPr lang="en-AU" dirty="0">
              <a:latin typeface="Times New Roman" pitchFamily="18" charset="0"/>
              <a:ea typeface="ヒラギノ角ゴ Pro W3" charset="-128"/>
            </a:endParaRPr>
          </a:p>
        </p:txBody>
      </p:sp>
      <p:sp>
        <p:nvSpPr>
          <p:cNvPr id="23556" name="Slide Number Placeholder 3"/>
          <p:cNvSpPr>
            <a:spLocks noGrp="1"/>
          </p:cNvSpPr>
          <p:nvPr>
            <p:ph type="sldNum" sz="quarter" idx="5"/>
          </p:nvPr>
        </p:nvSpPr>
        <p:spPr>
          <a:noFill/>
          <a:ln>
            <a:miter lim="800000"/>
            <a:headEnd/>
            <a:tailEnd/>
          </a:ln>
        </p:spPr>
        <p:txBody>
          <a:bodyPr/>
          <a:lstStyle/>
          <a:p>
            <a:fld id="{363A99AA-42AC-4C76-8A18-8E05BA6862B2}" type="slidenum">
              <a:rPr lang="en-US">
                <a:solidFill>
                  <a:srgbClr val="000000"/>
                </a:solidFill>
              </a:rPr>
              <a:pPr/>
              <a:t>9</a:t>
            </a:fld>
            <a:endParaRPr lang="en-US">
              <a:solidFill>
                <a:srgbClr val="000000"/>
              </a:solidFill>
            </a:endParaRPr>
          </a:p>
        </p:txBody>
      </p:sp>
    </p:spTree>
    <p:extLst>
      <p:ext uri="{BB962C8B-B14F-4D97-AF65-F5344CB8AC3E}">
        <p14:creationId xmlns:p14="http://schemas.microsoft.com/office/powerpoint/2010/main" val="2450682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000">
                <a:solidFill>
                  <a:srgbClr val="FFFFFF"/>
                </a:solidFill>
              </a:defRPr>
            </a:lvl1pPr>
          </a:lstStyle>
          <a:p>
            <a:pPr>
              <a:defRPr/>
            </a:pPr>
            <a:endParaRPr lang="en-US"/>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lstStyle>
          <a:p>
            <a:pPr>
              <a:defRPr/>
            </a:pPr>
            <a:r>
              <a:rPr lang="en-US">
                <a:solidFill>
                  <a:srgbClr val="EBDDC3"/>
                </a:solidFill>
              </a:rPr>
              <a:t>copyright cmassengale</a:t>
            </a:r>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lstStyle>
          <a:p>
            <a:pPr>
              <a:defRPr/>
            </a:pPr>
            <a:fld id="{2EBC6738-ED98-48E3-A727-EAB32DBDBCE1}" type="slidenum">
              <a:rPr lang="en-US" smtClean="0">
                <a:solidFill>
                  <a:srgbClr val="EBDDC3"/>
                </a:solidFill>
              </a:rPr>
              <a:pPr>
                <a:defRPr/>
              </a:pPr>
              <a:t>‹#›</a:t>
            </a:fld>
            <a:endParaRPr lang="en-US">
              <a:solidFill>
                <a:srgbClr val="EBDDC3"/>
              </a:solidFill>
            </a:endParaRPr>
          </a:p>
        </p:txBody>
      </p:sp>
    </p:spTree>
    <p:extLst>
      <p:ext uri="{BB962C8B-B14F-4D97-AF65-F5344CB8AC3E}">
        <p14:creationId xmlns:p14="http://schemas.microsoft.com/office/powerpoint/2010/main" val="14788667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endParaRPr lang="en-US">
              <a:solidFill>
                <a:srgbClr val="775F55"/>
              </a:solidFill>
            </a:endParaRPr>
          </a:p>
        </p:txBody>
      </p:sp>
      <p:sp>
        <p:nvSpPr>
          <p:cNvPr id="5" name="Footer Placeholder 4"/>
          <p:cNvSpPr>
            <a:spLocks noGrp="1"/>
          </p:cNvSpPr>
          <p:nvPr>
            <p:ph type="ftr" sz="quarter" idx="11"/>
          </p:nvPr>
        </p:nvSpPr>
        <p:spPr/>
        <p:txBody>
          <a:bodyPr/>
          <a:lstStyle/>
          <a:p>
            <a:pPr>
              <a:defRPr/>
            </a:pPr>
            <a:r>
              <a:rPr lang="en-US">
                <a:solidFill>
                  <a:srgbClr val="775F55"/>
                </a:solidFill>
              </a:rPr>
              <a:t>copyright cmassengale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pPr>
              <a:defRPr/>
            </a:pPr>
            <a:fld id="{17A12585-9F68-4899-931D-CDB0D37D1C92}" type="slidenum">
              <a:rPr lang="en-US" smtClean="0"/>
              <a:pPr>
                <a:defRPr/>
              </a:pPr>
              <a:t>‹#›</a:t>
            </a:fld>
            <a:endParaRPr lang="en-US"/>
          </a:p>
        </p:txBody>
      </p:sp>
      <p:sp>
        <p:nvSpPr>
          <p:cNvPr id="8" name="Content Placeholder 7"/>
          <p:cNvSpPr>
            <a:spLocks noGrp="1"/>
          </p:cNvSpPr>
          <p:nvPr>
            <p:ph sz="quarter" idx="1"/>
          </p:nvPr>
        </p:nvSpPr>
        <p:spPr>
          <a:xfrm>
            <a:off x="816864" y="1600200"/>
            <a:ext cx="108712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730263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0"/>
            <a:ext cx="9497484"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pPr>
              <a:defRPr/>
            </a:pPr>
            <a:endParaRPr lang="en-US">
              <a:solidFill>
                <a:srgbClr val="775F55"/>
              </a:solidFill>
            </a:endParaRPr>
          </a:p>
        </p:txBody>
      </p:sp>
      <p:sp>
        <p:nvSpPr>
          <p:cNvPr id="13" name="Slide Number Placeholder 12"/>
          <p:cNvSpPr>
            <a:spLocks noGrp="1"/>
          </p:cNvSpPr>
          <p:nvPr>
            <p:ph type="sldNum" sz="quarter" idx="11"/>
          </p:nvPr>
        </p:nvSpPr>
        <p:spPr>
          <a:xfrm>
            <a:off x="0" y="1752600"/>
            <a:ext cx="1727200" cy="701676"/>
          </a:xfrm>
        </p:spPr>
        <p:txBody>
          <a:bodyPr>
            <a:noAutofit/>
          </a:bodyPr>
          <a:lstStyle>
            <a:lvl1pPr>
              <a:defRPr sz="2400">
                <a:solidFill>
                  <a:srgbClr val="FFFFFF"/>
                </a:solidFill>
              </a:defRPr>
            </a:lvl1pPr>
          </a:lstStyle>
          <a:p>
            <a:pPr>
              <a:defRPr/>
            </a:pPr>
            <a:fld id="{DDB0AF36-A597-4082-88EA-8C9716FC01D4}" type="slidenum">
              <a:rPr lang="en-US" smtClean="0"/>
              <a:pPr>
                <a:defRPr/>
              </a:pPr>
              <a:t>‹#›</a:t>
            </a:fld>
            <a:endParaRPr lang="en-US"/>
          </a:p>
        </p:txBody>
      </p:sp>
      <p:sp>
        <p:nvSpPr>
          <p:cNvPr id="14" name="Footer Placeholder 13"/>
          <p:cNvSpPr>
            <a:spLocks noGrp="1"/>
          </p:cNvSpPr>
          <p:nvPr>
            <p:ph type="ftr" sz="quarter" idx="12"/>
          </p:nvPr>
        </p:nvSpPr>
        <p:spPr/>
        <p:txBody>
          <a:bodyPr/>
          <a:lstStyle/>
          <a:p>
            <a:pPr>
              <a:defRPr/>
            </a:pPr>
            <a:r>
              <a:rPr lang="en-US">
                <a:solidFill>
                  <a:srgbClr val="775F55"/>
                </a:solidFill>
              </a:rPr>
              <a:t>copyright cmassengale</a:t>
            </a:r>
          </a:p>
        </p:txBody>
      </p:sp>
    </p:spTree>
    <p:extLst>
      <p:ext uri="{BB962C8B-B14F-4D97-AF65-F5344CB8AC3E}">
        <p14:creationId xmlns:p14="http://schemas.microsoft.com/office/powerpoint/2010/main" val="190946468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812800"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459868"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pPr>
              <a:defRPr/>
            </a:pPr>
            <a:endParaRPr lang="en-US">
              <a:solidFill>
                <a:srgbClr val="775F55"/>
              </a:solidFill>
            </a:endParaRPr>
          </a:p>
        </p:txBody>
      </p:sp>
      <p:sp>
        <p:nvSpPr>
          <p:cNvPr id="10" name="Slide Number Placeholder 9"/>
          <p:cNvSpPr>
            <a:spLocks noGrp="1"/>
          </p:cNvSpPr>
          <p:nvPr>
            <p:ph type="sldNum" sz="quarter" idx="16"/>
          </p:nvPr>
        </p:nvSpPr>
        <p:spPr/>
        <p:txBody>
          <a:bodyPr rtlCol="0"/>
          <a:lstStyle/>
          <a:p>
            <a:pPr>
              <a:defRPr/>
            </a:pPr>
            <a:fld id="{689E4D0C-06CB-4623-83F4-CC28BD49DBA8}" type="slidenum">
              <a:rPr lang="en-US" smtClean="0"/>
              <a:pPr>
                <a:defRPr/>
              </a:pPr>
              <a:t>‹#›</a:t>
            </a:fld>
            <a:endParaRPr lang="en-US"/>
          </a:p>
        </p:txBody>
      </p:sp>
      <p:sp>
        <p:nvSpPr>
          <p:cNvPr id="12" name="Footer Placeholder 11"/>
          <p:cNvSpPr>
            <a:spLocks noGrp="1"/>
          </p:cNvSpPr>
          <p:nvPr>
            <p:ph type="ftr" sz="quarter" idx="17"/>
          </p:nvPr>
        </p:nvSpPr>
        <p:spPr/>
        <p:txBody>
          <a:bodyPr rtlCol="0"/>
          <a:lstStyle/>
          <a:p>
            <a:pPr>
              <a:defRPr/>
            </a:pPr>
            <a:r>
              <a:rPr lang="en-US">
                <a:solidFill>
                  <a:srgbClr val="775F55"/>
                </a:solidFill>
              </a:rPr>
              <a:t>copyright cmassengale</a:t>
            </a:r>
          </a:p>
        </p:txBody>
      </p:sp>
    </p:spTree>
    <p:extLst>
      <p:ext uri="{BB962C8B-B14F-4D97-AF65-F5344CB8AC3E}">
        <p14:creationId xmlns:p14="http://schemas.microsoft.com/office/powerpoint/2010/main" val="40408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812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400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pPr>
              <a:defRPr/>
            </a:pPr>
            <a:endParaRPr lang="en-US">
              <a:solidFill>
                <a:srgbClr val="775F55"/>
              </a:solidFill>
            </a:endParaRPr>
          </a:p>
        </p:txBody>
      </p:sp>
      <p:sp>
        <p:nvSpPr>
          <p:cNvPr id="12" name="Slide Number Placeholder 11"/>
          <p:cNvSpPr>
            <a:spLocks noGrp="1"/>
          </p:cNvSpPr>
          <p:nvPr>
            <p:ph type="sldNum" sz="quarter" idx="16"/>
          </p:nvPr>
        </p:nvSpPr>
        <p:spPr/>
        <p:txBody>
          <a:bodyPr rtlCol="0"/>
          <a:lstStyle/>
          <a:p>
            <a:pPr>
              <a:defRPr/>
            </a:pPr>
            <a:fld id="{D072830E-BE65-4D41-A661-6B77290614A6}" type="slidenum">
              <a:rPr lang="en-US" smtClean="0"/>
              <a:pPr>
                <a:defRPr/>
              </a:pPr>
              <a:t>‹#›</a:t>
            </a:fld>
            <a:endParaRPr lang="en-US"/>
          </a:p>
        </p:txBody>
      </p:sp>
      <p:sp>
        <p:nvSpPr>
          <p:cNvPr id="14" name="Footer Placeholder 13"/>
          <p:cNvSpPr>
            <a:spLocks noGrp="1"/>
          </p:cNvSpPr>
          <p:nvPr>
            <p:ph type="ftr" sz="quarter" idx="17"/>
          </p:nvPr>
        </p:nvSpPr>
        <p:spPr/>
        <p:txBody>
          <a:bodyPr rtlCol="0"/>
          <a:lstStyle/>
          <a:p>
            <a:pPr>
              <a:defRPr/>
            </a:pPr>
            <a:r>
              <a:rPr lang="en-US">
                <a:solidFill>
                  <a:srgbClr val="775F55"/>
                </a:solidFill>
              </a:rPr>
              <a:t>copyright cmassengale</a:t>
            </a:r>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2199715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endParaRPr lang="en-US">
              <a:solidFill>
                <a:srgbClr val="775F55"/>
              </a:solidFill>
            </a:endParaRPr>
          </a:p>
        </p:txBody>
      </p:sp>
      <p:sp>
        <p:nvSpPr>
          <p:cNvPr id="4" name="Footer Placeholder 3"/>
          <p:cNvSpPr>
            <a:spLocks noGrp="1"/>
          </p:cNvSpPr>
          <p:nvPr>
            <p:ph type="ftr" sz="quarter" idx="11"/>
          </p:nvPr>
        </p:nvSpPr>
        <p:spPr/>
        <p:txBody>
          <a:bodyPr/>
          <a:lstStyle/>
          <a:p>
            <a:pPr>
              <a:defRPr/>
            </a:pPr>
            <a:r>
              <a:rPr lang="en-US">
                <a:solidFill>
                  <a:srgbClr val="775F55"/>
                </a:solidFill>
              </a:rPr>
              <a:t>copyright cmassengale</a:t>
            </a:r>
          </a:p>
        </p:txBody>
      </p:sp>
      <p:sp>
        <p:nvSpPr>
          <p:cNvPr id="5" name="Slide Number Placeholder 4"/>
          <p:cNvSpPr>
            <a:spLocks noGrp="1"/>
          </p:cNvSpPr>
          <p:nvPr>
            <p:ph type="sldNum" sz="quarter" idx="12"/>
          </p:nvPr>
        </p:nvSpPr>
        <p:spPr/>
        <p:txBody>
          <a:bodyPr/>
          <a:lstStyle>
            <a:lvl1pPr>
              <a:defRPr>
                <a:solidFill>
                  <a:srgbClr val="FFFFFF"/>
                </a:solidFill>
              </a:defRPr>
            </a:lvl1pPr>
          </a:lstStyle>
          <a:p>
            <a:pPr>
              <a:defRPr/>
            </a:pPr>
            <a:fld id="{2BC81D3F-60A0-40C6-B544-D0AC20A5361E}" type="slidenum">
              <a:rPr lang="en-US" smtClean="0"/>
              <a:pPr>
                <a:defRPr/>
              </a:pPr>
              <a:t>‹#›</a:t>
            </a:fld>
            <a:endParaRPr lang="en-US"/>
          </a:p>
        </p:txBody>
      </p:sp>
    </p:spTree>
    <p:extLst>
      <p:ext uri="{BB962C8B-B14F-4D97-AF65-F5344CB8AC3E}">
        <p14:creationId xmlns:p14="http://schemas.microsoft.com/office/powerpoint/2010/main" val="4200434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solidFill>
                <a:srgbClr val="775F55"/>
              </a:solidFill>
            </a:endParaRPr>
          </a:p>
        </p:txBody>
      </p:sp>
      <p:sp>
        <p:nvSpPr>
          <p:cNvPr id="3" name="Footer Placeholder 2"/>
          <p:cNvSpPr>
            <a:spLocks noGrp="1"/>
          </p:cNvSpPr>
          <p:nvPr>
            <p:ph type="ftr" sz="quarter" idx="11"/>
          </p:nvPr>
        </p:nvSpPr>
        <p:spPr/>
        <p:txBody>
          <a:bodyPr/>
          <a:lstStyle/>
          <a:p>
            <a:pPr>
              <a:defRPr/>
            </a:pPr>
            <a:r>
              <a:rPr lang="en-US">
                <a:solidFill>
                  <a:srgbClr val="775F55"/>
                </a:solidFill>
              </a:rPr>
              <a:t>copyright cmassengale</a:t>
            </a:r>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lstStyle>
          <a:p>
            <a:pPr>
              <a:defRPr/>
            </a:pPr>
            <a:fld id="{2C551291-391B-4D30-B3EB-A7D569432189}" type="slidenum">
              <a:rPr lang="en-US" smtClean="0">
                <a:solidFill>
                  <a:srgbClr val="775F55"/>
                </a:solidFill>
              </a:rPr>
              <a:pPr>
                <a:defRPr/>
              </a:pPr>
              <a:t>‹#›</a:t>
            </a:fld>
            <a:endParaRPr lang="en-US">
              <a:solidFill>
                <a:srgbClr val="775F55"/>
              </a:solidFill>
            </a:endParaRPr>
          </a:p>
        </p:txBody>
      </p:sp>
    </p:spTree>
    <p:extLst>
      <p:ext uri="{BB962C8B-B14F-4D97-AF65-F5344CB8AC3E}">
        <p14:creationId xmlns:p14="http://schemas.microsoft.com/office/powerpoint/2010/main" val="853060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pPr>
              <a:defRPr/>
            </a:pPr>
            <a:endParaRPr lang="en-US">
              <a:solidFill>
                <a:srgbClr val="775F55"/>
              </a:solidFill>
            </a:endParaRPr>
          </a:p>
        </p:txBody>
      </p:sp>
      <p:sp>
        <p:nvSpPr>
          <p:cNvPr id="6" name="Footer Placeholder 5"/>
          <p:cNvSpPr>
            <a:spLocks noGrp="1"/>
          </p:cNvSpPr>
          <p:nvPr>
            <p:ph type="ftr" sz="quarter" idx="11"/>
          </p:nvPr>
        </p:nvSpPr>
        <p:spPr/>
        <p:txBody>
          <a:bodyPr/>
          <a:lstStyle/>
          <a:p>
            <a:pPr>
              <a:defRPr/>
            </a:pPr>
            <a:r>
              <a:rPr lang="en-US">
                <a:solidFill>
                  <a:srgbClr val="775F55"/>
                </a:solidFill>
              </a:rPr>
              <a:t>copyright cmassengale</a:t>
            </a:r>
          </a:p>
        </p:txBody>
      </p:sp>
      <p:sp>
        <p:nvSpPr>
          <p:cNvPr id="7" name="Slide Number Placeholder 6"/>
          <p:cNvSpPr>
            <a:spLocks noGrp="1"/>
          </p:cNvSpPr>
          <p:nvPr>
            <p:ph type="sldNum" sz="quarter" idx="12"/>
          </p:nvPr>
        </p:nvSpPr>
        <p:spPr/>
        <p:txBody>
          <a:bodyPr/>
          <a:lstStyle>
            <a:lvl1pPr>
              <a:defRPr>
                <a:solidFill>
                  <a:srgbClr val="FFFFFF"/>
                </a:solidFill>
              </a:defRPr>
            </a:lvl1pPr>
          </a:lstStyle>
          <a:p>
            <a:pPr>
              <a:defRPr/>
            </a:pPr>
            <a:fld id="{DC9F2F07-85F5-44E6-9682-89B0E5C8FEE2}" type="slidenum">
              <a:rPr lang="en-US" smtClean="0"/>
              <a:pPr>
                <a:defRPr/>
              </a:pPr>
              <a:t>‹#›</a:t>
            </a:fld>
            <a:endParaRPr lang="en-US"/>
          </a:p>
        </p:txBody>
      </p:sp>
      <p:sp>
        <p:nvSpPr>
          <p:cNvPr id="3" name="Text Placeholder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3149600" y="1752600"/>
            <a:ext cx="85344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660255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12" name="Date Placeholder 11"/>
          <p:cNvSpPr>
            <a:spLocks noGrp="1"/>
          </p:cNvSpPr>
          <p:nvPr>
            <p:ph type="dt" sz="half" idx="10"/>
          </p:nvPr>
        </p:nvSpPr>
        <p:spPr>
          <a:xfrm>
            <a:off x="8331200" y="6248401"/>
            <a:ext cx="3556000" cy="365125"/>
          </a:xfrm>
        </p:spPr>
        <p:txBody>
          <a:bodyPr rtlCol="0"/>
          <a:lstStyle/>
          <a:p>
            <a:pPr>
              <a:defRPr/>
            </a:pPr>
            <a:endParaRPr lang="en-US">
              <a:solidFill>
                <a:srgbClr val="775F55"/>
              </a:solidFill>
            </a:endParaRPr>
          </a:p>
        </p:txBody>
      </p:sp>
      <p:sp>
        <p:nvSpPr>
          <p:cNvPr id="13" name="Slide Number Placeholder 12"/>
          <p:cNvSpPr>
            <a:spLocks noGrp="1"/>
          </p:cNvSpPr>
          <p:nvPr>
            <p:ph type="sldNum" sz="quarter" idx="11"/>
          </p:nvPr>
        </p:nvSpPr>
        <p:spPr>
          <a:xfrm>
            <a:off x="0" y="4667249"/>
            <a:ext cx="1930400" cy="663578"/>
          </a:xfrm>
        </p:spPr>
        <p:txBody>
          <a:bodyPr rtlCol="0"/>
          <a:lstStyle>
            <a:lvl1pPr>
              <a:defRPr sz="2800"/>
            </a:lvl1pPr>
          </a:lstStyle>
          <a:p>
            <a:pPr>
              <a:defRPr/>
            </a:pPr>
            <a:fld id="{B5E6E177-B234-4A2B-B97B-57EE32AE06C6}" type="slidenum">
              <a:rPr lang="en-US" smtClean="0"/>
              <a:pPr>
                <a:defRPr/>
              </a:pPr>
              <a:t>‹#›</a:t>
            </a:fld>
            <a:endParaRPr lang="en-US"/>
          </a:p>
        </p:txBody>
      </p:sp>
      <p:sp>
        <p:nvSpPr>
          <p:cNvPr id="14" name="Footer Placeholder 13"/>
          <p:cNvSpPr>
            <a:spLocks noGrp="1"/>
          </p:cNvSpPr>
          <p:nvPr>
            <p:ph type="ftr" sz="quarter" idx="12"/>
          </p:nvPr>
        </p:nvSpPr>
        <p:spPr>
          <a:xfrm>
            <a:off x="2133600" y="6248207"/>
            <a:ext cx="6096000" cy="365125"/>
          </a:xfrm>
        </p:spPr>
        <p:txBody>
          <a:bodyPr rtlCol="0"/>
          <a:lstStyle/>
          <a:p>
            <a:pPr>
              <a:defRPr/>
            </a:pPr>
            <a:r>
              <a:rPr lang="en-US">
                <a:solidFill>
                  <a:srgbClr val="775F55"/>
                </a:solidFill>
              </a:rPr>
              <a:t>copyright cmassengale</a:t>
            </a:r>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extLst>
      <p:ext uri="{BB962C8B-B14F-4D97-AF65-F5344CB8AC3E}">
        <p14:creationId xmlns:p14="http://schemas.microsoft.com/office/powerpoint/2010/main" val="9229858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solidFill>
                <a:srgbClr val="775F55"/>
              </a:solidFill>
            </a:endParaRPr>
          </a:p>
        </p:txBody>
      </p:sp>
      <p:sp>
        <p:nvSpPr>
          <p:cNvPr id="5" name="Footer Placeholder 4"/>
          <p:cNvSpPr>
            <a:spLocks noGrp="1"/>
          </p:cNvSpPr>
          <p:nvPr>
            <p:ph type="ftr" sz="quarter" idx="11"/>
          </p:nvPr>
        </p:nvSpPr>
        <p:spPr/>
        <p:txBody>
          <a:bodyPr/>
          <a:lstStyle/>
          <a:p>
            <a:pPr>
              <a:defRPr/>
            </a:pPr>
            <a:r>
              <a:rPr lang="en-US">
                <a:solidFill>
                  <a:srgbClr val="775F55"/>
                </a:solidFill>
              </a:rPr>
              <a:t>copyright cmassengale</a:t>
            </a:r>
          </a:p>
        </p:txBody>
      </p:sp>
      <p:sp>
        <p:nvSpPr>
          <p:cNvPr id="6" name="Slide Number Placeholder 5"/>
          <p:cNvSpPr>
            <a:spLocks noGrp="1"/>
          </p:cNvSpPr>
          <p:nvPr>
            <p:ph type="sldNum" sz="quarter" idx="12"/>
          </p:nvPr>
        </p:nvSpPr>
        <p:spPr/>
        <p:txBody>
          <a:bodyPr/>
          <a:lstStyle/>
          <a:p>
            <a:pPr>
              <a:defRPr/>
            </a:pPr>
            <a:fld id="{8DF75646-EB51-462F-AFAA-135F4769840D}" type="slidenum">
              <a:rPr lang="en-US" smtClean="0"/>
              <a:pPr>
                <a:defRPr/>
              </a:pPr>
              <a:t>‹#›</a:t>
            </a:fld>
            <a:endParaRPr lang="en-US"/>
          </a:p>
        </p:txBody>
      </p:sp>
    </p:spTree>
    <p:extLst>
      <p:ext uri="{BB962C8B-B14F-4D97-AF65-F5344CB8AC3E}">
        <p14:creationId xmlns:p14="http://schemas.microsoft.com/office/powerpoint/2010/main" val="130711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1"/>
            <a:ext cx="27432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609600"/>
            <a:ext cx="74168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8737600" y="6248403"/>
            <a:ext cx="2946400" cy="365125"/>
          </a:xfrm>
        </p:spPr>
        <p:txBody>
          <a:bodyPr/>
          <a:lstStyle/>
          <a:p>
            <a:pPr>
              <a:defRPr/>
            </a:pPr>
            <a:endParaRPr lang="en-US">
              <a:solidFill>
                <a:srgbClr val="775F55"/>
              </a:solidFill>
            </a:endParaRPr>
          </a:p>
        </p:txBody>
      </p:sp>
      <p:sp>
        <p:nvSpPr>
          <p:cNvPr id="5" name="Footer Placeholder 4"/>
          <p:cNvSpPr>
            <a:spLocks noGrp="1"/>
          </p:cNvSpPr>
          <p:nvPr>
            <p:ph type="ftr" sz="quarter" idx="11"/>
          </p:nvPr>
        </p:nvSpPr>
        <p:spPr>
          <a:xfrm>
            <a:off x="609602" y="6248208"/>
            <a:ext cx="7431311" cy="365125"/>
          </a:xfrm>
        </p:spPr>
        <p:txBody>
          <a:bodyPr/>
          <a:lstStyle/>
          <a:p>
            <a:pPr>
              <a:defRPr/>
            </a:pPr>
            <a:r>
              <a:rPr lang="en-US">
                <a:solidFill>
                  <a:srgbClr val="775F55"/>
                </a:solidFill>
              </a:rPr>
              <a:t>copyright cmassengale</a:t>
            </a:r>
          </a:p>
        </p:txBody>
      </p:sp>
      <p:sp>
        <p:nvSpPr>
          <p:cNvPr id="7" name="Rectangle 6"/>
          <p:cNvSpPr/>
          <p:nvPr/>
        </p:nvSpPr>
        <p:spPr bwMode="white">
          <a:xfrm>
            <a:off x="8128424"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b="1">
              <a:solidFill>
                <a:prstClr val="white"/>
              </a:solidFill>
            </a:endParaRPr>
          </a:p>
        </p:txBody>
      </p:sp>
      <p:sp>
        <p:nvSpPr>
          <p:cNvPr id="8" name="Rectangle 7"/>
          <p:cNvSpPr/>
          <p:nvPr/>
        </p:nvSpPr>
        <p:spPr>
          <a:xfrm>
            <a:off x="8189384"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b="1">
              <a:solidFill>
                <a:prstClr val="white"/>
              </a:solidFill>
            </a:endParaRPr>
          </a:p>
        </p:txBody>
      </p:sp>
      <p:sp>
        <p:nvSpPr>
          <p:cNvPr id="9" name="Rectangle 8"/>
          <p:cNvSpPr/>
          <p:nvPr/>
        </p:nvSpPr>
        <p:spPr>
          <a:xfrm>
            <a:off x="8189384"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b="1">
              <a:solidFill>
                <a:prstClr val="white"/>
              </a:solidFill>
            </a:endParaRPr>
          </a:p>
        </p:txBody>
      </p:sp>
      <p:sp>
        <p:nvSpPr>
          <p:cNvPr id="6" name="Slide Number Placeholder 5"/>
          <p:cNvSpPr>
            <a:spLocks noGrp="1"/>
          </p:cNvSpPr>
          <p:nvPr>
            <p:ph type="sldNum" sz="quarter" idx="12"/>
          </p:nvPr>
        </p:nvSpPr>
        <p:spPr>
          <a:xfrm rot="5400000">
            <a:off x="8075084" y="103716"/>
            <a:ext cx="533400" cy="325968"/>
          </a:xfrm>
        </p:spPr>
        <p:txBody>
          <a:bodyPr/>
          <a:lstStyle/>
          <a:p>
            <a:pPr>
              <a:defRPr/>
            </a:pPr>
            <a:fld id="{35D605D1-FDA5-449B-B8A8-FDFE03332B14}" type="slidenum">
              <a:rPr lang="en-US" smtClean="0"/>
              <a:pPr>
                <a:defRPr/>
              </a:pPr>
              <a:t>‹#›</a:t>
            </a:fld>
            <a:endParaRPr lang="en-US"/>
          </a:p>
        </p:txBody>
      </p:sp>
    </p:spTree>
    <p:extLst>
      <p:ext uri="{BB962C8B-B14F-4D97-AF65-F5344CB8AC3E}">
        <p14:creationId xmlns:p14="http://schemas.microsoft.com/office/powerpoint/2010/main" val="362408901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01600" y="76200"/>
            <a:ext cx="12090400" cy="685800"/>
          </a:xfrm>
        </p:spPr>
        <p:txBody>
          <a:bodyPr/>
          <a:lstStyle/>
          <a:p>
            <a:r>
              <a:rPr lang="en-US"/>
              <a:t>Click to edit Master title style</a:t>
            </a:r>
          </a:p>
        </p:txBody>
      </p:sp>
      <p:sp>
        <p:nvSpPr>
          <p:cNvPr id="3" name="Text Placeholder 2"/>
          <p:cNvSpPr>
            <a:spLocks noGrp="1"/>
          </p:cNvSpPr>
          <p:nvPr>
            <p:ph type="body" sz="half" idx="1"/>
          </p:nvPr>
        </p:nvSpPr>
        <p:spPr>
          <a:xfrm>
            <a:off x="203200" y="838200"/>
            <a:ext cx="57912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838200"/>
            <a:ext cx="5791200" cy="54864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775F55"/>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775F55"/>
                </a:solidFill>
              </a:rPr>
              <a:t>copyright cmassengale</a:t>
            </a:r>
          </a:p>
        </p:txBody>
      </p:sp>
      <p:sp>
        <p:nvSpPr>
          <p:cNvPr id="7" name="Rectangle 6"/>
          <p:cNvSpPr>
            <a:spLocks noGrp="1" noChangeArrowheads="1"/>
          </p:cNvSpPr>
          <p:nvPr>
            <p:ph type="sldNum" sz="quarter" idx="12"/>
          </p:nvPr>
        </p:nvSpPr>
        <p:spPr>
          <a:ln/>
        </p:spPr>
        <p:txBody>
          <a:bodyPr/>
          <a:lstStyle>
            <a:lvl1pPr>
              <a:defRPr/>
            </a:lvl1pPr>
          </a:lstStyle>
          <a:p>
            <a:pPr>
              <a:defRPr/>
            </a:pPr>
            <a:fld id="{25A0F90C-8730-4FDD-B4C8-4C8DB14A8EFA}" type="slidenum">
              <a:rPr lang="en-US"/>
              <a:pPr>
                <a:defRPr/>
              </a:pPr>
              <a:t>‹#›</a:t>
            </a:fld>
            <a:endParaRPr lang="en-US"/>
          </a:p>
        </p:txBody>
      </p:sp>
    </p:spTree>
    <p:extLst>
      <p:ext uri="{BB962C8B-B14F-4D97-AF65-F5344CB8AC3E}">
        <p14:creationId xmlns:p14="http://schemas.microsoft.com/office/powerpoint/2010/main" val="3288694997"/>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 y="76200"/>
            <a:ext cx="12090400" cy="685800"/>
          </a:xfrm>
        </p:spPr>
        <p:txBody>
          <a:bodyPr/>
          <a:lstStyle/>
          <a:p>
            <a:r>
              <a:rPr lang="en-US"/>
              <a:t>Click to edit Master title style</a:t>
            </a:r>
          </a:p>
        </p:txBody>
      </p:sp>
      <p:sp>
        <p:nvSpPr>
          <p:cNvPr id="3" name="Text Placeholder 2"/>
          <p:cNvSpPr>
            <a:spLocks noGrp="1"/>
          </p:cNvSpPr>
          <p:nvPr>
            <p:ph type="body" sz="half" idx="1"/>
          </p:nvPr>
        </p:nvSpPr>
        <p:spPr>
          <a:xfrm>
            <a:off x="203200" y="838200"/>
            <a:ext cx="11785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03200" y="3657600"/>
            <a:ext cx="11785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775F55"/>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775F55"/>
                </a:solidFill>
              </a:rPr>
              <a:t>copyright cmassengale</a:t>
            </a:r>
          </a:p>
        </p:txBody>
      </p:sp>
      <p:sp>
        <p:nvSpPr>
          <p:cNvPr id="7" name="Rectangle 6"/>
          <p:cNvSpPr>
            <a:spLocks noGrp="1" noChangeArrowheads="1"/>
          </p:cNvSpPr>
          <p:nvPr>
            <p:ph type="sldNum" sz="quarter" idx="12"/>
          </p:nvPr>
        </p:nvSpPr>
        <p:spPr>
          <a:ln/>
        </p:spPr>
        <p:txBody>
          <a:bodyPr/>
          <a:lstStyle>
            <a:lvl1pPr>
              <a:defRPr/>
            </a:lvl1pPr>
          </a:lstStyle>
          <a:p>
            <a:pPr>
              <a:defRPr/>
            </a:pPr>
            <a:fld id="{E97846E1-E9C1-4DCD-A5DE-51F8D2C1811C}" type="slidenum">
              <a:rPr lang="en-US"/>
              <a:pPr>
                <a:defRPr/>
              </a:pPr>
              <a:t>‹#›</a:t>
            </a:fld>
            <a:endParaRPr lang="en-US"/>
          </a:p>
        </p:txBody>
      </p:sp>
    </p:spTree>
    <p:extLst>
      <p:ext uri="{BB962C8B-B14F-4D97-AF65-F5344CB8AC3E}">
        <p14:creationId xmlns:p14="http://schemas.microsoft.com/office/powerpoint/2010/main" val="2618425783"/>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01600" y="76200"/>
            <a:ext cx="12090400" cy="685800"/>
          </a:xfrm>
        </p:spPr>
        <p:txBody>
          <a:bodyPr/>
          <a:lstStyle/>
          <a:p>
            <a:r>
              <a:rPr lang="en-US"/>
              <a:t>Click to edit Master title style</a:t>
            </a:r>
          </a:p>
        </p:txBody>
      </p:sp>
      <p:sp>
        <p:nvSpPr>
          <p:cNvPr id="3" name="Table Placeholder 2"/>
          <p:cNvSpPr>
            <a:spLocks noGrp="1"/>
          </p:cNvSpPr>
          <p:nvPr>
            <p:ph type="tbl" idx="1"/>
          </p:nvPr>
        </p:nvSpPr>
        <p:spPr>
          <a:xfrm>
            <a:off x="203200" y="838200"/>
            <a:ext cx="117856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775F55"/>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775F55"/>
                </a:solidFill>
              </a:rPr>
              <a:t>copyright cmassengale</a:t>
            </a:r>
          </a:p>
        </p:txBody>
      </p:sp>
      <p:sp>
        <p:nvSpPr>
          <p:cNvPr id="6" name="Rectangle 6"/>
          <p:cNvSpPr>
            <a:spLocks noGrp="1" noChangeArrowheads="1"/>
          </p:cNvSpPr>
          <p:nvPr>
            <p:ph type="sldNum" sz="quarter" idx="12"/>
          </p:nvPr>
        </p:nvSpPr>
        <p:spPr>
          <a:ln/>
        </p:spPr>
        <p:txBody>
          <a:bodyPr/>
          <a:lstStyle>
            <a:lvl1pPr>
              <a:defRPr/>
            </a:lvl1pPr>
          </a:lstStyle>
          <a:p>
            <a:pPr>
              <a:defRPr/>
            </a:pPr>
            <a:fld id="{BFF81A94-89AE-41EC-9469-EBC7292D316B}" type="slidenum">
              <a:rPr lang="en-US"/>
              <a:pPr>
                <a:defRPr/>
              </a:pPr>
              <a:t>‹#›</a:t>
            </a:fld>
            <a:endParaRPr lang="en-US"/>
          </a:p>
        </p:txBody>
      </p:sp>
    </p:spTree>
    <p:extLst>
      <p:ext uri="{BB962C8B-B14F-4D97-AF65-F5344CB8AC3E}">
        <p14:creationId xmlns:p14="http://schemas.microsoft.com/office/powerpoint/2010/main" val="412637142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812800" y="228600"/>
            <a:ext cx="108712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816864" y="1600200"/>
            <a:ext cx="108712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128000" y="6248401"/>
            <a:ext cx="3556000" cy="365125"/>
          </a:xfrm>
          <a:prstGeom prst="rect">
            <a:avLst/>
          </a:prstGeom>
        </p:spPr>
        <p:txBody>
          <a:bodyPr vert="horz" anchor="ctr" anchorCtr="0"/>
          <a:lstStyle>
            <a:lvl1pPr algn="l" eaLnBrk="1" latinLnBrk="0" hangingPunct="1">
              <a:defRPr kumimoji="0" sz="1400">
                <a:solidFill>
                  <a:schemeClr val="tx2"/>
                </a:solidFill>
              </a:defRPr>
            </a:lvl1pPr>
          </a:lstStyle>
          <a:p>
            <a:pPr fontAlgn="base">
              <a:spcBef>
                <a:spcPct val="0"/>
              </a:spcBef>
              <a:spcAft>
                <a:spcPct val="0"/>
              </a:spcAft>
              <a:defRPr/>
            </a:pPr>
            <a:endParaRPr lang="en-US" b="1">
              <a:solidFill>
                <a:srgbClr val="775F55"/>
              </a:solidFill>
              <a:latin typeface="Comic Sans MS" pitchFamily="66" charset="0"/>
            </a:endParaRPr>
          </a:p>
        </p:txBody>
      </p:sp>
      <p:sp>
        <p:nvSpPr>
          <p:cNvPr id="3" name="Footer Placeholder 2"/>
          <p:cNvSpPr>
            <a:spLocks noGrp="1"/>
          </p:cNvSpPr>
          <p:nvPr>
            <p:ph type="ftr" sz="quarter" idx="3"/>
          </p:nvPr>
        </p:nvSpPr>
        <p:spPr>
          <a:xfrm>
            <a:off x="812801" y="6248207"/>
            <a:ext cx="7228111" cy="365125"/>
          </a:xfrm>
          <a:prstGeom prst="rect">
            <a:avLst/>
          </a:prstGeom>
        </p:spPr>
        <p:txBody>
          <a:bodyPr vert="horz" anchor="ctr"/>
          <a:lstStyle>
            <a:lvl1pPr algn="r" eaLnBrk="1" latinLnBrk="0" hangingPunct="1">
              <a:defRPr kumimoji="0" sz="1400">
                <a:solidFill>
                  <a:schemeClr val="tx2"/>
                </a:solidFill>
              </a:defRPr>
            </a:lvl1pPr>
          </a:lstStyle>
          <a:p>
            <a:pPr fontAlgn="base">
              <a:spcBef>
                <a:spcPct val="0"/>
              </a:spcBef>
              <a:spcAft>
                <a:spcPct val="0"/>
              </a:spcAft>
              <a:defRPr/>
            </a:pPr>
            <a:r>
              <a:rPr lang="en-US" b="1">
                <a:solidFill>
                  <a:srgbClr val="775F55"/>
                </a:solidFill>
                <a:latin typeface="Comic Sans MS" pitchFamily="66" charset="0"/>
              </a:rPr>
              <a:t>copyright cmassengale</a:t>
            </a:r>
          </a:p>
        </p:txBody>
      </p:sp>
      <p:sp>
        <p:nvSpPr>
          <p:cNvPr id="7" name="Rectangle 6"/>
          <p:cNvSpPr/>
          <p:nvPr/>
        </p:nvSpPr>
        <p:spPr bwMode="white">
          <a:xfrm>
            <a:off x="0" y="1234440"/>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8" name="Rectangle 7"/>
          <p:cNvSpPr/>
          <p:nvPr/>
        </p:nvSpPr>
        <p:spPr>
          <a:xfrm>
            <a:off x="0" y="1280160"/>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9" name="Rectangle 8"/>
          <p:cNvSpPr/>
          <p:nvPr/>
        </p:nvSpPr>
        <p:spPr>
          <a:xfrm>
            <a:off x="787400" y="1280160"/>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pPr>
            <a:endParaRPr lang="en-US" sz="2400" b="1">
              <a:solidFill>
                <a:prstClr val="white"/>
              </a:solidFill>
            </a:endParaRPr>
          </a:p>
        </p:txBody>
      </p:sp>
      <p:sp>
        <p:nvSpPr>
          <p:cNvPr id="23" name="Slide Number Placeholder 22"/>
          <p:cNvSpPr>
            <a:spLocks noGrp="1"/>
          </p:cNvSpPr>
          <p:nvPr>
            <p:ph type="sldNum" sz="quarter" idx="4"/>
          </p:nvPr>
        </p:nvSpPr>
        <p:spPr>
          <a:xfrm>
            <a:off x="0" y="1272222"/>
            <a:ext cx="7112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fontAlgn="base">
              <a:spcBef>
                <a:spcPct val="0"/>
              </a:spcBef>
              <a:spcAft>
                <a:spcPct val="0"/>
              </a:spcAft>
              <a:defRPr/>
            </a:pPr>
            <a:fld id="{D55D8C12-AB15-4B3F-A92E-6AA79A85E69F}" type="slidenum">
              <a:rPr lang="en-US" smtClean="0">
                <a:latin typeface="Comic Sans MS" pitchFamily="66" charset="0"/>
              </a:rPr>
              <a:pPr fontAlgn="base">
                <a:spcBef>
                  <a:spcPct val="0"/>
                </a:spcBef>
                <a:spcAft>
                  <a:spcPct val="0"/>
                </a:spcAft>
                <a:defRPr/>
              </a:pPr>
              <a:t>‹#›</a:t>
            </a:fld>
            <a:endParaRPr lang="en-US">
              <a:latin typeface="Comic Sans MS" pitchFamily="66" charset="0"/>
            </a:endParaRPr>
          </a:p>
        </p:txBody>
      </p:sp>
    </p:spTree>
    <p:extLst>
      <p:ext uri="{BB962C8B-B14F-4D97-AF65-F5344CB8AC3E}">
        <p14:creationId xmlns:p14="http://schemas.microsoft.com/office/powerpoint/2010/main" val="30240291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Transcription and Translation</a:t>
            </a:r>
          </a:p>
          <a:p>
            <a:endParaRPr lang="en-US" dirty="0"/>
          </a:p>
          <a:p>
            <a:r>
              <a:rPr lang="en-US" dirty="0"/>
              <a:t>Prof. Dr. Md. </a:t>
            </a:r>
            <a:r>
              <a:rPr lang="en-US" dirty="0" err="1"/>
              <a:t>Mahbubul</a:t>
            </a:r>
            <a:r>
              <a:rPr lang="en-US" dirty="0"/>
              <a:t> Morshed</a:t>
            </a:r>
          </a:p>
        </p:txBody>
      </p:sp>
      <p:sp>
        <p:nvSpPr>
          <p:cNvPr id="3" name="Title 2"/>
          <p:cNvSpPr>
            <a:spLocks noGrp="1"/>
          </p:cNvSpPr>
          <p:nvPr>
            <p:ph type="title"/>
          </p:nvPr>
        </p:nvSpPr>
        <p:spPr/>
        <p:txBody>
          <a:bodyPr/>
          <a:lstStyle/>
          <a:p>
            <a:r>
              <a:rPr lang="en-US" dirty="0"/>
              <a:t>Central Dogma of life</a:t>
            </a:r>
          </a:p>
        </p:txBody>
      </p:sp>
      <p:sp>
        <p:nvSpPr>
          <p:cNvPr id="4" name="Slide Number Placeholder 3"/>
          <p:cNvSpPr>
            <a:spLocks noGrp="1"/>
          </p:cNvSpPr>
          <p:nvPr>
            <p:ph type="sldNum" sz="quarter" idx="11"/>
          </p:nvPr>
        </p:nvSpPr>
        <p:spPr/>
        <p:txBody>
          <a:bodyPr/>
          <a:lstStyle/>
          <a:p>
            <a:pPr>
              <a:defRPr/>
            </a:pPr>
            <a:fld id="{DDB0AF36-A597-4082-88EA-8C9716FC01D4}" type="slidenum">
              <a:rPr lang="en-US" smtClean="0"/>
              <a:pPr>
                <a:defRPr/>
              </a:pPr>
              <a:t>1</a:t>
            </a:fld>
            <a:endParaRPr lang="en-US"/>
          </a:p>
        </p:txBody>
      </p:sp>
    </p:spTree>
    <p:extLst>
      <p:ext uri="{BB962C8B-B14F-4D97-AF65-F5344CB8AC3E}">
        <p14:creationId xmlns:p14="http://schemas.microsoft.com/office/powerpoint/2010/main" val="1901288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2</a:t>
            </a:fld>
            <a:endParaRPr lang="en-US"/>
          </a:p>
        </p:txBody>
      </p:sp>
      <p:sp>
        <p:nvSpPr>
          <p:cNvPr id="5" name="Content Placeholder 4"/>
          <p:cNvSpPr>
            <a:spLocks noGrp="1"/>
          </p:cNvSpPr>
          <p:nvPr>
            <p:ph sz="quarter" idx="1"/>
          </p:nvPr>
        </p:nvSpPr>
        <p:spPr/>
        <p:txBody>
          <a:bodyPr>
            <a:normAutofit/>
          </a:bodyPr>
          <a:lstStyle/>
          <a:p>
            <a:pPr marL="350838" indent="-350838">
              <a:lnSpc>
                <a:spcPct val="95000"/>
              </a:lnSpc>
            </a:pPr>
            <a:r>
              <a:rPr lang="en-US" sz="2400" dirty="0"/>
              <a:t>The information content of DNA is in the form of specific sequences of nucleotides</a:t>
            </a:r>
          </a:p>
          <a:p>
            <a:pPr marL="350838" indent="-350838">
              <a:lnSpc>
                <a:spcPct val="95000"/>
              </a:lnSpc>
            </a:pPr>
            <a:r>
              <a:rPr lang="en-US" sz="2400" dirty="0"/>
              <a:t>The DNA inherited by an organism leads to specific traits by dictating the synthesis of proteins</a:t>
            </a:r>
          </a:p>
          <a:p>
            <a:pPr marL="350838" indent="-350838">
              <a:lnSpc>
                <a:spcPct val="95000"/>
              </a:lnSpc>
            </a:pPr>
            <a:r>
              <a:rPr lang="en-US" sz="2400" b="1" dirty="0"/>
              <a:t>Gene expression</a:t>
            </a:r>
            <a:r>
              <a:rPr lang="en-US" sz="2400" dirty="0"/>
              <a:t>, the process by which DNA directs protein synthesis, includes two stages: transcription and translation</a:t>
            </a:r>
          </a:p>
          <a:p>
            <a:pPr marL="350838" indent="-350838">
              <a:lnSpc>
                <a:spcPct val="95000"/>
              </a:lnSpc>
            </a:pPr>
            <a:r>
              <a:rPr lang="en-AU" sz="2400" dirty="0"/>
              <a:t>Genes specify proteins via transcription and translation</a:t>
            </a:r>
          </a:p>
          <a:p>
            <a:pPr marL="350838" indent="-350838">
              <a:lnSpc>
                <a:spcPct val="95000"/>
              </a:lnSpc>
            </a:pPr>
            <a:r>
              <a:rPr lang="en-AU" sz="2400" dirty="0"/>
              <a:t>The central dogma of biology describes the flow of information from gene sequence to protein product</a:t>
            </a:r>
          </a:p>
          <a:p>
            <a:endParaRPr lang="en-US" sz="2400" dirty="0"/>
          </a:p>
        </p:txBody>
      </p:sp>
      <p:pic>
        <p:nvPicPr>
          <p:cNvPr id="6" name="Picture 3"/>
          <p:cNvPicPr>
            <a:picLocks noChangeAspect="1" noChangeArrowheads="1"/>
          </p:cNvPicPr>
          <p:nvPr/>
        </p:nvPicPr>
        <p:blipFill>
          <a:blip r:embed="rId2"/>
          <a:srcRect/>
          <a:stretch>
            <a:fillRect/>
          </a:stretch>
        </p:blipFill>
        <p:spPr bwMode="auto">
          <a:xfrm>
            <a:off x="3124200" y="5172076"/>
            <a:ext cx="5562600" cy="1609725"/>
          </a:xfrm>
          <a:prstGeom prst="rect">
            <a:avLst/>
          </a:prstGeom>
          <a:noFill/>
          <a:ln w="9525">
            <a:noFill/>
            <a:miter lim="800000"/>
            <a:headEnd/>
            <a:tailEnd/>
          </a:ln>
          <a:effectLst/>
        </p:spPr>
      </p:pic>
      <p:sp>
        <p:nvSpPr>
          <p:cNvPr id="7" name="Title 2"/>
          <p:cNvSpPr>
            <a:spLocks noGrp="1"/>
          </p:cNvSpPr>
          <p:nvPr>
            <p:ph type="title"/>
          </p:nvPr>
        </p:nvSpPr>
        <p:spPr/>
        <p:txBody>
          <a:bodyPr/>
          <a:lstStyle/>
          <a:p>
            <a:r>
              <a:rPr lang="en-US" dirty="0">
                <a:solidFill>
                  <a:srgbClr val="C00000"/>
                </a:solidFill>
              </a:rPr>
              <a:t>Central Dogma of life</a:t>
            </a:r>
          </a:p>
        </p:txBody>
      </p:sp>
    </p:spTree>
    <p:extLst>
      <p:ext uri="{BB962C8B-B14F-4D97-AF65-F5344CB8AC3E}">
        <p14:creationId xmlns:p14="http://schemas.microsoft.com/office/powerpoint/2010/main" val="3753609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C00000"/>
                </a:solidFill>
              </a:rPr>
              <a:t>An Analogy</a:t>
            </a:r>
          </a:p>
        </p:txBody>
      </p:sp>
      <p:sp>
        <p:nvSpPr>
          <p:cNvPr id="4" name="Slide Number Placeholder 3"/>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3</a:t>
            </a:fld>
            <a:endParaRPr lang="en-US"/>
          </a:p>
        </p:txBody>
      </p:sp>
      <p:sp>
        <p:nvSpPr>
          <p:cNvPr id="5" name="Content Placeholder 4"/>
          <p:cNvSpPr>
            <a:spLocks noGrp="1"/>
          </p:cNvSpPr>
          <p:nvPr>
            <p:ph sz="quarter" idx="1"/>
          </p:nvPr>
        </p:nvSpPr>
        <p:spPr/>
        <p:txBody>
          <a:bodyPr>
            <a:normAutofit/>
          </a:bodyPr>
          <a:lstStyle/>
          <a:p>
            <a:r>
              <a:rPr lang="en-AU" dirty="0"/>
              <a:t>When you get to the library, you search through the shelves until you find a book that has a good set of instructions for making a table.</a:t>
            </a:r>
          </a:p>
          <a:p>
            <a:r>
              <a:rPr lang="en-AU" dirty="0"/>
              <a:t>The library doesn't have a photocopier, but you came well-prepared and you whip out your pen and notebook and copy down (or 'transcribe') the instructions. </a:t>
            </a:r>
          </a:p>
          <a:p>
            <a:r>
              <a:rPr lang="en-AU" dirty="0"/>
              <a:t>Satisfied, you take your notes and head back home.</a:t>
            </a:r>
          </a:p>
          <a:p>
            <a:r>
              <a:rPr lang="en-AU" dirty="0"/>
              <a:t>At home, you have all the wood and tools to make the table. </a:t>
            </a:r>
          </a:p>
          <a:p>
            <a:r>
              <a:rPr lang="en-AU" dirty="0"/>
              <a:t>You follow the instructions and make the table, effectively 'translating' the written words into a table which you can use in your room.</a:t>
            </a:r>
          </a:p>
        </p:txBody>
      </p:sp>
    </p:spTree>
    <p:extLst>
      <p:ext uri="{BB962C8B-B14F-4D97-AF65-F5344CB8AC3E}">
        <p14:creationId xmlns:p14="http://schemas.microsoft.com/office/powerpoint/2010/main" val="2041781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4</a:t>
            </a:fld>
            <a:endParaRPr lang="en-US"/>
          </a:p>
        </p:txBody>
      </p:sp>
      <p:sp>
        <p:nvSpPr>
          <p:cNvPr id="5" name="Content Placeholder 4"/>
          <p:cNvSpPr>
            <a:spLocks noGrp="1"/>
          </p:cNvSpPr>
          <p:nvPr>
            <p:ph sz="quarter" idx="1"/>
          </p:nvPr>
        </p:nvSpPr>
        <p:spPr/>
        <p:txBody>
          <a:bodyPr>
            <a:normAutofit/>
          </a:bodyPr>
          <a:lstStyle/>
          <a:p>
            <a:r>
              <a:rPr lang="en-AU" dirty="0"/>
              <a:t>Library = Nucleus</a:t>
            </a:r>
          </a:p>
          <a:p>
            <a:r>
              <a:rPr lang="en-AU" dirty="0"/>
              <a:t>Books in the library = DNA in the form of chromosome</a:t>
            </a:r>
          </a:p>
          <a:p>
            <a:r>
              <a:rPr lang="en-AU" dirty="0"/>
              <a:t>One chapter = One gene ( contains instruction for one type of protein)</a:t>
            </a:r>
          </a:p>
          <a:p>
            <a:r>
              <a:rPr lang="en-AU" dirty="0"/>
              <a:t>Notebook =  Represents RNA, which is a smaller molecule that can move out of the nucleus into the cytoplasm, where proteins are made</a:t>
            </a:r>
          </a:p>
          <a:p>
            <a:r>
              <a:rPr lang="en-AU" dirty="0"/>
              <a:t>Home = Cytoplasm</a:t>
            </a:r>
          </a:p>
          <a:p>
            <a:r>
              <a:rPr lang="en-AU" dirty="0"/>
              <a:t>Table = One protein product</a:t>
            </a:r>
          </a:p>
          <a:p>
            <a:r>
              <a:rPr lang="en-AU" dirty="0"/>
              <a:t>Wood to make the table = amino acids for building proteins</a:t>
            </a:r>
          </a:p>
        </p:txBody>
      </p:sp>
      <p:sp>
        <p:nvSpPr>
          <p:cNvPr id="6" name="Title 1"/>
          <p:cNvSpPr>
            <a:spLocks noGrp="1"/>
          </p:cNvSpPr>
          <p:nvPr>
            <p:ph type="title"/>
          </p:nvPr>
        </p:nvSpPr>
        <p:spPr/>
        <p:txBody>
          <a:bodyPr/>
          <a:lstStyle/>
          <a:p>
            <a:r>
              <a:rPr lang="en-US">
                <a:solidFill>
                  <a:srgbClr val="C00000"/>
                </a:solidFill>
              </a:rPr>
              <a:t>An Analogy</a:t>
            </a:r>
          </a:p>
        </p:txBody>
      </p:sp>
    </p:spTree>
    <p:extLst>
      <p:ext uri="{BB962C8B-B14F-4D97-AF65-F5344CB8AC3E}">
        <p14:creationId xmlns:p14="http://schemas.microsoft.com/office/powerpoint/2010/main" val="2619929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5</a:t>
            </a:fld>
            <a:endParaRPr lang="en-US"/>
          </a:p>
        </p:txBody>
      </p:sp>
      <p:sp>
        <p:nvSpPr>
          <p:cNvPr id="5" name="Content Placeholder 4"/>
          <p:cNvSpPr>
            <a:spLocks noGrp="1"/>
          </p:cNvSpPr>
          <p:nvPr>
            <p:ph sz="quarter" idx="1"/>
          </p:nvPr>
        </p:nvSpPr>
        <p:spPr/>
        <p:txBody>
          <a:bodyPr>
            <a:normAutofit/>
          </a:bodyPr>
          <a:lstStyle/>
          <a:p>
            <a:pPr marL="350838" indent="-350838"/>
            <a:r>
              <a:rPr lang="en-US" sz="2400" dirty="0"/>
              <a:t>RNA is the bridge between genes and the proteins for which they code</a:t>
            </a:r>
          </a:p>
          <a:p>
            <a:pPr marL="350838" indent="-350838"/>
            <a:r>
              <a:rPr lang="en-US" sz="2400" b="1" dirty="0"/>
              <a:t>Transcription </a:t>
            </a:r>
            <a:r>
              <a:rPr lang="en-US" sz="2400" dirty="0"/>
              <a:t>is the synthesis of RNA using information in DNA</a:t>
            </a:r>
          </a:p>
          <a:p>
            <a:pPr marL="647700" lvl="1" indent="-350838"/>
            <a:r>
              <a:rPr lang="en-US" sz="2000" dirty="0"/>
              <a:t>Transcription produces </a:t>
            </a:r>
            <a:r>
              <a:rPr lang="en-US" sz="2000" b="1" dirty="0"/>
              <a:t>messenger RNA (mRNA)</a:t>
            </a:r>
          </a:p>
          <a:p>
            <a:pPr marL="350838" indent="-350838"/>
            <a:r>
              <a:rPr lang="en-US" sz="2400" b="1" dirty="0"/>
              <a:t>Translation </a:t>
            </a:r>
            <a:r>
              <a:rPr lang="en-US" sz="2400" dirty="0"/>
              <a:t>is the synthesis of a polypeptide, using information in the mRNA</a:t>
            </a:r>
          </a:p>
          <a:p>
            <a:pPr marL="647700" lvl="1" indent="-350838"/>
            <a:r>
              <a:rPr lang="en-US" sz="2000" b="1" dirty="0" err="1"/>
              <a:t>Ribosomes</a:t>
            </a:r>
            <a:r>
              <a:rPr lang="en-US" sz="2000" b="1" dirty="0"/>
              <a:t> </a:t>
            </a:r>
            <a:r>
              <a:rPr lang="en-US" sz="2000" dirty="0"/>
              <a:t>are the sites of translation</a:t>
            </a:r>
          </a:p>
          <a:p>
            <a:endParaRPr lang="en-US" sz="2400" dirty="0"/>
          </a:p>
        </p:txBody>
      </p:sp>
      <p:pic>
        <p:nvPicPr>
          <p:cNvPr id="6" name="Picture 8"/>
          <p:cNvPicPr>
            <a:picLocks noChangeAspect="1" noChangeArrowheads="1"/>
          </p:cNvPicPr>
          <p:nvPr/>
        </p:nvPicPr>
        <p:blipFill>
          <a:blip r:embed="rId2"/>
          <a:srcRect/>
          <a:stretch>
            <a:fillRect/>
          </a:stretch>
        </p:blipFill>
        <p:spPr bwMode="auto">
          <a:xfrm>
            <a:off x="1752600" y="5105401"/>
            <a:ext cx="8547100" cy="1030287"/>
          </a:xfrm>
          <a:prstGeom prst="rect">
            <a:avLst/>
          </a:prstGeom>
          <a:noFill/>
          <a:ln w="9525">
            <a:noFill/>
            <a:miter lim="800000"/>
            <a:headEnd/>
            <a:tailEnd/>
          </a:ln>
          <a:effectLst/>
        </p:spPr>
      </p:pic>
      <p:sp>
        <p:nvSpPr>
          <p:cNvPr id="7" name="Rectangle 2"/>
          <p:cNvSpPr>
            <a:spLocks noGrp="1" noChangeArrowheads="1"/>
          </p:cNvSpPr>
          <p:nvPr>
            <p:ph type="title"/>
          </p:nvPr>
        </p:nvSpPr>
        <p:spPr>
          <a:xfrm>
            <a:off x="1828800" y="329626"/>
            <a:ext cx="8686800" cy="584775"/>
          </a:xfrm>
        </p:spPr>
        <p:txBody>
          <a:bodyPr wrap="square" anchor="t">
            <a:spAutoFit/>
          </a:bodyPr>
          <a:lstStyle/>
          <a:p>
            <a:pPr>
              <a:defRPr/>
            </a:pPr>
            <a:r>
              <a:rPr lang="en-US" sz="3200" b="1" dirty="0">
                <a:solidFill>
                  <a:srgbClr val="C00000"/>
                </a:solidFill>
              </a:rPr>
              <a:t>Basic Principles of Transcription and Translation</a:t>
            </a:r>
          </a:p>
        </p:txBody>
      </p:sp>
    </p:spTree>
    <p:extLst>
      <p:ext uri="{BB962C8B-B14F-4D97-AF65-F5344CB8AC3E}">
        <p14:creationId xmlns:p14="http://schemas.microsoft.com/office/powerpoint/2010/main" val="2845728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descr="17_03bGeneticInfoFlow_1-U"/>
          <p:cNvPicPr>
            <a:picLocks noChangeAspect="1" noChangeArrowheads="1"/>
          </p:cNvPicPr>
          <p:nvPr/>
        </p:nvPicPr>
        <p:blipFill>
          <a:blip r:embed="rId3"/>
          <a:srcRect/>
          <a:stretch>
            <a:fillRect/>
          </a:stretch>
        </p:blipFill>
        <p:spPr bwMode="auto">
          <a:xfrm>
            <a:off x="3535364" y="136525"/>
            <a:ext cx="5121275" cy="6584950"/>
          </a:xfrm>
          <a:prstGeom prst="rect">
            <a:avLst/>
          </a:prstGeom>
          <a:noFill/>
          <a:ln w="9525">
            <a:noFill/>
            <a:miter lim="800000"/>
            <a:headEnd/>
            <a:tailEnd/>
          </a:ln>
        </p:spPr>
      </p:pic>
      <p:sp>
        <p:nvSpPr>
          <p:cNvPr id="21508" name="Text Box 4"/>
          <p:cNvSpPr txBox="1">
            <a:spLocks noChangeArrowheads="1"/>
          </p:cNvSpPr>
          <p:nvPr/>
        </p:nvSpPr>
        <p:spPr bwMode="auto">
          <a:xfrm>
            <a:off x="6931026" y="355600"/>
            <a:ext cx="11271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Nuclear</a:t>
            </a:r>
            <a:br>
              <a:rPr lang="en-US" sz="1900" b="1">
                <a:solidFill>
                  <a:prstClr val="black"/>
                </a:solidFill>
              </a:rPr>
            </a:br>
            <a:r>
              <a:rPr lang="en-US" sz="1900" b="1">
                <a:solidFill>
                  <a:prstClr val="black"/>
                </a:solidFill>
              </a:rPr>
              <a:t>envelope</a:t>
            </a:r>
          </a:p>
        </p:txBody>
      </p:sp>
      <p:sp>
        <p:nvSpPr>
          <p:cNvPr id="21509" name="Text Box 5"/>
          <p:cNvSpPr txBox="1">
            <a:spLocks noChangeArrowheads="1"/>
          </p:cNvSpPr>
          <p:nvPr/>
        </p:nvSpPr>
        <p:spPr bwMode="auto">
          <a:xfrm>
            <a:off x="6537326" y="1600200"/>
            <a:ext cx="644525"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DNA</a:t>
            </a:r>
          </a:p>
        </p:txBody>
      </p:sp>
      <p:sp>
        <p:nvSpPr>
          <p:cNvPr id="21510" name="Text Box 6"/>
          <p:cNvSpPr txBox="1">
            <a:spLocks noChangeArrowheads="1"/>
          </p:cNvSpPr>
          <p:nvPr/>
        </p:nvSpPr>
        <p:spPr bwMode="auto">
          <a:xfrm>
            <a:off x="6461126" y="2400300"/>
            <a:ext cx="1889125"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Pre-mRNA</a:t>
            </a:r>
          </a:p>
        </p:txBody>
      </p:sp>
      <p:sp>
        <p:nvSpPr>
          <p:cNvPr id="21511" name="Text Box 7"/>
          <p:cNvSpPr txBox="1">
            <a:spLocks noChangeArrowheads="1"/>
          </p:cNvSpPr>
          <p:nvPr/>
        </p:nvSpPr>
        <p:spPr bwMode="auto">
          <a:xfrm>
            <a:off x="3565526" y="6261100"/>
            <a:ext cx="23971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800" b="1">
                <a:solidFill>
                  <a:prstClr val="black"/>
                </a:solidFill>
              </a:rPr>
              <a:t>(b) Eukaryotic cell</a:t>
            </a:r>
          </a:p>
        </p:txBody>
      </p:sp>
      <p:sp>
        <p:nvSpPr>
          <p:cNvPr id="21512" name="Line 8"/>
          <p:cNvSpPr>
            <a:spLocks noChangeShapeType="1"/>
          </p:cNvSpPr>
          <p:nvPr/>
        </p:nvSpPr>
        <p:spPr bwMode="auto">
          <a:xfrm flipV="1">
            <a:off x="6692900" y="539750"/>
            <a:ext cx="234950" cy="279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21513" name="Text Box 9"/>
          <p:cNvSpPr txBox="1">
            <a:spLocks noChangeArrowheads="1"/>
          </p:cNvSpPr>
          <p:nvPr/>
        </p:nvSpPr>
        <p:spPr bwMode="auto">
          <a:xfrm>
            <a:off x="4251326" y="1739900"/>
            <a:ext cx="1889125"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800" b="1">
                <a:solidFill>
                  <a:prstClr val="black"/>
                </a:solidFill>
              </a:rPr>
              <a:t>TRANSCRIPTION</a:t>
            </a:r>
          </a:p>
        </p:txBody>
      </p:sp>
    </p:spTree>
    <p:extLst>
      <p:ext uri="{BB962C8B-B14F-4D97-AF65-F5344CB8AC3E}">
        <p14:creationId xmlns:p14="http://schemas.microsoft.com/office/powerpoint/2010/main" val="2449986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descr="17_03bGeneticInfoFlow_2-U"/>
          <p:cNvPicPr>
            <a:picLocks noChangeAspect="1" noChangeArrowheads="1"/>
          </p:cNvPicPr>
          <p:nvPr/>
        </p:nvPicPr>
        <p:blipFill>
          <a:blip r:embed="rId3"/>
          <a:srcRect/>
          <a:stretch>
            <a:fillRect/>
          </a:stretch>
        </p:blipFill>
        <p:spPr bwMode="auto">
          <a:xfrm>
            <a:off x="3535364" y="136525"/>
            <a:ext cx="5121275" cy="6584950"/>
          </a:xfrm>
          <a:prstGeom prst="rect">
            <a:avLst/>
          </a:prstGeom>
          <a:noFill/>
          <a:ln w="9525">
            <a:noFill/>
            <a:miter lim="800000"/>
            <a:headEnd/>
            <a:tailEnd/>
          </a:ln>
        </p:spPr>
      </p:pic>
      <p:sp>
        <p:nvSpPr>
          <p:cNvPr id="22532" name="Text Box 4"/>
          <p:cNvSpPr txBox="1">
            <a:spLocks noChangeArrowheads="1"/>
          </p:cNvSpPr>
          <p:nvPr/>
        </p:nvSpPr>
        <p:spPr bwMode="auto">
          <a:xfrm>
            <a:off x="4149726" y="2578100"/>
            <a:ext cx="1889125"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800" b="1">
                <a:solidFill>
                  <a:prstClr val="black"/>
                </a:solidFill>
              </a:rPr>
              <a:t>RNA PROCESSING</a:t>
            </a:r>
          </a:p>
        </p:txBody>
      </p:sp>
      <p:sp>
        <p:nvSpPr>
          <p:cNvPr id="22533" name="Text Box 5"/>
          <p:cNvSpPr txBox="1">
            <a:spLocks noChangeArrowheads="1"/>
          </p:cNvSpPr>
          <p:nvPr/>
        </p:nvSpPr>
        <p:spPr bwMode="auto">
          <a:xfrm>
            <a:off x="6931026" y="355600"/>
            <a:ext cx="11271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Nuclear</a:t>
            </a:r>
            <a:br>
              <a:rPr lang="en-US" sz="1900" b="1">
                <a:solidFill>
                  <a:prstClr val="black"/>
                </a:solidFill>
              </a:rPr>
            </a:br>
            <a:r>
              <a:rPr lang="en-US" sz="1900" b="1">
                <a:solidFill>
                  <a:prstClr val="black"/>
                </a:solidFill>
              </a:rPr>
              <a:t>envelope</a:t>
            </a:r>
          </a:p>
        </p:txBody>
      </p:sp>
      <p:sp>
        <p:nvSpPr>
          <p:cNvPr id="22534" name="Text Box 6"/>
          <p:cNvSpPr txBox="1">
            <a:spLocks noChangeArrowheads="1"/>
          </p:cNvSpPr>
          <p:nvPr/>
        </p:nvSpPr>
        <p:spPr bwMode="auto">
          <a:xfrm>
            <a:off x="6537326" y="1600200"/>
            <a:ext cx="644525"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DNA</a:t>
            </a:r>
          </a:p>
        </p:txBody>
      </p:sp>
      <p:sp>
        <p:nvSpPr>
          <p:cNvPr id="22535" name="Text Box 7"/>
          <p:cNvSpPr txBox="1">
            <a:spLocks noChangeArrowheads="1"/>
          </p:cNvSpPr>
          <p:nvPr/>
        </p:nvSpPr>
        <p:spPr bwMode="auto">
          <a:xfrm>
            <a:off x="6461126" y="2400300"/>
            <a:ext cx="1889125"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Pre-mRNA</a:t>
            </a:r>
          </a:p>
        </p:txBody>
      </p:sp>
      <p:sp>
        <p:nvSpPr>
          <p:cNvPr id="22536" name="Text Box 8"/>
          <p:cNvSpPr txBox="1">
            <a:spLocks noChangeArrowheads="1"/>
          </p:cNvSpPr>
          <p:nvPr/>
        </p:nvSpPr>
        <p:spPr bwMode="auto">
          <a:xfrm>
            <a:off x="3565526" y="6261100"/>
            <a:ext cx="23971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800" b="1">
                <a:solidFill>
                  <a:prstClr val="black"/>
                </a:solidFill>
              </a:rPr>
              <a:t>(b) Eukaryotic cell</a:t>
            </a:r>
          </a:p>
        </p:txBody>
      </p:sp>
      <p:sp>
        <p:nvSpPr>
          <p:cNvPr id="22537" name="Line 9"/>
          <p:cNvSpPr>
            <a:spLocks noChangeShapeType="1"/>
          </p:cNvSpPr>
          <p:nvPr/>
        </p:nvSpPr>
        <p:spPr bwMode="auto">
          <a:xfrm flipV="1">
            <a:off x="6692900" y="539750"/>
            <a:ext cx="234950" cy="279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22538" name="Text Box 10"/>
          <p:cNvSpPr txBox="1">
            <a:spLocks noChangeArrowheads="1"/>
          </p:cNvSpPr>
          <p:nvPr/>
        </p:nvSpPr>
        <p:spPr bwMode="auto">
          <a:xfrm>
            <a:off x="5559426" y="3225800"/>
            <a:ext cx="9239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mRNA</a:t>
            </a:r>
          </a:p>
        </p:txBody>
      </p:sp>
      <p:sp>
        <p:nvSpPr>
          <p:cNvPr id="22539" name="Line 11"/>
          <p:cNvSpPr>
            <a:spLocks noChangeShapeType="1"/>
          </p:cNvSpPr>
          <p:nvPr/>
        </p:nvSpPr>
        <p:spPr bwMode="auto">
          <a:xfrm flipV="1">
            <a:off x="6692900" y="539750"/>
            <a:ext cx="228600" cy="2730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22540" name="Text Box 12"/>
          <p:cNvSpPr txBox="1">
            <a:spLocks noChangeArrowheads="1"/>
          </p:cNvSpPr>
          <p:nvPr/>
        </p:nvSpPr>
        <p:spPr bwMode="auto">
          <a:xfrm>
            <a:off x="4251326" y="1739900"/>
            <a:ext cx="1889125"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800" b="1">
                <a:solidFill>
                  <a:prstClr val="black"/>
                </a:solidFill>
              </a:rPr>
              <a:t>TRANSCRIPTION</a:t>
            </a:r>
          </a:p>
        </p:txBody>
      </p:sp>
    </p:spTree>
    <p:extLst>
      <p:ext uri="{BB962C8B-B14F-4D97-AF65-F5344CB8AC3E}">
        <p14:creationId xmlns:p14="http://schemas.microsoft.com/office/powerpoint/2010/main" val="2782618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descr="17_03bGeneticInfoFlow_3-U"/>
          <p:cNvPicPr>
            <a:picLocks noChangeAspect="1" noChangeArrowheads="1"/>
          </p:cNvPicPr>
          <p:nvPr/>
        </p:nvPicPr>
        <p:blipFill>
          <a:blip r:embed="rId3"/>
          <a:srcRect/>
          <a:stretch>
            <a:fillRect/>
          </a:stretch>
        </p:blipFill>
        <p:spPr bwMode="auto">
          <a:xfrm>
            <a:off x="3535364" y="136525"/>
            <a:ext cx="5121275" cy="6584950"/>
          </a:xfrm>
          <a:prstGeom prst="rect">
            <a:avLst/>
          </a:prstGeom>
          <a:noFill/>
          <a:ln w="9525">
            <a:noFill/>
            <a:miter lim="800000"/>
            <a:headEnd/>
            <a:tailEnd/>
          </a:ln>
        </p:spPr>
      </p:pic>
      <p:sp>
        <p:nvSpPr>
          <p:cNvPr id="23556" name="Text Box 4"/>
          <p:cNvSpPr txBox="1">
            <a:spLocks noChangeArrowheads="1"/>
          </p:cNvSpPr>
          <p:nvPr/>
        </p:nvSpPr>
        <p:spPr bwMode="auto">
          <a:xfrm>
            <a:off x="4149726" y="2578100"/>
            <a:ext cx="1889125"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800" b="1">
                <a:solidFill>
                  <a:prstClr val="black"/>
                </a:solidFill>
              </a:rPr>
              <a:t>RNA PROCESSING</a:t>
            </a:r>
          </a:p>
        </p:txBody>
      </p:sp>
      <p:sp>
        <p:nvSpPr>
          <p:cNvPr id="23557" name="Text Box 5"/>
          <p:cNvSpPr txBox="1">
            <a:spLocks noChangeArrowheads="1"/>
          </p:cNvSpPr>
          <p:nvPr/>
        </p:nvSpPr>
        <p:spPr bwMode="auto">
          <a:xfrm>
            <a:off x="6931026" y="355600"/>
            <a:ext cx="11271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Nuclear</a:t>
            </a:r>
            <a:br>
              <a:rPr lang="en-US" sz="1900" b="1">
                <a:solidFill>
                  <a:prstClr val="black"/>
                </a:solidFill>
              </a:rPr>
            </a:br>
            <a:r>
              <a:rPr lang="en-US" sz="1900" b="1">
                <a:solidFill>
                  <a:prstClr val="black"/>
                </a:solidFill>
              </a:rPr>
              <a:t>envelope</a:t>
            </a:r>
          </a:p>
        </p:txBody>
      </p:sp>
      <p:sp>
        <p:nvSpPr>
          <p:cNvPr id="23558" name="Text Box 6"/>
          <p:cNvSpPr txBox="1">
            <a:spLocks noChangeArrowheads="1"/>
          </p:cNvSpPr>
          <p:nvPr/>
        </p:nvSpPr>
        <p:spPr bwMode="auto">
          <a:xfrm>
            <a:off x="6537326" y="1600200"/>
            <a:ext cx="644525"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DNA</a:t>
            </a:r>
          </a:p>
        </p:txBody>
      </p:sp>
      <p:sp>
        <p:nvSpPr>
          <p:cNvPr id="23559" name="Text Box 7"/>
          <p:cNvSpPr txBox="1">
            <a:spLocks noChangeArrowheads="1"/>
          </p:cNvSpPr>
          <p:nvPr/>
        </p:nvSpPr>
        <p:spPr bwMode="auto">
          <a:xfrm>
            <a:off x="6461126" y="2400300"/>
            <a:ext cx="1889125"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Pre-mRNA</a:t>
            </a:r>
          </a:p>
        </p:txBody>
      </p:sp>
      <p:sp>
        <p:nvSpPr>
          <p:cNvPr id="23560" name="Text Box 8"/>
          <p:cNvSpPr txBox="1">
            <a:spLocks noChangeArrowheads="1"/>
          </p:cNvSpPr>
          <p:nvPr/>
        </p:nvSpPr>
        <p:spPr bwMode="auto">
          <a:xfrm>
            <a:off x="3565526" y="6261100"/>
            <a:ext cx="23971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800" b="1">
                <a:solidFill>
                  <a:prstClr val="black"/>
                </a:solidFill>
              </a:rPr>
              <a:t>(b) Eukaryotic cell</a:t>
            </a:r>
          </a:p>
        </p:txBody>
      </p:sp>
      <p:sp>
        <p:nvSpPr>
          <p:cNvPr id="23561" name="Line 9"/>
          <p:cNvSpPr>
            <a:spLocks noChangeShapeType="1"/>
          </p:cNvSpPr>
          <p:nvPr/>
        </p:nvSpPr>
        <p:spPr bwMode="auto">
          <a:xfrm flipV="1">
            <a:off x="6692900" y="539750"/>
            <a:ext cx="234950" cy="279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23562" name="Text Box 10"/>
          <p:cNvSpPr txBox="1">
            <a:spLocks noChangeArrowheads="1"/>
          </p:cNvSpPr>
          <p:nvPr/>
        </p:nvSpPr>
        <p:spPr bwMode="auto">
          <a:xfrm>
            <a:off x="5559426" y="3225800"/>
            <a:ext cx="9239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mRNA</a:t>
            </a:r>
          </a:p>
        </p:txBody>
      </p:sp>
      <p:sp>
        <p:nvSpPr>
          <p:cNvPr id="23563" name="Line 11"/>
          <p:cNvSpPr>
            <a:spLocks noChangeShapeType="1"/>
          </p:cNvSpPr>
          <p:nvPr/>
        </p:nvSpPr>
        <p:spPr bwMode="auto">
          <a:xfrm flipV="1">
            <a:off x="6692900" y="539750"/>
            <a:ext cx="228600" cy="2730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23564" name="Text Box 12"/>
          <p:cNvSpPr txBox="1">
            <a:spLocks noChangeArrowheads="1"/>
          </p:cNvSpPr>
          <p:nvPr/>
        </p:nvSpPr>
        <p:spPr bwMode="auto">
          <a:xfrm>
            <a:off x="4251326" y="1739900"/>
            <a:ext cx="1889125"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800" b="1">
                <a:solidFill>
                  <a:prstClr val="black"/>
                </a:solidFill>
              </a:rPr>
              <a:t>TRANSCRIPTION</a:t>
            </a:r>
          </a:p>
        </p:txBody>
      </p:sp>
      <p:sp>
        <p:nvSpPr>
          <p:cNvPr id="23565" name="Text Box 13"/>
          <p:cNvSpPr txBox="1">
            <a:spLocks noChangeArrowheads="1"/>
          </p:cNvSpPr>
          <p:nvPr/>
        </p:nvSpPr>
        <p:spPr bwMode="auto">
          <a:xfrm>
            <a:off x="4175126" y="4508500"/>
            <a:ext cx="1889125"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800" b="1">
                <a:solidFill>
                  <a:prstClr val="black"/>
                </a:solidFill>
              </a:rPr>
              <a:t>TRANSLATION</a:t>
            </a:r>
          </a:p>
        </p:txBody>
      </p:sp>
      <p:sp>
        <p:nvSpPr>
          <p:cNvPr id="23566" name="Text Box 14"/>
          <p:cNvSpPr txBox="1">
            <a:spLocks noChangeArrowheads="1"/>
          </p:cNvSpPr>
          <p:nvPr/>
        </p:nvSpPr>
        <p:spPr bwMode="auto">
          <a:xfrm>
            <a:off x="6613526" y="4584700"/>
            <a:ext cx="19018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Ribosome</a:t>
            </a:r>
          </a:p>
        </p:txBody>
      </p:sp>
      <p:sp>
        <p:nvSpPr>
          <p:cNvPr id="23567" name="Text Box 15"/>
          <p:cNvSpPr txBox="1">
            <a:spLocks noChangeArrowheads="1"/>
          </p:cNvSpPr>
          <p:nvPr/>
        </p:nvSpPr>
        <p:spPr bwMode="auto">
          <a:xfrm>
            <a:off x="6042026" y="5346700"/>
            <a:ext cx="19018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spcBef>
                <a:spcPct val="0"/>
              </a:spcBef>
              <a:spcAft>
                <a:spcPct val="0"/>
              </a:spcAft>
              <a:defRPr/>
            </a:pPr>
            <a:r>
              <a:rPr lang="en-US" sz="1900" b="1">
                <a:solidFill>
                  <a:prstClr val="black"/>
                </a:solidFill>
              </a:rPr>
              <a:t>Polypeptide</a:t>
            </a:r>
          </a:p>
        </p:txBody>
      </p:sp>
      <p:sp>
        <p:nvSpPr>
          <p:cNvPr id="23568" name="Line 16"/>
          <p:cNvSpPr>
            <a:spLocks noChangeShapeType="1"/>
          </p:cNvSpPr>
          <p:nvPr/>
        </p:nvSpPr>
        <p:spPr bwMode="auto">
          <a:xfrm flipH="1">
            <a:off x="6469063" y="4737101"/>
            <a:ext cx="139700" cy="1825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23569" name="Line 17"/>
          <p:cNvSpPr>
            <a:spLocks noChangeShapeType="1"/>
          </p:cNvSpPr>
          <p:nvPr/>
        </p:nvSpPr>
        <p:spPr bwMode="auto">
          <a:xfrm>
            <a:off x="5770563" y="5326064"/>
            <a:ext cx="241300" cy="1428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Tree>
    <p:extLst>
      <p:ext uri="{BB962C8B-B14F-4D97-AF65-F5344CB8AC3E}">
        <p14:creationId xmlns:p14="http://schemas.microsoft.com/office/powerpoint/2010/main" val="1617652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AU" dirty="0">
                <a:solidFill>
                  <a:srgbClr val="C00000"/>
                </a:solidFill>
              </a:rPr>
              <a:t>Transcription</a:t>
            </a:r>
          </a:p>
        </p:txBody>
      </p:sp>
      <p:sp>
        <p:nvSpPr>
          <p:cNvPr id="3" name="Content Placeholder 2"/>
          <p:cNvSpPr>
            <a:spLocks noGrp="1"/>
          </p:cNvSpPr>
          <p:nvPr>
            <p:ph idx="1"/>
          </p:nvPr>
        </p:nvSpPr>
        <p:spPr>
          <a:xfrm>
            <a:off x="1981200" y="1600200"/>
            <a:ext cx="8001000" cy="3733800"/>
          </a:xfrm>
        </p:spPr>
        <p:txBody>
          <a:bodyPr rtlCol="0">
            <a:normAutofit fontScale="77500" lnSpcReduction="20000"/>
          </a:bodyPr>
          <a:lstStyle/>
          <a:p>
            <a:pPr>
              <a:defRPr/>
            </a:pPr>
            <a:r>
              <a:rPr lang="en-AU" dirty="0"/>
              <a:t>DNA sequence information is converted to mRNA in a process called transcription</a:t>
            </a:r>
          </a:p>
          <a:p>
            <a:pPr marL="114300" indent="0">
              <a:buNone/>
              <a:defRPr/>
            </a:pPr>
            <a:r>
              <a:rPr lang="en-AU" dirty="0"/>
              <a:t>Steps:</a:t>
            </a:r>
          </a:p>
          <a:p>
            <a:pPr marL="114300" indent="0">
              <a:buNone/>
              <a:defRPr/>
            </a:pPr>
            <a:r>
              <a:rPr lang="en-AU" dirty="0"/>
              <a:t>1. The double-stranded DNA molecule is partially unzipped</a:t>
            </a:r>
          </a:p>
          <a:p>
            <a:pPr marL="571500" indent="-457200">
              <a:buFont typeface="Arial" pitchFamily="34" charset="0"/>
              <a:buAutoNum type="arabicPeriod" startAt="2"/>
              <a:defRPr/>
            </a:pPr>
            <a:r>
              <a:rPr lang="en-AU" dirty="0"/>
              <a:t>An enzyme called RNA polymerase copies the gene's nucleotides one by one into an mRNA molecule. </a:t>
            </a:r>
          </a:p>
          <a:p>
            <a:pPr marL="411480" lvl="1" indent="0">
              <a:buNone/>
              <a:defRPr/>
            </a:pPr>
            <a:r>
              <a:rPr lang="en-AU" dirty="0"/>
              <a:t>	Like DNA, mRNA is made of a particular sequence of nucleotides</a:t>
            </a:r>
          </a:p>
          <a:p>
            <a:pPr marL="411480" lvl="1" indent="0">
              <a:buNone/>
              <a:defRPr/>
            </a:pPr>
            <a:r>
              <a:rPr lang="en-AU" dirty="0"/>
              <a:t>	Unlike DNA, mRNA has only a single strand, and the base Thymine 	in DNA is replaced by Uracil in RNA</a:t>
            </a:r>
          </a:p>
          <a:p>
            <a:pPr marL="411480" lvl="1" indent="0">
              <a:buNone/>
              <a:defRPr/>
            </a:pPr>
            <a:r>
              <a:rPr lang="en-AU" dirty="0"/>
              <a:t>	Very importantly, mRNA is small and can easily exit the nucleus 	and 	go to the cytoplasm, where proteins are made.</a:t>
            </a:r>
          </a:p>
          <a:p>
            <a:pPr>
              <a:defRPr/>
            </a:pPr>
            <a:endParaRPr lang="en-AU" dirty="0"/>
          </a:p>
        </p:txBody>
      </p:sp>
      <p:sp>
        <p:nvSpPr>
          <p:cNvPr id="12292" name="Slide Number Placeholder 3"/>
          <p:cNvSpPr>
            <a:spLocks noGrp="1"/>
          </p:cNvSpPr>
          <p:nvPr>
            <p:ph type="sldNum" sz="quarter" idx="10"/>
          </p:nvPr>
        </p:nvSpPr>
        <p:spPr bwMode="auto">
          <a:xfrm>
            <a:off x="10055226" y="5775326"/>
            <a:ext cx="549275" cy="396875"/>
          </a:xfrm>
          <a:noFill/>
          <a:ln>
            <a:round/>
            <a:headEnd/>
            <a:tailEnd/>
          </a:ln>
        </p:spPr>
        <p:txBody>
          <a:bodyPr wrap="square" numCol="1" anchorCtr="0" compatLnSpc="1">
            <a:prstTxWarp prst="textNoShape">
              <a:avLst/>
            </a:prstTxWarp>
          </a:bodyPr>
          <a:lstStyle/>
          <a:p>
            <a:fld id="{E03E6B2E-D5C5-44AE-BD90-16307721BA58}" type="slidenum">
              <a:rPr lang="en-US" smtClean="0">
                <a:solidFill>
                  <a:srgbClr val="775F55"/>
                </a:solidFill>
              </a:rPr>
              <a:pPr/>
              <a:t>9</a:t>
            </a:fld>
            <a:endParaRPr lang="en-US">
              <a:solidFill>
                <a:srgbClr val="775F55"/>
              </a:solidFill>
            </a:endParaRPr>
          </a:p>
        </p:txBody>
      </p:sp>
      <p:pic>
        <p:nvPicPr>
          <p:cNvPr id="12293" name="Picture 2"/>
          <p:cNvPicPr>
            <a:picLocks noChangeAspect="1" noChangeArrowheads="1"/>
          </p:cNvPicPr>
          <p:nvPr/>
        </p:nvPicPr>
        <p:blipFill>
          <a:blip r:embed="rId3"/>
          <a:srcRect/>
          <a:stretch>
            <a:fillRect/>
          </a:stretch>
        </p:blipFill>
        <p:spPr bwMode="auto">
          <a:xfrm>
            <a:off x="1524000" y="5241926"/>
            <a:ext cx="9144000" cy="1616075"/>
          </a:xfrm>
          <a:prstGeom prst="rect">
            <a:avLst/>
          </a:prstGeom>
          <a:noFill/>
          <a:ln w="9525">
            <a:noFill/>
            <a:miter lim="800000"/>
            <a:headEnd/>
            <a:tailEnd/>
          </a:ln>
          <a:effectLst/>
        </p:spPr>
      </p:pic>
      <p:sp>
        <p:nvSpPr>
          <p:cNvPr id="12294" name="TextBox 4"/>
          <p:cNvSpPr txBox="1">
            <a:spLocks noChangeArrowheads="1"/>
          </p:cNvSpPr>
          <p:nvPr/>
        </p:nvSpPr>
        <p:spPr bwMode="auto">
          <a:xfrm>
            <a:off x="4038600" y="5105400"/>
            <a:ext cx="1066800" cy="461962"/>
          </a:xfrm>
          <a:prstGeom prst="rect">
            <a:avLst/>
          </a:prstGeom>
          <a:noFill/>
          <a:ln w="9525">
            <a:noFill/>
            <a:miter lim="800000"/>
            <a:headEnd/>
            <a:tailEnd/>
          </a:ln>
        </p:spPr>
        <p:txBody>
          <a:bodyPr>
            <a:spAutoFit/>
          </a:bodyPr>
          <a:lstStyle/>
          <a:p>
            <a:pPr algn="ctr" fontAlgn="base">
              <a:spcBef>
                <a:spcPct val="0"/>
              </a:spcBef>
              <a:spcAft>
                <a:spcPct val="0"/>
              </a:spcAft>
            </a:pPr>
            <a:r>
              <a:rPr lang="en-AU" sz="1200" b="1" dirty="0">
                <a:solidFill>
                  <a:srgbClr val="C00000"/>
                </a:solidFill>
                <a:latin typeface="Comic Sans MS" pitchFamily="66" charset="0"/>
              </a:rPr>
              <a:t>RNA Polymerase</a:t>
            </a:r>
          </a:p>
        </p:txBody>
      </p:sp>
    </p:spTree>
    <p:extLst>
      <p:ext uri="{BB962C8B-B14F-4D97-AF65-F5344CB8AC3E}">
        <p14:creationId xmlns:p14="http://schemas.microsoft.com/office/powerpoint/2010/main" val="407228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AU" dirty="0">
                <a:solidFill>
                  <a:srgbClr val="C00000"/>
                </a:solidFill>
              </a:rPr>
              <a:t>Translation</a:t>
            </a:r>
          </a:p>
        </p:txBody>
      </p:sp>
      <p:sp>
        <p:nvSpPr>
          <p:cNvPr id="3" name="Content Placeholder 2"/>
          <p:cNvSpPr>
            <a:spLocks noGrp="1"/>
          </p:cNvSpPr>
          <p:nvPr>
            <p:ph idx="1"/>
          </p:nvPr>
        </p:nvSpPr>
        <p:spPr/>
        <p:txBody>
          <a:bodyPr rtlCol="0">
            <a:normAutofit fontScale="92500" lnSpcReduction="10000"/>
          </a:bodyPr>
          <a:lstStyle/>
          <a:p>
            <a:pPr>
              <a:defRPr/>
            </a:pPr>
            <a:r>
              <a:rPr lang="en-AU" dirty="0"/>
              <a:t>The sequence encoded in the mRNA molecule is decoded and converted to an amino acid sequence in a process called </a:t>
            </a:r>
            <a:r>
              <a:rPr lang="en-AU" dirty="0">
                <a:solidFill>
                  <a:srgbClr val="FF0000"/>
                </a:solidFill>
              </a:rPr>
              <a:t>translation. </a:t>
            </a:r>
          </a:p>
          <a:p>
            <a:pPr marL="114300" indent="0">
              <a:buNone/>
              <a:defRPr/>
            </a:pPr>
            <a:r>
              <a:rPr lang="en-AU" dirty="0"/>
              <a:t>Steps:</a:t>
            </a:r>
          </a:p>
          <a:p>
            <a:pPr marL="571500" indent="-457200">
              <a:buFont typeface="+mj-lt"/>
              <a:buAutoNum type="arabicPeriod"/>
              <a:defRPr/>
            </a:pPr>
            <a:r>
              <a:rPr lang="en-AU" dirty="0"/>
              <a:t>After a mature mRNA leaves the nucleus of a cell, it heads for a ribosome in the cell’s cytoplasm where the code it contains can be translated to produce a protein </a:t>
            </a:r>
          </a:p>
          <a:p>
            <a:pPr marL="571500" indent="-457200">
              <a:buFont typeface="+mj-lt"/>
              <a:buAutoNum type="arabicPeriod"/>
              <a:defRPr/>
            </a:pPr>
            <a:r>
              <a:rPr lang="en-AU" dirty="0"/>
              <a:t>As the strand of mRNA slides through the ribosome, the code is read three nucleotides at a time (called a codon).</a:t>
            </a:r>
          </a:p>
          <a:p>
            <a:pPr marL="571500" indent="-457200">
              <a:buFont typeface="+mj-lt"/>
              <a:buAutoNum type="arabicPeriod"/>
              <a:defRPr/>
            </a:pPr>
            <a:r>
              <a:rPr lang="en-AU" dirty="0"/>
              <a:t>Each codon specifies one amino acid in the polypeptide chain of a protein which are linked together to form a protein.</a:t>
            </a:r>
          </a:p>
        </p:txBody>
      </p:sp>
      <p:sp>
        <p:nvSpPr>
          <p:cNvPr id="13316" name="Slide Number Placeholder 3"/>
          <p:cNvSpPr>
            <a:spLocks noGrp="1"/>
          </p:cNvSpPr>
          <p:nvPr>
            <p:ph type="sldNum" sz="quarter" idx="10"/>
          </p:nvPr>
        </p:nvSpPr>
        <p:spPr bwMode="auto">
          <a:noFill/>
          <a:ln>
            <a:round/>
            <a:headEnd/>
            <a:tailEnd/>
          </a:ln>
        </p:spPr>
        <p:txBody>
          <a:bodyPr wrap="square" numCol="1" anchorCtr="0" compatLnSpc="1">
            <a:prstTxWarp prst="textNoShape">
              <a:avLst/>
            </a:prstTxWarp>
          </a:bodyPr>
          <a:lstStyle/>
          <a:p>
            <a:fld id="{7C9A8382-0685-4E6E-A7A9-57918D4DC807}" type="slidenum">
              <a:rPr lang="en-US" smtClean="0">
                <a:solidFill>
                  <a:srgbClr val="775F55"/>
                </a:solidFill>
              </a:rPr>
              <a:pPr/>
              <a:t>10</a:t>
            </a:fld>
            <a:endParaRPr lang="en-US">
              <a:solidFill>
                <a:srgbClr val="775F55"/>
              </a:solidFill>
            </a:endParaRPr>
          </a:p>
        </p:txBody>
      </p:sp>
    </p:spTree>
    <p:extLst>
      <p:ext uri="{BB962C8B-B14F-4D97-AF65-F5344CB8AC3E}">
        <p14:creationId xmlns:p14="http://schemas.microsoft.com/office/powerpoint/2010/main" val="3939835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17_04TripletCode-U"/>
          <p:cNvPicPr>
            <a:picLocks noChangeAspect="1" noChangeArrowheads="1"/>
          </p:cNvPicPr>
          <p:nvPr/>
        </p:nvPicPr>
        <p:blipFill>
          <a:blip r:embed="rId2"/>
          <a:srcRect/>
          <a:stretch>
            <a:fillRect/>
          </a:stretch>
        </p:blipFill>
        <p:spPr bwMode="auto">
          <a:xfrm>
            <a:off x="1828801" y="990601"/>
            <a:ext cx="8548687" cy="4926013"/>
          </a:xfrm>
          <a:prstGeom prst="rect">
            <a:avLst/>
          </a:prstGeom>
          <a:noFill/>
          <a:ln w="9525">
            <a:noFill/>
            <a:miter lim="800000"/>
            <a:headEnd/>
            <a:tailEnd/>
          </a:ln>
        </p:spPr>
      </p:pic>
      <p:sp>
        <p:nvSpPr>
          <p:cNvPr id="6" name="Text Box 4"/>
          <p:cNvSpPr txBox="1">
            <a:spLocks noChangeArrowheads="1"/>
          </p:cNvSpPr>
          <p:nvPr/>
        </p:nvSpPr>
        <p:spPr bwMode="auto">
          <a:xfrm>
            <a:off x="1927226" y="990600"/>
            <a:ext cx="1114425"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900" b="1">
                <a:solidFill>
                  <a:prstClr val="black"/>
                </a:solidFill>
              </a:rPr>
              <a:t>DNA</a:t>
            </a:r>
            <a:br>
              <a:rPr lang="en-US" sz="1900" b="1">
                <a:solidFill>
                  <a:prstClr val="black"/>
                </a:solidFill>
              </a:rPr>
            </a:br>
            <a:r>
              <a:rPr lang="en-US" sz="1900" b="1">
                <a:solidFill>
                  <a:prstClr val="black"/>
                </a:solidFill>
              </a:rPr>
              <a:t>template</a:t>
            </a:r>
            <a:br>
              <a:rPr lang="en-US" sz="1900" b="1">
                <a:solidFill>
                  <a:prstClr val="black"/>
                </a:solidFill>
              </a:rPr>
            </a:br>
            <a:r>
              <a:rPr lang="en-US" sz="1900" b="1">
                <a:solidFill>
                  <a:prstClr val="black"/>
                </a:solidFill>
              </a:rPr>
              <a:t>strand</a:t>
            </a:r>
          </a:p>
        </p:txBody>
      </p:sp>
      <p:sp>
        <p:nvSpPr>
          <p:cNvPr id="7" name="Text Box 5"/>
          <p:cNvSpPr txBox="1">
            <a:spLocks noChangeArrowheads="1"/>
          </p:cNvSpPr>
          <p:nvPr/>
        </p:nvSpPr>
        <p:spPr bwMode="auto">
          <a:xfrm>
            <a:off x="1927226" y="2755900"/>
            <a:ext cx="1978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dirty="0">
                <a:solidFill>
                  <a:prstClr val="black"/>
                </a:solidFill>
              </a:rPr>
              <a:t>TRANSCRIPTION</a:t>
            </a:r>
          </a:p>
        </p:txBody>
      </p:sp>
      <p:sp>
        <p:nvSpPr>
          <p:cNvPr id="8" name="Text Box 6"/>
          <p:cNvSpPr txBox="1">
            <a:spLocks noChangeArrowheads="1"/>
          </p:cNvSpPr>
          <p:nvPr/>
        </p:nvSpPr>
        <p:spPr bwMode="auto">
          <a:xfrm>
            <a:off x="1939926" y="3606800"/>
            <a:ext cx="1978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mRNA</a:t>
            </a:r>
          </a:p>
        </p:txBody>
      </p:sp>
      <p:sp>
        <p:nvSpPr>
          <p:cNvPr id="9" name="Text Box 7"/>
          <p:cNvSpPr txBox="1">
            <a:spLocks noChangeArrowheads="1"/>
          </p:cNvSpPr>
          <p:nvPr/>
        </p:nvSpPr>
        <p:spPr bwMode="auto">
          <a:xfrm>
            <a:off x="1752601" y="4305300"/>
            <a:ext cx="1978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dirty="0">
                <a:solidFill>
                  <a:prstClr val="black"/>
                </a:solidFill>
              </a:rPr>
              <a:t>TRANSLATION</a:t>
            </a:r>
          </a:p>
        </p:txBody>
      </p:sp>
      <p:sp>
        <p:nvSpPr>
          <p:cNvPr id="10" name="Text Box 8"/>
          <p:cNvSpPr txBox="1">
            <a:spLocks noChangeArrowheads="1"/>
          </p:cNvSpPr>
          <p:nvPr/>
        </p:nvSpPr>
        <p:spPr bwMode="auto">
          <a:xfrm>
            <a:off x="1927226" y="4978400"/>
            <a:ext cx="1978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Protein</a:t>
            </a:r>
          </a:p>
        </p:txBody>
      </p:sp>
      <p:sp>
        <p:nvSpPr>
          <p:cNvPr id="11" name="Text Box 9"/>
          <p:cNvSpPr txBox="1">
            <a:spLocks noChangeArrowheads="1"/>
          </p:cNvSpPr>
          <p:nvPr/>
        </p:nvSpPr>
        <p:spPr bwMode="auto">
          <a:xfrm>
            <a:off x="3603626" y="5499100"/>
            <a:ext cx="1978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Amino acid</a:t>
            </a:r>
          </a:p>
        </p:txBody>
      </p:sp>
      <p:sp>
        <p:nvSpPr>
          <p:cNvPr id="12" name="Text Box 10"/>
          <p:cNvSpPr txBox="1">
            <a:spLocks noChangeArrowheads="1"/>
          </p:cNvSpPr>
          <p:nvPr/>
        </p:nvSpPr>
        <p:spPr bwMode="auto">
          <a:xfrm>
            <a:off x="3781426" y="4013200"/>
            <a:ext cx="1978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Codon</a:t>
            </a:r>
          </a:p>
        </p:txBody>
      </p:sp>
      <p:sp>
        <p:nvSpPr>
          <p:cNvPr id="13" name="Text Box 11"/>
          <p:cNvSpPr txBox="1">
            <a:spLocks noChangeArrowheads="1"/>
          </p:cNvSpPr>
          <p:nvPr/>
        </p:nvSpPr>
        <p:spPr bwMode="auto">
          <a:xfrm>
            <a:off x="3886201" y="4972050"/>
            <a:ext cx="549275"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Trp</a:t>
            </a:r>
            <a:endParaRPr lang="en-US" sz="1600" b="1">
              <a:solidFill>
                <a:prstClr val="black"/>
              </a:solidFill>
            </a:endParaRPr>
          </a:p>
        </p:txBody>
      </p:sp>
      <p:sp>
        <p:nvSpPr>
          <p:cNvPr id="14" name="Text Box 12"/>
          <p:cNvSpPr txBox="1">
            <a:spLocks noChangeArrowheads="1"/>
          </p:cNvSpPr>
          <p:nvPr/>
        </p:nvSpPr>
        <p:spPr bwMode="auto">
          <a:xfrm>
            <a:off x="4876801" y="4965700"/>
            <a:ext cx="549275"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dirty="0" err="1">
                <a:solidFill>
                  <a:prstClr val="white"/>
                </a:solidFill>
              </a:rPr>
              <a:t>Phe</a:t>
            </a:r>
            <a:endParaRPr lang="en-US" sz="1600" b="1" dirty="0">
              <a:solidFill>
                <a:prstClr val="black"/>
              </a:solidFill>
            </a:endParaRPr>
          </a:p>
        </p:txBody>
      </p:sp>
      <p:sp>
        <p:nvSpPr>
          <p:cNvPr id="15" name="Text Box 13"/>
          <p:cNvSpPr txBox="1">
            <a:spLocks noChangeArrowheads="1"/>
          </p:cNvSpPr>
          <p:nvPr/>
        </p:nvSpPr>
        <p:spPr bwMode="auto">
          <a:xfrm>
            <a:off x="5943601" y="4959350"/>
            <a:ext cx="549275"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dirty="0" err="1">
                <a:solidFill>
                  <a:prstClr val="white"/>
                </a:solidFill>
              </a:rPr>
              <a:t>Gly</a:t>
            </a:r>
            <a:endParaRPr lang="en-US" sz="1600" b="1" dirty="0">
              <a:solidFill>
                <a:prstClr val="black"/>
              </a:solidFill>
            </a:endParaRPr>
          </a:p>
        </p:txBody>
      </p:sp>
      <p:sp>
        <p:nvSpPr>
          <p:cNvPr id="16" name="Text Box 14"/>
          <p:cNvSpPr txBox="1">
            <a:spLocks noChangeArrowheads="1"/>
          </p:cNvSpPr>
          <p:nvPr/>
        </p:nvSpPr>
        <p:spPr bwMode="auto">
          <a:xfrm>
            <a:off x="3368676" y="3594100"/>
            <a:ext cx="327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5</a:t>
            </a:r>
            <a:r>
              <a:rPr lang="en-US" sz="1800" b="1">
                <a:solidFill>
                  <a:prstClr val="black"/>
                </a:solidFill>
                <a:sym typeface="Symbol" charset="0"/>
              </a:rPr>
              <a:t></a:t>
            </a:r>
            <a:endParaRPr lang="en-US" sz="1800" b="1">
              <a:solidFill>
                <a:prstClr val="black"/>
              </a:solidFill>
            </a:endParaRPr>
          </a:p>
        </p:txBody>
      </p:sp>
      <p:sp>
        <p:nvSpPr>
          <p:cNvPr id="17" name="Text Box 15"/>
          <p:cNvSpPr txBox="1">
            <a:spLocks noChangeArrowheads="1"/>
          </p:cNvSpPr>
          <p:nvPr/>
        </p:nvSpPr>
        <p:spPr bwMode="auto">
          <a:xfrm>
            <a:off x="3355976" y="2324100"/>
            <a:ext cx="327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5</a:t>
            </a:r>
            <a:r>
              <a:rPr lang="en-US" sz="1800" b="1">
                <a:solidFill>
                  <a:prstClr val="black"/>
                </a:solidFill>
                <a:sym typeface="Symbol" charset="0"/>
              </a:rPr>
              <a:t></a:t>
            </a:r>
            <a:endParaRPr lang="en-US" sz="1800" b="1">
              <a:solidFill>
                <a:prstClr val="black"/>
              </a:solidFill>
            </a:endParaRPr>
          </a:p>
        </p:txBody>
      </p:sp>
      <p:sp>
        <p:nvSpPr>
          <p:cNvPr id="18" name="Text Box 16"/>
          <p:cNvSpPr txBox="1">
            <a:spLocks noChangeArrowheads="1"/>
          </p:cNvSpPr>
          <p:nvPr/>
        </p:nvSpPr>
        <p:spPr bwMode="auto">
          <a:xfrm>
            <a:off x="7010401" y="4978400"/>
            <a:ext cx="549275"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dirty="0">
                <a:solidFill>
                  <a:prstClr val="white"/>
                </a:solidFill>
              </a:rPr>
              <a:t>Ser</a:t>
            </a:r>
            <a:endParaRPr lang="en-US" sz="1600" b="1" dirty="0">
              <a:solidFill>
                <a:prstClr val="black"/>
              </a:solidFill>
            </a:endParaRPr>
          </a:p>
        </p:txBody>
      </p:sp>
      <p:sp>
        <p:nvSpPr>
          <p:cNvPr id="19" name="Text Box 17"/>
          <p:cNvSpPr txBox="1">
            <a:spLocks noChangeArrowheads="1"/>
          </p:cNvSpPr>
          <p:nvPr/>
        </p:nvSpPr>
        <p:spPr bwMode="auto">
          <a:xfrm>
            <a:off x="371157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U</a:t>
            </a:r>
            <a:endParaRPr lang="en-US" sz="1600" b="1">
              <a:solidFill>
                <a:prstClr val="black"/>
              </a:solidFill>
            </a:endParaRPr>
          </a:p>
        </p:txBody>
      </p:sp>
      <p:sp>
        <p:nvSpPr>
          <p:cNvPr id="20" name="Text Box 18"/>
          <p:cNvSpPr txBox="1">
            <a:spLocks noChangeArrowheads="1"/>
          </p:cNvSpPr>
          <p:nvPr/>
        </p:nvSpPr>
        <p:spPr bwMode="auto">
          <a:xfrm>
            <a:off x="475932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U</a:t>
            </a:r>
            <a:endParaRPr lang="en-US" sz="1600" b="1">
              <a:solidFill>
                <a:prstClr val="black"/>
              </a:solidFill>
            </a:endParaRPr>
          </a:p>
        </p:txBody>
      </p:sp>
      <p:sp>
        <p:nvSpPr>
          <p:cNvPr id="21" name="Text Box 19"/>
          <p:cNvSpPr txBox="1">
            <a:spLocks noChangeArrowheads="1"/>
          </p:cNvSpPr>
          <p:nvPr/>
        </p:nvSpPr>
        <p:spPr bwMode="auto">
          <a:xfrm>
            <a:off x="509587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U</a:t>
            </a:r>
            <a:endParaRPr lang="en-US" sz="1600" b="1">
              <a:solidFill>
                <a:prstClr val="black"/>
              </a:solidFill>
            </a:endParaRPr>
          </a:p>
        </p:txBody>
      </p:sp>
      <p:sp>
        <p:nvSpPr>
          <p:cNvPr id="22" name="Text Box 20"/>
          <p:cNvSpPr txBox="1">
            <a:spLocks noChangeArrowheads="1"/>
          </p:cNvSpPr>
          <p:nvPr/>
        </p:nvSpPr>
        <p:spPr bwMode="auto">
          <a:xfrm>
            <a:off x="545782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U</a:t>
            </a:r>
            <a:endParaRPr lang="en-US" sz="1600" b="1">
              <a:solidFill>
                <a:prstClr val="black"/>
              </a:solidFill>
            </a:endParaRPr>
          </a:p>
        </p:txBody>
      </p:sp>
      <p:sp>
        <p:nvSpPr>
          <p:cNvPr id="23" name="Text Box 21"/>
          <p:cNvSpPr txBox="1">
            <a:spLocks noChangeArrowheads="1"/>
          </p:cNvSpPr>
          <p:nvPr/>
        </p:nvSpPr>
        <p:spPr bwMode="auto">
          <a:xfrm>
            <a:off x="682942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U</a:t>
            </a:r>
            <a:endParaRPr lang="en-US" sz="1600" b="1">
              <a:solidFill>
                <a:prstClr val="black"/>
              </a:solidFill>
            </a:endParaRPr>
          </a:p>
        </p:txBody>
      </p:sp>
      <p:sp>
        <p:nvSpPr>
          <p:cNvPr id="24" name="Text Box 22"/>
          <p:cNvSpPr txBox="1">
            <a:spLocks noChangeArrowheads="1"/>
          </p:cNvSpPr>
          <p:nvPr/>
        </p:nvSpPr>
        <p:spPr bwMode="auto">
          <a:xfrm>
            <a:off x="7870826" y="3594100"/>
            <a:ext cx="327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3</a:t>
            </a:r>
            <a:r>
              <a:rPr lang="en-US" sz="1800" b="1">
                <a:solidFill>
                  <a:prstClr val="black"/>
                </a:solidFill>
                <a:sym typeface="Symbol" charset="0"/>
              </a:rPr>
              <a:t></a:t>
            </a:r>
            <a:endParaRPr lang="en-US" sz="1800" b="1">
              <a:solidFill>
                <a:prstClr val="black"/>
              </a:solidFill>
            </a:endParaRPr>
          </a:p>
        </p:txBody>
      </p:sp>
      <p:sp>
        <p:nvSpPr>
          <p:cNvPr id="25" name="Text Box 23"/>
          <p:cNvSpPr txBox="1">
            <a:spLocks noChangeArrowheads="1"/>
          </p:cNvSpPr>
          <p:nvPr/>
        </p:nvSpPr>
        <p:spPr bwMode="auto">
          <a:xfrm>
            <a:off x="7864476" y="2311400"/>
            <a:ext cx="327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3</a:t>
            </a:r>
            <a:r>
              <a:rPr lang="en-US" sz="1800" b="1">
                <a:solidFill>
                  <a:prstClr val="black"/>
                </a:solidFill>
                <a:sym typeface="Symbol" charset="0"/>
              </a:rPr>
              <a:t></a:t>
            </a:r>
            <a:endParaRPr lang="en-US" sz="1800" b="1">
              <a:solidFill>
                <a:prstClr val="black"/>
              </a:solidFill>
            </a:endParaRPr>
          </a:p>
        </p:txBody>
      </p:sp>
      <p:sp>
        <p:nvSpPr>
          <p:cNvPr id="26" name="Text Box 24"/>
          <p:cNvSpPr txBox="1">
            <a:spLocks noChangeArrowheads="1"/>
          </p:cNvSpPr>
          <p:nvPr/>
        </p:nvSpPr>
        <p:spPr bwMode="auto">
          <a:xfrm>
            <a:off x="7864476" y="1327150"/>
            <a:ext cx="327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5</a:t>
            </a:r>
            <a:r>
              <a:rPr lang="en-US" sz="1800" b="1">
                <a:solidFill>
                  <a:prstClr val="black"/>
                </a:solidFill>
                <a:sym typeface="Symbol" charset="0"/>
              </a:rPr>
              <a:t></a:t>
            </a:r>
            <a:endParaRPr lang="en-US" sz="1800" b="1">
              <a:solidFill>
                <a:prstClr val="black"/>
              </a:solidFill>
            </a:endParaRPr>
          </a:p>
        </p:txBody>
      </p:sp>
      <p:sp>
        <p:nvSpPr>
          <p:cNvPr id="27" name="Text Box 25"/>
          <p:cNvSpPr txBox="1">
            <a:spLocks noChangeArrowheads="1"/>
          </p:cNvSpPr>
          <p:nvPr/>
        </p:nvSpPr>
        <p:spPr bwMode="auto">
          <a:xfrm>
            <a:off x="3362326" y="1346200"/>
            <a:ext cx="327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3</a:t>
            </a:r>
            <a:r>
              <a:rPr lang="en-US" sz="1800" b="1">
                <a:solidFill>
                  <a:prstClr val="black"/>
                </a:solidFill>
                <a:sym typeface="Symbol" charset="0"/>
              </a:rPr>
              <a:t></a:t>
            </a:r>
            <a:endParaRPr lang="en-US" sz="1800" b="1">
              <a:solidFill>
                <a:prstClr val="black"/>
              </a:solidFill>
            </a:endParaRPr>
          </a:p>
        </p:txBody>
      </p:sp>
      <p:sp>
        <p:nvSpPr>
          <p:cNvPr id="28" name="Text Box 26"/>
          <p:cNvSpPr txBox="1">
            <a:spLocks noChangeArrowheads="1"/>
          </p:cNvSpPr>
          <p:nvPr/>
        </p:nvSpPr>
        <p:spPr bwMode="auto">
          <a:xfrm>
            <a:off x="405447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G</a:t>
            </a:r>
            <a:endParaRPr lang="en-US" sz="1600" b="1">
              <a:solidFill>
                <a:prstClr val="black"/>
              </a:solidFill>
            </a:endParaRPr>
          </a:p>
        </p:txBody>
      </p:sp>
      <p:sp>
        <p:nvSpPr>
          <p:cNvPr id="29" name="Text Box 27"/>
          <p:cNvSpPr txBox="1">
            <a:spLocks noChangeArrowheads="1"/>
          </p:cNvSpPr>
          <p:nvPr/>
        </p:nvSpPr>
        <p:spPr bwMode="auto">
          <a:xfrm>
            <a:off x="4060826" y="210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dirty="0">
                <a:solidFill>
                  <a:prstClr val="white"/>
                </a:solidFill>
              </a:rPr>
              <a:t>G</a:t>
            </a:r>
            <a:endParaRPr lang="en-US" sz="1600" b="1" dirty="0">
              <a:solidFill>
                <a:prstClr val="black"/>
              </a:solidFill>
            </a:endParaRPr>
          </a:p>
        </p:txBody>
      </p:sp>
      <p:sp>
        <p:nvSpPr>
          <p:cNvPr id="30" name="Text Box 28"/>
          <p:cNvSpPr txBox="1">
            <a:spLocks noChangeArrowheads="1"/>
          </p:cNvSpPr>
          <p:nvPr/>
        </p:nvSpPr>
        <p:spPr bwMode="auto">
          <a:xfrm>
            <a:off x="579437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G</a:t>
            </a:r>
            <a:endParaRPr lang="en-US" sz="1600" b="1">
              <a:solidFill>
                <a:prstClr val="black"/>
              </a:solidFill>
            </a:endParaRPr>
          </a:p>
        </p:txBody>
      </p:sp>
      <p:sp>
        <p:nvSpPr>
          <p:cNvPr id="31" name="Text Box 29"/>
          <p:cNvSpPr txBox="1">
            <a:spLocks noChangeArrowheads="1"/>
          </p:cNvSpPr>
          <p:nvPr/>
        </p:nvSpPr>
        <p:spPr bwMode="auto">
          <a:xfrm>
            <a:off x="614362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G</a:t>
            </a:r>
            <a:endParaRPr lang="en-US" sz="1600" b="1">
              <a:solidFill>
                <a:prstClr val="black"/>
              </a:solidFill>
            </a:endParaRPr>
          </a:p>
        </p:txBody>
      </p:sp>
      <p:sp>
        <p:nvSpPr>
          <p:cNvPr id="32" name="Text Box 30"/>
          <p:cNvSpPr txBox="1">
            <a:spLocks noChangeArrowheads="1"/>
          </p:cNvSpPr>
          <p:nvPr/>
        </p:nvSpPr>
        <p:spPr bwMode="auto">
          <a:xfrm>
            <a:off x="648652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C</a:t>
            </a:r>
            <a:endParaRPr lang="en-US" sz="1600" b="1">
              <a:solidFill>
                <a:prstClr val="black"/>
              </a:solidFill>
            </a:endParaRPr>
          </a:p>
        </p:txBody>
      </p:sp>
      <p:sp>
        <p:nvSpPr>
          <p:cNvPr id="33" name="Text Box 31"/>
          <p:cNvSpPr txBox="1">
            <a:spLocks noChangeArrowheads="1"/>
          </p:cNvSpPr>
          <p:nvPr/>
        </p:nvSpPr>
        <p:spPr bwMode="auto">
          <a:xfrm>
            <a:off x="717867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C</a:t>
            </a:r>
            <a:endParaRPr lang="en-US" sz="1600" b="1">
              <a:solidFill>
                <a:prstClr val="black"/>
              </a:solidFill>
            </a:endParaRPr>
          </a:p>
        </p:txBody>
      </p:sp>
      <p:sp>
        <p:nvSpPr>
          <p:cNvPr id="34" name="Line 32"/>
          <p:cNvSpPr>
            <a:spLocks noChangeShapeType="1"/>
          </p:cNvSpPr>
          <p:nvPr/>
        </p:nvSpPr>
        <p:spPr bwMode="auto">
          <a:xfrm>
            <a:off x="2692401" y="1524001"/>
            <a:ext cx="422275" cy="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35" name="AutoShape 33"/>
          <p:cNvSpPr>
            <a:spLocks/>
          </p:cNvSpPr>
          <p:nvPr/>
        </p:nvSpPr>
        <p:spPr bwMode="auto">
          <a:xfrm>
            <a:off x="3130550" y="1219200"/>
            <a:ext cx="222250" cy="654050"/>
          </a:xfrm>
          <a:prstGeom prst="leftBrace">
            <a:avLst>
              <a:gd name="adj1" fmla="val 24524"/>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36" name="AutoShape 34"/>
          <p:cNvSpPr>
            <a:spLocks/>
          </p:cNvSpPr>
          <p:nvPr/>
        </p:nvSpPr>
        <p:spPr bwMode="auto">
          <a:xfrm rot="16200000">
            <a:off x="4035425" y="3451225"/>
            <a:ext cx="222250" cy="927100"/>
          </a:xfrm>
          <a:prstGeom prst="leftBrace">
            <a:avLst>
              <a:gd name="adj1" fmla="val 34762"/>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37" name="AutoShape 35"/>
          <p:cNvSpPr>
            <a:spLocks/>
          </p:cNvSpPr>
          <p:nvPr/>
        </p:nvSpPr>
        <p:spPr bwMode="auto">
          <a:xfrm rot="16200000">
            <a:off x="5070475" y="3451225"/>
            <a:ext cx="222250" cy="927100"/>
          </a:xfrm>
          <a:prstGeom prst="leftBrace">
            <a:avLst>
              <a:gd name="adj1" fmla="val 34762"/>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38" name="AutoShape 36"/>
          <p:cNvSpPr>
            <a:spLocks/>
          </p:cNvSpPr>
          <p:nvPr/>
        </p:nvSpPr>
        <p:spPr bwMode="auto">
          <a:xfrm rot="16200000">
            <a:off x="6111875" y="3451225"/>
            <a:ext cx="222250" cy="927100"/>
          </a:xfrm>
          <a:prstGeom prst="leftBrace">
            <a:avLst>
              <a:gd name="adj1" fmla="val 34762"/>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39" name="AutoShape 37"/>
          <p:cNvSpPr>
            <a:spLocks/>
          </p:cNvSpPr>
          <p:nvPr/>
        </p:nvSpPr>
        <p:spPr bwMode="auto">
          <a:xfrm rot="16200000">
            <a:off x="7159625" y="3451225"/>
            <a:ext cx="222250" cy="927100"/>
          </a:xfrm>
          <a:prstGeom prst="leftBrace">
            <a:avLst>
              <a:gd name="adj1" fmla="val 34762"/>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40" name="Text Box 38"/>
          <p:cNvSpPr txBox="1">
            <a:spLocks noChangeArrowheads="1"/>
          </p:cNvSpPr>
          <p:nvPr/>
        </p:nvSpPr>
        <p:spPr bwMode="auto">
          <a:xfrm>
            <a:off x="3717926" y="209550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T</a:t>
            </a:r>
            <a:endParaRPr lang="en-US" sz="1600" b="1">
              <a:solidFill>
                <a:prstClr val="black"/>
              </a:solidFill>
            </a:endParaRPr>
          </a:p>
        </p:txBody>
      </p:sp>
      <p:sp>
        <p:nvSpPr>
          <p:cNvPr id="41" name="Text Box 39"/>
          <p:cNvSpPr txBox="1">
            <a:spLocks noChangeArrowheads="1"/>
          </p:cNvSpPr>
          <p:nvPr/>
        </p:nvSpPr>
        <p:spPr bwMode="auto">
          <a:xfrm>
            <a:off x="4059239" y="1570038"/>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C</a:t>
            </a:r>
            <a:endParaRPr lang="en-US" sz="1600" b="1">
              <a:solidFill>
                <a:prstClr val="black"/>
              </a:solidFill>
            </a:endParaRPr>
          </a:p>
        </p:txBody>
      </p:sp>
      <p:sp>
        <p:nvSpPr>
          <p:cNvPr id="42" name="Text Box 40"/>
          <p:cNvSpPr txBox="1">
            <a:spLocks noChangeArrowheads="1"/>
          </p:cNvSpPr>
          <p:nvPr/>
        </p:nvSpPr>
        <p:spPr bwMode="auto">
          <a:xfrm>
            <a:off x="752157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A</a:t>
            </a:r>
            <a:endParaRPr lang="en-US" sz="1600" b="1">
              <a:solidFill>
                <a:prstClr val="black"/>
              </a:solidFill>
            </a:endParaRPr>
          </a:p>
        </p:txBody>
      </p:sp>
      <p:sp>
        <p:nvSpPr>
          <p:cNvPr id="43" name="Text Box 41"/>
          <p:cNvSpPr txBox="1">
            <a:spLocks noChangeArrowheads="1"/>
          </p:cNvSpPr>
          <p:nvPr/>
        </p:nvSpPr>
        <p:spPr bwMode="auto">
          <a:xfrm>
            <a:off x="7527926" y="209550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A</a:t>
            </a:r>
            <a:endParaRPr lang="en-US" sz="1600" b="1">
              <a:solidFill>
                <a:prstClr val="black"/>
              </a:solidFill>
            </a:endParaRPr>
          </a:p>
        </p:txBody>
      </p:sp>
      <p:sp>
        <p:nvSpPr>
          <p:cNvPr id="44" name="Text Box 42"/>
          <p:cNvSpPr txBox="1">
            <a:spLocks noChangeArrowheads="1"/>
          </p:cNvSpPr>
          <p:nvPr/>
        </p:nvSpPr>
        <p:spPr bwMode="auto">
          <a:xfrm>
            <a:off x="6829426" y="156210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A</a:t>
            </a:r>
            <a:endParaRPr lang="en-US" sz="1600" b="1">
              <a:solidFill>
                <a:prstClr val="black"/>
              </a:solidFill>
            </a:endParaRPr>
          </a:p>
        </p:txBody>
      </p:sp>
      <p:sp>
        <p:nvSpPr>
          <p:cNvPr id="45" name="Text Box 43"/>
          <p:cNvSpPr txBox="1">
            <a:spLocks noChangeArrowheads="1"/>
          </p:cNvSpPr>
          <p:nvPr/>
        </p:nvSpPr>
        <p:spPr bwMode="auto">
          <a:xfrm>
            <a:off x="5451476" y="156210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A</a:t>
            </a:r>
            <a:endParaRPr lang="en-US" sz="1600" b="1">
              <a:solidFill>
                <a:prstClr val="black"/>
              </a:solidFill>
            </a:endParaRPr>
          </a:p>
        </p:txBody>
      </p:sp>
      <p:sp>
        <p:nvSpPr>
          <p:cNvPr id="46" name="Text Box 44"/>
          <p:cNvSpPr txBox="1">
            <a:spLocks noChangeArrowheads="1"/>
          </p:cNvSpPr>
          <p:nvPr/>
        </p:nvSpPr>
        <p:spPr bwMode="auto">
          <a:xfrm>
            <a:off x="5102226" y="156210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A</a:t>
            </a:r>
            <a:endParaRPr lang="en-US" sz="1600" b="1">
              <a:solidFill>
                <a:prstClr val="black"/>
              </a:solidFill>
            </a:endParaRPr>
          </a:p>
        </p:txBody>
      </p:sp>
      <p:sp>
        <p:nvSpPr>
          <p:cNvPr id="47" name="Text Box 45"/>
          <p:cNvSpPr txBox="1">
            <a:spLocks noChangeArrowheads="1"/>
          </p:cNvSpPr>
          <p:nvPr/>
        </p:nvSpPr>
        <p:spPr bwMode="auto">
          <a:xfrm>
            <a:off x="4759326" y="156210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A</a:t>
            </a:r>
            <a:endParaRPr lang="en-US" sz="1600" b="1">
              <a:solidFill>
                <a:prstClr val="black"/>
              </a:solidFill>
            </a:endParaRPr>
          </a:p>
        </p:txBody>
      </p:sp>
      <p:sp>
        <p:nvSpPr>
          <p:cNvPr id="48" name="Text Box 46"/>
          <p:cNvSpPr txBox="1">
            <a:spLocks noChangeArrowheads="1"/>
          </p:cNvSpPr>
          <p:nvPr/>
        </p:nvSpPr>
        <p:spPr bwMode="auto">
          <a:xfrm>
            <a:off x="3717926" y="156210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A</a:t>
            </a:r>
            <a:endParaRPr lang="en-US" sz="1600" b="1">
              <a:solidFill>
                <a:prstClr val="black"/>
              </a:solidFill>
            </a:endParaRPr>
          </a:p>
        </p:txBody>
      </p:sp>
      <p:sp>
        <p:nvSpPr>
          <p:cNvPr id="49" name="Text Box 47"/>
          <p:cNvSpPr txBox="1">
            <a:spLocks noChangeArrowheads="1"/>
          </p:cNvSpPr>
          <p:nvPr/>
        </p:nvSpPr>
        <p:spPr bwMode="auto">
          <a:xfrm>
            <a:off x="4759326" y="209550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T</a:t>
            </a:r>
            <a:endParaRPr lang="en-US" sz="1600" b="1">
              <a:solidFill>
                <a:prstClr val="black"/>
              </a:solidFill>
            </a:endParaRPr>
          </a:p>
        </p:txBody>
      </p:sp>
      <p:sp>
        <p:nvSpPr>
          <p:cNvPr id="50" name="Text Box 48"/>
          <p:cNvSpPr txBox="1">
            <a:spLocks noChangeArrowheads="1"/>
          </p:cNvSpPr>
          <p:nvPr/>
        </p:nvSpPr>
        <p:spPr bwMode="auto">
          <a:xfrm>
            <a:off x="5114926" y="209550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T</a:t>
            </a:r>
            <a:endParaRPr lang="en-US" sz="1600" b="1">
              <a:solidFill>
                <a:prstClr val="black"/>
              </a:solidFill>
            </a:endParaRPr>
          </a:p>
        </p:txBody>
      </p:sp>
      <p:sp>
        <p:nvSpPr>
          <p:cNvPr id="51" name="Text Box 49"/>
          <p:cNvSpPr txBox="1">
            <a:spLocks noChangeArrowheads="1"/>
          </p:cNvSpPr>
          <p:nvPr/>
        </p:nvSpPr>
        <p:spPr bwMode="auto">
          <a:xfrm>
            <a:off x="5457826" y="209550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T</a:t>
            </a:r>
            <a:endParaRPr lang="en-US" sz="1600" b="1">
              <a:solidFill>
                <a:prstClr val="black"/>
              </a:solidFill>
            </a:endParaRPr>
          </a:p>
        </p:txBody>
      </p:sp>
      <p:sp>
        <p:nvSpPr>
          <p:cNvPr id="52" name="Text Box 50"/>
          <p:cNvSpPr txBox="1">
            <a:spLocks noChangeArrowheads="1"/>
          </p:cNvSpPr>
          <p:nvPr/>
        </p:nvSpPr>
        <p:spPr bwMode="auto">
          <a:xfrm>
            <a:off x="6842126" y="2109788"/>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T</a:t>
            </a:r>
            <a:endParaRPr lang="en-US" sz="1600" b="1">
              <a:solidFill>
                <a:prstClr val="black"/>
              </a:solidFill>
            </a:endParaRPr>
          </a:p>
        </p:txBody>
      </p:sp>
      <p:sp>
        <p:nvSpPr>
          <p:cNvPr id="53" name="Text Box 51"/>
          <p:cNvSpPr txBox="1">
            <a:spLocks noChangeArrowheads="1"/>
          </p:cNvSpPr>
          <p:nvPr/>
        </p:nvSpPr>
        <p:spPr bwMode="auto">
          <a:xfrm>
            <a:off x="7534276" y="15684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T</a:t>
            </a:r>
            <a:endParaRPr lang="en-US" sz="1600" b="1">
              <a:solidFill>
                <a:prstClr val="black"/>
              </a:solidFill>
            </a:endParaRPr>
          </a:p>
        </p:txBody>
      </p:sp>
      <p:sp>
        <p:nvSpPr>
          <p:cNvPr id="54" name="Text Box 52"/>
          <p:cNvSpPr txBox="1">
            <a:spLocks noChangeArrowheads="1"/>
          </p:cNvSpPr>
          <p:nvPr/>
        </p:nvSpPr>
        <p:spPr bwMode="auto">
          <a:xfrm>
            <a:off x="4391026" y="337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G</a:t>
            </a:r>
            <a:endParaRPr lang="en-US" sz="1600" b="1">
              <a:solidFill>
                <a:prstClr val="black"/>
              </a:solidFill>
            </a:endParaRPr>
          </a:p>
        </p:txBody>
      </p:sp>
      <p:sp>
        <p:nvSpPr>
          <p:cNvPr id="55" name="Text Box 53"/>
          <p:cNvSpPr txBox="1">
            <a:spLocks noChangeArrowheads="1"/>
          </p:cNvSpPr>
          <p:nvPr/>
        </p:nvSpPr>
        <p:spPr bwMode="auto">
          <a:xfrm>
            <a:off x="4397376" y="210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G</a:t>
            </a:r>
            <a:endParaRPr lang="en-US" sz="1600" b="1">
              <a:solidFill>
                <a:prstClr val="black"/>
              </a:solidFill>
            </a:endParaRPr>
          </a:p>
        </p:txBody>
      </p:sp>
      <p:sp>
        <p:nvSpPr>
          <p:cNvPr id="56" name="Text Box 54"/>
          <p:cNvSpPr txBox="1">
            <a:spLocks noChangeArrowheads="1"/>
          </p:cNvSpPr>
          <p:nvPr/>
        </p:nvSpPr>
        <p:spPr bwMode="auto">
          <a:xfrm>
            <a:off x="5786439" y="210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G</a:t>
            </a:r>
            <a:endParaRPr lang="en-US" sz="1600" b="1">
              <a:solidFill>
                <a:prstClr val="black"/>
              </a:solidFill>
            </a:endParaRPr>
          </a:p>
        </p:txBody>
      </p:sp>
      <p:sp>
        <p:nvSpPr>
          <p:cNvPr id="57" name="Text Box 55"/>
          <p:cNvSpPr txBox="1">
            <a:spLocks noChangeArrowheads="1"/>
          </p:cNvSpPr>
          <p:nvPr/>
        </p:nvSpPr>
        <p:spPr bwMode="auto">
          <a:xfrm>
            <a:off x="6140451" y="2101850"/>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G</a:t>
            </a:r>
            <a:endParaRPr lang="en-US" sz="1600" b="1">
              <a:solidFill>
                <a:prstClr val="black"/>
              </a:solidFill>
            </a:endParaRPr>
          </a:p>
        </p:txBody>
      </p:sp>
      <p:sp>
        <p:nvSpPr>
          <p:cNvPr id="58" name="Text Box 56"/>
          <p:cNvSpPr txBox="1">
            <a:spLocks noChangeArrowheads="1"/>
          </p:cNvSpPr>
          <p:nvPr/>
        </p:nvSpPr>
        <p:spPr bwMode="auto">
          <a:xfrm>
            <a:off x="4403726" y="1570038"/>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C</a:t>
            </a:r>
            <a:endParaRPr lang="en-US" sz="1600" b="1">
              <a:solidFill>
                <a:prstClr val="black"/>
              </a:solidFill>
            </a:endParaRPr>
          </a:p>
        </p:txBody>
      </p:sp>
      <p:sp>
        <p:nvSpPr>
          <p:cNvPr id="59" name="Text Box 57"/>
          <p:cNvSpPr txBox="1">
            <a:spLocks noChangeArrowheads="1"/>
          </p:cNvSpPr>
          <p:nvPr/>
        </p:nvSpPr>
        <p:spPr bwMode="auto">
          <a:xfrm>
            <a:off x="5792789" y="1570038"/>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C</a:t>
            </a:r>
            <a:endParaRPr lang="en-US" sz="1600" b="1">
              <a:solidFill>
                <a:prstClr val="black"/>
              </a:solidFill>
            </a:endParaRPr>
          </a:p>
        </p:txBody>
      </p:sp>
      <p:sp>
        <p:nvSpPr>
          <p:cNvPr id="60" name="Text Box 58"/>
          <p:cNvSpPr txBox="1">
            <a:spLocks noChangeArrowheads="1"/>
          </p:cNvSpPr>
          <p:nvPr/>
        </p:nvSpPr>
        <p:spPr bwMode="auto">
          <a:xfrm>
            <a:off x="6146801" y="1570038"/>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C</a:t>
            </a:r>
            <a:endParaRPr lang="en-US" sz="1600" b="1">
              <a:solidFill>
                <a:prstClr val="black"/>
              </a:solidFill>
            </a:endParaRPr>
          </a:p>
        </p:txBody>
      </p:sp>
      <p:sp>
        <p:nvSpPr>
          <p:cNvPr id="61" name="Text Box 59"/>
          <p:cNvSpPr txBox="1">
            <a:spLocks noChangeArrowheads="1"/>
          </p:cNvSpPr>
          <p:nvPr/>
        </p:nvSpPr>
        <p:spPr bwMode="auto">
          <a:xfrm>
            <a:off x="6478589" y="1571625"/>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G</a:t>
            </a:r>
            <a:endParaRPr lang="en-US" sz="1600" b="1">
              <a:solidFill>
                <a:prstClr val="black"/>
              </a:solidFill>
            </a:endParaRPr>
          </a:p>
        </p:txBody>
      </p:sp>
      <p:sp>
        <p:nvSpPr>
          <p:cNvPr id="62" name="Text Box 60"/>
          <p:cNvSpPr txBox="1">
            <a:spLocks noChangeArrowheads="1"/>
          </p:cNvSpPr>
          <p:nvPr/>
        </p:nvSpPr>
        <p:spPr bwMode="auto">
          <a:xfrm>
            <a:off x="7172326" y="1571625"/>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G</a:t>
            </a:r>
            <a:endParaRPr lang="en-US" sz="1600" b="1">
              <a:solidFill>
                <a:prstClr val="black"/>
              </a:solidFill>
            </a:endParaRPr>
          </a:p>
        </p:txBody>
      </p:sp>
      <p:sp>
        <p:nvSpPr>
          <p:cNvPr id="63" name="Text Box 61"/>
          <p:cNvSpPr txBox="1">
            <a:spLocks noChangeArrowheads="1"/>
          </p:cNvSpPr>
          <p:nvPr/>
        </p:nvSpPr>
        <p:spPr bwMode="auto">
          <a:xfrm>
            <a:off x="8851901" y="1263650"/>
            <a:ext cx="6064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DNA</a:t>
            </a:r>
          </a:p>
        </p:txBody>
      </p:sp>
      <p:sp>
        <p:nvSpPr>
          <p:cNvPr id="64" name="Text Box 62"/>
          <p:cNvSpPr txBox="1">
            <a:spLocks noChangeArrowheads="1"/>
          </p:cNvSpPr>
          <p:nvPr/>
        </p:nvSpPr>
        <p:spPr bwMode="auto">
          <a:xfrm>
            <a:off x="8853488" y="1520826"/>
            <a:ext cx="1073150" cy="22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molecule</a:t>
            </a:r>
          </a:p>
        </p:txBody>
      </p:sp>
      <p:sp>
        <p:nvSpPr>
          <p:cNvPr id="65" name="Text Box 63"/>
          <p:cNvSpPr txBox="1">
            <a:spLocks noChangeArrowheads="1"/>
          </p:cNvSpPr>
          <p:nvPr/>
        </p:nvSpPr>
        <p:spPr bwMode="auto">
          <a:xfrm>
            <a:off x="9217025" y="2198688"/>
            <a:ext cx="1073150" cy="22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Gene 1</a:t>
            </a:r>
          </a:p>
        </p:txBody>
      </p:sp>
      <p:sp>
        <p:nvSpPr>
          <p:cNvPr id="66" name="Text Box 64"/>
          <p:cNvSpPr txBox="1">
            <a:spLocks noChangeArrowheads="1"/>
          </p:cNvSpPr>
          <p:nvPr/>
        </p:nvSpPr>
        <p:spPr bwMode="auto">
          <a:xfrm>
            <a:off x="9299575" y="3113088"/>
            <a:ext cx="1073150" cy="22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Gene 2</a:t>
            </a:r>
          </a:p>
        </p:txBody>
      </p:sp>
      <p:sp>
        <p:nvSpPr>
          <p:cNvPr id="67" name="Text Box 65"/>
          <p:cNvSpPr txBox="1">
            <a:spLocks noChangeArrowheads="1"/>
          </p:cNvSpPr>
          <p:nvPr/>
        </p:nvSpPr>
        <p:spPr bwMode="auto">
          <a:xfrm>
            <a:off x="8928100" y="5284788"/>
            <a:ext cx="1073150" cy="22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800" b="1">
                <a:solidFill>
                  <a:prstClr val="black"/>
                </a:solidFill>
              </a:rPr>
              <a:t>Gene 3</a:t>
            </a:r>
          </a:p>
        </p:txBody>
      </p:sp>
      <p:sp>
        <p:nvSpPr>
          <p:cNvPr id="68" name="Line 66"/>
          <p:cNvSpPr>
            <a:spLocks noChangeShapeType="1"/>
          </p:cNvSpPr>
          <p:nvPr/>
        </p:nvSpPr>
        <p:spPr bwMode="auto">
          <a:xfrm flipH="1">
            <a:off x="9393239" y="1366838"/>
            <a:ext cx="5683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b="1">
              <a:solidFill>
                <a:prstClr val="white"/>
              </a:solidFill>
              <a:latin typeface="Arial" charset="0"/>
              <a:ea typeface="ヒラギノ角ゴ Pro W3" charset="0"/>
              <a:cs typeface="ヒラギノ角ゴ Pro W3" charset="0"/>
            </a:endParaRPr>
          </a:p>
        </p:txBody>
      </p:sp>
      <p:sp>
        <p:nvSpPr>
          <p:cNvPr id="69" name="Text Box 67"/>
          <p:cNvSpPr txBox="1">
            <a:spLocks noChangeArrowheads="1"/>
          </p:cNvSpPr>
          <p:nvPr/>
        </p:nvSpPr>
        <p:spPr bwMode="auto">
          <a:xfrm>
            <a:off x="6489701" y="2111375"/>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C</a:t>
            </a:r>
            <a:endParaRPr lang="en-US" sz="1600" b="1">
              <a:solidFill>
                <a:prstClr val="black"/>
              </a:solidFill>
            </a:endParaRPr>
          </a:p>
        </p:txBody>
      </p:sp>
      <p:sp>
        <p:nvSpPr>
          <p:cNvPr id="70" name="Text Box 68"/>
          <p:cNvSpPr txBox="1">
            <a:spLocks noChangeArrowheads="1"/>
          </p:cNvSpPr>
          <p:nvPr/>
        </p:nvSpPr>
        <p:spPr bwMode="auto">
          <a:xfrm>
            <a:off x="7188201" y="2103438"/>
            <a:ext cx="161925" cy="23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fontAlgn="base">
              <a:lnSpc>
                <a:spcPct val="90000"/>
              </a:lnSpc>
              <a:spcBef>
                <a:spcPct val="0"/>
              </a:spcBef>
              <a:spcAft>
                <a:spcPct val="0"/>
              </a:spcAft>
              <a:defRPr/>
            </a:pPr>
            <a:r>
              <a:rPr lang="en-US" sz="1600" b="1">
                <a:solidFill>
                  <a:prstClr val="white"/>
                </a:solidFill>
              </a:rPr>
              <a:t>C</a:t>
            </a:r>
            <a:endParaRPr lang="en-US" sz="1600" b="1">
              <a:solidFill>
                <a:prstClr val="black"/>
              </a:solidFill>
            </a:endParaRPr>
          </a:p>
        </p:txBody>
      </p:sp>
      <p:sp>
        <p:nvSpPr>
          <p:cNvPr id="71" name="Slide Number Placeholder 1"/>
          <p:cNvSpPr txBox="1">
            <a:spLocks/>
          </p:cNvSpPr>
          <p:nvPr/>
        </p:nvSpPr>
        <p:spPr bwMode="auto">
          <a:xfrm>
            <a:off x="10055226" y="5648326"/>
            <a:ext cx="549275" cy="396875"/>
          </a:xfrm>
          <a:prstGeom prst="rect">
            <a:avLst/>
          </a:prstGeom>
          <a:noFill/>
          <a:ln>
            <a:round/>
            <a:headEnd/>
            <a:tailEnd/>
          </a:ln>
        </p:spPr>
        <p:txBody>
          <a:bodyPr vert="horz" wrap="square" numCol="1" anchor="ctr" anchorCtr="0" compatLnSpc="1">
            <a:prstTxWarp prst="textNoShape">
              <a:avLst/>
            </a:prstTxWarp>
          </a:bodyPr>
          <a:lstStyle/>
          <a:p>
            <a:pPr fontAlgn="base">
              <a:spcBef>
                <a:spcPct val="0"/>
              </a:spcBef>
              <a:spcAft>
                <a:spcPct val="0"/>
              </a:spcAft>
              <a:defRPr/>
            </a:pPr>
            <a:fld id="{D8F0EDC6-0F6F-4A77-A94E-E4C398711AFD}" type="slidenum">
              <a:rPr lang="en-US" sz="1400" b="1">
                <a:solidFill>
                  <a:srgbClr val="775F55"/>
                </a:solidFill>
                <a:latin typeface="Comic Sans MS" pitchFamily="66" charset="0"/>
              </a:rPr>
              <a:pPr fontAlgn="base">
                <a:spcBef>
                  <a:spcPct val="0"/>
                </a:spcBef>
                <a:spcAft>
                  <a:spcPct val="0"/>
                </a:spcAft>
                <a:defRPr/>
              </a:pPr>
              <a:t>11</a:t>
            </a:fld>
            <a:endParaRPr lang="en-US" sz="1400" b="1">
              <a:solidFill>
                <a:srgbClr val="775F55"/>
              </a:solidFill>
              <a:latin typeface="Comic Sans MS" pitchFamily="66" charset="0"/>
            </a:endParaRPr>
          </a:p>
        </p:txBody>
      </p:sp>
    </p:spTree>
    <p:extLst>
      <p:ext uri="{BB962C8B-B14F-4D97-AF65-F5344CB8AC3E}">
        <p14:creationId xmlns:p14="http://schemas.microsoft.com/office/powerpoint/2010/main" val="792629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AU" sz="2800" dirty="0"/>
              <a:t>Comparison between translation and transcription</a:t>
            </a:r>
          </a:p>
        </p:txBody>
      </p:sp>
      <p:graphicFrame>
        <p:nvGraphicFramePr>
          <p:cNvPr id="5" name="Content Placeholder 4"/>
          <p:cNvGraphicFramePr>
            <a:graphicFrameLocks noGrp="1"/>
          </p:cNvGraphicFramePr>
          <p:nvPr>
            <p:ph idx="1"/>
          </p:nvPr>
        </p:nvGraphicFramePr>
        <p:xfrm>
          <a:off x="1981200" y="1600201"/>
          <a:ext cx="7696200" cy="4267201"/>
        </p:xfrm>
        <a:graphic>
          <a:graphicData uri="http://schemas.openxmlformats.org/drawingml/2006/table">
            <a:tbl>
              <a:tblPr firstRow="1" bandRow="1">
                <a:tableStyleId>{F5AB1C69-6EDB-4FF4-983F-18BD219EF322}</a:tableStyleId>
              </a:tblPr>
              <a:tblGrid>
                <a:gridCol w="1385316">
                  <a:extLst>
                    <a:ext uri="{9D8B030D-6E8A-4147-A177-3AD203B41FA5}">
                      <a16:colId xmlns:a16="http://schemas.microsoft.com/office/drawing/2014/main" val="20000"/>
                    </a:ext>
                  </a:extLst>
                </a:gridCol>
                <a:gridCol w="2693670">
                  <a:extLst>
                    <a:ext uri="{9D8B030D-6E8A-4147-A177-3AD203B41FA5}">
                      <a16:colId xmlns:a16="http://schemas.microsoft.com/office/drawing/2014/main" val="20001"/>
                    </a:ext>
                  </a:extLst>
                </a:gridCol>
                <a:gridCol w="3617214">
                  <a:extLst>
                    <a:ext uri="{9D8B030D-6E8A-4147-A177-3AD203B41FA5}">
                      <a16:colId xmlns:a16="http://schemas.microsoft.com/office/drawing/2014/main" val="20002"/>
                    </a:ext>
                  </a:extLst>
                </a:gridCol>
              </a:tblGrid>
              <a:tr h="453429">
                <a:tc>
                  <a:txBody>
                    <a:bodyPr/>
                    <a:lstStyle/>
                    <a:p>
                      <a:endParaRPr lang="en-AU" sz="1800" dirty="0"/>
                    </a:p>
                  </a:txBody>
                  <a:tcPr/>
                </a:tc>
                <a:tc>
                  <a:txBody>
                    <a:bodyPr/>
                    <a:lstStyle/>
                    <a:p>
                      <a:r>
                        <a:rPr lang="en-AU" sz="1800" dirty="0"/>
                        <a:t>Transcription</a:t>
                      </a:r>
                    </a:p>
                  </a:txBody>
                  <a:tcPr/>
                </a:tc>
                <a:tc>
                  <a:txBody>
                    <a:bodyPr/>
                    <a:lstStyle/>
                    <a:p>
                      <a:r>
                        <a:rPr lang="en-AU" sz="1800" dirty="0"/>
                        <a:t>Translation</a:t>
                      </a:r>
                    </a:p>
                  </a:txBody>
                  <a:tcPr/>
                </a:tc>
                <a:extLst>
                  <a:ext uri="{0D108BD9-81ED-4DB2-BD59-A6C34878D82A}">
                    <a16:rowId xmlns:a16="http://schemas.microsoft.com/office/drawing/2014/main" val="10000"/>
                  </a:ext>
                </a:extLst>
              </a:tr>
              <a:tr h="782631">
                <a:tc>
                  <a:txBody>
                    <a:bodyPr/>
                    <a:lstStyle/>
                    <a:p>
                      <a:r>
                        <a:rPr lang="en-AU" sz="1800" dirty="0"/>
                        <a:t>Purpose</a:t>
                      </a:r>
                    </a:p>
                  </a:txBody>
                  <a:tcPr/>
                </a:tc>
                <a:tc>
                  <a:txBody>
                    <a:bodyPr/>
                    <a:lstStyle/>
                    <a:p>
                      <a:r>
                        <a:rPr lang="en-AU" sz="1800" dirty="0"/>
                        <a:t>To make RNA copies of individual genes</a:t>
                      </a:r>
                    </a:p>
                  </a:txBody>
                  <a:tcPr/>
                </a:tc>
                <a:tc>
                  <a:txBody>
                    <a:bodyPr/>
                    <a:lstStyle/>
                    <a:p>
                      <a:r>
                        <a:rPr lang="en-AU" sz="1800" dirty="0"/>
                        <a:t>To synthesize proteins</a:t>
                      </a:r>
                      <a:r>
                        <a:rPr lang="en-AU" sz="1800" baseline="0" dirty="0"/>
                        <a:t> </a:t>
                      </a:r>
                      <a:r>
                        <a:rPr lang="en-AU" sz="1800" dirty="0"/>
                        <a:t>which are used for</a:t>
                      </a:r>
                      <a:r>
                        <a:rPr lang="en-AU" sz="1800" baseline="0" dirty="0"/>
                        <a:t> </a:t>
                      </a:r>
                      <a:r>
                        <a:rPr lang="en-AU" sz="1800" dirty="0"/>
                        <a:t>cellular functions</a:t>
                      </a:r>
                    </a:p>
                  </a:txBody>
                  <a:tcPr/>
                </a:tc>
                <a:extLst>
                  <a:ext uri="{0D108BD9-81ED-4DB2-BD59-A6C34878D82A}">
                    <a16:rowId xmlns:a16="http://schemas.microsoft.com/office/drawing/2014/main" val="10001"/>
                  </a:ext>
                </a:extLst>
              </a:tr>
              <a:tr h="2124283">
                <a:tc>
                  <a:txBody>
                    <a:bodyPr/>
                    <a:lstStyle/>
                    <a:p>
                      <a:r>
                        <a:rPr lang="en-AU" sz="1800" dirty="0"/>
                        <a:t>Definition</a:t>
                      </a:r>
                    </a:p>
                  </a:txBody>
                  <a:tcPr/>
                </a:tc>
                <a:tc>
                  <a:txBody>
                    <a:bodyPr/>
                    <a:lstStyle/>
                    <a:p>
                      <a:r>
                        <a:rPr lang="en-AU" sz="1800" dirty="0"/>
                        <a:t>Transcription is the synthesis of RNA from a DNA template.</a:t>
                      </a:r>
                    </a:p>
                  </a:txBody>
                  <a:tcPr/>
                </a:tc>
                <a:tc>
                  <a:txBody>
                    <a:bodyPr/>
                    <a:lstStyle/>
                    <a:p>
                      <a:r>
                        <a:rPr lang="en-AU" sz="1800" dirty="0"/>
                        <a:t>Translation is the synthesis of a protein from an mRNA template. i.e., translating the DNA genetic information carried by mRNA to synthesize proteins. This is the second step of gene expression.</a:t>
                      </a:r>
                    </a:p>
                  </a:txBody>
                  <a:tcPr/>
                </a:tc>
                <a:extLst>
                  <a:ext uri="{0D108BD9-81ED-4DB2-BD59-A6C34878D82A}">
                    <a16:rowId xmlns:a16="http://schemas.microsoft.com/office/drawing/2014/main" val="10002"/>
                  </a:ext>
                </a:extLst>
              </a:tr>
              <a:tr h="453429">
                <a:tc>
                  <a:txBody>
                    <a:bodyPr/>
                    <a:lstStyle/>
                    <a:p>
                      <a:r>
                        <a:rPr lang="en-AU" sz="1800" dirty="0"/>
                        <a:t>Products</a:t>
                      </a:r>
                    </a:p>
                  </a:txBody>
                  <a:tcPr/>
                </a:tc>
                <a:tc>
                  <a:txBody>
                    <a:bodyPr/>
                    <a:lstStyle/>
                    <a:p>
                      <a:r>
                        <a:rPr lang="en-AU" sz="1800" dirty="0"/>
                        <a:t>mRNA</a:t>
                      </a:r>
                    </a:p>
                  </a:txBody>
                  <a:tcPr/>
                </a:tc>
                <a:tc>
                  <a:txBody>
                    <a:bodyPr/>
                    <a:lstStyle/>
                    <a:p>
                      <a:r>
                        <a:rPr lang="en-AU" sz="1800" dirty="0"/>
                        <a:t>Proteins</a:t>
                      </a:r>
                    </a:p>
                  </a:txBody>
                  <a:tcPr/>
                </a:tc>
                <a:extLst>
                  <a:ext uri="{0D108BD9-81ED-4DB2-BD59-A6C34878D82A}">
                    <a16:rowId xmlns:a16="http://schemas.microsoft.com/office/drawing/2014/main" val="10003"/>
                  </a:ext>
                </a:extLst>
              </a:tr>
              <a:tr h="453429">
                <a:tc>
                  <a:txBody>
                    <a:bodyPr/>
                    <a:lstStyle/>
                    <a:p>
                      <a:r>
                        <a:rPr lang="en-AU" sz="1800" dirty="0"/>
                        <a:t>Location</a:t>
                      </a:r>
                    </a:p>
                  </a:txBody>
                  <a:tcPr/>
                </a:tc>
                <a:tc>
                  <a:txBody>
                    <a:bodyPr/>
                    <a:lstStyle/>
                    <a:p>
                      <a:r>
                        <a:rPr lang="en-AU" sz="1800" dirty="0"/>
                        <a:t>Nucleus</a:t>
                      </a:r>
                    </a:p>
                  </a:txBody>
                  <a:tcPr/>
                </a:tc>
                <a:tc>
                  <a:txBody>
                    <a:bodyPr/>
                    <a:lstStyle/>
                    <a:p>
                      <a:r>
                        <a:rPr lang="en-AU" sz="1800" dirty="0"/>
                        <a:t>Cytoplasm</a:t>
                      </a:r>
                    </a:p>
                  </a:txBody>
                  <a:tcPr/>
                </a:tc>
                <a:extLst>
                  <a:ext uri="{0D108BD9-81ED-4DB2-BD59-A6C34878D82A}">
                    <a16:rowId xmlns:a16="http://schemas.microsoft.com/office/drawing/2014/main" val="10004"/>
                  </a:ext>
                </a:extLst>
              </a:tr>
            </a:tbl>
          </a:graphicData>
        </a:graphic>
      </p:graphicFrame>
      <p:sp>
        <p:nvSpPr>
          <p:cNvPr id="16413" name="Slide Number Placeholder 1"/>
          <p:cNvSpPr>
            <a:spLocks noGrp="1"/>
          </p:cNvSpPr>
          <p:nvPr>
            <p:ph type="sldNum" sz="quarter" idx="10"/>
          </p:nvPr>
        </p:nvSpPr>
        <p:spPr bwMode="auto">
          <a:noFill/>
          <a:ln>
            <a:round/>
            <a:headEnd/>
            <a:tailEnd/>
          </a:ln>
        </p:spPr>
        <p:txBody>
          <a:bodyPr wrap="square" numCol="1" anchorCtr="0" compatLnSpc="1">
            <a:prstTxWarp prst="textNoShape">
              <a:avLst/>
            </a:prstTxWarp>
          </a:bodyPr>
          <a:lstStyle/>
          <a:p>
            <a:fld id="{7E214D55-AFC1-4A46-8E6D-C3716E502F0A}" type="slidenum">
              <a:rPr lang="en-US" smtClean="0">
                <a:solidFill>
                  <a:srgbClr val="775F55"/>
                </a:solidFill>
              </a:rPr>
              <a:pPr/>
              <a:t>12</a:t>
            </a:fld>
            <a:endParaRPr lang="en-US">
              <a:solidFill>
                <a:srgbClr val="775F55"/>
              </a:solidFill>
            </a:endParaRPr>
          </a:p>
        </p:txBody>
      </p:sp>
      <p:sp>
        <p:nvSpPr>
          <p:cNvPr id="16414" name="Rectangle 5"/>
          <p:cNvSpPr>
            <a:spLocks noChangeArrowheads="1"/>
          </p:cNvSpPr>
          <p:nvPr/>
        </p:nvSpPr>
        <p:spPr bwMode="auto">
          <a:xfrm>
            <a:off x="2286000" y="5943601"/>
            <a:ext cx="7467600" cy="830997"/>
          </a:xfrm>
          <a:prstGeom prst="rect">
            <a:avLst/>
          </a:prstGeom>
          <a:noFill/>
          <a:ln w="9525">
            <a:noFill/>
            <a:miter lim="800000"/>
            <a:headEnd/>
            <a:tailEnd/>
          </a:ln>
        </p:spPr>
        <p:txBody>
          <a:bodyPr>
            <a:spAutoFit/>
          </a:bodyPr>
          <a:lstStyle/>
          <a:p>
            <a:pPr algn="ctr" fontAlgn="base">
              <a:spcBef>
                <a:spcPct val="0"/>
              </a:spcBef>
              <a:spcAft>
                <a:spcPct val="0"/>
              </a:spcAft>
            </a:pPr>
            <a:r>
              <a:rPr lang="en-AU" sz="2400" b="1">
                <a:solidFill>
                  <a:prstClr val="white"/>
                </a:solidFill>
                <a:latin typeface="Comic Sans MS" pitchFamily="66" charset="0"/>
              </a:rPr>
              <a:t>https://www.youtube.com/watch?v=zwibgNGe4aY</a:t>
            </a:r>
          </a:p>
        </p:txBody>
      </p:sp>
    </p:spTree>
    <p:extLst>
      <p:ext uri="{BB962C8B-B14F-4D97-AF65-F5344CB8AC3E}">
        <p14:creationId xmlns:p14="http://schemas.microsoft.com/office/powerpoint/2010/main" val="139954211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869</Words>
  <Application>Microsoft Office PowerPoint</Application>
  <PresentationFormat>Widescreen</PresentationFormat>
  <Paragraphs>158</Paragraphs>
  <Slides>12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Comic Sans MS</vt:lpstr>
      <vt:lpstr>Times New Roman</vt:lpstr>
      <vt:lpstr>Tw Cen MT</vt:lpstr>
      <vt:lpstr>Wingdings</vt:lpstr>
      <vt:lpstr>Wingdings 2</vt:lpstr>
      <vt:lpstr>Median</vt:lpstr>
      <vt:lpstr>Central Dogma of life</vt:lpstr>
      <vt:lpstr>Central Dogma of life</vt:lpstr>
      <vt:lpstr>An Analogy</vt:lpstr>
      <vt:lpstr>An Analogy</vt:lpstr>
      <vt:lpstr>Basic Principles of Transcription and Translation</vt:lpstr>
      <vt:lpstr>PowerPoint Presentation</vt:lpstr>
      <vt:lpstr>PowerPoint Presentation</vt:lpstr>
      <vt:lpstr>PowerPoint Presentation</vt:lpstr>
      <vt:lpstr>Transcription</vt:lpstr>
      <vt:lpstr>Translation</vt:lpstr>
      <vt:lpstr>PowerPoint Presentation</vt:lpstr>
      <vt:lpstr>Comparison between translation and transcription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Syeda Farhana Afroz</dc:creator>
  <cp:lastModifiedBy>mahbubul.morshed@gmail.com</cp:lastModifiedBy>
  <cp:revision>7</cp:revision>
  <dcterms:created xsi:type="dcterms:W3CDTF">2016-10-25T06:59:04Z</dcterms:created>
  <dcterms:modified xsi:type="dcterms:W3CDTF">2026-05-31T05:36:55Z</dcterms:modified>
</cp:coreProperties>
</file>