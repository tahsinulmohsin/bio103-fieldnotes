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6985000" cy="928210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3">
          <p15:clr>
            <a:srgbClr val="000000"/>
          </p15:clr>
        </p15:guide>
        <p15:guide id="2" pos="220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F2E621-01A4-48BA-9757-FA032A718F89}">
  <a:tblStyle styleId="{53F2E621-01A4-48BA-9757-FA032A718F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3" orient="horz"/>
        <p:guide pos="220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Tahoma-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Tahoma-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27362" cy="4635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56050" y="0"/>
            <a:ext cx="3027362" cy="4635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98500" y="4408487"/>
            <a:ext cx="5588000" cy="41767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16975"/>
            <a:ext cx="3027362" cy="4635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56050" y="8816975"/>
            <a:ext cx="3027362" cy="463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2: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6: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8: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9: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ph idx="1" type="body"/>
          </p:nvPr>
        </p:nvSpPr>
        <p:spPr>
          <a:xfrm>
            <a:off x="698500" y="4408487"/>
            <a:ext cx="5588000" cy="4176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1:notes"/>
          <p:cNvSpPr/>
          <p:nvPr>
            <p:ph idx="2" type="sldImg"/>
          </p:nvPr>
        </p:nvSpPr>
        <p:spPr>
          <a:xfrm>
            <a:off x="1173162" y="696912"/>
            <a:ext cx="4638675"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9" name="Shape 19"/>
        <p:cNvGrpSpPr/>
        <p:nvPr/>
      </p:nvGrpSpPr>
      <p:grpSpPr>
        <a:xfrm>
          <a:off x="0" y="0"/>
          <a:ext cx="0" cy="0"/>
          <a:chOff x="0" y="0"/>
          <a:chExt cx="0" cy="0"/>
        </a:xfrm>
      </p:grpSpPr>
      <p:sp>
        <p:nvSpPr>
          <p:cNvPr id="20" name="Google Shape;20;p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26" name="Shape 26"/>
        <p:cNvGrpSpPr/>
        <p:nvPr/>
      </p:nvGrpSpPr>
      <p:grpSpPr>
        <a:xfrm>
          <a:off x="0" y="0"/>
          <a:ext cx="0" cy="0"/>
          <a:chOff x="0" y="0"/>
          <a:chExt cx="0" cy="0"/>
        </a:xfrm>
      </p:grpSpPr>
      <p:sp>
        <p:nvSpPr>
          <p:cNvPr id="27" name="Google Shape;27;p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4"/>
          <p:cNvSpPr txBox="1"/>
          <p:nvPr>
            <p:ph idx="1" type="body"/>
          </p:nvPr>
        </p:nvSpPr>
        <p:spPr>
          <a:xfrm>
            <a:off x="685800" y="1981200"/>
            <a:ext cx="38100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4"/>
          <p:cNvSpPr txBox="1"/>
          <p:nvPr>
            <p:ph idx="2" type="body"/>
          </p:nvPr>
        </p:nvSpPr>
        <p:spPr>
          <a:xfrm>
            <a:off x="4648200" y="1981200"/>
            <a:ext cx="38100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
          <p:cNvSpPr txBox="1"/>
          <p:nvPr>
            <p:ph idx="3" type="body"/>
          </p:nvPr>
        </p:nvSpPr>
        <p:spPr>
          <a:xfrm>
            <a:off x="685800" y="4114800"/>
            <a:ext cx="38100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4"/>
          <p:cNvSpPr txBox="1"/>
          <p:nvPr>
            <p:ph idx="4" type="body"/>
          </p:nvPr>
        </p:nvSpPr>
        <p:spPr>
          <a:xfrm>
            <a:off x="4648200" y="4114800"/>
            <a:ext cx="38100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35" name="Shape 35"/>
        <p:cNvGrpSpPr/>
        <p:nvPr/>
      </p:nvGrpSpPr>
      <p:grpSpPr>
        <a:xfrm>
          <a:off x="0" y="0"/>
          <a:ext cx="0" cy="0"/>
          <a:chOff x="0" y="0"/>
          <a:chExt cx="0" cy="0"/>
        </a:xfrm>
      </p:grpSpPr>
      <p:sp>
        <p:nvSpPr>
          <p:cNvPr id="36" name="Google Shape;36;p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5"/>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5"/>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42" name="Shape 42"/>
        <p:cNvGrpSpPr/>
        <p:nvPr/>
      </p:nvGrpSpPr>
      <p:grpSpPr>
        <a:xfrm>
          <a:off x="0" y="0"/>
          <a:ext cx="0" cy="0"/>
          <a:chOff x="0" y="0"/>
          <a:chExt cx="0" cy="0"/>
        </a:xfrm>
      </p:grpSpPr>
      <p:sp>
        <p:nvSpPr>
          <p:cNvPr id="43" name="Google Shape;43;p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6"/>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6"/>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7"/>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5" name="Shape 55"/>
        <p:cNvGrpSpPr/>
        <p:nvPr/>
      </p:nvGrpSpPr>
      <p:grpSpPr>
        <a:xfrm>
          <a:off x="0" y="0"/>
          <a:ext cx="0" cy="0"/>
          <a:chOff x="0" y="0"/>
          <a:chExt cx="0" cy="0"/>
        </a:xfrm>
      </p:grpSpPr>
      <p:sp>
        <p:nvSpPr>
          <p:cNvPr id="56" name="Google Shape;56;p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8"/>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9"/>
          <p:cNvSpPr/>
          <p:nvPr>
            <p:ph idx="2" type="pic"/>
          </p:nvPr>
        </p:nvSpPr>
        <p:spPr>
          <a:xfrm>
            <a:off x="1792288" y="612775"/>
            <a:ext cx="5486400" cy="4114800"/>
          </a:xfrm>
          <a:prstGeom prst="rect">
            <a:avLst/>
          </a:prstGeom>
          <a:noFill/>
          <a:ln>
            <a:noFill/>
          </a:ln>
        </p:spPr>
      </p:sp>
      <p:sp>
        <p:nvSpPr>
          <p:cNvPr id="64" name="Google Shape;64;p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5" name="Google Shape;65;p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71" name="Google Shape;71;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72" name="Google Shape;72;p1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 name="Shape 80"/>
        <p:cNvGrpSpPr/>
        <p:nvPr/>
      </p:nvGrpSpPr>
      <p:grpSpPr>
        <a:xfrm>
          <a:off x="0" y="0"/>
          <a:ext cx="0" cy="0"/>
          <a:chOff x="0" y="0"/>
          <a:chExt cx="0" cy="0"/>
        </a:xfrm>
      </p:grpSpPr>
      <p:sp>
        <p:nvSpPr>
          <p:cNvPr id="81" name="Google Shape;8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83" name="Google Shape;83;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84" name="Google Shape;84;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85" name="Google Shape;85;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86" name="Google Shape;86;p1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9" name="Shape 89"/>
        <p:cNvGrpSpPr/>
        <p:nvPr/>
      </p:nvGrpSpPr>
      <p:grpSpPr>
        <a:xfrm>
          <a:off x="0" y="0"/>
          <a:ext cx="0" cy="0"/>
          <a:chOff x="0" y="0"/>
          <a:chExt cx="0" cy="0"/>
        </a:xfrm>
      </p:grpSpPr>
      <p:sp>
        <p:nvSpPr>
          <p:cNvPr id="90" name="Google Shape;90;p1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1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92" name="Google Shape;92;p13"/>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93" name="Google Shape;93;p1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99" name="Google Shape;99;p1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1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1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 name="Google Shape;105;p1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 name="Shape 108"/>
        <p:cNvGrpSpPr/>
        <p:nvPr/>
      </p:nvGrpSpPr>
      <p:grpSpPr>
        <a:xfrm>
          <a:off x="0" y="0"/>
          <a:ext cx="0" cy="0"/>
          <a:chOff x="0" y="0"/>
          <a:chExt cx="0" cy="0"/>
        </a:xfrm>
      </p:grpSpPr>
      <p:sp>
        <p:nvSpPr>
          <p:cNvPr id="109" name="Google Shape;109;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 name="Google Shape;110;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111" name="Google Shape;111;p1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genthumb" id="118" name="Google Shape;118;p17"/>
          <p:cNvPicPr preferRelativeResize="0"/>
          <p:nvPr/>
        </p:nvPicPr>
        <p:blipFill rotWithShape="1">
          <a:blip r:embed="rId3">
            <a:alphaModFix/>
          </a:blip>
          <a:srcRect b="0" l="0" r="0" t="0"/>
          <a:stretch/>
        </p:blipFill>
        <p:spPr>
          <a:xfrm>
            <a:off x="2057400" y="1257300"/>
            <a:ext cx="5105400" cy="4210050"/>
          </a:xfrm>
          <a:prstGeom prst="rect">
            <a:avLst/>
          </a:prstGeom>
          <a:noFill/>
          <a:ln>
            <a:noFill/>
          </a:ln>
        </p:spPr>
      </p:pic>
      <p:sp>
        <p:nvSpPr>
          <p:cNvPr id="119" name="Google Shape;119;p17"/>
          <p:cNvSpPr txBox="1"/>
          <p:nvPr/>
        </p:nvSpPr>
        <p:spPr>
          <a:xfrm>
            <a:off x="1843087" y="6000750"/>
            <a:ext cx="572928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Prof. Dr. Md. Mahbubul Morshed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nvSpPr>
        <p:spPr>
          <a:xfrm>
            <a:off x="381000" y="-3048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000"/>
              <a:buFont typeface="Times New Roman"/>
              <a:buNone/>
            </a:pPr>
            <a:r>
              <a:rPr b="1" i="0" lang="en-US" sz="4000" u="none" cap="none" strike="noStrike">
                <a:solidFill>
                  <a:srgbClr val="FF0000"/>
                </a:solidFill>
                <a:latin typeface="Times New Roman"/>
                <a:ea typeface="Times New Roman"/>
                <a:cs typeface="Times New Roman"/>
                <a:sym typeface="Times New Roman"/>
              </a:rPr>
              <a:t>What is Diabetes Mellitus?</a:t>
            </a:r>
            <a:endParaRPr/>
          </a:p>
        </p:txBody>
      </p:sp>
      <p:sp>
        <p:nvSpPr>
          <p:cNvPr id="125" name="Google Shape;125;p18"/>
          <p:cNvSpPr txBox="1"/>
          <p:nvPr/>
        </p:nvSpPr>
        <p:spPr>
          <a:xfrm>
            <a:off x="361950" y="666750"/>
            <a:ext cx="8458200" cy="59055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75000"/>
              </a:lnSpc>
              <a:spcBef>
                <a:spcPts val="0"/>
              </a:spcBef>
              <a:spcAft>
                <a:spcPts val="0"/>
              </a:spcAft>
              <a:buClr>
                <a:srgbClr val="0000FF"/>
              </a:buClr>
              <a:buSzPts val="2800"/>
              <a:buFont typeface="Times New Roman"/>
              <a:buNone/>
            </a:pPr>
            <a:r>
              <a:rPr b="0" i="0" lang="en-US" sz="2800" u="none" cap="none" strike="noStrike">
                <a:solidFill>
                  <a:srgbClr val="0000FF"/>
                </a:solidFill>
                <a:latin typeface="Times New Roman"/>
                <a:ea typeface="Times New Roman"/>
                <a:cs typeface="Times New Roman"/>
                <a:sym typeface="Times New Roman"/>
              </a:rPr>
              <a:t>Normal Glucose Metabolism</a:t>
            </a:r>
            <a:endParaRPr/>
          </a:p>
          <a:p>
            <a:pPr indent="-457200" lvl="0" marL="457200" marR="0" rtl="0" algn="l">
              <a:lnSpc>
                <a:spcPct val="75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When the amount of glucose in the blood increases,</a:t>
            </a:r>
            <a:endParaRPr/>
          </a:p>
          <a:p>
            <a:pPr indent="-457200" lvl="0" marL="4572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e.g., after a meal, it triggers the release of the hormone</a:t>
            </a:r>
            <a:endParaRPr/>
          </a:p>
          <a:p>
            <a:pPr indent="-457200" lvl="0" marL="4572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insulin from the pancreas. Insulin stimulates muscle</a:t>
            </a:r>
            <a:endParaRPr/>
          </a:p>
          <a:p>
            <a:pPr indent="-457200" lvl="0" marL="4572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and fat cells to remove glucose from the blood and</a:t>
            </a:r>
            <a:endParaRPr/>
          </a:p>
          <a:p>
            <a:pPr indent="-457200" lvl="0" marL="4572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stimulates the liver to metabolize glucose, causing the</a:t>
            </a:r>
            <a:endParaRPr/>
          </a:p>
          <a:p>
            <a:pPr indent="-457200" lvl="0" marL="4572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blood sugar level to decrease to normal levels.</a:t>
            </a:r>
            <a:endParaRPr/>
          </a:p>
          <a:p>
            <a:pPr indent="-457200" lvl="0" marL="457200" marR="0" rtl="0" algn="l">
              <a:lnSpc>
                <a:spcPct val="75000"/>
              </a:lnSpc>
              <a:spcBef>
                <a:spcPts val="0"/>
              </a:spcBef>
              <a:spcAft>
                <a:spcPts val="0"/>
              </a:spcAft>
              <a:buClr>
                <a:schemeClr val="dk1"/>
              </a:buClr>
              <a:buSzPts val="2800"/>
              <a:buFont typeface="Times New Roman"/>
              <a:buNone/>
            </a:pPr>
            <a:r>
              <a:t/>
            </a:r>
            <a:endParaRPr b="0" i="0" sz="2800" u="none" cap="none" strike="noStrike">
              <a:solidFill>
                <a:srgbClr val="0000FF"/>
              </a:solidFill>
              <a:latin typeface="Times New Roman"/>
              <a:ea typeface="Times New Roman"/>
              <a:cs typeface="Times New Roman"/>
              <a:sym typeface="Times New Roman"/>
            </a:endParaRPr>
          </a:p>
          <a:p>
            <a:pPr indent="-457200" lvl="0" marL="457200" marR="0" rtl="0" algn="l">
              <a:lnSpc>
                <a:spcPct val="75000"/>
              </a:lnSpc>
              <a:spcBef>
                <a:spcPts val="0"/>
              </a:spcBef>
              <a:spcAft>
                <a:spcPts val="0"/>
              </a:spcAft>
              <a:buClr>
                <a:srgbClr val="0000FF"/>
              </a:buClr>
              <a:buSzPts val="2800"/>
              <a:buFont typeface="Times New Roman"/>
              <a:buNone/>
            </a:pPr>
            <a:r>
              <a:rPr b="0" i="0" lang="en-US" sz="2800" u="none" cap="none" strike="noStrike">
                <a:solidFill>
                  <a:srgbClr val="0000FF"/>
                </a:solidFill>
                <a:latin typeface="Times New Roman"/>
                <a:ea typeface="Times New Roman"/>
                <a:cs typeface="Times New Roman"/>
                <a:sym typeface="Times New Roman"/>
              </a:rPr>
              <a:t>Diabetes Mellitus</a:t>
            </a:r>
            <a:endParaRPr/>
          </a:p>
          <a:p>
            <a:pPr indent="-457200" lvl="0" marL="457200" marR="0" rtl="0" algn="l">
              <a:lnSpc>
                <a:spcPct val="75000"/>
              </a:lnSpc>
              <a:spcBef>
                <a:spcPts val="1400"/>
              </a:spcBef>
              <a:spcAft>
                <a:spcPts val="0"/>
              </a:spcAft>
              <a:buClr>
                <a:srgbClr val="008000"/>
              </a:buClr>
              <a:buSzPts val="2800"/>
              <a:buFont typeface="Times New Roman"/>
              <a:buChar char="•"/>
            </a:pPr>
            <a:r>
              <a:rPr b="0" i="0" lang="en-US" sz="2800" u="none" cap="none" strike="noStrike">
                <a:solidFill>
                  <a:srgbClr val="008000"/>
                </a:solidFill>
                <a:latin typeface="Times New Roman"/>
                <a:ea typeface="Times New Roman"/>
                <a:cs typeface="Times New Roman"/>
                <a:sym typeface="Times New Roman"/>
              </a:rPr>
              <a:t>Diabetes mellitus is a metabolic disorder characterized</a:t>
            </a:r>
            <a:endParaRPr/>
          </a:p>
          <a:p>
            <a:pPr indent="-457200" lvl="0" marL="457200" marR="0" rtl="0" algn="l">
              <a:lnSpc>
                <a:spcPct val="75000"/>
              </a:lnSpc>
              <a:spcBef>
                <a:spcPts val="280"/>
              </a:spcBef>
              <a:spcAft>
                <a:spcPts val="0"/>
              </a:spcAft>
              <a:buClr>
                <a:srgbClr val="008000"/>
              </a:buClr>
              <a:buSzPts val="2800"/>
              <a:buFont typeface="Times New Roman"/>
              <a:buNone/>
            </a:pPr>
            <a:r>
              <a:rPr b="0" i="0" lang="en-US" sz="2800" u="none" cap="none" strike="noStrike">
                <a:solidFill>
                  <a:srgbClr val="008000"/>
                </a:solidFill>
                <a:latin typeface="Times New Roman"/>
                <a:ea typeface="Times New Roman"/>
                <a:cs typeface="Times New Roman"/>
                <a:sym typeface="Times New Roman"/>
              </a:rPr>
              <a:t>	by abnormally high levels of sugar (glucose) in the</a:t>
            </a:r>
            <a:endParaRPr/>
          </a:p>
          <a:p>
            <a:pPr indent="-457200" lvl="0" marL="457200" marR="0" rtl="0" algn="l">
              <a:lnSpc>
                <a:spcPct val="75000"/>
              </a:lnSpc>
              <a:spcBef>
                <a:spcPts val="280"/>
              </a:spcBef>
              <a:spcAft>
                <a:spcPts val="0"/>
              </a:spcAft>
              <a:buClr>
                <a:srgbClr val="008000"/>
              </a:buClr>
              <a:buSzPts val="2800"/>
              <a:buFont typeface="Times New Roman"/>
              <a:buNone/>
            </a:pPr>
            <a:r>
              <a:rPr b="0" i="0" lang="en-US" sz="2800" u="none" cap="none" strike="noStrike">
                <a:solidFill>
                  <a:srgbClr val="008000"/>
                </a:solidFill>
                <a:latin typeface="Times New Roman"/>
                <a:ea typeface="Times New Roman"/>
                <a:cs typeface="Times New Roman"/>
                <a:sym typeface="Times New Roman"/>
              </a:rPr>
              <a:t>	blood.</a:t>
            </a:r>
            <a:endParaRPr/>
          </a:p>
          <a:p>
            <a:pPr indent="-457200" lvl="0" marL="457200" marR="0" rtl="0" algn="l">
              <a:lnSpc>
                <a:spcPct val="75000"/>
              </a:lnSpc>
              <a:spcBef>
                <a:spcPts val="700"/>
              </a:spcBef>
              <a:spcAft>
                <a:spcPts val="0"/>
              </a:spcAft>
              <a:buClr>
                <a:srgbClr val="008000"/>
              </a:buClr>
              <a:buSzPts val="2800"/>
              <a:buFont typeface="Times New Roman"/>
              <a:buChar char="•"/>
            </a:pPr>
            <a:r>
              <a:rPr b="0" i="0" lang="en-US" sz="2800" u="none" cap="none" strike="noStrike">
                <a:solidFill>
                  <a:srgbClr val="008000"/>
                </a:solidFill>
                <a:latin typeface="Times New Roman"/>
                <a:ea typeface="Times New Roman"/>
                <a:cs typeface="Times New Roman"/>
                <a:sym typeface="Times New Roman"/>
              </a:rPr>
              <a:t>Condition of high levels of glucose in the blood is called Hyperglycemia. </a:t>
            </a:r>
            <a:endParaRPr/>
          </a:p>
          <a:p>
            <a:pPr indent="-457200" lvl="0" marL="457200" marR="0" rtl="0" algn="l">
              <a:lnSpc>
                <a:spcPct val="75000"/>
              </a:lnSpc>
              <a:spcBef>
                <a:spcPts val="700"/>
              </a:spcBef>
              <a:spcAft>
                <a:spcPts val="0"/>
              </a:spcAft>
              <a:buClr>
                <a:srgbClr val="008000"/>
              </a:buClr>
              <a:buSzPts val="2800"/>
              <a:buFont typeface="Times New Roman"/>
              <a:buChar char="•"/>
            </a:pPr>
            <a:r>
              <a:rPr b="0" i="0" lang="en-US" sz="2800" u="none" cap="none" strike="noStrike">
                <a:solidFill>
                  <a:srgbClr val="008000"/>
                </a:solidFill>
                <a:latin typeface="Times New Roman"/>
                <a:ea typeface="Times New Roman"/>
                <a:cs typeface="Times New Roman"/>
                <a:sym typeface="Times New Roman"/>
              </a:rPr>
              <a:t>Hereditary and Environmental causes.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nvSpPr>
        <p:spPr>
          <a:xfrm>
            <a:off x="381000" y="-30480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000"/>
              <a:buFont typeface="Times New Roman"/>
              <a:buNone/>
            </a:pPr>
            <a:r>
              <a:rPr b="1" i="0" lang="en-US" sz="4000" u="none" cap="none" strike="noStrike">
                <a:solidFill>
                  <a:srgbClr val="FF0000"/>
                </a:solidFill>
                <a:latin typeface="Times New Roman"/>
                <a:ea typeface="Times New Roman"/>
                <a:cs typeface="Times New Roman"/>
                <a:sym typeface="Times New Roman"/>
              </a:rPr>
              <a:t>Causes of Hyperglycemia</a:t>
            </a:r>
            <a:endParaRPr/>
          </a:p>
        </p:txBody>
      </p:sp>
      <p:sp>
        <p:nvSpPr>
          <p:cNvPr id="131" name="Google Shape;131;p19"/>
          <p:cNvSpPr txBox="1"/>
          <p:nvPr/>
        </p:nvSpPr>
        <p:spPr>
          <a:xfrm>
            <a:off x="228600" y="838200"/>
            <a:ext cx="86487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75000"/>
              </a:lnSpc>
              <a:spcBef>
                <a:spcPts val="0"/>
              </a:spcBef>
              <a:spcAft>
                <a:spcPts val="0"/>
              </a:spcAft>
              <a:buClr>
                <a:schemeClr val="hlink"/>
              </a:buClr>
              <a:buSzPts val="2800"/>
              <a:buFont typeface="Times New Roman"/>
              <a:buChar char="•"/>
            </a:pPr>
            <a:r>
              <a:rPr b="0" i="0" lang="en-US" sz="2800" u="none" cap="none" strike="noStrike">
                <a:solidFill>
                  <a:schemeClr val="hlink"/>
                </a:solidFill>
                <a:latin typeface="Times New Roman"/>
                <a:ea typeface="Times New Roman"/>
                <a:cs typeface="Times New Roman"/>
                <a:sym typeface="Times New Roman"/>
              </a:rPr>
              <a:t>Insulin</a:t>
            </a:r>
            <a:r>
              <a:rPr b="0" i="0" lang="en-US" sz="2800" u="none" cap="none" strike="noStrike">
                <a:solidFill>
                  <a:schemeClr val="dk1"/>
                </a:solidFill>
                <a:latin typeface="Times New Roman"/>
                <a:ea typeface="Times New Roman"/>
                <a:cs typeface="Times New Roman"/>
                <a:sym typeface="Times New Roman"/>
              </a:rPr>
              <a:t> is a hormone secreted from the </a:t>
            </a:r>
            <a:r>
              <a:rPr b="0" i="0" lang="en-US" sz="2800" u="none" cap="none" strike="noStrike">
                <a:solidFill>
                  <a:schemeClr val="hlink"/>
                </a:solidFill>
                <a:latin typeface="Times New Roman"/>
                <a:ea typeface="Times New Roman"/>
                <a:cs typeface="Times New Roman"/>
                <a:sym typeface="Times New Roman"/>
              </a:rPr>
              <a:t>islet cells</a:t>
            </a:r>
            <a:r>
              <a:rPr b="0" i="0" lang="en-US" sz="2800" u="none" cap="none" strike="noStrike">
                <a:solidFill>
                  <a:schemeClr val="dk1"/>
                </a:solidFill>
                <a:latin typeface="Times New Roman"/>
                <a:ea typeface="Times New Roman"/>
                <a:cs typeface="Times New Roman"/>
                <a:sym typeface="Times New Roman"/>
              </a:rPr>
              <a:t> of the</a:t>
            </a:r>
            <a:endParaRPr/>
          </a:p>
          <a:p>
            <a:pPr indent="-342900" lvl="0" marL="3429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hlink"/>
                </a:solidFill>
                <a:latin typeface="Times New Roman"/>
                <a:ea typeface="Times New Roman"/>
                <a:cs typeface="Times New Roman"/>
                <a:sym typeface="Times New Roman"/>
              </a:rPr>
              <a:t>Pancreas</a:t>
            </a:r>
            <a:r>
              <a:rPr b="0" i="0" lang="en-US" sz="2800" u="none" cap="none" strike="noStrike">
                <a:solidFill>
                  <a:schemeClr val="dk1"/>
                </a:solidFill>
                <a:latin typeface="Times New Roman"/>
                <a:ea typeface="Times New Roman"/>
                <a:cs typeface="Times New Roman"/>
                <a:sym typeface="Times New Roman"/>
              </a:rPr>
              <a:t>. </a:t>
            </a:r>
            <a:endParaRPr/>
          </a:p>
          <a:p>
            <a:pPr indent="-342900" lvl="0" marL="342900" marR="0" rtl="0" algn="l">
              <a:lnSpc>
                <a:spcPct val="75000"/>
              </a:lnSpc>
              <a:spcBef>
                <a:spcPts val="700"/>
              </a:spcBef>
              <a:spcAft>
                <a:spcPts val="0"/>
              </a:spcAft>
              <a:buClr>
                <a:schemeClr val="hlink"/>
              </a:buClr>
              <a:buSzPts val="2800"/>
              <a:buFont typeface="Times New Roman"/>
              <a:buChar char="•"/>
            </a:pPr>
            <a:r>
              <a:rPr b="0" i="0" lang="en-US" sz="2800" u="none" cap="none" strike="noStrike">
                <a:solidFill>
                  <a:schemeClr val="hlink"/>
                </a:solidFill>
                <a:latin typeface="Times New Roman"/>
                <a:ea typeface="Times New Roman"/>
                <a:cs typeface="Times New Roman"/>
                <a:sym typeface="Times New Roman"/>
              </a:rPr>
              <a:t>Insulin enables cells</a:t>
            </a:r>
            <a:r>
              <a:rPr b="0" i="0" lang="en-US" sz="2800" u="none" cap="none" strike="noStrike">
                <a:solidFill>
                  <a:schemeClr val="dk1"/>
                </a:solidFill>
                <a:latin typeface="Times New Roman"/>
                <a:ea typeface="Times New Roman"/>
                <a:cs typeface="Times New Roman"/>
                <a:sym typeface="Times New Roman"/>
              </a:rPr>
              <a:t> to absorb glucose in order to turn it</a:t>
            </a:r>
            <a:endParaRPr/>
          </a:p>
          <a:p>
            <a:pPr indent="-342900" lvl="0" marL="3429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into energy, thereby keeping the normal blood glucose</a:t>
            </a:r>
            <a:endParaRPr/>
          </a:p>
          <a:p>
            <a:pPr indent="-342900" lvl="0" marL="3429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level in the blood.</a:t>
            </a:r>
            <a:endParaRPr/>
          </a:p>
          <a:p>
            <a:pPr indent="-342900" lvl="0" marL="342900" marR="0" rtl="0" algn="l">
              <a:lnSpc>
                <a:spcPct val="75000"/>
              </a:lnSpc>
              <a:spcBef>
                <a:spcPts val="7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In diabetes, blood sugar levels remain high, may be</a:t>
            </a:r>
            <a:endParaRPr/>
          </a:p>
          <a:p>
            <a:pPr indent="-342900" lvl="0" marL="34290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because insulin </a:t>
            </a:r>
            <a:endParaRPr/>
          </a:p>
          <a:p>
            <a:pPr indent="-285750" lvl="1" marL="74295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 is not being produced at all</a:t>
            </a:r>
            <a:endParaRPr/>
          </a:p>
          <a:p>
            <a:pPr indent="-285750" lvl="1" marL="74295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 is not made at sufficient levels, or </a:t>
            </a:r>
            <a:endParaRPr/>
          </a:p>
          <a:p>
            <a:pPr indent="-285750" lvl="1" marL="74295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 is not as effective as it should be. </a:t>
            </a:r>
            <a:endParaRPr/>
          </a:p>
          <a:p>
            <a:pPr indent="-342900" lvl="0" marL="342900" marR="0" rtl="0" algn="l">
              <a:lnSpc>
                <a:spcPct val="75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342900" lvl="0" marL="342900" marR="0" rtl="0" algn="l">
              <a:lnSpc>
                <a:spcPct val="75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This causes glucose to accumulate in the blood, often</a:t>
            </a:r>
            <a:endParaRPr/>
          </a:p>
          <a:p>
            <a:pPr indent="-342900" lvl="0" marL="342900" marR="0" rtl="0" algn="l">
              <a:lnSpc>
                <a:spcPct val="75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leading to various complications.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nvSpPr>
        <p:spPr>
          <a:xfrm>
            <a:off x="4495800" y="1409700"/>
            <a:ext cx="4191000" cy="4400550"/>
          </a:xfrm>
          <a:prstGeom prst="rect">
            <a:avLst/>
          </a:pr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 name="Google Shape;137;p20"/>
          <p:cNvSpPr txBox="1"/>
          <p:nvPr/>
        </p:nvSpPr>
        <p:spPr>
          <a:xfrm>
            <a:off x="5143500" y="1676400"/>
            <a:ext cx="3200400" cy="381000"/>
          </a:xfrm>
          <a:prstGeom prst="rect">
            <a:avLst/>
          </a:prstGeom>
          <a:solidFill>
            <a:srgbClr val="0066CC"/>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If insufficient/lack of insulin</a:t>
            </a:r>
            <a:r>
              <a:rPr b="0" i="0" lang="en-US" sz="1800" u="none">
                <a:solidFill>
                  <a:schemeClr val="dk1"/>
                </a:solidFill>
                <a:latin typeface="Tahoma"/>
                <a:ea typeface="Tahoma"/>
                <a:cs typeface="Tahoma"/>
                <a:sym typeface="Tahoma"/>
              </a:rPr>
              <a:t> </a:t>
            </a:r>
            <a:endParaRPr/>
          </a:p>
        </p:txBody>
      </p:sp>
      <p:cxnSp>
        <p:nvCxnSpPr>
          <p:cNvPr id="138" name="Google Shape;138;p20"/>
          <p:cNvCxnSpPr/>
          <p:nvPr/>
        </p:nvCxnSpPr>
        <p:spPr>
          <a:xfrm>
            <a:off x="6553200" y="2152650"/>
            <a:ext cx="0" cy="781050"/>
          </a:xfrm>
          <a:prstGeom prst="straightConnector1">
            <a:avLst/>
          </a:prstGeom>
          <a:noFill/>
          <a:ln cap="flat" cmpd="sng" w="9525">
            <a:solidFill>
              <a:schemeClr val="lt2"/>
            </a:solidFill>
            <a:prstDash val="solid"/>
            <a:miter lim="8000"/>
            <a:headEnd len="med" w="med" type="none"/>
            <a:tailEnd len="med" w="med" type="triangle"/>
          </a:ln>
        </p:spPr>
      </p:cxnSp>
      <p:sp>
        <p:nvSpPr>
          <p:cNvPr id="139" name="Google Shape;139;p20"/>
          <p:cNvSpPr txBox="1"/>
          <p:nvPr/>
        </p:nvSpPr>
        <p:spPr>
          <a:xfrm>
            <a:off x="5162550" y="3009900"/>
            <a:ext cx="3124200" cy="381000"/>
          </a:xfrm>
          <a:prstGeom prst="rect">
            <a:avLst/>
          </a:prstGeom>
          <a:solidFill>
            <a:srgbClr val="0066CC"/>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Glucose can’t enter the cell</a:t>
            </a:r>
            <a:endParaRPr/>
          </a:p>
        </p:txBody>
      </p:sp>
      <p:sp>
        <p:nvSpPr>
          <p:cNvPr id="140" name="Google Shape;140;p20"/>
          <p:cNvSpPr txBox="1"/>
          <p:nvPr/>
        </p:nvSpPr>
        <p:spPr>
          <a:xfrm>
            <a:off x="5124450" y="4286250"/>
            <a:ext cx="2971800" cy="381000"/>
          </a:xfrm>
          <a:prstGeom prst="rect">
            <a:avLst/>
          </a:prstGeom>
          <a:solidFill>
            <a:srgbClr val="0066CC"/>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Glucose remains in blood </a:t>
            </a:r>
            <a:endParaRPr/>
          </a:p>
        </p:txBody>
      </p:sp>
      <p:cxnSp>
        <p:nvCxnSpPr>
          <p:cNvPr id="141" name="Google Shape;141;p20"/>
          <p:cNvCxnSpPr/>
          <p:nvPr/>
        </p:nvCxnSpPr>
        <p:spPr>
          <a:xfrm>
            <a:off x="6572250" y="3486150"/>
            <a:ext cx="0" cy="723900"/>
          </a:xfrm>
          <a:prstGeom prst="straightConnector1">
            <a:avLst/>
          </a:prstGeom>
          <a:noFill/>
          <a:ln cap="flat" cmpd="sng" w="9525">
            <a:solidFill>
              <a:schemeClr val="lt2"/>
            </a:solidFill>
            <a:prstDash val="solid"/>
            <a:miter lim="8000"/>
            <a:headEnd len="med" w="med" type="none"/>
            <a:tailEnd len="med" w="med" type="triangle"/>
          </a:ln>
        </p:spPr>
      </p:cxnSp>
      <p:cxnSp>
        <p:nvCxnSpPr>
          <p:cNvPr id="142" name="Google Shape;142;p20"/>
          <p:cNvCxnSpPr/>
          <p:nvPr/>
        </p:nvCxnSpPr>
        <p:spPr>
          <a:xfrm>
            <a:off x="6591300" y="4648200"/>
            <a:ext cx="0" cy="762000"/>
          </a:xfrm>
          <a:prstGeom prst="straightConnector1">
            <a:avLst/>
          </a:prstGeom>
          <a:noFill/>
          <a:ln cap="flat" cmpd="sng" w="9525">
            <a:solidFill>
              <a:schemeClr val="lt2"/>
            </a:solidFill>
            <a:prstDash val="solid"/>
            <a:miter lim="8000"/>
            <a:headEnd len="med" w="med" type="none"/>
            <a:tailEnd len="med" w="med" type="triangle"/>
          </a:ln>
        </p:spPr>
      </p:cxnSp>
      <p:sp>
        <p:nvSpPr>
          <p:cNvPr id="143" name="Google Shape;143;p20"/>
          <p:cNvSpPr txBox="1"/>
          <p:nvPr/>
        </p:nvSpPr>
        <p:spPr>
          <a:xfrm>
            <a:off x="4819650" y="5467350"/>
            <a:ext cx="3733800" cy="381000"/>
          </a:xfrm>
          <a:prstGeom prst="rect">
            <a:avLst/>
          </a:prstGeom>
          <a:solidFill>
            <a:srgbClr val="0066CC"/>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Diabetes Mellitus/Hyperglycemia</a:t>
            </a:r>
            <a:endParaRPr/>
          </a:p>
        </p:txBody>
      </p:sp>
      <p:pic>
        <p:nvPicPr>
          <p:cNvPr descr="15079-1" id="144" name="Google Shape;144;p20"/>
          <p:cNvPicPr preferRelativeResize="0"/>
          <p:nvPr/>
        </p:nvPicPr>
        <p:blipFill rotWithShape="1">
          <a:blip r:embed="rId3">
            <a:alphaModFix/>
          </a:blip>
          <a:srcRect b="0" l="0" r="0" t="0"/>
          <a:stretch/>
        </p:blipFill>
        <p:spPr>
          <a:xfrm>
            <a:off x="495300" y="1428750"/>
            <a:ext cx="4000500" cy="4400550"/>
          </a:xfrm>
          <a:prstGeom prst="rect">
            <a:avLst/>
          </a:prstGeom>
          <a:noFill/>
          <a:ln>
            <a:noFill/>
          </a:ln>
        </p:spPr>
      </p:pic>
      <p:cxnSp>
        <p:nvCxnSpPr>
          <p:cNvPr id="145" name="Google Shape;145;p20"/>
          <p:cNvCxnSpPr/>
          <p:nvPr/>
        </p:nvCxnSpPr>
        <p:spPr>
          <a:xfrm flipH="1" rot="10800000">
            <a:off x="1809750" y="2038350"/>
            <a:ext cx="3371850" cy="762000"/>
          </a:xfrm>
          <a:prstGeom prst="straightConnector1">
            <a:avLst/>
          </a:prstGeom>
          <a:noFill/>
          <a:ln cap="flat" cmpd="sng" w="9525">
            <a:solidFill>
              <a:schemeClr val="lt2"/>
            </a:solidFill>
            <a:prstDash val="solid"/>
            <a:miter lim="8000"/>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nvSpPr>
        <p:spPr>
          <a:xfrm>
            <a:off x="790575" y="227012"/>
            <a:ext cx="7477125" cy="41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Times New Roman"/>
              <a:buNone/>
            </a:pPr>
            <a:r>
              <a:rPr b="1" i="0" lang="en-US" sz="4400" u="none">
                <a:solidFill>
                  <a:srgbClr val="FF0000"/>
                </a:solidFill>
                <a:latin typeface="Times New Roman"/>
                <a:ea typeface="Times New Roman"/>
                <a:cs typeface="Times New Roman"/>
                <a:sym typeface="Times New Roman"/>
              </a:rPr>
              <a:t>Types of Diabetes</a:t>
            </a:r>
            <a:endParaRPr/>
          </a:p>
        </p:txBody>
      </p:sp>
      <p:sp>
        <p:nvSpPr>
          <p:cNvPr id="151" name="Google Shape;151;p21"/>
          <p:cNvSpPr txBox="1"/>
          <p:nvPr/>
        </p:nvSpPr>
        <p:spPr>
          <a:xfrm>
            <a:off x="457200" y="876300"/>
            <a:ext cx="8686800" cy="575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There are mainly three types of diabetes: </a:t>
            </a:r>
            <a:endParaRPr/>
          </a:p>
          <a:p>
            <a:pPr indent="-342900" lvl="0" marL="342900" marR="0" rtl="0" algn="l">
              <a:lnSpc>
                <a:spcPct val="75000"/>
              </a:lnSpc>
              <a:spcBef>
                <a:spcPts val="1400"/>
              </a:spcBef>
              <a:spcAft>
                <a:spcPts val="0"/>
              </a:spcAft>
              <a:buClr>
                <a:schemeClr val="hlink"/>
              </a:buClr>
              <a:buSzPts val="2800"/>
              <a:buFont typeface="Times New Roman"/>
              <a:buChar char="•"/>
            </a:pPr>
            <a:r>
              <a:rPr b="0" i="0" lang="en-US" sz="2800" u="none">
                <a:solidFill>
                  <a:schemeClr val="hlink"/>
                </a:solidFill>
                <a:latin typeface="Times New Roman"/>
                <a:ea typeface="Times New Roman"/>
                <a:cs typeface="Times New Roman"/>
                <a:sym typeface="Times New Roman"/>
              </a:rPr>
              <a:t>Type I</a:t>
            </a:r>
            <a:r>
              <a:rPr b="0" i="0" lang="en-US" sz="2800" u="none">
                <a:solidFill>
                  <a:schemeClr val="dk1"/>
                </a:solidFill>
                <a:latin typeface="Times New Roman"/>
                <a:ea typeface="Times New Roman"/>
                <a:cs typeface="Times New Roman"/>
                <a:sym typeface="Times New Roman"/>
              </a:rPr>
              <a:t> or </a:t>
            </a:r>
            <a:r>
              <a:rPr b="0" i="0" lang="en-US" sz="2800" u="none">
                <a:solidFill>
                  <a:schemeClr val="hlink"/>
                </a:solidFill>
                <a:latin typeface="Times New Roman"/>
                <a:ea typeface="Times New Roman"/>
                <a:cs typeface="Times New Roman"/>
                <a:sym typeface="Times New Roman"/>
              </a:rPr>
              <a:t>insulin dependent diabetes</a:t>
            </a:r>
            <a:r>
              <a:rPr b="0" i="0" lang="en-US" sz="2800" u="none">
                <a:solidFill>
                  <a:schemeClr val="dk1"/>
                </a:solidFill>
                <a:latin typeface="Times New Roman"/>
                <a:ea typeface="Times New Roman"/>
                <a:cs typeface="Times New Roman"/>
                <a:sym typeface="Times New Roman"/>
              </a:rPr>
              <a:t> often called</a:t>
            </a:r>
            <a:endParaRPr/>
          </a:p>
          <a:p>
            <a:pPr indent="-342900" lvl="0" marL="342900" marR="0" rtl="0" algn="l">
              <a:lnSpc>
                <a:spcPct val="75000"/>
              </a:lnSpc>
              <a:spcBef>
                <a:spcPts val="28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	juvenile onset</a:t>
            </a:r>
            <a:r>
              <a:rPr b="0" i="0" lang="en-US" sz="2800" u="none">
                <a:solidFill>
                  <a:schemeClr val="dk1"/>
                </a:solidFill>
                <a:latin typeface="Times New Roman"/>
                <a:ea typeface="Times New Roman"/>
                <a:cs typeface="Times New Roman"/>
                <a:sym typeface="Times New Roman"/>
              </a:rPr>
              <a:t> diabetes,</a:t>
            </a:r>
            <a:endParaRPr/>
          </a:p>
          <a:p>
            <a:pPr indent="-342900" lvl="0" marL="342900" marR="0" rtl="0" algn="l">
              <a:lnSpc>
                <a:spcPct val="90000"/>
              </a:lnSpc>
              <a:spcBef>
                <a:spcPts val="560"/>
              </a:spcBef>
              <a:spcAft>
                <a:spcPts val="0"/>
              </a:spcAft>
              <a:buClr>
                <a:schemeClr val="hlink"/>
              </a:buClr>
              <a:buSzPts val="2800"/>
              <a:buFont typeface="Times New Roman"/>
              <a:buChar char="•"/>
            </a:pPr>
            <a:r>
              <a:rPr b="0" i="0" lang="en-US" sz="2800" u="none">
                <a:solidFill>
                  <a:schemeClr val="hlink"/>
                </a:solidFill>
                <a:latin typeface="Times New Roman"/>
                <a:ea typeface="Times New Roman"/>
                <a:cs typeface="Times New Roman"/>
                <a:sym typeface="Times New Roman"/>
              </a:rPr>
              <a:t>Type II</a:t>
            </a:r>
            <a:r>
              <a:rPr b="0" i="0" lang="en-US" sz="2800" u="none">
                <a:solidFill>
                  <a:schemeClr val="dk1"/>
                </a:solidFill>
                <a:latin typeface="Times New Roman"/>
                <a:ea typeface="Times New Roman"/>
                <a:cs typeface="Times New Roman"/>
                <a:sym typeface="Times New Roman"/>
              </a:rPr>
              <a:t> or </a:t>
            </a:r>
            <a:r>
              <a:rPr b="0" i="0" lang="en-US" sz="2800" u="none">
                <a:solidFill>
                  <a:schemeClr val="hlink"/>
                </a:solidFill>
                <a:latin typeface="Times New Roman"/>
                <a:ea typeface="Times New Roman"/>
                <a:cs typeface="Times New Roman"/>
                <a:sym typeface="Times New Roman"/>
              </a:rPr>
              <a:t>non-insulin dependent diabetes</a:t>
            </a:r>
            <a:r>
              <a:rPr b="0" i="0" lang="en-US" sz="2800" u="none">
                <a:solidFill>
                  <a:schemeClr val="dk1"/>
                </a:solidFill>
                <a:latin typeface="Times New Roman"/>
                <a:ea typeface="Times New Roman"/>
                <a:cs typeface="Times New Roman"/>
                <a:sym typeface="Times New Roman"/>
              </a:rPr>
              <a:t> often called </a:t>
            </a:r>
            <a:r>
              <a:rPr b="1" i="0" lang="en-US" sz="2800" u="none">
                <a:solidFill>
                  <a:schemeClr val="dk1"/>
                </a:solidFill>
                <a:latin typeface="Times New Roman"/>
                <a:ea typeface="Times New Roman"/>
                <a:cs typeface="Times New Roman"/>
                <a:sym typeface="Times New Roman"/>
              </a:rPr>
              <a:t>adult onset</a:t>
            </a:r>
            <a:r>
              <a:rPr b="0" i="0" lang="en-US" sz="2800" u="none">
                <a:solidFill>
                  <a:schemeClr val="dk1"/>
                </a:solidFill>
                <a:latin typeface="Times New Roman"/>
                <a:ea typeface="Times New Roman"/>
                <a:cs typeface="Times New Roman"/>
                <a:sym typeface="Times New Roman"/>
              </a:rPr>
              <a:t> diabetes &amp;</a:t>
            </a:r>
            <a:endParaRPr/>
          </a:p>
          <a:p>
            <a:pPr indent="-342900" lvl="0" marL="342900" marR="0" rtl="0" algn="l">
              <a:lnSpc>
                <a:spcPct val="90000"/>
              </a:lnSpc>
              <a:spcBef>
                <a:spcPts val="560"/>
              </a:spcBef>
              <a:spcAft>
                <a:spcPts val="0"/>
              </a:spcAft>
              <a:buClr>
                <a:schemeClr val="hlink"/>
              </a:buClr>
              <a:buSzPts val="2800"/>
              <a:buFont typeface="Times New Roman"/>
              <a:buChar char="•"/>
            </a:pPr>
            <a:r>
              <a:rPr b="0" i="0" lang="en-US" sz="2800" u="none">
                <a:solidFill>
                  <a:schemeClr val="hlink"/>
                </a:solidFill>
                <a:latin typeface="Times New Roman"/>
                <a:ea typeface="Times New Roman"/>
                <a:cs typeface="Times New Roman"/>
                <a:sym typeface="Times New Roman"/>
              </a:rPr>
              <a:t>Gestational diabetes</a:t>
            </a:r>
            <a:r>
              <a:rPr b="0" i="0" lang="en-US" sz="2800" u="none">
                <a:solidFill>
                  <a:schemeClr val="dk1"/>
                </a:solidFill>
                <a:latin typeface="Times New Roman"/>
                <a:ea typeface="Times New Roman"/>
                <a:cs typeface="Times New Roman"/>
                <a:sym typeface="Times New Roman"/>
              </a:rPr>
              <a:t>.</a:t>
            </a:r>
            <a:endParaRPr/>
          </a:p>
          <a:p>
            <a:pPr indent="-342900" lvl="0" marL="342900" marR="0" rtl="0" algn="l">
              <a:lnSpc>
                <a:spcPct val="9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most common forms of diabetes are type 1 diabetes</a:t>
            </a:r>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(5%), which is an autoimmune disorder. and </a:t>
            </a:r>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Type 2 diabetes (95%), which is associated with obesity.</a:t>
            </a:r>
            <a:endParaRPr/>
          </a:p>
          <a:p>
            <a:pPr indent="-342900" lvl="0" marL="342900" marR="0" rtl="0" algn="l">
              <a:lnSpc>
                <a:spcPct val="9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Gestational diabetes is a form of diabetes that</a:t>
            </a:r>
            <a:endParaRPr/>
          </a:p>
          <a:p>
            <a:pPr indent="-342900" lvl="0" marL="342900" marR="0" rtl="0" algn="l">
              <a:lnSpc>
                <a:spcPct val="75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occurs in pregnancy.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nvSpPr>
        <p:spPr>
          <a:xfrm>
            <a:off x="209550" y="76200"/>
            <a:ext cx="8896350" cy="6762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75000"/>
              </a:lnSpc>
              <a:spcBef>
                <a:spcPts val="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Type 1 diabetes: </a:t>
            </a:r>
            <a:endParaRPr/>
          </a:p>
          <a:p>
            <a:pPr indent="-285750" lvl="1" marL="742950" marR="0" rtl="0" algn="l">
              <a:lnSpc>
                <a:spcPct val="75000"/>
              </a:lnSpc>
              <a:spcBef>
                <a:spcPts val="7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most commonly occurs in children </a:t>
            </a:r>
            <a:endParaRPr/>
          </a:p>
          <a:p>
            <a:pPr indent="-285750" lvl="1" marL="742950" marR="0" rtl="0" algn="l">
              <a:lnSpc>
                <a:spcPct val="75000"/>
              </a:lnSpc>
              <a:spcBef>
                <a:spcPts val="7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is a result of the body's immune system attacking and destroying the beta islet cells. </a:t>
            </a:r>
            <a:endParaRPr/>
          </a:p>
          <a:p>
            <a:pPr indent="-285750" lvl="1" marL="742950" marR="0" rtl="0" algn="l">
              <a:lnSpc>
                <a:spcPct val="75000"/>
              </a:lnSpc>
              <a:spcBef>
                <a:spcPts val="7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trigger for this autoimmune attack is not clear, but the result is the end of insulin production.</a:t>
            </a:r>
            <a:endParaRPr/>
          </a:p>
          <a:p>
            <a:pPr indent="-342900" lvl="0" marL="342900" marR="0" rtl="0" algn="l">
              <a:lnSpc>
                <a:spcPct val="75000"/>
              </a:lnSpc>
              <a:spcBef>
                <a:spcPts val="1400"/>
              </a:spcBef>
              <a:spcAft>
                <a:spcPts val="0"/>
              </a:spcAft>
              <a:buClr>
                <a:schemeClr val="hlink"/>
              </a:buClr>
              <a:buSzPts val="2800"/>
              <a:buFont typeface="Times New Roman"/>
              <a:buNone/>
            </a:pPr>
            <a:r>
              <a:rPr b="0" i="0" lang="en-US" sz="2800" u="none">
                <a:solidFill>
                  <a:schemeClr val="hlink"/>
                </a:solidFill>
                <a:latin typeface="Times New Roman"/>
                <a:ea typeface="Times New Roman"/>
                <a:cs typeface="Times New Roman"/>
                <a:sym typeface="Times New Roman"/>
              </a:rPr>
              <a:t>Type 2 diabetes</a:t>
            </a:r>
            <a:endParaRPr/>
          </a:p>
          <a:p>
            <a:pPr indent="-285750" lvl="1" marL="742950" marR="0" rtl="0" algn="l">
              <a:lnSpc>
                <a:spcPct val="75000"/>
              </a:lnSpc>
              <a:spcBef>
                <a:spcPts val="7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Type 2 diabetes commonly occurs in adults who are obese. </a:t>
            </a:r>
            <a:endParaRPr/>
          </a:p>
          <a:p>
            <a:pPr indent="-285750" lvl="1" marL="742950" marR="0" rtl="0" algn="l">
              <a:lnSpc>
                <a:spcPct val="75000"/>
              </a:lnSpc>
              <a:spcBef>
                <a:spcPts val="42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There are many underlying factors that contribute to the high blood glucose levels in these individuals. </a:t>
            </a:r>
            <a:endParaRPr/>
          </a:p>
          <a:p>
            <a:pPr indent="-285750" lvl="1" marL="742950" marR="0" rtl="0" algn="l">
              <a:lnSpc>
                <a:spcPct val="75000"/>
              </a:lnSpc>
              <a:spcBef>
                <a:spcPts val="420"/>
              </a:spcBef>
              <a:spcAft>
                <a:spcPts val="0"/>
              </a:spcAft>
              <a:buClr>
                <a:schemeClr val="hlink"/>
              </a:buClr>
              <a:buSzPts val="2800"/>
              <a:buFont typeface="Times New Roman"/>
              <a:buChar char="•"/>
            </a:pPr>
            <a:r>
              <a:rPr b="0" i="0" lang="en-US" sz="2800" u="none" cap="none" strike="noStrike">
                <a:solidFill>
                  <a:schemeClr val="hlink"/>
                </a:solidFill>
                <a:latin typeface="Times New Roman"/>
                <a:ea typeface="Times New Roman"/>
                <a:cs typeface="Times New Roman"/>
                <a:sym typeface="Times New Roman"/>
              </a:rPr>
              <a:t>An important factor</a:t>
            </a:r>
            <a:r>
              <a:rPr b="0" i="0" lang="en-US" sz="2800" u="none" cap="none" strike="noStrike">
                <a:solidFill>
                  <a:schemeClr val="dk1"/>
                </a:solidFill>
                <a:latin typeface="Times New Roman"/>
                <a:ea typeface="Times New Roman"/>
                <a:cs typeface="Times New Roman"/>
                <a:sym typeface="Times New Roman"/>
              </a:rPr>
              <a:t> is the body's </a:t>
            </a:r>
            <a:r>
              <a:rPr b="0" i="0" lang="en-US" sz="2800" u="none" cap="none" strike="noStrike">
                <a:solidFill>
                  <a:schemeClr val="hlink"/>
                </a:solidFill>
                <a:latin typeface="Times New Roman"/>
                <a:ea typeface="Times New Roman"/>
                <a:cs typeface="Times New Roman"/>
                <a:sym typeface="Times New Roman"/>
              </a:rPr>
              <a:t>resistance to insulin</a:t>
            </a:r>
            <a:r>
              <a:rPr b="0" i="0" lang="en-US" sz="2800" u="none" cap="none" strike="noStrike">
                <a:solidFill>
                  <a:schemeClr val="dk1"/>
                </a:solidFill>
                <a:latin typeface="Times New Roman"/>
                <a:ea typeface="Times New Roman"/>
                <a:cs typeface="Times New Roman"/>
                <a:sym typeface="Times New Roman"/>
              </a:rPr>
              <a:t> in the body, essentially ignoring its insulin secretions. </a:t>
            </a:r>
            <a:endParaRPr/>
          </a:p>
          <a:p>
            <a:pPr indent="-285750" lvl="1" marL="742950" marR="0" rtl="0" algn="l">
              <a:lnSpc>
                <a:spcPct val="75000"/>
              </a:lnSpc>
              <a:spcBef>
                <a:spcPts val="420"/>
              </a:spcBef>
              <a:spcAft>
                <a:spcPts val="0"/>
              </a:spcAft>
              <a:buClr>
                <a:schemeClr val="hlink"/>
              </a:buClr>
              <a:buSzPts val="2800"/>
              <a:buFont typeface="Times New Roman"/>
              <a:buChar char="•"/>
            </a:pPr>
            <a:r>
              <a:rPr b="0" i="0" lang="en-US" sz="2800" u="none" cap="none" strike="noStrike">
                <a:solidFill>
                  <a:schemeClr val="hlink"/>
                </a:solidFill>
                <a:latin typeface="Times New Roman"/>
                <a:ea typeface="Times New Roman"/>
                <a:cs typeface="Times New Roman"/>
                <a:sym typeface="Times New Roman"/>
              </a:rPr>
              <a:t>A second factor</a:t>
            </a:r>
            <a:r>
              <a:rPr b="0" i="0" lang="en-US" sz="2800" u="none" cap="none" strike="noStrike">
                <a:solidFill>
                  <a:schemeClr val="dk1"/>
                </a:solidFill>
                <a:latin typeface="Times New Roman"/>
                <a:ea typeface="Times New Roman"/>
                <a:cs typeface="Times New Roman"/>
                <a:sym typeface="Times New Roman"/>
              </a:rPr>
              <a:t> is the </a:t>
            </a:r>
            <a:r>
              <a:rPr b="0" i="0" lang="en-US" sz="2800" u="none" cap="none" strike="noStrike">
                <a:solidFill>
                  <a:schemeClr val="hlink"/>
                </a:solidFill>
                <a:latin typeface="Times New Roman"/>
                <a:ea typeface="Times New Roman"/>
                <a:cs typeface="Times New Roman"/>
                <a:sym typeface="Times New Roman"/>
              </a:rPr>
              <a:t>falling production of insulin</a:t>
            </a:r>
            <a:r>
              <a:rPr b="0" i="0" lang="en-US" sz="2800" u="none" cap="none" strike="noStrike">
                <a:solidFill>
                  <a:schemeClr val="dk1"/>
                </a:solidFill>
                <a:latin typeface="Times New Roman"/>
                <a:ea typeface="Times New Roman"/>
                <a:cs typeface="Times New Roman"/>
                <a:sym typeface="Times New Roman"/>
              </a:rPr>
              <a:t> by the beta cells of the pancreas. </a:t>
            </a:r>
            <a:endParaRPr/>
          </a:p>
          <a:p>
            <a:pPr indent="-285750" lvl="1" marL="742950" marR="0" rtl="0" algn="l">
              <a:lnSpc>
                <a:spcPct val="75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Therefore, an individual with type 2 diabetes may have a</a:t>
            </a:r>
            <a:endParaRPr/>
          </a:p>
          <a:p>
            <a:pPr indent="-285750" lvl="1" marL="74295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combination of deficient secretion and deficient action of</a:t>
            </a:r>
            <a:endParaRPr/>
          </a:p>
          <a:p>
            <a:pPr indent="-285750" lvl="1" marL="742950" marR="0" rtl="0" algn="l">
              <a:lnSpc>
                <a:spcPct val="75000"/>
              </a:lnSpc>
              <a:spcBef>
                <a:spcPts val="28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insulin.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nvSpPr>
        <p:spPr>
          <a:xfrm>
            <a:off x="0" y="-76200"/>
            <a:ext cx="9144000" cy="10239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hlink"/>
              </a:buClr>
              <a:buSzPts val="3200"/>
              <a:buFont typeface="Times New Roman"/>
              <a:buNone/>
            </a:pPr>
            <a:r>
              <a:rPr b="1" i="0" lang="en-US" sz="3200" u="none">
                <a:solidFill>
                  <a:schemeClr val="hlink"/>
                </a:solidFill>
                <a:latin typeface="Times New Roman"/>
                <a:ea typeface="Times New Roman"/>
                <a:cs typeface="Times New Roman"/>
                <a:sym typeface="Times New Roman"/>
              </a:rPr>
              <a:t>Type I &amp; II Diabetes : Insulin Response </a:t>
            </a:r>
            <a:endParaRPr/>
          </a:p>
        </p:txBody>
      </p:sp>
      <p:pic>
        <p:nvPicPr>
          <p:cNvPr descr="cell legend" id="162" name="Google Shape;162;p23"/>
          <p:cNvPicPr preferRelativeResize="0"/>
          <p:nvPr/>
        </p:nvPicPr>
        <p:blipFill rotWithShape="1">
          <a:blip r:embed="rId3">
            <a:alphaModFix/>
          </a:blip>
          <a:srcRect b="0" l="0" r="0" t="0"/>
          <a:stretch/>
        </p:blipFill>
        <p:spPr>
          <a:xfrm>
            <a:off x="457200" y="1143000"/>
            <a:ext cx="1968500" cy="2895600"/>
          </a:xfrm>
          <a:prstGeom prst="rect">
            <a:avLst/>
          </a:prstGeom>
          <a:noFill/>
          <a:ln cap="flat" cmpd="dbl" w="38100">
            <a:solidFill>
              <a:srgbClr val="000000"/>
            </a:solidFill>
            <a:prstDash val="solid"/>
            <a:miter lim="8000"/>
            <a:headEnd len="sm" w="sm" type="none"/>
            <a:tailEnd len="sm" w="sm" type="none"/>
          </a:ln>
        </p:spPr>
      </p:pic>
      <p:pic>
        <p:nvPicPr>
          <p:cNvPr descr="Normal Cell" id="163" name="Google Shape;163;p23"/>
          <p:cNvPicPr preferRelativeResize="0"/>
          <p:nvPr/>
        </p:nvPicPr>
        <p:blipFill rotWithShape="1">
          <a:blip r:embed="rId4">
            <a:alphaModFix/>
          </a:blip>
          <a:srcRect b="0" l="0" r="0" t="0"/>
          <a:stretch/>
        </p:blipFill>
        <p:spPr>
          <a:xfrm>
            <a:off x="2438400" y="1143000"/>
            <a:ext cx="2009775" cy="2895600"/>
          </a:xfrm>
          <a:prstGeom prst="rect">
            <a:avLst/>
          </a:prstGeom>
          <a:noFill/>
          <a:ln cap="flat" cmpd="dbl" w="38100">
            <a:solidFill>
              <a:srgbClr val="000000"/>
            </a:solidFill>
            <a:prstDash val="solid"/>
            <a:miter lim="8000"/>
            <a:headEnd len="sm" w="sm" type="none"/>
            <a:tailEnd len="sm" w="sm" type="none"/>
          </a:ln>
        </p:spPr>
      </p:pic>
      <p:pic>
        <p:nvPicPr>
          <p:cNvPr descr="Type I Diabetes Cell" id="164" name="Google Shape;164;p23"/>
          <p:cNvPicPr preferRelativeResize="0"/>
          <p:nvPr/>
        </p:nvPicPr>
        <p:blipFill rotWithShape="1">
          <a:blip r:embed="rId5">
            <a:alphaModFix/>
          </a:blip>
          <a:srcRect b="0" l="0" r="0" t="0"/>
          <a:stretch/>
        </p:blipFill>
        <p:spPr>
          <a:xfrm>
            <a:off x="4419600" y="1143000"/>
            <a:ext cx="2005012" cy="2895600"/>
          </a:xfrm>
          <a:prstGeom prst="rect">
            <a:avLst/>
          </a:prstGeom>
          <a:noFill/>
          <a:ln cap="flat" cmpd="dbl" w="38100">
            <a:solidFill>
              <a:srgbClr val="000000"/>
            </a:solidFill>
            <a:prstDash val="solid"/>
            <a:miter lim="8000"/>
            <a:headEnd len="sm" w="sm" type="none"/>
            <a:tailEnd len="sm" w="sm" type="none"/>
          </a:ln>
        </p:spPr>
      </p:pic>
      <p:pic>
        <p:nvPicPr>
          <p:cNvPr descr="Type II Diabetes Cell" id="165" name="Google Shape;165;p23"/>
          <p:cNvPicPr preferRelativeResize="0"/>
          <p:nvPr/>
        </p:nvPicPr>
        <p:blipFill rotWithShape="1">
          <a:blip r:embed="rId6">
            <a:alphaModFix/>
          </a:blip>
          <a:srcRect b="2499" l="0" r="0" t="0"/>
          <a:stretch/>
        </p:blipFill>
        <p:spPr>
          <a:xfrm>
            <a:off x="6434137" y="1143000"/>
            <a:ext cx="2090737" cy="2971800"/>
          </a:xfrm>
          <a:prstGeom prst="rect">
            <a:avLst/>
          </a:prstGeom>
          <a:noFill/>
          <a:ln cap="flat" cmpd="dbl" w="38100">
            <a:solidFill>
              <a:srgbClr val="000000"/>
            </a:solidFill>
            <a:prstDash val="solid"/>
            <a:miter lim="8000"/>
            <a:headEnd len="sm" w="sm" type="none"/>
            <a:tailEnd len="sm" w="sm" type="none"/>
          </a:ln>
        </p:spPr>
      </p:pic>
      <p:sp>
        <p:nvSpPr>
          <p:cNvPr id="166" name="Google Shape;166;p23"/>
          <p:cNvSpPr txBox="1"/>
          <p:nvPr/>
        </p:nvSpPr>
        <p:spPr>
          <a:xfrm>
            <a:off x="2438400" y="4038600"/>
            <a:ext cx="1981200" cy="2743200"/>
          </a:xfrm>
          <a:prstGeom prst="rect">
            <a:avLst/>
          </a:prstGeom>
          <a:solidFill>
            <a:schemeClr val="folHlink"/>
          </a:solidFill>
          <a:ln cap="flat" cmpd="dbl" w="381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This is a normal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cell.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Insulin is present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and is taken into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the cell to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facilitate proper</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 glucose uptake.</a:t>
            </a:r>
            <a:endParaRPr/>
          </a:p>
        </p:txBody>
      </p:sp>
      <p:sp>
        <p:nvSpPr>
          <p:cNvPr id="167" name="Google Shape;167;p23"/>
          <p:cNvSpPr txBox="1"/>
          <p:nvPr/>
        </p:nvSpPr>
        <p:spPr>
          <a:xfrm>
            <a:off x="4343400" y="4038600"/>
            <a:ext cx="2057400" cy="2743200"/>
          </a:xfrm>
          <a:prstGeom prst="rect">
            <a:avLst/>
          </a:prstGeom>
          <a:solidFill>
            <a:srgbClr val="9966FF"/>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In Type I diabetes,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insulin is not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produced; so,</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 there is nothing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to signal the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cells to take in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glucose </a:t>
            </a:r>
            <a:endParaRPr/>
          </a:p>
          <a:p>
            <a:pPr indent="0" lvl="0" marL="0" marR="0" rtl="0" algn="ctr">
              <a:lnSpc>
                <a:spcPct val="100000"/>
              </a:lnSpc>
              <a:spcBef>
                <a:spcPts val="0"/>
              </a:spcBef>
              <a:spcAft>
                <a:spcPts val="0"/>
              </a:spcAft>
              <a:buClr>
                <a:schemeClr val="dk1"/>
              </a:buClr>
              <a:buSzPts val="1600"/>
              <a:buFont typeface="Tahoma"/>
              <a:buNone/>
            </a:pPr>
            <a:r>
              <a:rPr b="0" i="0" lang="en-US" sz="1600" u="none">
                <a:solidFill>
                  <a:schemeClr val="dk1"/>
                </a:solidFill>
                <a:latin typeface="Tahoma"/>
                <a:ea typeface="Tahoma"/>
                <a:cs typeface="Tahoma"/>
                <a:sym typeface="Tahoma"/>
              </a:rPr>
              <a:t>and metabolize it. </a:t>
            </a:r>
            <a:endParaRPr/>
          </a:p>
        </p:txBody>
      </p:sp>
      <p:sp>
        <p:nvSpPr>
          <p:cNvPr id="168" name="Google Shape;168;p23"/>
          <p:cNvSpPr txBox="1"/>
          <p:nvPr/>
        </p:nvSpPr>
        <p:spPr>
          <a:xfrm>
            <a:off x="6400800" y="4038600"/>
            <a:ext cx="2133600" cy="2743200"/>
          </a:xfrm>
          <a:prstGeom prst="rect">
            <a:avLst/>
          </a:prstGeom>
          <a:solidFill>
            <a:srgbClr val="FF99FF"/>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Here, insulin is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present, but signal</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 for proper glucose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uptake &amp; metabolism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is lost. The problem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could be in the insulin</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 itself or in any one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 of the proteins involved</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 in glucose uptake and </a:t>
            </a:r>
            <a:endParaRPr/>
          </a:p>
          <a:p>
            <a:pPr indent="0" lvl="0" marL="0" marR="0" rtl="0" algn="ctr">
              <a:lnSpc>
                <a:spcPct val="100000"/>
              </a:lnSpc>
              <a:spcBef>
                <a:spcPts val="0"/>
              </a:spcBef>
              <a:spcAft>
                <a:spcPts val="0"/>
              </a:spcAft>
              <a:buClr>
                <a:srgbClr val="000000"/>
              </a:buClr>
              <a:buSzPts val="1600"/>
              <a:buFont typeface="Tahoma"/>
              <a:buNone/>
            </a:pPr>
            <a:r>
              <a:rPr b="0" i="0" lang="en-US" sz="1600" u="none">
                <a:solidFill>
                  <a:srgbClr val="000000"/>
                </a:solidFill>
                <a:latin typeface="Tahoma"/>
                <a:ea typeface="Tahoma"/>
                <a:cs typeface="Tahoma"/>
                <a:sym typeface="Tahoma"/>
              </a:rPr>
              <a:t>metabolism.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nvSpPr>
        <p:spPr>
          <a:xfrm>
            <a:off x="0" y="38100"/>
            <a:ext cx="8915400" cy="60960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a:solidFill>
                  <a:srgbClr val="FF0000"/>
                </a:solidFill>
                <a:latin typeface="Times New Roman"/>
                <a:ea typeface="Times New Roman"/>
                <a:cs typeface="Times New Roman"/>
                <a:sym typeface="Times New Roman"/>
              </a:rPr>
              <a:t>Gestational Diabetes- 3</a:t>
            </a:r>
            <a:r>
              <a:rPr b="1" baseline="30000" i="0" lang="en-US" sz="3200" u="none">
                <a:solidFill>
                  <a:srgbClr val="FF0000"/>
                </a:solidFill>
                <a:latin typeface="Times New Roman"/>
                <a:ea typeface="Times New Roman"/>
                <a:cs typeface="Times New Roman"/>
                <a:sym typeface="Times New Roman"/>
              </a:rPr>
              <a:t>rd</a:t>
            </a:r>
            <a:r>
              <a:rPr b="1" i="0" lang="en-US" sz="3200" u="none">
                <a:solidFill>
                  <a:srgbClr val="FF0000"/>
                </a:solidFill>
                <a:latin typeface="Times New Roman"/>
                <a:ea typeface="Times New Roman"/>
                <a:cs typeface="Times New Roman"/>
                <a:sym typeface="Times New Roman"/>
              </a:rPr>
              <a:t> Type of Diabetes</a:t>
            </a:r>
            <a:endParaRPr/>
          </a:p>
        </p:txBody>
      </p:sp>
      <p:pic>
        <p:nvPicPr>
          <p:cNvPr descr="ges dia" id="174" name="Google Shape;174;p24"/>
          <p:cNvPicPr preferRelativeResize="0"/>
          <p:nvPr/>
        </p:nvPicPr>
        <p:blipFill rotWithShape="1">
          <a:blip r:embed="rId3">
            <a:alphaModFix/>
          </a:blip>
          <a:srcRect b="0" l="0" r="0" t="0"/>
          <a:stretch/>
        </p:blipFill>
        <p:spPr>
          <a:xfrm>
            <a:off x="1763712" y="2960687"/>
            <a:ext cx="4656137" cy="3592512"/>
          </a:xfrm>
          <a:prstGeom prst="rect">
            <a:avLst/>
          </a:prstGeom>
          <a:noFill/>
          <a:ln cap="flat" cmpd="sng" w="12700">
            <a:solidFill>
              <a:srgbClr val="000000"/>
            </a:solidFill>
            <a:prstDash val="solid"/>
            <a:miter lim="8000"/>
            <a:headEnd len="sm" w="sm" type="none"/>
            <a:tailEnd len="sm" w="sm" type="none"/>
          </a:ln>
        </p:spPr>
      </p:pic>
      <p:sp>
        <p:nvSpPr>
          <p:cNvPr id="175" name="Google Shape;175;p24"/>
          <p:cNvSpPr txBox="1"/>
          <p:nvPr/>
        </p:nvSpPr>
        <p:spPr>
          <a:xfrm>
            <a:off x="409575" y="939800"/>
            <a:ext cx="8067675" cy="16287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Gestational diabetes is diabetes that happens for the first time when a woman is pregnant. Gestational diabetes goes away when any woman has her baby, but it increases her risk for having diabetes later.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nvSpPr>
        <p:spPr>
          <a:xfrm>
            <a:off x="476250" y="2201862"/>
            <a:ext cx="7448550" cy="3081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9966"/>
              </a:buClr>
              <a:buSzPts val="2800"/>
              <a:buFont typeface="Times New Roman"/>
              <a:buNone/>
            </a:pPr>
            <a:r>
              <a:rPr b="1" i="0" lang="en-US" sz="2800" u="none">
                <a:solidFill>
                  <a:srgbClr val="FF9966"/>
                </a:solidFill>
                <a:latin typeface="Times New Roman"/>
                <a:ea typeface="Times New Roman"/>
                <a:cs typeface="Times New Roman"/>
                <a:sym typeface="Times New Roman"/>
              </a:rPr>
              <a:t>Macrosomia</a:t>
            </a:r>
            <a:r>
              <a:rPr b="0" i="0" lang="en-US" sz="2800" u="none">
                <a:solidFill>
                  <a:srgbClr val="FF9966"/>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 refers to a baby that is considerably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larger than normal. </a:t>
            </a:r>
            <a:endParaRPr/>
          </a:p>
          <a:p>
            <a:pPr indent="0" lvl="0" marL="0" marR="0" rtl="0" algn="l">
              <a:lnSpc>
                <a:spcPct val="100000"/>
              </a:lnSpc>
              <a:spcBef>
                <a:spcPts val="0"/>
              </a:spcBef>
              <a:spcAft>
                <a:spcPts val="0"/>
              </a:spcAft>
              <a:buClr>
                <a:srgbClr val="FF9966"/>
              </a:buClr>
              <a:buSzPts val="2800"/>
              <a:buFont typeface="Times New Roman"/>
              <a:buNone/>
            </a:pPr>
            <a:r>
              <a:rPr b="1" i="0" lang="en-US" sz="2800" u="none">
                <a:solidFill>
                  <a:srgbClr val="FF9966"/>
                </a:solidFill>
                <a:latin typeface="Times New Roman"/>
                <a:ea typeface="Times New Roman"/>
                <a:cs typeface="Times New Roman"/>
                <a:sym typeface="Times New Roman"/>
              </a:rPr>
              <a:t>Birth injury</a:t>
            </a:r>
            <a:r>
              <a:rPr b="0" i="0" lang="en-US" sz="2800" u="none">
                <a:solidFill>
                  <a:srgbClr val="FF9966"/>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 may occur due to the baby's large size and difficulty being born.</a:t>
            </a:r>
            <a:endParaRPr b="1"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9966"/>
              </a:buClr>
              <a:buSzPts val="2800"/>
              <a:buFont typeface="Times New Roman"/>
              <a:buNone/>
            </a:pPr>
            <a:r>
              <a:rPr b="1" i="0" lang="en-US" sz="2800" u="none">
                <a:solidFill>
                  <a:srgbClr val="FF9966"/>
                </a:solidFill>
                <a:latin typeface="Times New Roman"/>
                <a:ea typeface="Times New Roman"/>
                <a:cs typeface="Times New Roman"/>
                <a:sym typeface="Times New Roman"/>
              </a:rPr>
              <a:t>Hypoglycemia</a:t>
            </a:r>
            <a:r>
              <a:rPr b="0" i="0" lang="en-US" sz="2800" u="none">
                <a:solidFill>
                  <a:srgbClr val="FF9966"/>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refers to low blood sugar in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baby immediately after delivery. </a:t>
            </a:r>
            <a:endParaRPr/>
          </a:p>
          <a:p>
            <a:pPr indent="0" lvl="0" marL="0" marR="0" rtl="0" algn="l">
              <a:lnSpc>
                <a:spcPct val="100000"/>
              </a:lnSpc>
              <a:spcBef>
                <a:spcPts val="0"/>
              </a:spcBef>
              <a:spcAft>
                <a:spcPts val="0"/>
              </a:spcAft>
              <a:buClr>
                <a:srgbClr val="FF9966"/>
              </a:buClr>
              <a:buSzPts val="2800"/>
              <a:buFont typeface="Times New Roman"/>
              <a:buNone/>
            </a:pPr>
            <a:r>
              <a:rPr b="1" i="0" lang="en-US" sz="2800" u="none">
                <a:solidFill>
                  <a:srgbClr val="FF9966"/>
                </a:solidFill>
                <a:latin typeface="Times New Roman"/>
                <a:ea typeface="Times New Roman"/>
                <a:cs typeface="Times New Roman"/>
                <a:sym typeface="Times New Roman"/>
              </a:rPr>
              <a:t>Respiratory distress-</a:t>
            </a:r>
            <a:r>
              <a:rPr b="0" i="0" lang="en-US" sz="2800" u="none">
                <a:solidFill>
                  <a:schemeClr val="dk1"/>
                </a:solidFill>
                <a:latin typeface="Times New Roman"/>
                <a:ea typeface="Times New Roman"/>
                <a:cs typeface="Times New Roman"/>
                <a:sym typeface="Times New Roman"/>
              </a:rPr>
              <a:t>difficulty breathing</a:t>
            </a:r>
            <a:endParaRPr/>
          </a:p>
        </p:txBody>
      </p:sp>
      <p:sp>
        <p:nvSpPr>
          <p:cNvPr id="181" name="Google Shape;181;p25"/>
          <p:cNvSpPr txBox="1"/>
          <p:nvPr/>
        </p:nvSpPr>
        <p:spPr>
          <a:xfrm>
            <a:off x="403225" y="1114425"/>
            <a:ext cx="8010525"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a:solidFill>
                  <a:srgbClr val="0000FF"/>
                </a:solidFill>
                <a:latin typeface="Times New Roman"/>
                <a:ea typeface="Times New Roman"/>
                <a:cs typeface="Times New Roman"/>
                <a:sym typeface="Times New Roman"/>
              </a:rPr>
              <a:t>Due to Gestational Diabetes- the baby has risks for-</a:t>
            </a:r>
            <a:endParaRPr/>
          </a:p>
          <a:p>
            <a:pPr indent="0" lvl="0" marL="0" marR="0" rtl="0" algn="l">
              <a:lnSpc>
                <a:spcPct val="100000"/>
              </a:lnSpc>
              <a:spcBef>
                <a:spcPts val="0"/>
              </a:spcBef>
              <a:spcAft>
                <a:spcPts val="0"/>
              </a:spcAft>
              <a:buNone/>
            </a:pPr>
            <a:r>
              <a:t/>
            </a:r>
            <a:endParaRPr b="1" i="0" sz="2800" u="none">
              <a:solidFill>
                <a:srgbClr val="0000FF"/>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nvSpPr>
        <p:spPr>
          <a:xfrm>
            <a:off x="1295400" y="0"/>
            <a:ext cx="6400800"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000"/>
              <a:buFont typeface="Times New Roman"/>
              <a:buNone/>
            </a:pPr>
            <a:r>
              <a:rPr b="1" i="0" lang="en-US" sz="4000" u="none">
                <a:solidFill>
                  <a:srgbClr val="FF0000"/>
                </a:solidFill>
                <a:latin typeface="Times New Roman"/>
                <a:ea typeface="Times New Roman"/>
                <a:cs typeface="Times New Roman"/>
                <a:sym typeface="Times New Roman"/>
              </a:rPr>
              <a:t>Signs &amp; Symptoms</a:t>
            </a:r>
            <a:endParaRPr/>
          </a:p>
        </p:txBody>
      </p:sp>
      <p:pic>
        <p:nvPicPr>
          <p:cNvPr descr="Diabetes" id="187" name="Google Shape;187;p26"/>
          <p:cNvPicPr preferRelativeResize="0"/>
          <p:nvPr/>
        </p:nvPicPr>
        <p:blipFill rotWithShape="1">
          <a:blip r:embed="rId3">
            <a:alphaModFix/>
          </a:blip>
          <a:srcRect b="0" l="52082" r="0" t="0"/>
          <a:stretch/>
        </p:blipFill>
        <p:spPr>
          <a:xfrm>
            <a:off x="381000" y="838200"/>
            <a:ext cx="5410200" cy="6019800"/>
          </a:xfrm>
          <a:prstGeom prst="rect">
            <a:avLst/>
          </a:prstGeom>
          <a:noFill/>
          <a:ln cap="flat" cmpd="sng" w="12700">
            <a:solidFill>
              <a:srgbClr val="000000"/>
            </a:solidFill>
            <a:prstDash val="solid"/>
            <a:miter lim="8000"/>
            <a:headEnd len="sm" w="sm" type="none"/>
            <a:tailEnd len="sm" w="sm" type="none"/>
          </a:ln>
        </p:spPr>
      </p:pic>
      <p:sp>
        <p:nvSpPr>
          <p:cNvPr id="188" name="Google Shape;188;p26"/>
          <p:cNvSpPr txBox="1"/>
          <p:nvPr/>
        </p:nvSpPr>
        <p:spPr>
          <a:xfrm>
            <a:off x="0" y="3124200"/>
            <a:ext cx="2362200" cy="304800"/>
          </a:xfrm>
          <a:prstGeom prst="rect">
            <a:avLst/>
          </a:prstGeom>
          <a:solidFill>
            <a:srgbClr val="FF00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Dry Mouth</a:t>
            </a:r>
            <a:endParaRPr/>
          </a:p>
        </p:txBody>
      </p:sp>
      <p:sp>
        <p:nvSpPr>
          <p:cNvPr id="189" name="Google Shape;189;p26"/>
          <p:cNvSpPr txBox="1"/>
          <p:nvPr/>
        </p:nvSpPr>
        <p:spPr>
          <a:xfrm>
            <a:off x="4114800" y="3429000"/>
            <a:ext cx="2209800" cy="304800"/>
          </a:xfrm>
          <a:prstGeom prst="rect">
            <a:avLst/>
          </a:prstGeom>
          <a:solidFill>
            <a:srgbClr val="FF00FF"/>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Extreme Thirst</a:t>
            </a:r>
            <a:endParaRPr/>
          </a:p>
        </p:txBody>
      </p:sp>
      <p:sp>
        <p:nvSpPr>
          <p:cNvPr id="190" name="Google Shape;190;p26"/>
          <p:cNvSpPr txBox="1"/>
          <p:nvPr/>
        </p:nvSpPr>
        <p:spPr>
          <a:xfrm>
            <a:off x="76200" y="4724400"/>
            <a:ext cx="2590800" cy="304800"/>
          </a:xfrm>
          <a:prstGeom prst="rect">
            <a:avLst/>
          </a:prstGeom>
          <a:solidFill>
            <a:srgbClr val="FFFF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Frequent  Urination</a:t>
            </a:r>
            <a:endParaRPr/>
          </a:p>
        </p:txBody>
      </p:sp>
      <p:sp>
        <p:nvSpPr>
          <p:cNvPr id="191" name="Google Shape;191;p26"/>
          <p:cNvSpPr txBox="1"/>
          <p:nvPr/>
        </p:nvSpPr>
        <p:spPr>
          <a:xfrm>
            <a:off x="0" y="6248400"/>
            <a:ext cx="2743200" cy="304800"/>
          </a:xfrm>
          <a:prstGeom prst="rect">
            <a:avLst/>
          </a:prstGeom>
          <a:solidFill>
            <a:srgbClr val="6666FF"/>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Frequent Bed wetting</a:t>
            </a:r>
            <a:endParaRPr/>
          </a:p>
        </p:txBody>
      </p:sp>
      <p:sp>
        <p:nvSpPr>
          <p:cNvPr id="192" name="Google Shape;192;p26"/>
          <p:cNvSpPr txBox="1"/>
          <p:nvPr/>
        </p:nvSpPr>
        <p:spPr>
          <a:xfrm>
            <a:off x="4038600" y="6400800"/>
            <a:ext cx="2209800" cy="228600"/>
          </a:xfrm>
          <a:prstGeom prst="rect">
            <a:avLst/>
          </a:prstGeom>
          <a:solidFill>
            <a:srgbClr val="00FFFF"/>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Stomach Pain</a:t>
            </a:r>
            <a:endParaRPr/>
          </a:p>
        </p:txBody>
      </p:sp>
      <p:sp>
        <p:nvSpPr>
          <p:cNvPr id="193" name="Google Shape;193;p26"/>
          <p:cNvSpPr txBox="1"/>
          <p:nvPr/>
        </p:nvSpPr>
        <p:spPr>
          <a:xfrm>
            <a:off x="4038600" y="5105400"/>
            <a:ext cx="2362200" cy="304800"/>
          </a:xfrm>
          <a:prstGeom prst="rect">
            <a:avLst/>
          </a:prstGeom>
          <a:solidFill>
            <a:srgbClr val="6600CC"/>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Always Tired</a:t>
            </a:r>
            <a:endParaRPr/>
          </a:p>
        </p:txBody>
      </p:sp>
      <p:sp>
        <p:nvSpPr>
          <p:cNvPr id="194" name="Google Shape;194;p26"/>
          <p:cNvSpPr/>
          <p:nvPr/>
        </p:nvSpPr>
        <p:spPr>
          <a:xfrm>
            <a:off x="4648200" y="2057400"/>
            <a:ext cx="609600" cy="381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gulp</a:t>
            </a:r>
            <a:endParaRPr/>
          </a:p>
        </p:txBody>
      </p:sp>
      <p:sp>
        <p:nvSpPr>
          <p:cNvPr id="195" name="Google Shape;195;p26"/>
          <p:cNvSpPr/>
          <p:nvPr/>
        </p:nvSpPr>
        <p:spPr>
          <a:xfrm>
            <a:off x="5105400" y="2286000"/>
            <a:ext cx="609600" cy="381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gulp</a:t>
            </a:r>
            <a:endParaRPr/>
          </a:p>
        </p:txBody>
      </p:sp>
      <p:sp>
        <p:nvSpPr>
          <p:cNvPr id="196" name="Google Shape;196;p26"/>
          <p:cNvSpPr/>
          <p:nvPr/>
        </p:nvSpPr>
        <p:spPr>
          <a:xfrm>
            <a:off x="5181600" y="2667000"/>
            <a:ext cx="609600" cy="381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gulp</a:t>
            </a:r>
            <a:endParaRPr/>
          </a:p>
        </p:txBody>
      </p:sp>
      <p:pic>
        <p:nvPicPr>
          <p:cNvPr descr="diabetes sypmtoms" id="197" name="Google Shape;197;p26"/>
          <p:cNvPicPr preferRelativeResize="0"/>
          <p:nvPr/>
        </p:nvPicPr>
        <p:blipFill rotWithShape="1">
          <a:blip r:embed="rId4">
            <a:alphaModFix/>
          </a:blip>
          <a:srcRect b="56129" l="41636" r="43260" t="24632"/>
          <a:stretch/>
        </p:blipFill>
        <p:spPr>
          <a:xfrm>
            <a:off x="6172200" y="990600"/>
            <a:ext cx="1143000" cy="1600200"/>
          </a:xfrm>
          <a:prstGeom prst="rect">
            <a:avLst/>
          </a:prstGeom>
          <a:noFill/>
          <a:ln>
            <a:noFill/>
          </a:ln>
        </p:spPr>
      </p:pic>
      <p:sp>
        <p:nvSpPr>
          <p:cNvPr id="198" name="Google Shape;198;p26"/>
          <p:cNvSpPr/>
          <p:nvPr/>
        </p:nvSpPr>
        <p:spPr>
          <a:xfrm>
            <a:off x="7124700" y="762000"/>
            <a:ext cx="1524000" cy="1219200"/>
          </a:xfrm>
          <a:prstGeom prst="ellipse">
            <a:avLst/>
          </a:prstGeom>
          <a:solidFill>
            <a:srgbClr val="9900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Sudden </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Weight </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Loss</a:t>
            </a:r>
            <a:endParaRPr/>
          </a:p>
        </p:txBody>
      </p:sp>
      <p:pic>
        <p:nvPicPr>
          <p:cNvPr descr="diabetes sypmtoms" id="199" name="Google Shape;199;p26"/>
          <p:cNvPicPr preferRelativeResize="0"/>
          <p:nvPr/>
        </p:nvPicPr>
        <p:blipFill rotWithShape="1">
          <a:blip r:embed="rId4">
            <a:alphaModFix/>
          </a:blip>
          <a:srcRect b="38752" l="16577" r="57717" t="44233"/>
          <a:stretch/>
        </p:blipFill>
        <p:spPr>
          <a:xfrm>
            <a:off x="7010400" y="3048000"/>
            <a:ext cx="1600200" cy="1454150"/>
          </a:xfrm>
          <a:prstGeom prst="rect">
            <a:avLst/>
          </a:prstGeom>
          <a:noFill/>
          <a:ln>
            <a:noFill/>
          </a:ln>
        </p:spPr>
      </p:pic>
      <p:sp>
        <p:nvSpPr>
          <p:cNvPr id="200" name="Google Shape;200;p26"/>
          <p:cNvSpPr/>
          <p:nvPr/>
        </p:nvSpPr>
        <p:spPr>
          <a:xfrm>
            <a:off x="6705600" y="2743200"/>
            <a:ext cx="1219200" cy="838200"/>
          </a:xfrm>
          <a:prstGeom prst="ellipse">
            <a:avLst/>
          </a:prstGeom>
          <a:solidFill>
            <a:srgbClr val="CC00FF"/>
          </a:solid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Always </a:t>
            </a:r>
            <a:endParaRPr/>
          </a:p>
          <a:p>
            <a:pPr indent="0" lvl="0" marL="0" marR="0" rtl="0" algn="ctr">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Hungry</a:t>
            </a:r>
            <a:endParaRPr/>
          </a:p>
        </p:txBody>
      </p:sp>
      <p:pic>
        <p:nvPicPr>
          <p:cNvPr descr="diabetes sypmtoms" id="201" name="Google Shape;201;p26"/>
          <p:cNvPicPr preferRelativeResize="0"/>
          <p:nvPr/>
        </p:nvPicPr>
        <p:blipFill rotWithShape="1">
          <a:blip r:embed="rId4">
            <a:alphaModFix/>
          </a:blip>
          <a:srcRect b="56263" l="62745" r="15600" t="24981"/>
          <a:stretch/>
        </p:blipFill>
        <p:spPr>
          <a:xfrm>
            <a:off x="6553200" y="4800600"/>
            <a:ext cx="1209675" cy="1371600"/>
          </a:xfrm>
          <a:prstGeom prst="rect">
            <a:avLst/>
          </a:prstGeom>
          <a:noFill/>
          <a:ln>
            <a:noFill/>
          </a:ln>
        </p:spPr>
      </p:pic>
      <p:sp>
        <p:nvSpPr>
          <p:cNvPr id="202" name="Google Shape;202;p26"/>
          <p:cNvSpPr/>
          <p:nvPr/>
        </p:nvSpPr>
        <p:spPr>
          <a:xfrm>
            <a:off x="7124700" y="5486400"/>
            <a:ext cx="1676400" cy="685800"/>
          </a:xfrm>
          <a:prstGeom prst="ellipse">
            <a:avLst/>
          </a:prstGeom>
          <a:solidFill>
            <a:srgbClr val="0000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rPr b="0" i="0" lang="en-US" sz="1800" u="none">
                <a:solidFill>
                  <a:schemeClr val="lt1"/>
                </a:solidFill>
                <a:latin typeface="Arial"/>
                <a:ea typeface="Arial"/>
                <a:cs typeface="Arial"/>
                <a:sym typeface="Arial"/>
              </a:rPr>
              <a:t>Wounds that</a:t>
            </a:r>
            <a:endParaRPr/>
          </a:p>
          <a:p>
            <a:pPr indent="0" lvl="0" marL="0" marR="0" rtl="0" algn="ctr">
              <a:lnSpc>
                <a:spcPct val="100000"/>
              </a:lnSpc>
              <a:spcBef>
                <a:spcPts val="0"/>
              </a:spcBef>
              <a:spcAft>
                <a:spcPts val="0"/>
              </a:spcAft>
              <a:buClr>
                <a:schemeClr val="lt1"/>
              </a:buClr>
              <a:buSzPts val="1800"/>
              <a:buFont typeface="Arial"/>
              <a:buNone/>
            </a:pPr>
            <a:r>
              <a:rPr b="0" i="0" lang="en-US" sz="1800" u="none">
                <a:solidFill>
                  <a:schemeClr val="lt1"/>
                </a:solidFill>
                <a:latin typeface="Arial"/>
                <a:ea typeface="Arial"/>
                <a:cs typeface="Arial"/>
                <a:sym typeface="Arial"/>
              </a:rPr>
              <a:t>won’t heal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txBox="1"/>
          <p:nvPr/>
        </p:nvSpPr>
        <p:spPr>
          <a:xfrm>
            <a:off x="457200" y="-30480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Times New Roman"/>
              <a:buNone/>
            </a:pPr>
            <a:r>
              <a:rPr b="1" i="0" lang="en-US" sz="4400" u="none">
                <a:solidFill>
                  <a:srgbClr val="FF0000"/>
                </a:solidFill>
                <a:latin typeface="Times New Roman"/>
                <a:ea typeface="Times New Roman"/>
                <a:cs typeface="Times New Roman"/>
                <a:sym typeface="Times New Roman"/>
              </a:rPr>
              <a:t>Diagnosis</a:t>
            </a:r>
            <a:endParaRPr/>
          </a:p>
        </p:txBody>
      </p:sp>
      <p:sp>
        <p:nvSpPr>
          <p:cNvPr id="208" name="Google Shape;208;p27"/>
          <p:cNvSpPr txBox="1"/>
          <p:nvPr/>
        </p:nvSpPr>
        <p:spPr>
          <a:xfrm>
            <a:off x="0" y="762000"/>
            <a:ext cx="4038600" cy="5638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Diabetes is diagnosed by measuring the blood glucose level during fasting (</a:t>
            </a:r>
            <a:r>
              <a:rPr b="0" i="0" lang="en-US" sz="2800" u="none">
                <a:solidFill>
                  <a:schemeClr val="hlink"/>
                </a:solidFill>
                <a:latin typeface="Times New Roman"/>
                <a:ea typeface="Times New Roman"/>
                <a:cs typeface="Times New Roman"/>
                <a:sym typeface="Times New Roman"/>
              </a:rPr>
              <a:t>Fasting plasma glucose test</a:t>
            </a:r>
            <a:r>
              <a:rPr b="0" i="0" lang="en-US" sz="2800" u="none">
                <a:solidFill>
                  <a:schemeClr val="dk1"/>
                </a:solidFill>
                <a:latin typeface="Times New Roman"/>
                <a:ea typeface="Times New Roman"/>
                <a:cs typeface="Times New Roman"/>
                <a:sym typeface="Times New Roman"/>
              </a:rPr>
              <a:t>) or an </a:t>
            </a:r>
            <a:r>
              <a:rPr b="0" i="0" lang="en-US" sz="2800" u="none">
                <a:solidFill>
                  <a:schemeClr val="hlink"/>
                </a:solidFill>
                <a:latin typeface="Times New Roman"/>
                <a:ea typeface="Times New Roman"/>
                <a:cs typeface="Times New Roman"/>
                <a:sym typeface="Times New Roman"/>
              </a:rPr>
              <a:t>oral glucose tolerance test</a:t>
            </a:r>
            <a:r>
              <a:rPr b="0" i="0" lang="en-US" sz="2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   Three status associated with diabetes: </a:t>
            </a:r>
            <a:r>
              <a:rPr b="0" i="0" lang="en-US" sz="2800" u="none">
                <a:solidFill>
                  <a:schemeClr val="hlink"/>
                </a:solidFill>
                <a:latin typeface="Times New Roman"/>
                <a:ea typeface="Times New Roman"/>
                <a:cs typeface="Times New Roman"/>
                <a:sym typeface="Times New Roman"/>
              </a:rPr>
              <a:t>people who are not diabetic</a:t>
            </a:r>
            <a:r>
              <a:rPr b="0" i="0" lang="en-US" sz="2800" u="none">
                <a:solidFill>
                  <a:schemeClr val="dk1"/>
                </a:solidFill>
                <a:latin typeface="Times New Roman"/>
                <a:ea typeface="Times New Roman"/>
                <a:cs typeface="Times New Roman"/>
                <a:sym typeface="Times New Roman"/>
              </a:rPr>
              <a:t>; </a:t>
            </a:r>
            <a:r>
              <a:rPr b="0" i="0" lang="en-US" sz="2800" u="none">
                <a:solidFill>
                  <a:schemeClr val="hlink"/>
                </a:solidFill>
                <a:latin typeface="Times New Roman"/>
                <a:ea typeface="Times New Roman"/>
                <a:cs typeface="Times New Roman"/>
                <a:sym typeface="Times New Roman"/>
              </a:rPr>
              <a:t>those with Impaired Glucose Tolerance (IGT);</a:t>
            </a:r>
            <a:r>
              <a:rPr b="0" i="0" lang="en-US" sz="2800" u="none">
                <a:solidFill>
                  <a:schemeClr val="dk1"/>
                </a:solidFill>
                <a:latin typeface="Times New Roman"/>
                <a:ea typeface="Times New Roman"/>
                <a:cs typeface="Times New Roman"/>
                <a:sym typeface="Times New Roman"/>
              </a:rPr>
              <a:t> and </a:t>
            </a:r>
            <a:r>
              <a:rPr b="0" i="0" lang="en-US" sz="2800" u="none">
                <a:solidFill>
                  <a:schemeClr val="hlink"/>
                </a:solidFill>
                <a:latin typeface="Times New Roman"/>
                <a:ea typeface="Times New Roman"/>
                <a:cs typeface="Times New Roman"/>
                <a:sym typeface="Times New Roman"/>
              </a:rPr>
              <a:t>those with diabetes.</a:t>
            </a:r>
            <a:endParaRPr/>
          </a:p>
        </p:txBody>
      </p:sp>
      <p:graphicFrame>
        <p:nvGraphicFramePr>
          <p:cNvPr id="209" name="Google Shape;209;p27"/>
          <p:cNvGraphicFramePr/>
          <p:nvPr/>
        </p:nvGraphicFramePr>
        <p:xfrm>
          <a:off x="3924300" y="2076450"/>
          <a:ext cx="3000000" cy="3000000"/>
        </p:xfrm>
        <a:graphic>
          <a:graphicData uri="http://schemas.openxmlformats.org/drawingml/2006/table">
            <a:tbl>
              <a:tblPr>
                <a:noFill/>
                <a:tableStyleId>{53F2E621-01A4-48BA-9757-FA032A718F89}</a:tableStyleId>
              </a:tblPr>
              <a:tblGrid>
                <a:gridCol w="1752600"/>
                <a:gridCol w="1371600"/>
                <a:gridCol w="1828800"/>
              </a:tblGrid>
              <a:tr h="533400">
                <a:tc rowSpan="2">
                  <a:txBody>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8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Category</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gridSpan="2">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Blood Glucose (mg/dL)</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hMerge="1"/>
              </a:tr>
              <a:tr h="482600">
                <a:tc vMerge="1"/>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Fasting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After meal</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r>
              <a:tr h="457200">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Normal</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&lt;115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&lt;140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r>
              <a:tr h="509575">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Diabetic</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&gt;140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&gt;200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00FF"/>
                    </a:solidFill>
                  </a:tcPr>
                </a:tc>
              </a:tr>
              <a:tr h="1335075">
                <a:tc>
                  <a:txBody>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Impaired</a:t>
                      </a:r>
                      <a:endParaRPr/>
                    </a:p>
                    <a:p>
                      <a:pPr indent="0" lvl="0" marL="0" marR="0" rtl="0" algn="ctr">
                        <a:lnSpc>
                          <a:spcPct val="100000"/>
                        </a:lnSpc>
                        <a:spcBef>
                          <a:spcPts val="48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Glucose</a:t>
                      </a:r>
                      <a:endParaRPr/>
                    </a:p>
                    <a:p>
                      <a:pPr indent="0" lvl="0" marL="0" marR="0" rtl="0" algn="ctr">
                        <a:lnSpc>
                          <a:spcPct val="100000"/>
                        </a:lnSpc>
                        <a:spcBef>
                          <a:spcPts val="48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Tolerance</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8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&lt;140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00FF"/>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8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140-199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00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p:nvPr/>
        </p:nvSpPr>
        <p:spPr>
          <a:xfrm>
            <a:off x="2362200" y="2362200"/>
            <a:ext cx="4533900" cy="1920875"/>
          </a:xfrm>
          <a:prstGeom prst="rect">
            <a:avLst/>
          </a:prstGeom>
        </p:spPr>
        <p:txBody>
          <a:bodyPr>
            <a:prstTxWarp prst="textPlain"/>
          </a:bodyPr>
          <a:lstStyle/>
          <a:p>
            <a:pPr lvl="0" algn="l"/>
            <a:r>
              <a:rPr b="0" i="0">
                <a:ln cap="flat" cmpd="sng" w="12700">
                  <a:solidFill>
                    <a:srgbClr val="3333CC"/>
                  </a:solidFill>
                  <a:prstDash val="solid"/>
                  <a:miter lim="8000"/>
                  <a:headEnd len="sm" w="sm" type="none"/>
                  <a:tailEnd len="sm" w="sm" type="none"/>
                </a:ln>
                <a:solidFill>
                  <a:srgbClr val="B2B2B2">
                    <a:alpha val="50196"/>
                  </a:srgbClr>
                </a:solidFill>
                <a:latin typeface="Arial Black"/>
              </a:rPr>
              <a:t>Lipid profile </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nvSpPr>
        <p:spPr>
          <a:xfrm>
            <a:off x="457200" y="1447800"/>
            <a:ext cx="8443912" cy="399573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3300"/>
              </a:buClr>
              <a:buSzPts val="3200"/>
              <a:buFont typeface="Times New Roman"/>
              <a:buNone/>
            </a:pPr>
            <a:r>
              <a:rPr b="1" i="0" lang="en-US" sz="3200" u="none">
                <a:solidFill>
                  <a:srgbClr val="FF3300"/>
                </a:solidFill>
                <a:latin typeface="Times New Roman"/>
                <a:ea typeface="Times New Roman"/>
                <a:cs typeface="Times New Roman"/>
                <a:sym typeface="Times New Roman"/>
              </a:rPr>
              <a:t>What is a lipid profile?</a:t>
            </a:r>
            <a:r>
              <a:rPr b="1" i="0" lang="en-US" sz="28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lipid profile is a group of tests that are often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ordered together to determine risk of coronary heart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disease. The tests that make up a lipid profile are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tests that have been shown to be good indicators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of whether someone is likely to have a heart attack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or stroke caused by blockage of blood vessels </a:t>
            </a:r>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(hardening of the arteries).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nvSpPr>
        <p:spPr>
          <a:xfrm>
            <a:off x="304800" y="1220787"/>
            <a:ext cx="7848600" cy="40576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3300"/>
              </a:buClr>
              <a:buSzPts val="3600"/>
              <a:buFont typeface="Times New Roman"/>
              <a:buNone/>
            </a:pPr>
            <a:r>
              <a:rPr b="1" i="0" lang="en-US" sz="3600" u="none">
                <a:solidFill>
                  <a:srgbClr val="FF3300"/>
                </a:solidFill>
                <a:latin typeface="Times New Roman"/>
                <a:ea typeface="Times New Roman"/>
                <a:cs typeface="Times New Roman"/>
                <a:sym typeface="Times New Roman"/>
              </a:rPr>
              <a:t>Your Lipid Profile</a:t>
            </a:r>
            <a:r>
              <a:rPr b="0" i="0" lang="en-US" sz="28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When doctors order a lab test called a lipid profile (sometimes called a lipid panel), they are looking for information about the amounts of four types of fats in the blood. You will be asked to give a small sample of blood from your arm. The results can help your doctor evaluate your risk for heart disease.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nvSpPr>
        <p:spPr>
          <a:xfrm>
            <a:off x="533400" y="1219200"/>
            <a:ext cx="8153400"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800"/>
              <a:buFont typeface="Times New Roman"/>
              <a:buNone/>
            </a:pPr>
            <a:r>
              <a:rPr b="1" i="0" lang="en-US" sz="2800" u="none">
                <a:solidFill>
                  <a:srgbClr val="FF3300"/>
                </a:solidFill>
                <a:latin typeface="Times New Roman"/>
                <a:ea typeface="Times New Roman"/>
                <a:cs typeface="Times New Roman"/>
                <a:sym typeface="Times New Roman"/>
              </a:rPr>
              <a:t>What tests are included in a lipid profile?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rgbClr val="FF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lipid profile includes total cholesterol, HDL-cholesterol (often called good cholesterol), LDL-cholesterol (often called bad cholesterol), and triglycerides.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Sometimes the report will include additional calculated values such as the Cholesterol/HDL ratio or a risk score based on lipid profile results, age, sex, and other risk factors.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nvSpPr>
        <p:spPr>
          <a:xfrm>
            <a:off x="457200" y="457200"/>
            <a:ext cx="8382000" cy="5216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800"/>
              <a:buFont typeface="Times New Roman"/>
              <a:buNone/>
            </a:pPr>
            <a:r>
              <a:rPr b="1" i="1" lang="en-US" sz="2800" u="none">
                <a:solidFill>
                  <a:srgbClr val="FF3300"/>
                </a:solidFill>
                <a:latin typeface="Times New Roman"/>
                <a:ea typeface="Times New Roman"/>
                <a:cs typeface="Times New Roman"/>
                <a:sym typeface="Times New Roman"/>
              </a:rPr>
              <a:t>Cholesterol</a:t>
            </a:r>
            <a:r>
              <a:rPr b="1" i="0" lang="en-US" sz="2800" u="none">
                <a:solidFill>
                  <a:srgbClr val="FF3300"/>
                </a:solidFill>
                <a:latin typeface="Times New Roman"/>
                <a:ea typeface="Times New Roman"/>
                <a:cs typeface="Times New Roman"/>
                <a:sym typeface="Times New Roman"/>
              </a:rPr>
              <a:t> </a:t>
            </a:r>
            <a:r>
              <a:rPr b="1" i="0" lang="en-US" sz="2800" u="none">
                <a:solidFill>
                  <a:schemeClr val="dk1"/>
                </a:solidFill>
                <a:latin typeface="Times New Roman"/>
                <a:ea typeface="Times New Roman"/>
                <a:cs typeface="Times New Roman"/>
                <a:sym typeface="Times New Roman"/>
              </a:rPr>
              <a:t>helps the body form hormones, vitamin D and other important substances, but too much of it in the blood can clog and damage the blood vessels. Because it is a fat-like substance that doesn't mix with blood, cholesterol has to combine with proteins to form lipoproteins. Lipoproteins can travel in the blood to all the organs and tissues of the body. </a:t>
            </a:r>
            <a:endParaRPr/>
          </a:p>
          <a:p>
            <a:pPr indent="0" lvl="0" marL="0" marR="0" rtl="0" algn="l">
              <a:lnSpc>
                <a:spcPct val="100000"/>
              </a:lnSpc>
              <a:spcBef>
                <a:spcPts val="0"/>
              </a:spcBef>
              <a:spcAft>
                <a:spcPts val="0"/>
              </a:spcAft>
              <a:buClr>
                <a:schemeClr val="dk1"/>
              </a:buClr>
              <a:buSzPts val="2800"/>
              <a:buFont typeface="Times New Roman"/>
              <a:buNone/>
            </a:pPr>
            <a:r>
              <a:t/>
            </a:r>
            <a:endParaRPr b="1"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3300"/>
              </a:buClr>
              <a:buSzPts val="2800"/>
              <a:buFont typeface="Times New Roman"/>
              <a:buNone/>
            </a:pPr>
            <a:r>
              <a:rPr b="1" i="1" lang="en-US" sz="2800" u="none">
                <a:solidFill>
                  <a:srgbClr val="FF3300"/>
                </a:solidFill>
                <a:latin typeface="Times New Roman"/>
                <a:ea typeface="Times New Roman"/>
                <a:cs typeface="Times New Roman"/>
                <a:sym typeface="Times New Roman"/>
              </a:rPr>
              <a:t>Low-density lipoproteins</a:t>
            </a:r>
            <a:r>
              <a:rPr b="1" i="0" lang="en-US" sz="2800" u="none">
                <a:solidFill>
                  <a:schemeClr val="dk1"/>
                </a:solidFill>
                <a:latin typeface="Times New Roman"/>
                <a:ea typeface="Times New Roman"/>
                <a:cs typeface="Times New Roman"/>
                <a:sym typeface="Times New Roman"/>
              </a:rPr>
              <a:t> (LDLs, or "bad" cholesterol) build up in the blood and increase your risk of heart disease.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nvSpPr>
        <p:spPr>
          <a:xfrm>
            <a:off x="533400" y="1219200"/>
            <a:ext cx="8229600" cy="496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3200"/>
              <a:buFont typeface="Times New Roman"/>
              <a:buNone/>
            </a:pPr>
            <a:r>
              <a:rPr b="1" i="1" lang="en-US" sz="3200" u="none">
                <a:solidFill>
                  <a:srgbClr val="FF3300"/>
                </a:solidFill>
                <a:latin typeface="Times New Roman"/>
                <a:ea typeface="Times New Roman"/>
                <a:cs typeface="Times New Roman"/>
                <a:sym typeface="Times New Roman"/>
              </a:rPr>
              <a:t>High-density lipoproteins</a:t>
            </a:r>
            <a:r>
              <a:rPr b="1" i="0" lang="en-US" sz="3200" u="none">
                <a:solidFill>
                  <a:schemeClr val="dk1"/>
                </a:solidFill>
                <a:latin typeface="Times New Roman"/>
                <a:ea typeface="Times New Roman"/>
                <a:cs typeface="Times New Roman"/>
                <a:sym typeface="Times New Roman"/>
              </a:rPr>
              <a:t> (HDLs, or "good" cholesterol) carry cholesterol to the liver, where it is removed from the body. </a:t>
            </a:r>
            <a:endParaRPr/>
          </a:p>
          <a:p>
            <a:pPr indent="0" lvl="0" marL="0" marR="0" rtl="0" algn="l">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3300"/>
              </a:buClr>
              <a:buSzPts val="3200"/>
              <a:buFont typeface="Times New Roman"/>
              <a:buNone/>
            </a:pPr>
            <a:r>
              <a:rPr b="1" i="1" lang="en-US" sz="3200" u="none">
                <a:solidFill>
                  <a:srgbClr val="FF3300"/>
                </a:solidFill>
                <a:latin typeface="Times New Roman"/>
                <a:ea typeface="Times New Roman"/>
                <a:cs typeface="Times New Roman"/>
                <a:sym typeface="Times New Roman"/>
              </a:rPr>
              <a:t>Triglycerides</a:t>
            </a:r>
            <a:r>
              <a:rPr b="1" i="0" lang="en-US" sz="3200" u="none">
                <a:solidFill>
                  <a:schemeClr val="dk1"/>
                </a:solidFill>
                <a:latin typeface="Times New Roman"/>
                <a:ea typeface="Times New Roman"/>
                <a:cs typeface="Times New Roman"/>
                <a:sym typeface="Times New Roman"/>
              </a:rPr>
              <a:t> store energy for your body to use when it is needed. If there is too much, it can block blood vessels and cause other health problems such as abdominal pain and pancreatitis.</a:t>
            </a:r>
            <a:r>
              <a:rPr b="0" i="0" lang="en-US" sz="32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nvSpPr>
        <p:spPr>
          <a:xfrm>
            <a:off x="533400" y="1524000"/>
            <a:ext cx="7848600" cy="3629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3200"/>
              <a:buFont typeface="Times New Roman"/>
              <a:buNone/>
            </a:pPr>
            <a:r>
              <a:rPr b="1" i="0" lang="en-US" sz="3200" u="none">
                <a:solidFill>
                  <a:srgbClr val="FF3300"/>
                </a:solidFill>
                <a:latin typeface="Times New Roman"/>
                <a:ea typeface="Times New Roman"/>
                <a:cs typeface="Times New Roman"/>
                <a:sym typeface="Times New Roman"/>
              </a:rPr>
              <a:t>How is a lipid profile used? </a:t>
            </a:r>
            <a:endParaRPr/>
          </a:p>
          <a:p>
            <a:pPr indent="0" lvl="0" marL="0" marR="0" rtl="0" algn="l">
              <a:lnSpc>
                <a:spcPct val="100000"/>
              </a:lnSpc>
              <a:spcBef>
                <a:spcPts val="0"/>
              </a:spcBef>
              <a:spcAft>
                <a:spcPts val="0"/>
              </a:spcAft>
              <a:buClr>
                <a:schemeClr val="dk1"/>
              </a:buClr>
              <a:buSzPts val="3200"/>
              <a:buFont typeface="Times New Roman"/>
              <a:buNone/>
            </a:pPr>
            <a:r>
              <a:t/>
            </a:r>
            <a:endParaRPr b="0" i="0" sz="3200" u="none">
              <a:solidFill>
                <a:srgbClr val="FF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lipid profile is used to guide providers in deciding how a person at risk should be treated. The results of the lipid profile are considered along with other known risk factors of heart disease to develop a plan of treatment and follow-up.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nvSpPr>
        <p:spPr>
          <a:xfrm>
            <a:off x="1143000" y="1524000"/>
            <a:ext cx="6743700" cy="4965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Total Cholesterol (</a:t>
            </a:r>
            <a:r>
              <a:rPr b="1" i="0" lang="en-US" sz="3200" u="none">
                <a:solidFill>
                  <a:schemeClr val="hlink"/>
                </a:solidFill>
                <a:latin typeface="Times New Roman"/>
                <a:ea typeface="Times New Roman"/>
                <a:cs typeface="Times New Roman"/>
                <a:sym typeface="Times New Roman"/>
              </a:rPr>
              <a:t>lower is better</a:t>
            </a:r>
            <a:r>
              <a:rPr b="1" i="0" lang="en-US" sz="32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Best = &lt;200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Borderline high = 200-239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High = 240 mg/dL or higher </a:t>
            </a:r>
            <a:endParaRPr/>
          </a:p>
          <a:p>
            <a:pPr indent="0" lvl="0" marL="0" marR="0" rtl="0" algn="l">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Triglycerides (</a:t>
            </a:r>
            <a:r>
              <a:rPr b="1" i="0" lang="en-US" sz="3200" u="none">
                <a:solidFill>
                  <a:schemeClr val="hlink"/>
                </a:solidFill>
                <a:latin typeface="Times New Roman"/>
                <a:ea typeface="Times New Roman"/>
                <a:cs typeface="Times New Roman"/>
                <a:sym typeface="Times New Roman"/>
              </a:rPr>
              <a:t>lower is better</a:t>
            </a:r>
            <a:r>
              <a:rPr b="1" i="0" lang="en-US" sz="32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Best = &lt;150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Borderline high = 150-199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High = 200-499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Very high = 500 mg/dl or higher</a:t>
            </a:r>
            <a:r>
              <a:rPr b="0" i="0" lang="en-US" sz="3200" u="none">
                <a:solidFill>
                  <a:schemeClr val="dk1"/>
                </a:solidFill>
                <a:latin typeface="Times New Roman"/>
                <a:ea typeface="Times New Roman"/>
                <a:cs typeface="Times New Roman"/>
                <a:sym typeface="Times New Roman"/>
              </a:rPr>
              <a:t> </a:t>
            </a:r>
            <a:endParaRPr/>
          </a:p>
        </p:txBody>
      </p:sp>
      <p:sp>
        <p:nvSpPr>
          <p:cNvPr id="250" name="Google Shape;250;p35"/>
          <p:cNvSpPr txBox="1"/>
          <p:nvPr/>
        </p:nvSpPr>
        <p:spPr>
          <a:xfrm>
            <a:off x="228600" y="563562"/>
            <a:ext cx="7011987" cy="5191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336600"/>
              </a:buClr>
              <a:buSzPts val="2800"/>
              <a:buFont typeface="Times New Roman"/>
              <a:buNone/>
            </a:pPr>
            <a:r>
              <a:rPr b="1" i="0" lang="en-US" sz="2800" u="none">
                <a:solidFill>
                  <a:srgbClr val="336600"/>
                </a:solidFill>
                <a:latin typeface="Times New Roman"/>
                <a:ea typeface="Times New Roman"/>
                <a:cs typeface="Times New Roman"/>
                <a:sym typeface="Times New Roman"/>
              </a:rPr>
              <a:t>It's important to know that the ranges....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nvSpPr>
        <p:spPr>
          <a:xfrm>
            <a:off x="1066800" y="1371600"/>
            <a:ext cx="7315200" cy="496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LDL Cholesterol (</a:t>
            </a:r>
            <a:r>
              <a:rPr b="1" i="0" lang="en-US" sz="3200" u="none">
                <a:solidFill>
                  <a:schemeClr val="hlink"/>
                </a:solidFill>
                <a:latin typeface="Times New Roman"/>
                <a:ea typeface="Times New Roman"/>
                <a:cs typeface="Times New Roman"/>
                <a:sym typeface="Times New Roman"/>
              </a:rPr>
              <a:t>lower is better</a:t>
            </a:r>
            <a:r>
              <a:rPr b="1" i="0" lang="en-US" sz="32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Best = &lt;100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Good = 100-129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Borderline high = 130-159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High = 160-189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Very high = 190 mg/dL or higher </a:t>
            </a:r>
            <a:endParaRPr/>
          </a:p>
          <a:p>
            <a:pPr indent="0" lvl="0" marL="0" marR="0" rtl="0" algn="l">
              <a:lnSpc>
                <a:spcPct val="100000"/>
              </a:lnSpc>
              <a:spcBef>
                <a:spcPts val="0"/>
              </a:spcBef>
              <a:spcAft>
                <a:spcPts val="0"/>
              </a:spcAft>
              <a:buClr>
                <a:schemeClr val="dk1"/>
              </a:buClr>
              <a:buSzPts val="3200"/>
              <a:buFont typeface="Times New Roman"/>
              <a:buNone/>
            </a:pPr>
            <a:r>
              <a:t/>
            </a:r>
            <a:endParaRPr b="1"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HDL Cholesterol (</a:t>
            </a:r>
            <a:r>
              <a:rPr b="1" i="0" lang="en-US" sz="3200" u="none">
                <a:solidFill>
                  <a:schemeClr val="hlink"/>
                </a:solidFill>
                <a:latin typeface="Times New Roman"/>
                <a:ea typeface="Times New Roman"/>
                <a:cs typeface="Times New Roman"/>
                <a:sym typeface="Times New Roman"/>
              </a:rPr>
              <a:t>higher is better</a:t>
            </a:r>
            <a:r>
              <a:rPr b="1" i="0" lang="en-US" sz="32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Low = &lt;40 mg/dL</a:t>
            </a:r>
            <a:br>
              <a:rPr b="1" i="0" lang="en-US" sz="3200" u="none">
                <a:solidFill>
                  <a:schemeClr val="dk1"/>
                </a:solidFill>
                <a:latin typeface="Times New Roman"/>
                <a:ea typeface="Times New Roman"/>
                <a:cs typeface="Times New Roman"/>
                <a:sym typeface="Times New Roman"/>
              </a:rPr>
            </a:br>
            <a:r>
              <a:rPr b="1" i="0" lang="en-US" sz="3200" u="none">
                <a:solidFill>
                  <a:schemeClr val="dk1"/>
                </a:solidFill>
                <a:latin typeface="Times New Roman"/>
                <a:ea typeface="Times New Roman"/>
                <a:cs typeface="Times New Roman"/>
                <a:sym typeface="Times New Roman"/>
              </a:rPr>
              <a:t>Best = 60 mg/dL or higher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7"/>
          <p:cNvPicPr preferRelativeResize="0"/>
          <p:nvPr/>
        </p:nvPicPr>
        <p:blipFill rotWithShape="1">
          <a:blip r:embed="rId3">
            <a:alphaModFix/>
          </a:blip>
          <a:srcRect b="0" l="0" r="0" t="0"/>
          <a:stretch/>
        </p:blipFill>
        <p:spPr>
          <a:xfrm>
            <a:off x="1371600" y="1447800"/>
            <a:ext cx="6477000" cy="4989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ank Presentation">
  <a:themeElements>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