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6"/>
  </p:notesMasterIdLst>
  <p:sldIdLst>
    <p:sldId id="257" r:id="rId2"/>
    <p:sldId id="259" r:id="rId3"/>
    <p:sldId id="260" r:id="rId4"/>
    <p:sldId id="262" r:id="rId5"/>
    <p:sldId id="263" r:id="rId6"/>
    <p:sldId id="294" r:id="rId7"/>
    <p:sldId id="264" r:id="rId8"/>
    <p:sldId id="265" r:id="rId9"/>
    <p:sldId id="266" r:id="rId10"/>
    <p:sldId id="267" r:id="rId11"/>
    <p:sldId id="268" r:id="rId12"/>
    <p:sldId id="292" r:id="rId13"/>
    <p:sldId id="293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BCFC89-3A10-4B27-9129-B04237813BED}" type="doc">
      <dgm:prSet loTypeId="urn:microsoft.com/office/officeart/2005/8/layout/process2" loCatId="process" qsTypeId="urn:microsoft.com/office/officeart/2005/8/quickstyle/simple5" qsCatId="simple" csTypeId="urn:microsoft.com/office/officeart/2005/8/colors/accent1_2" csCatId="accent1" phldr="1"/>
      <dgm:spPr/>
    </dgm:pt>
    <dgm:pt modelId="{11C02B9F-C533-4AFE-92E6-852A0A228D42}">
      <dgm:prSet phldrT="[Text]"/>
      <dgm:spPr/>
      <dgm:t>
        <a:bodyPr/>
        <a:lstStyle/>
        <a:p>
          <a:r>
            <a:rPr lang="en-US" dirty="0"/>
            <a:t>Big Bang Theory: Origin of Earth</a:t>
          </a:r>
        </a:p>
      </dgm:t>
    </dgm:pt>
    <dgm:pt modelId="{D5BD7986-A26E-46B1-9056-0D99D3B12C0A}" type="parTrans" cxnId="{39920802-8E7A-4430-B8EA-D2F3E16DCBE2}">
      <dgm:prSet/>
      <dgm:spPr/>
      <dgm:t>
        <a:bodyPr/>
        <a:lstStyle/>
        <a:p>
          <a:endParaRPr lang="en-US"/>
        </a:p>
      </dgm:t>
    </dgm:pt>
    <dgm:pt modelId="{805E7A6A-41E9-4CE8-A955-9C6717242455}" type="sibTrans" cxnId="{39920802-8E7A-4430-B8EA-D2F3E16DCBE2}">
      <dgm:prSet/>
      <dgm:spPr/>
      <dgm:t>
        <a:bodyPr/>
        <a:lstStyle/>
        <a:p>
          <a:endParaRPr lang="en-US"/>
        </a:p>
      </dgm:t>
    </dgm:pt>
    <dgm:pt modelId="{B183524E-CE9E-4C18-8395-1B4B5DC9E5D2}">
      <dgm:prSet phldrT="[Text]"/>
      <dgm:spPr/>
      <dgm:t>
        <a:bodyPr/>
        <a:lstStyle/>
        <a:p>
          <a:r>
            <a:rPr lang="en-US" dirty="0"/>
            <a:t>Earth without life</a:t>
          </a:r>
        </a:p>
      </dgm:t>
    </dgm:pt>
    <dgm:pt modelId="{D37854AF-BDE5-4C4D-B838-6AEE97C80EE0}" type="parTrans" cxnId="{310550D0-91BE-42B9-8103-1400588262EF}">
      <dgm:prSet/>
      <dgm:spPr/>
      <dgm:t>
        <a:bodyPr/>
        <a:lstStyle/>
        <a:p>
          <a:endParaRPr lang="en-US"/>
        </a:p>
      </dgm:t>
    </dgm:pt>
    <dgm:pt modelId="{BD59BCDF-D005-412B-BC7B-FCC3573E099A}" type="sibTrans" cxnId="{310550D0-91BE-42B9-8103-1400588262EF}">
      <dgm:prSet/>
      <dgm:spPr/>
      <dgm:t>
        <a:bodyPr/>
        <a:lstStyle/>
        <a:p>
          <a:endParaRPr lang="en-US"/>
        </a:p>
      </dgm:t>
    </dgm:pt>
    <dgm:pt modelId="{B531F987-5530-4398-81E2-B9A9A89F65EB}">
      <dgm:prSet phldrT="[Text]"/>
      <dgm:spPr/>
      <dgm:t>
        <a:bodyPr/>
        <a:lstStyle/>
        <a:p>
          <a:r>
            <a:rPr lang="en-US" dirty="0"/>
            <a:t>Evolution of life</a:t>
          </a:r>
        </a:p>
      </dgm:t>
    </dgm:pt>
    <dgm:pt modelId="{FBC9851F-BF74-471D-859B-A57D9BCF7640}" type="parTrans" cxnId="{74CEC1B1-A839-46FB-84D1-D23129153390}">
      <dgm:prSet/>
      <dgm:spPr/>
      <dgm:t>
        <a:bodyPr/>
        <a:lstStyle/>
        <a:p>
          <a:endParaRPr lang="en-US"/>
        </a:p>
      </dgm:t>
    </dgm:pt>
    <dgm:pt modelId="{19A9CAC2-0772-41A2-97F1-AD2B5DAD1204}" type="sibTrans" cxnId="{74CEC1B1-A839-46FB-84D1-D23129153390}">
      <dgm:prSet/>
      <dgm:spPr/>
      <dgm:t>
        <a:bodyPr/>
        <a:lstStyle/>
        <a:p>
          <a:endParaRPr lang="en-US"/>
        </a:p>
      </dgm:t>
    </dgm:pt>
    <dgm:pt modelId="{70B5F8C8-316F-4174-8940-E8024521BDC7}" type="pres">
      <dgm:prSet presAssocID="{6CBCFC89-3A10-4B27-9129-B04237813BED}" presName="linearFlow" presStyleCnt="0">
        <dgm:presLayoutVars>
          <dgm:resizeHandles val="exact"/>
        </dgm:presLayoutVars>
      </dgm:prSet>
      <dgm:spPr/>
    </dgm:pt>
    <dgm:pt modelId="{F81B53B3-B7A4-4C66-830B-F0549A2ECC53}" type="pres">
      <dgm:prSet presAssocID="{11C02B9F-C533-4AFE-92E6-852A0A228D42}" presName="node" presStyleLbl="node1" presStyleIdx="0" presStyleCnt="3">
        <dgm:presLayoutVars>
          <dgm:bulletEnabled val="1"/>
        </dgm:presLayoutVars>
      </dgm:prSet>
      <dgm:spPr/>
    </dgm:pt>
    <dgm:pt modelId="{6C1A1CB4-AE6A-4F53-9333-4E5F28570828}" type="pres">
      <dgm:prSet presAssocID="{805E7A6A-41E9-4CE8-A955-9C6717242455}" presName="sibTrans" presStyleLbl="sibTrans2D1" presStyleIdx="0" presStyleCnt="2"/>
      <dgm:spPr/>
    </dgm:pt>
    <dgm:pt modelId="{56C6AB41-9568-4A0F-8219-A4554C193E61}" type="pres">
      <dgm:prSet presAssocID="{805E7A6A-41E9-4CE8-A955-9C6717242455}" presName="connectorText" presStyleLbl="sibTrans2D1" presStyleIdx="0" presStyleCnt="2"/>
      <dgm:spPr/>
    </dgm:pt>
    <dgm:pt modelId="{ABB86326-BD0F-4FF7-9DB9-0643F086B143}" type="pres">
      <dgm:prSet presAssocID="{B183524E-CE9E-4C18-8395-1B4B5DC9E5D2}" presName="node" presStyleLbl="node1" presStyleIdx="1" presStyleCnt="3">
        <dgm:presLayoutVars>
          <dgm:bulletEnabled val="1"/>
        </dgm:presLayoutVars>
      </dgm:prSet>
      <dgm:spPr/>
    </dgm:pt>
    <dgm:pt modelId="{E63624F4-69A3-4D24-A3B6-E8AB6FC6F31C}" type="pres">
      <dgm:prSet presAssocID="{BD59BCDF-D005-412B-BC7B-FCC3573E099A}" presName="sibTrans" presStyleLbl="sibTrans2D1" presStyleIdx="1" presStyleCnt="2"/>
      <dgm:spPr/>
    </dgm:pt>
    <dgm:pt modelId="{9E2AA64A-A44B-43E4-A61E-06E2376D3050}" type="pres">
      <dgm:prSet presAssocID="{BD59BCDF-D005-412B-BC7B-FCC3573E099A}" presName="connectorText" presStyleLbl="sibTrans2D1" presStyleIdx="1" presStyleCnt="2"/>
      <dgm:spPr/>
    </dgm:pt>
    <dgm:pt modelId="{3F56802C-0545-42D1-BDBC-65604C721801}" type="pres">
      <dgm:prSet presAssocID="{B531F987-5530-4398-81E2-B9A9A89F65EB}" presName="node" presStyleLbl="node1" presStyleIdx="2" presStyleCnt="3">
        <dgm:presLayoutVars>
          <dgm:bulletEnabled val="1"/>
        </dgm:presLayoutVars>
      </dgm:prSet>
      <dgm:spPr/>
    </dgm:pt>
  </dgm:ptLst>
  <dgm:cxnLst>
    <dgm:cxn modelId="{39920802-8E7A-4430-B8EA-D2F3E16DCBE2}" srcId="{6CBCFC89-3A10-4B27-9129-B04237813BED}" destId="{11C02B9F-C533-4AFE-92E6-852A0A228D42}" srcOrd="0" destOrd="0" parTransId="{D5BD7986-A26E-46B1-9056-0D99D3B12C0A}" sibTransId="{805E7A6A-41E9-4CE8-A955-9C6717242455}"/>
    <dgm:cxn modelId="{1AB74219-957E-418B-9AA9-6ABCDCC89919}" type="presOf" srcId="{BD59BCDF-D005-412B-BC7B-FCC3573E099A}" destId="{E63624F4-69A3-4D24-A3B6-E8AB6FC6F31C}" srcOrd="0" destOrd="0" presId="urn:microsoft.com/office/officeart/2005/8/layout/process2"/>
    <dgm:cxn modelId="{C1A62527-D1C0-4A1F-B6B0-95A7E91346CB}" type="presOf" srcId="{805E7A6A-41E9-4CE8-A955-9C6717242455}" destId="{6C1A1CB4-AE6A-4F53-9333-4E5F28570828}" srcOrd="0" destOrd="0" presId="urn:microsoft.com/office/officeart/2005/8/layout/process2"/>
    <dgm:cxn modelId="{F4C8F228-345E-4D2D-8DA4-066F3097E6A5}" type="presOf" srcId="{B183524E-CE9E-4C18-8395-1B4B5DC9E5D2}" destId="{ABB86326-BD0F-4FF7-9DB9-0643F086B143}" srcOrd="0" destOrd="0" presId="urn:microsoft.com/office/officeart/2005/8/layout/process2"/>
    <dgm:cxn modelId="{560F1E34-81A9-4EA3-880A-27075380F3E1}" type="presOf" srcId="{6CBCFC89-3A10-4B27-9129-B04237813BED}" destId="{70B5F8C8-316F-4174-8940-E8024521BDC7}" srcOrd="0" destOrd="0" presId="urn:microsoft.com/office/officeart/2005/8/layout/process2"/>
    <dgm:cxn modelId="{831CC761-884A-4634-94E2-3E43832AB938}" type="presOf" srcId="{BD59BCDF-D005-412B-BC7B-FCC3573E099A}" destId="{9E2AA64A-A44B-43E4-A61E-06E2376D3050}" srcOrd="1" destOrd="0" presId="urn:microsoft.com/office/officeart/2005/8/layout/process2"/>
    <dgm:cxn modelId="{7089C34C-EEF5-407C-8861-8C7B13653A00}" type="presOf" srcId="{11C02B9F-C533-4AFE-92E6-852A0A228D42}" destId="{F81B53B3-B7A4-4C66-830B-F0549A2ECC53}" srcOrd="0" destOrd="0" presId="urn:microsoft.com/office/officeart/2005/8/layout/process2"/>
    <dgm:cxn modelId="{74CEC1B1-A839-46FB-84D1-D23129153390}" srcId="{6CBCFC89-3A10-4B27-9129-B04237813BED}" destId="{B531F987-5530-4398-81E2-B9A9A89F65EB}" srcOrd="2" destOrd="0" parTransId="{FBC9851F-BF74-471D-859B-A57D9BCF7640}" sibTransId="{19A9CAC2-0772-41A2-97F1-AD2B5DAD1204}"/>
    <dgm:cxn modelId="{F28477B8-F1B0-4D6A-A637-312CF1F53BD2}" type="presOf" srcId="{B531F987-5530-4398-81E2-B9A9A89F65EB}" destId="{3F56802C-0545-42D1-BDBC-65604C721801}" srcOrd="0" destOrd="0" presId="urn:microsoft.com/office/officeart/2005/8/layout/process2"/>
    <dgm:cxn modelId="{310550D0-91BE-42B9-8103-1400588262EF}" srcId="{6CBCFC89-3A10-4B27-9129-B04237813BED}" destId="{B183524E-CE9E-4C18-8395-1B4B5DC9E5D2}" srcOrd="1" destOrd="0" parTransId="{D37854AF-BDE5-4C4D-B838-6AEE97C80EE0}" sibTransId="{BD59BCDF-D005-412B-BC7B-FCC3573E099A}"/>
    <dgm:cxn modelId="{5C402CE0-FE67-4149-92C7-7B3B96BDA16B}" type="presOf" srcId="{805E7A6A-41E9-4CE8-A955-9C6717242455}" destId="{56C6AB41-9568-4A0F-8219-A4554C193E61}" srcOrd="1" destOrd="0" presId="urn:microsoft.com/office/officeart/2005/8/layout/process2"/>
    <dgm:cxn modelId="{B7537D52-5D87-4346-8282-B54CA1BEA1EC}" type="presParOf" srcId="{70B5F8C8-316F-4174-8940-E8024521BDC7}" destId="{F81B53B3-B7A4-4C66-830B-F0549A2ECC53}" srcOrd="0" destOrd="0" presId="urn:microsoft.com/office/officeart/2005/8/layout/process2"/>
    <dgm:cxn modelId="{94B05961-ABAF-4290-B21D-47288C12EF17}" type="presParOf" srcId="{70B5F8C8-316F-4174-8940-E8024521BDC7}" destId="{6C1A1CB4-AE6A-4F53-9333-4E5F28570828}" srcOrd="1" destOrd="0" presId="urn:microsoft.com/office/officeart/2005/8/layout/process2"/>
    <dgm:cxn modelId="{483EFEA7-7A5E-448C-AE6C-8DF60A910D33}" type="presParOf" srcId="{6C1A1CB4-AE6A-4F53-9333-4E5F28570828}" destId="{56C6AB41-9568-4A0F-8219-A4554C193E61}" srcOrd="0" destOrd="0" presId="urn:microsoft.com/office/officeart/2005/8/layout/process2"/>
    <dgm:cxn modelId="{6BE49301-D164-4F74-BB8E-C1971C69DA9A}" type="presParOf" srcId="{70B5F8C8-316F-4174-8940-E8024521BDC7}" destId="{ABB86326-BD0F-4FF7-9DB9-0643F086B143}" srcOrd="2" destOrd="0" presId="urn:microsoft.com/office/officeart/2005/8/layout/process2"/>
    <dgm:cxn modelId="{3FCAB658-F095-4A7F-8C85-E46B47F1A26A}" type="presParOf" srcId="{70B5F8C8-316F-4174-8940-E8024521BDC7}" destId="{E63624F4-69A3-4D24-A3B6-E8AB6FC6F31C}" srcOrd="3" destOrd="0" presId="urn:microsoft.com/office/officeart/2005/8/layout/process2"/>
    <dgm:cxn modelId="{2A52B5F2-F49A-4173-A381-D32C9408AF61}" type="presParOf" srcId="{E63624F4-69A3-4D24-A3B6-E8AB6FC6F31C}" destId="{9E2AA64A-A44B-43E4-A61E-06E2376D3050}" srcOrd="0" destOrd="0" presId="urn:microsoft.com/office/officeart/2005/8/layout/process2"/>
    <dgm:cxn modelId="{A0DE9EC6-45D9-40B5-836C-0E2502BC5B7D}" type="presParOf" srcId="{70B5F8C8-316F-4174-8940-E8024521BDC7}" destId="{3F56802C-0545-42D1-BDBC-65604C721801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B53B3-B7A4-4C66-830B-F0549A2ECC53}">
      <dsp:nvSpPr>
        <dsp:cNvPr id="0" name=""/>
        <dsp:cNvSpPr/>
      </dsp:nvSpPr>
      <dsp:spPr>
        <a:xfrm>
          <a:off x="547166" y="0"/>
          <a:ext cx="2013197" cy="11184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hueOff val="0"/>
              <a:satOff val="0"/>
              <a:lumOff val="0"/>
              <a:alphaOff val="0"/>
              <a:shade val="30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Big Bang Theory: Origin of Earth</a:t>
          </a:r>
        </a:p>
      </dsp:txBody>
      <dsp:txXfrm>
        <a:off x="579924" y="32758"/>
        <a:ext cx="1947681" cy="1052927"/>
      </dsp:txXfrm>
    </dsp:sp>
    <dsp:sp modelId="{6C1A1CB4-AE6A-4F53-9333-4E5F28570828}">
      <dsp:nvSpPr>
        <dsp:cNvPr id="0" name=""/>
        <dsp:cNvSpPr/>
      </dsp:nvSpPr>
      <dsp:spPr>
        <a:xfrm rot="5400000">
          <a:off x="1344057" y="1146404"/>
          <a:ext cx="419416" cy="503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tint val="60000"/>
              <a:hueOff val="0"/>
              <a:satOff val="0"/>
              <a:lumOff val="0"/>
              <a:alphaOff val="0"/>
              <a:shade val="30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1402776" y="1188346"/>
        <a:ext cx="301979" cy="293591"/>
      </dsp:txXfrm>
    </dsp:sp>
    <dsp:sp modelId="{ABB86326-BD0F-4FF7-9DB9-0643F086B143}">
      <dsp:nvSpPr>
        <dsp:cNvPr id="0" name=""/>
        <dsp:cNvSpPr/>
      </dsp:nvSpPr>
      <dsp:spPr>
        <a:xfrm>
          <a:off x="547166" y="1677664"/>
          <a:ext cx="2013197" cy="11184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hueOff val="0"/>
              <a:satOff val="0"/>
              <a:lumOff val="0"/>
              <a:alphaOff val="0"/>
              <a:shade val="30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Earth without life</a:t>
          </a:r>
        </a:p>
      </dsp:txBody>
      <dsp:txXfrm>
        <a:off x="579924" y="1710422"/>
        <a:ext cx="1947681" cy="1052927"/>
      </dsp:txXfrm>
    </dsp:sp>
    <dsp:sp modelId="{E63624F4-69A3-4D24-A3B6-E8AB6FC6F31C}">
      <dsp:nvSpPr>
        <dsp:cNvPr id="0" name=""/>
        <dsp:cNvSpPr/>
      </dsp:nvSpPr>
      <dsp:spPr>
        <a:xfrm rot="5400000">
          <a:off x="1344057" y="2824069"/>
          <a:ext cx="419416" cy="503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tint val="60000"/>
              <a:hueOff val="0"/>
              <a:satOff val="0"/>
              <a:lumOff val="0"/>
              <a:alphaOff val="0"/>
              <a:shade val="30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1402776" y="2866011"/>
        <a:ext cx="301979" cy="293591"/>
      </dsp:txXfrm>
    </dsp:sp>
    <dsp:sp modelId="{3F56802C-0545-42D1-BDBC-65604C721801}">
      <dsp:nvSpPr>
        <dsp:cNvPr id="0" name=""/>
        <dsp:cNvSpPr/>
      </dsp:nvSpPr>
      <dsp:spPr>
        <a:xfrm>
          <a:off x="547166" y="3355329"/>
          <a:ext cx="2013197" cy="11184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5100000"/>
          </a:lightRig>
        </a:scene3d>
        <a:sp3d contourW="6350">
          <a:bevelT w="29210" h="12700"/>
          <a:contourClr>
            <a:schemeClr val="accent1">
              <a:hueOff val="0"/>
              <a:satOff val="0"/>
              <a:lumOff val="0"/>
              <a:alphaOff val="0"/>
              <a:shade val="30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Evolution of life</a:t>
          </a:r>
        </a:p>
      </dsp:txBody>
      <dsp:txXfrm>
        <a:off x="579924" y="3388087"/>
        <a:ext cx="1947681" cy="1052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56F05-C4AC-4B8C-9FF3-95CB0D8F9802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1BC95-ED02-4239-A632-513FDBCA27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3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7E8D35-9B31-41A8-A4B1-34D9596FF4FE}" type="slidenum">
              <a:rPr lang="en-US"/>
              <a:pPr/>
              <a:t>12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30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44CE31-D767-4C1B-8EBC-0D5356099028}" type="slidenum">
              <a:rPr lang="en-US"/>
              <a:pPr/>
              <a:t>13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42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EBDB-93C9-477C-9870-2B3510955FFD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4E161-90E0-4C58-8609-544915303F91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B934-5667-4EEC-835B-E8672CC509BB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5B88-6282-4AFE-A73A-6557FE69BF42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8DDD-E76B-4517-BBD5-31F5EA955096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FD75-C079-4F21-8732-B9A692E51C55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1526-B754-4910-A6BE-7039608FA5F6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3B54-9C48-43B7-BC96-A7B7F62F6E04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3A8D6-F6B5-4486-B726-3C420008E304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C47A-0DA0-4690-BC45-C43118F9ED8E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A490-27EF-4ACC-BB54-2FE3C734B9D9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268BA82-0AAF-405E-99DA-C7239379FAC4}" type="datetime1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4A824259-EC09-4C9F-9F84-F0AFA61083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 to Biology</a:t>
            </a:r>
          </a:p>
        </p:txBody>
      </p:sp>
      <p:sp>
        <p:nvSpPr>
          <p:cNvPr id="5122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Take home points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Biology: A brief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Modern biology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is life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Characteristics of living things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FB820-4D53-4AE2-8BEB-B9B7CC4D2A4A}"/>
              </a:ext>
            </a:extLst>
          </p:cNvPr>
          <p:cNvSpPr txBox="1"/>
          <p:nvPr/>
        </p:nvSpPr>
        <p:spPr>
          <a:xfrm>
            <a:off x="838200" y="5791200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Prof. Dr. Md. </a:t>
            </a:r>
            <a:r>
              <a:rPr lang="en-US" sz="2400" b="1" dirty="0" err="1"/>
              <a:t>Mahbubul</a:t>
            </a:r>
            <a:r>
              <a:rPr lang="en-US" sz="2400" b="1" dirty="0"/>
              <a:t> Morshed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990600" y="430931"/>
            <a:ext cx="7010400" cy="1016869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b="1" dirty="0"/>
              <a:t>What is Biology?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7891463" cy="3962400"/>
          </a:xfrm>
        </p:spPr>
        <p:txBody>
          <a:bodyPr>
            <a:normAutofit/>
          </a:bodyPr>
          <a:lstStyle/>
          <a:p>
            <a:pPr marL="636218">
              <a:lnSpc>
                <a:spcPct val="150000"/>
              </a:lnSpc>
              <a:buSzPct val="77000"/>
              <a:buBlip>
                <a:blip r:embed="rId2"/>
              </a:buBlip>
            </a:pPr>
            <a:r>
              <a:rPr lang="en-US" dirty="0"/>
              <a:t>Science has </a:t>
            </a:r>
            <a:r>
              <a:rPr lang="en-US" b="1" dirty="0"/>
              <a:t>two</a:t>
            </a:r>
            <a:r>
              <a:rPr lang="en-US" dirty="0"/>
              <a:t> aspects--</a:t>
            </a:r>
          </a:p>
          <a:p>
            <a:pPr marL="1886329" lvl="4">
              <a:lnSpc>
                <a:spcPct val="150000"/>
              </a:lnSpc>
              <a:buSzPct val="77000"/>
              <a:buBlip>
                <a:blip r:embed="rId2"/>
              </a:buBlip>
            </a:pPr>
            <a:r>
              <a:rPr lang="en-US" sz="2400" dirty="0"/>
              <a:t>Itself a body of knowledge</a:t>
            </a:r>
          </a:p>
          <a:p>
            <a:pPr marL="1886329" lvl="4">
              <a:lnSpc>
                <a:spcPct val="150000"/>
              </a:lnSpc>
              <a:buSzPct val="77000"/>
              <a:buBlip>
                <a:blip r:embed="rId2"/>
              </a:buBlip>
            </a:pPr>
            <a:r>
              <a:rPr lang="en-US" sz="2400" dirty="0"/>
              <a:t>Methods for discovering new knowledge</a:t>
            </a:r>
          </a:p>
          <a:p>
            <a:pPr marL="1886329" lvl="4">
              <a:lnSpc>
                <a:spcPct val="150000"/>
              </a:lnSpc>
              <a:buSzPct val="77000"/>
              <a:buBlip>
                <a:blip r:embed="rId2"/>
              </a:buBlip>
            </a:pPr>
            <a:endParaRPr lang="en-US" sz="2400" dirty="0"/>
          </a:p>
          <a:p>
            <a:pPr marL="636218">
              <a:lnSpc>
                <a:spcPct val="150000"/>
              </a:lnSpc>
              <a:buSzPct val="77000"/>
              <a:buBlip>
                <a:blip r:embed="rId2"/>
              </a:buBlip>
            </a:pPr>
            <a:r>
              <a:rPr lang="en-US" dirty="0"/>
              <a:t>“BIOS”= life &amp; “logos”= Thought. [Greek words]</a:t>
            </a:r>
          </a:p>
          <a:p>
            <a:pPr marL="636218">
              <a:lnSpc>
                <a:spcPct val="150000"/>
              </a:lnSpc>
              <a:buSzPct val="77000"/>
              <a:buBlip>
                <a:blip r:embed="rId2"/>
              </a:buBlip>
            </a:pPr>
            <a:r>
              <a:rPr lang="en-US" dirty="0"/>
              <a:t>Biology= Study of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Origin of Life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200" y="1875235"/>
          <a:ext cx="3107531" cy="4473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305800" y="5734050"/>
            <a:ext cx="609600" cy="521208"/>
          </a:xfrm>
        </p:spPr>
        <p:txBody>
          <a:bodyPr/>
          <a:lstStyle/>
          <a:p>
            <a:fld id="{4A824259-EC09-4C9F-9F84-F0AFA610838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67001" y="1891217"/>
            <a:ext cx="5867399" cy="10805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64291" tIns="32146" rIns="64291" bIns="32146">
            <a:spAutoFit/>
          </a:bodyPr>
          <a:lstStyle/>
          <a:p>
            <a:pPr>
              <a:defRPr/>
            </a:pPr>
            <a:r>
              <a:rPr lang="en-US" sz="2200" dirty="0"/>
              <a:t>: Explosion from a pin sized to a Huge Universe.</a:t>
            </a:r>
          </a:p>
          <a:p>
            <a:pPr>
              <a:defRPr/>
            </a:pPr>
            <a:r>
              <a:rPr lang="en-US" sz="2200" dirty="0"/>
              <a:t>: Among all Planets, Earth only contains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3429000"/>
            <a:ext cx="5893594" cy="14191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291" tIns="32146" rIns="64291" bIns="32146">
            <a:spAutoFit/>
          </a:bodyPr>
          <a:lstStyle/>
          <a:p>
            <a:pPr>
              <a:defRPr/>
            </a:pPr>
            <a:r>
              <a:rPr lang="en-US" sz="2200" dirty="0"/>
              <a:t>: High temperature, poisonous gases, no free oxygen/ water. </a:t>
            </a:r>
          </a:p>
          <a:p>
            <a:pPr>
              <a:defRPr/>
            </a:pPr>
            <a:r>
              <a:rPr lang="en-US" sz="2200" dirty="0"/>
              <a:t>: Life evolved from chemical reactions and gradual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800" y="5244017"/>
            <a:ext cx="5893594" cy="10805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291" tIns="32146" rIns="64291" bIns="32146">
            <a:spAutoFit/>
          </a:bodyPr>
          <a:lstStyle/>
          <a:p>
            <a:pPr>
              <a:defRPr/>
            </a:pPr>
            <a:r>
              <a:rPr lang="en-US" sz="2200" dirty="0"/>
              <a:t>: Life begins when the cell forms. </a:t>
            </a:r>
          </a:p>
          <a:p>
            <a:pPr>
              <a:defRPr/>
            </a:pPr>
            <a:r>
              <a:rPr lang="en-US" sz="2200" dirty="0"/>
              <a:t>: Single to multi-cellular organisms. </a:t>
            </a:r>
          </a:p>
          <a:p>
            <a:pPr>
              <a:defRPr/>
            </a:pPr>
            <a:r>
              <a:rPr lang="en-US" sz="2200" dirty="0"/>
              <a:t>: Survival of the fittest. 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6322219" cy="135508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500" b="1" dirty="0"/>
              <a:t>History: Cave Painting</a:t>
            </a:r>
          </a:p>
        </p:txBody>
      </p:sp>
      <p:sp>
        <p:nvSpPr>
          <p:cNvPr id="10244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776412"/>
            <a:ext cx="5547344" cy="19573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 30 thousands years ago, in France and Spain, caves were decorated with animal paintings.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29016" y="5715000"/>
            <a:ext cx="609600" cy="521208"/>
          </a:xfrm>
        </p:spPr>
        <p:txBody>
          <a:bodyPr/>
          <a:lstStyle/>
          <a:p>
            <a:fld id="{4A824259-EC09-4C9F-9F84-F0AFA610838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AutoShape 2" descr="Image result for cave paintings of anima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4356676"/>
            <a:ext cx="2816225" cy="2120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5" descr="Image result for cave paintings of people hunt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294317"/>
            <a:ext cx="4683669" cy="2447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http://www.jamessiebert.com/photos/cave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8611"/>
            <a:ext cx="2743200" cy="278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5029200" cy="156716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500" b="1" dirty="0"/>
              <a:t>History:</a:t>
            </a:r>
            <a:br>
              <a:rPr lang="en-US" sz="4500" b="1" dirty="0"/>
            </a:br>
            <a:r>
              <a:rPr lang="en-US" sz="4500" b="1" dirty="0"/>
              <a:t>Food Collection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2819400"/>
            <a:ext cx="7620000" cy="27877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Hunted animals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Cultivated crops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ea typeface="Marker Felt" charset="0"/>
                <a:cs typeface="Marker Felt" charset="0"/>
              </a:rPr>
              <a:t> Also knew the behavior of predator animals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ea typeface="Marker Felt" charset="0"/>
                <a:cs typeface="Marker Felt" charset="0"/>
              </a:rPr>
              <a:t> No labs/ equipments/microscopes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ea typeface="Marker Felt" charset="0"/>
              <a:cs typeface="Marker Felt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1268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9942" y="686768"/>
            <a:ext cx="3164458" cy="2818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324600" y="3657600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sense!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5181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History: </a:t>
            </a:r>
            <a:br>
              <a:rPr lang="en-US" dirty="0"/>
            </a:br>
            <a:r>
              <a:rPr lang="en-US" dirty="0"/>
              <a:t>Agricultural way of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44196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Started about 10 thousands years ago</a:t>
            </a:r>
          </a:p>
          <a:p>
            <a:endParaRPr lang="en-US" dirty="0"/>
          </a:p>
          <a:p>
            <a:r>
              <a:rPr lang="en-US" dirty="0"/>
              <a:t>Knowledge about plants and animals</a:t>
            </a:r>
          </a:p>
          <a:p>
            <a:pPr lvl="1"/>
            <a:r>
              <a:rPr lang="en-US" dirty="0"/>
              <a:t>Seed planting time</a:t>
            </a:r>
          </a:p>
          <a:p>
            <a:pPr lvl="1"/>
            <a:r>
              <a:rPr lang="en-US" dirty="0"/>
              <a:t>Amount of moisture required</a:t>
            </a:r>
          </a:p>
          <a:p>
            <a:pPr lvl="1"/>
            <a:r>
              <a:rPr lang="en-US" dirty="0"/>
              <a:t>What to feed their animals</a:t>
            </a:r>
          </a:p>
          <a:p>
            <a:pPr lvl="1"/>
            <a:r>
              <a:rPr lang="en-US" dirty="0"/>
              <a:t>Life span of animals</a:t>
            </a:r>
          </a:p>
          <a:p>
            <a:pPr lvl="1"/>
            <a:endParaRPr lang="en-US" dirty="0"/>
          </a:p>
          <a:p>
            <a:r>
              <a:rPr lang="en-US" dirty="0"/>
              <a:t>Studied living things- </a:t>
            </a:r>
          </a:p>
          <a:p>
            <a:pPr>
              <a:buNone/>
            </a:pPr>
            <a:r>
              <a:rPr lang="en-US" dirty="0"/>
              <a:t> hence, biologists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 descr="http://www.crystalinks.com/egyptfarm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4022089"/>
            <a:ext cx="4038600" cy="2759711"/>
          </a:xfrm>
          <a:prstGeom prst="rect">
            <a:avLst/>
          </a:prstGeom>
          <a:noFill/>
        </p:spPr>
      </p:pic>
      <p:pic>
        <p:nvPicPr>
          <p:cNvPr id="1028" name="Picture 4" descr="http://www.crystalinks.com/egyptfarming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733958"/>
            <a:ext cx="4023672" cy="27521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>
          <a:xfrm>
            <a:off x="477291" y="228600"/>
            <a:ext cx="7523709" cy="8382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/>
              <a:t>History: Use of Sense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178718"/>
            <a:ext cx="8610600" cy="5679281"/>
          </a:xfrm>
        </p:spPr>
        <p:txBody>
          <a:bodyPr>
            <a:normAutofit/>
          </a:bodyPr>
          <a:lstStyle/>
          <a:p>
            <a:pPr marL="709176" indent="-342900">
              <a:buFont typeface="Wingdings" panose="05000000000000000000" pitchFamily="2" charset="2"/>
              <a:buChar char="v"/>
            </a:pPr>
            <a:r>
              <a:rPr lang="en-US" sz="2000" dirty="0"/>
              <a:t>By time, prehistoric people started asking some common questions? </a:t>
            </a:r>
          </a:p>
          <a:p>
            <a:pPr marL="1174212" lvl="2">
              <a:spcBef>
                <a:spcPts val="2109"/>
              </a:spcBef>
              <a:buClr>
                <a:srgbClr val="676767"/>
              </a:buClr>
            </a:pPr>
            <a:r>
              <a:rPr lang="en-US" sz="2000" dirty="0"/>
              <a:t>What are the common things?</a:t>
            </a:r>
          </a:p>
          <a:p>
            <a:pPr marL="1174212" lvl="2">
              <a:spcBef>
                <a:spcPts val="2109"/>
              </a:spcBef>
              <a:buClr>
                <a:srgbClr val="676767"/>
              </a:buClr>
            </a:pPr>
            <a:r>
              <a:rPr lang="en-US" sz="2000" dirty="0"/>
              <a:t>What are the differences?</a:t>
            </a:r>
          </a:p>
          <a:p>
            <a:pPr marL="1174212" lvl="2">
              <a:spcBef>
                <a:spcPts val="2109"/>
              </a:spcBef>
              <a:buClr>
                <a:srgbClr val="676767"/>
              </a:buClr>
            </a:pPr>
            <a:r>
              <a:rPr lang="en-US" sz="2000" dirty="0"/>
              <a:t>Why/Where the specific things are found?</a:t>
            </a:r>
          </a:p>
          <a:p>
            <a:pPr marL="1174212" lvl="2">
              <a:spcBef>
                <a:spcPts val="2109"/>
              </a:spcBef>
              <a:buClr>
                <a:srgbClr val="676767"/>
              </a:buClr>
            </a:pPr>
            <a:r>
              <a:rPr lang="en-US" sz="2000" dirty="0"/>
              <a:t>Which environment supports which group?</a:t>
            </a:r>
          </a:p>
          <a:p>
            <a:pPr marL="709176" indent="-342900">
              <a:spcBef>
                <a:spcPts val="2109"/>
              </a:spcBef>
              <a:buClr>
                <a:srgbClr val="676767"/>
              </a:buClr>
              <a:buFont typeface="Wingdings" panose="05000000000000000000" pitchFamily="2" charset="2"/>
              <a:buChar char="v"/>
            </a:pPr>
            <a:r>
              <a:rPr lang="en-US" sz="2000" dirty="0"/>
              <a:t>Common outcome: </a:t>
            </a:r>
          </a:p>
          <a:p>
            <a:pPr marL="1174212" lvl="2">
              <a:spcBef>
                <a:spcPts val="2109"/>
              </a:spcBef>
              <a:buClr>
                <a:srgbClr val="676767"/>
              </a:buClr>
            </a:pPr>
            <a:r>
              <a:rPr lang="en-US" sz="2000" dirty="0"/>
              <a:t>classifications</a:t>
            </a:r>
          </a:p>
          <a:p>
            <a:pPr marL="1174212" lvl="2">
              <a:spcBef>
                <a:spcPts val="2109"/>
              </a:spcBef>
              <a:buClr>
                <a:srgbClr val="676767"/>
              </a:buClr>
            </a:pPr>
            <a:r>
              <a:rPr lang="en-US" sz="2000" dirty="0"/>
              <a:t>ecology</a:t>
            </a:r>
          </a:p>
          <a:p>
            <a:pPr marL="1174212" lvl="2">
              <a:spcBef>
                <a:spcPts val="2109"/>
              </a:spcBef>
              <a:buClr>
                <a:srgbClr val="676767"/>
              </a:buClr>
            </a:pPr>
            <a:r>
              <a:rPr lang="en-US" sz="2000" dirty="0"/>
              <a:t>cultivations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9459" name="AutoShape 3"/>
          <p:cNvSpPr>
            <a:spLocks/>
          </p:cNvSpPr>
          <p:nvPr/>
        </p:nvSpPr>
        <p:spPr bwMode="auto">
          <a:xfrm>
            <a:off x="4018359" y="4991695"/>
            <a:ext cx="892969" cy="892969"/>
          </a:xfrm>
          <a:prstGeom prst="rightArrow">
            <a:avLst>
              <a:gd name="adj1" fmla="val 32000"/>
              <a:gd name="adj2" fmla="val 44000"/>
            </a:avLst>
          </a:prstGeom>
          <a:solidFill>
            <a:schemeClr val="accent1">
              <a:alpha val="60783"/>
            </a:schemeClr>
          </a:solidFill>
          <a:ln w="25400">
            <a:solidFill>
              <a:srgbClr val="63A0C9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5105400" y="4876800"/>
            <a:ext cx="3622143" cy="115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28573" bIns="0">
            <a:spAutoFit/>
          </a:bodyPr>
          <a:lstStyle/>
          <a:p>
            <a:pPr marL="27905"/>
            <a:r>
              <a:rPr lang="en-US" sz="2500" dirty="0">
                <a:ea typeface="Marker Felt" charset="0"/>
                <a:cs typeface="Marker Felt" charset="0"/>
              </a:rPr>
              <a:t>More complex questions</a:t>
            </a:r>
          </a:p>
          <a:p>
            <a:pPr marL="27905"/>
            <a:r>
              <a:rPr lang="en-US" sz="2500" dirty="0">
                <a:ea typeface="Marker Felt" charset="0"/>
                <a:cs typeface="Marker Felt" charset="0"/>
              </a:rPr>
              <a:t>- Composition?</a:t>
            </a:r>
          </a:p>
          <a:p>
            <a:pPr marL="27905"/>
            <a:r>
              <a:rPr lang="en-US" sz="2500" dirty="0">
                <a:ea typeface="Marker Felt" charset="0"/>
                <a:cs typeface="Marker Felt" charset="0"/>
              </a:rPr>
              <a:t>- Organization?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pPr algn="ctr" eaLnBrk="1" hangingPunct="1"/>
            <a:r>
              <a:rPr lang="en-US" sz="4500" b="1" dirty="0"/>
              <a:t>Modern Biology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371600"/>
            <a:ext cx="8610600" cy="4991695"/>
          </a:xfrm>
        </p:spPr>
        <p:txBody>
          <a:bodyPr>
            <a:noAutofit/>
          </a:bodyPr>
          <a:lstStyle/>
          <a:p>
            <a:pPr marL="549156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During 17th century</a:t>
            </a:r>
          </a:p>
          <a:p>
            <a:pPr marL="549156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Started when human had knowledge, skill &amp; equipments</a:t>
            </a:r>
          </a:p>
          <a:p>
            <a:pPr marL="825967"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Robert Hooke: Cell walls were first seen (~1665)</a:t>
            </a:r>
          </a:p>
          <a:p>
            <a:pPr marL="825967"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Anton van Leeuwenhoek: Visualized living cells ‘very little animalcules’ (~1674)</a:t>
            </a:r>
          </a:p>
          <a:p>
            <a:pPr marL="825967"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William Harvey: First described the systemic circulation and properties of blood (~1628)</a:t>
            </a:r>
          </a:p>
          <a:p>
            <a:pPr marL="549156"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/>
              <a:t>More complex question: </a:t>
            </a:r>
          </a:p>
          <a:p>
            <a:pPr marL="825967"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What do the parts of living things do?</a:t>
            </a:r>
          </a:p>
          <a:p>
            <a:pPr marL="825967"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How does the parts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1563811" y="244003"/>
            <a:ext cx="5751389" cy="1356197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500" b="1" dirty="0"/>
              <a:t>Biology Today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603995"/>
            <a:ext cx="8458200" cy="4825380"/>
          </a:xfrm>
        </p:spPr>
        <p:txBody>
          <a:bodyPr>
            <a:normAutofit/>
          </a:bodyPr>
          <a:lstStyle/>
          <a:p>
            <a:pPr marL="513439">
              <a:lnSpc>
                <a:spcPct val="200000"/>
              </a:lnSpc>
            </a:pPr>
            <a:r>
              <a:rPr lang="en-US" sz="2000" dirty="0"/>
              <a:t>Vast Science</a:t>
            </a:r>
          </a:p>
          <a:p>
            <a:pPr marL="513439">
              <a:lnSpc>
                <a:spcPct val="200000"/>
              </a:lnSpc>
            </a:pPr>
            <a:r>
              <a:rPr lang="en-US" sz="2000" dirty="0"/>
              <a:t>Over 1,500,000 (1.5 million) different species/ kinds of organisms </a:t>
            </a:r>
          </a:p>
          <a:p>
            <a:pPr marL="513439">
              <a:lnSpc>
                <a:spcPct val="200000"/>
              </a:lnSpc>
            </a:pPr>
            <a:r>
              <a:rPr lang="en-US" sz="2000" dirty="0"/>
              <a:t>Yet a lot to be discovered</a:t>
            </a:r>
          </a:p>
          <a:p>
            <a:pPr marL="513439">
              <a:lnSpc>
                <a:spcPct val="200000"/>
              </a:lnSpc>
            </a:pPr>
            <a:r>
              <a:rPr lang="en-US" sz="2000" dirty="0"/>
              <a:t>Vaccines, Therapeutics, Agricultural aspects, Human genome, cloning etc</a:t>
            </a:r>
          </a:p>
          <a:p>
            <a:pPr marL="513439">
              <a:lnSpc>
                <a:spcPct val="200000"/>
              </a:lnSpc>
            </a:pPr>
            <a:r>
              <a:rPr lang="en-US" sz="2000" dirty="0"/>
              <a:t>Classified to many subdivisions for better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1" y="304801"/>
            <a:ext cx="8762999" cy="914399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600" b="1" dirty="0"/>
              <a:t>Group of organisms being studied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363" name="Rectangle 2"/>
          <p:cNvSpPr>
            <a:spLocks/>
          </p:cNvSpPr>
          <p:nvPr/>
        </p:nvSpPr>
        <p:spPr bwMode="auto">
          <a:xfrm>
            <a:off x="457200" y="1371600"/>
            <a:ext cx="7924800" cy="525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Botany 	       	 : The study of plants.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Zoology 	       	 : The study of animals.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Microbiology 	 : The study of microscopic organisms.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Bacteriology 	 : The study of bacteria.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Virology	       	 : The study of viruses.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Mycology 	      	 : The study of fungi.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Entomology 	 : The study of insects.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tabLst>
                <a:tab pos="723279" algn="l"/>
                <a:tab pos="1285829" algn="l"/>
              </a:tabLst>
            </a:pPr>
            <a:r>
              <a:rPr lang="en-US" sz="2000" dirty="0">
                <a:ea typeface="Marker Felt" charset="0"/>
                <a:cs typeface="Marker Felt" charset="0"/>
              </a:rPr>
              <a:t>Ornithology		 : The study of birds.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1148953" y="609600"/>
            <a:ext cx="6623447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/>
              <a:t>Approaches taken to study Biology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2355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290457"/>
              </p:ext>
            </p:extLst>
          </p:nvPr>
        </p:nvGraphicFramePr>
        <p:xfrm>
          <a:off x="360462" y="1600200"/>
          <a:ext cx="8478738" cy="4259464"/>
        </p:xfrm>
        <a:graphic>
          <a:graphicData uri="http://schemas.openxmlformats.org/drawingml/2006/table">
            <a:tbl>
              <a:tblPr/>
              <a:tblGrid>
                <a:gridCol w="229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Taxonomy 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classification of organisms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Morphology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study of the external form and structure of organisms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Anatomy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study of the internal structure of organisms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Physiology    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study of the function in living system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Cytology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study of cells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Ecology 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study of the relationship of organisms to their environment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Genetics 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study of inheritance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Pathology</a:t>
                      </a:r>
                    </a:p>
                  </a:txBody>
                  <a:tcPr marL="35719" marR="35719" marT="35719" marB="35719" anchor="ctr" horzOverflow="overflow">
                    <a:lnL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37373"/>
                        </a:buClr>
                        <a:buSzPct val="75000"/>
                        <a:buFont typeface="Marker Felt" charset="0"/>
                        <a:buNone/>
                        <a:tabLst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028700" algn="l"/>
                          <a:tab pos="1828800" algn="l"/>
                        </a:tabLst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arker Felt" charset="0"/>
                          <a:ea typeface="ヒラギノ明朝 ProN W3" charset="0"/>
                          <a:cs typeface="ヒラギノ明朝 ProN W3" charset="0"/>
                          <a:sym typeface="Marker Felt" charset="0"/>
                        </a:rPr>
                        <a:t>The study of diseases</a:t>
                      </a:r>
                    </a:p>
                  </a:txBody>
                  <a:tcPr marL="35719" marR="35719" marT="35719" marB="35719" anchor="ctr" horzOverflow="overflow">
                    <a:lnL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272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360026-BDA7-42B4-9C4E-4A4B23D4DAC3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04800" y="457200"/>
            <a:ext cx="8229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chemeClr val="tx2"/>
                </a:solidFill>
                <a:cs typeface="Times New Roman" pitchFamily="18" charset="0"/>
              </a:rPr>
              <a:t>Unifying Themes of Biology</a:t>
            </a:r>
            <a:r>
              <a:rPr 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 </a:t>
            </a:r>
          </a:p>
          <a:p>
            <a:pPr marL="342900" indent="-342900" algn="ctr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69925" lvl="1" indent="-325438">
              <a:spcBef>
                <a:spcPct val="50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400" b="1" dirty="0"/>
              <a:t>Hierarchical organization of life</a:t>
            </a:r>
          </a:p>
          <a:p>
            <a:pPr marL="1339850" lvl="3" indent="-315913">
              <a:spcBef>
                <a:spcPct val="25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400" dirty="0">
                <a:cs typeface="Times New Roman" pitchFamily="18" charset="0"/>
              </a:rPr>
              <a:t>-- structural make up, from the smallest, simple to largest complex </a:t>
            </a:r>
            <a:endParaRPr lang="en-US" sz="2400" dirty="0"/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400" b="1" dirty="0"/>
              <a:t>Cell theory </a:t>
            </a:r>
          </a:p>
          <a:p>
            <a:pPr marL="1339850" lvl="3" indent="-315913"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400" dirty="0"/>
              <a:t>-- all organisms are made of cells, </a:t>
            </a:r>
            <a:r>
              <a:rPr lang="en-US" sz="2400" dirty="0">
                <a:cs typeface="Times New Roman" pitchFamily="18" charset="0"/>
              </a:rPr>
              <a:t>central idea in all studies of biology</a:t>
            </a:r>
            <a:r>
              <a:rPr lang="en-US" sz="2400" dirty="0"/>
              <a:t> </a:t>
            </a:r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400" b="1" dirty="0"/>
              <a:t>Heredity </a:t>
            </a:r>
          </a:p>
          <a:p>
            <a:pPr marL="1339850" lvl="3" indent="-315913"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400" dirty="0">
                <a:cs typeface="Times New Roman" pitchFamily="18" charset="0"/>
              </a:rPr>
              <a:t>-- Biological information is inherited from parents in one generation by the offspring in the next.</a:t>
            </a:r>
            <a:endParaRPr lang="en-US" sz="2400" dirty="0"/>
          </a:p>
          <a:p>
            <a:pPr marL="669925" lvl="1" indent="-325438">
              <a:spcBef>
                <a:spcPct val="25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400" b="1" dirty="0"/>
              <a:t>Evolution </a:t>
            </a:r>
          </a:p>
          <a:p>
            <a:pPr marL="1339850" lvl="3" indent="-315913"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400" dirty="0">
                <a:cs typeface="Times New Roman" pitchFamily="18" charset="0"/>
              </a:rPr>
              <a:t>-- the modification of populations over time</a:t>
            </a:r>
            <a:r>
              <a:rPr lang="en-US" sz="2400" dirty="0"/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E239E-44A5-49F1-9723-9F917A854415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-76200" y="1524000"/>
            <a:ext cx="8610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69925" lvl="1" indent="-325438">
              <a:spcBef>
                <a:spcPct val="50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000" b="1" dirty="0"/>
              <a:t>Regulation </a:t>
            </a:r>
          </a:p>
          <a:p>
            <a:pPr marL="1339850" lvl="3" indent="-315913">
              <a:spcBef>
                <a:spcPct val="1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/>
              <a:t>-- </a:t>
            </a:r>
            <a:r>
              <a:rPr lang="en-US" sz="2000" dirty="0">
                <a:cs typeface="Times New Roman" pitchFamily="18" charset="0"/>
              </a:rPr>
              <a:t>To survive and reproduce, all forms of life must regulate their internal, and sometimes external, environment.</a:t>
            </a:r>
            <a:r>
              <a:rPr lang="en-US" sz="2000" dirty="0"/>
              <a:t> </a:t>
            </a:r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000" b="1" dirty="0"/>
              <a:t>Structure and function </a:t>
            </a:r>
          </a:p>
          <a:p>
            <a:pPr marL="1339850" lvl="3" indent="-315913">
              <a:spcBef>
                <a:spcPct val="1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/>
              <a:t>-- </a:t>
            </a:r>
            <a:r>
              <a:rPr lang="en-US" sz="2000" dirty="0">
                <a:cs typeface="Times New Roman" pitchFamily="18" charset="0"/>
              </a:rPr>
              <a:t>Correlations between the structure of a biological object, and its function.</a:t>
            </a:r>
            <a:endParaRPr lang="en-US" sz="2000" dirty="0"/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000" b="1" dirty="0"/>
              <a:t>Environmental interactions </a:t>
            </a:r>
          </a:p>
          <a:p>
            <a:pPr marL="1339850" lvl="3" indent="-315913">
              <a:spcBef>
                <a:spcPct val="1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/>
              <a:t>-- </a:t>
            </a:r>
            <a:r>
              <a:rPr lang="en-US" sz="2000" dirty="0">
                <a:cs typeface="Times New Roman" pitchFamily="18" charset="0"/>
              </a:rPr>
              <a:t>Individuals interact with other organisms of their own species and those of the greater community. </a:t>
            </a:r>
            <a:endParaRPr lang="en-US" sz="2000" dirty="0"/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q"/>
              <a:defRPr/>
            </a:pPr>
            <a:r>
              <a:rPr lang="en-US" sz="2000" b="1" dirty="0"/>
              <a:t>Energy flow</a:t>
            </a:r>
            <a:r>
              <a:rPr lang="en-US" sz="2000" dirty="0"/>
              <a:t> </a:t>
            </a:r>
          </a:p>
          <a:p>
            <a:pPr marL="1339850" lvl="3" indent="-315913">
              <a:spcBef>
                <a:spcPct val="1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/>
              <a:t>-- </a:t>
            </a:r>
            <a:r>
              <a:rPr lang="en-US" sz="2000" dirty="0">
                <a:cs typeface="Times New Roman" pitchFamily="18" charset="0"/>
              </a:rPr>
              <a:t>Energy flows through a food chain, cycles through an ecosystem, or is converted to different forms within the cells of an organism.</a:t>
            </a:r>
          </a:p>
          <a:p>
            <a:pPr marL="1339850" lvl="3" indent="-315913">
              <a:spcBef>
                <a:spcPct val="1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765252" y="381000"/>
            <a:ext cx="57150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chemeClr val="tx2"/>
                </a:solidFill>
                <a:cs typeface="Times New Roman" pitchFamily="18" charset="0"/>
              </a:rPr>
              <a:t>Unifying Themes of Biology</a:t>
            </a:r>
            <a:r>
              <a:rPr 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 </a:t>
            </a:r>
            <a:endParaRPr lang="en-US" sz="32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" y="164231"/>
            <a:ext cx="7620000" cy="1588369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/>
              <a:t>So…</a:t>
            </a:r>
            <a:br>
              <a:rPr lang="en-US" b="1" dirty="0"/>
            </a:br>
            <a:r>
              <a:rPr lang="en-US" b="1" dirty="0"/>
              <a:t>Biology: Redefined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7411" name="Rectangle 2"/>
          <p:cNvSpPr>
            <a:spLocks/>
          </p:cNvSpPr>
          <p:nvPr/>
        </p:nvSpPr>
        <p:spPr bwMode="auto">
          <a:xfrm>
            <a:off x="228600" y="1828800"/>
            <a:ext cx="8638580" cy="50291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buFontTx/>
              <a:buChar char="-"/>
              <a:tabLst>
                <a:tab pos="723279" algn="l"/>
                <a:tab pos="1285829" algn="l"/>
              </a:tabLst>
            </a:pPr>
            <a:r>
              <a:rPr lang="en-US" sz="2200" dirty="0">
                <a:ea typeface="Marker Felt" charset="0"/>
                <a:cs typeface="Marker Felt" charset="0"/>
              </a:rPr>
              <a:t> Biology was first defined as the science that deals with the </a:t>
            </a:r>
            <a:r>
              <a:rPr lang="en-US" sz="2200" u="sng" dirty="0">
                <a:ea typeface="Marker Felt" charset="0"/>
                <a:cs typeface="Marker Felt" charset="0"/>
              </a:rPr>
              <a:t>study of life</a:t>
            </a:r>
            <a:endParaRPr lang="en-US" sz="2200" dirty="0">
              <a:ea typeface="Marker Felt" charset="0"/>
              <a:cs typeface="Marker Felt" charset="0"/>
            </a:endParaRPr>
          </a:p>
          <a:p>
            <a:pPr algn="just">
              <a:buFontTx/>
              <a:buChar char="-"/>
              <a:tabLst>
                <a:tab pos="723279" algn="l"/>
                <a:tab pos="1285829" algn="l"/>
              </a:tabLst>
            </a:pPr>
            <a:endParaRPr lang="en-US" sz="2200" dirty="0">
              <a:ea typeface="Marker Felt" charset="0"/>
              <a:cs typeface="Marker Felt" charset="0"/>
            </a:endParaRPr>
          </a:p>
          <a:p>
            <a:pPr algn="just">
              <a:tabLst>
                <a:tab pos="723279" algn="l"/>
                <a:tab pos="1285829" algn="l"/>
              </a:tabLst>
            </a:pPr>
            <a:r>
              <a:rPr lang="en-US" sz="2200" dirty="0">
                <a:ea typeface="Marker Felt" charset="0"/>
                <a:cs typeface="Marker Felt" charset="0"/>
              </a:rPr>
              <a:t>- However, as we learn more, we see that biology involves many other things. It is also a study of all those things that affect life. </a:t>
            </a:r>
          </a:p>
          <a:p>
            <a:pPr algn="just">
              <a:tabLst>
                <a:tab pos="723279" algn="l"/>
                <a:tab pos="1285829" algn="l"/>
              </a:tabLst>
            </a:pPr>
            <a:endParaRPr lang="en-US" sz="2200" dirty="0">
              <a:ea typeface="Marker Felt" charset="0"/>
              <a:cs typeface="Marker Felt" charset="0"/>
            </a:endParaRPr>
          </a:p>
          <a:p>
            <a:pPr algn="just">
              <a:tabLst>
                <a:tab pos="723279" algn="l"/>
                <a:tab pos="1285829" algn="l"/>
              </a:tabLst>
            </a:pPr>
            <a:r>
              <a:rPr lang="en-US" sz="2200" dirty="0">
                <a:ea typeface="Marker Felt" charset="0"/>
                <a:cs typeface="Marker Felt" charset="0"/>
              </a:rPr>
              <a:t>- Thus the following is a more accurate definition of biology: </a:t>
            </a:r>
          </a:p>
          <a:p>
            <a:pPr algn="just">
              <a:tabLst>
                <a:tab pos="723279" algn="l"/>
                <a:tab pos="1285829" algn="l"/>
              </a:tabLst>
            </a:pPr>
            <a:endParaRPr lang="en-US" sz="2200" b="1" dirty="0">
              <a:solidFill>
                <a:srgbClr val="7030A0"/>
              </a:solidFill>
              <a:ea typeface="Marker Felt" charset="0"/>
              <a:cs typeface="Marker Felt" charset="0"/>
            </a:endParaRPr>
          </a:p>
          <a:p>
            <a:pPr algn="just">
              <a:tabLst>
                <a:tab pos="723279" algn="l"/>
                <a:tab pos="1285829" algn="l"/>
              </a:tabLst>
            </a:pPr>
            <a:r>
              <a:rPr lang="en-US" sz="2200" b="1" u="sng" dirty="0">
                <a:solidFill>
                  <a:srgbClr val="7030A0"/>
                </a:solidFill>
                <a:ea typeface="Marker Felt" charset="0"/>
                <a:cs typeface="Marker Felt" charset="0"/>
              </a:rPr>
              <a:t>Biology is the study of living things and the things that were once alive, together with the matter and energy that surround them.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372591"/>
            <a:ext cx="7358063" cy="999009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400" b="1" dirty="0"/>
              <a:t>What is Life?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21531" y="1607344"/>
            <a:ext cx="7358063" cy="4269507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754704" lvl="1" indent="0">
              <a:lnSpc>
                <a:spcPct val="200000"/>
              </a:lnSpc>
              <a:buClr>
                <a:srgbClr val="000000"/>
              </a:buClr>
              <a:buSzPct val="171000"/>
              <a:buNone/>
            </a:pPr>
            <a:r>
              <a:rPr lang="en-US" sz="2800" dirty="0"/>
              <a:t>Human, animals, plants vs. stones, laptops, cell phones !</a:t>
            </a:r>
          </a:p>
          <a:p>
            <a:pPr marL="754704" lvl="1" indent="0">
              <a:lnSpc>
                <a:spcPct val="200000"/>
              </a:lnSpc>
              <a:buClr>
                <a:srgbClr val="000000"/>
              </a:buClr>
              <a:buSzPct val="171000"/>
              <a:buNone/>
            </a:pPr>
            <a:endParaRPr lang="en-US" sz="2800" dirty="0"/>
          </a:p>
          <a:p>
            <a:pPr marL="754704" lvl="1" indent="0">
              <a:lnSpc>
                <a:spcPct val="200000"/>
              </a:lnSpc>
              <a:buClr>
                <a:srgbClr val="000000"/>
              </a:buClr>
              <a:buSzPct val="171000"/>
              <a:buNone/>
            </a:pPr>
            <a:r>
              <a:rPr lang="en-US" sz="2800" dirty="0"/>
              <a:t>What are the special characteristics of living thing?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553641" y="535781"/>
            <a:ext cx="8134945" cy="10905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600" b="1" dirty="0"/>
              <a:t>Characteristics of living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291" name="Rectangle 2"/>
          <p:cNvSpPr>
            <a:spLocks/>
          </p:cNvSpPr>
          <p:nvPr/>
        </p:nvSpPr>
        <p:spPr bwMode="auto">
          <a:xfrm>
            <a:off x="767953" y="1768078"/>
            <a:ext cx="7393781" cy="45541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b="1" dirty="0">
                <a:latin typeface="Gill Sans"/>
                <a:ea typeface="Gill Sans" charset="0"/>
                <a:cs typeface="Gill Sans" charset="0"/>
                <a:sym typeface="Gill Sans" charset="0"/>
              </a:rPr>
              <a:t>There are </a:t>
            </a:r>
            <a:r>
              <a:rPr lang="en-US" sz="2000" b="1" dirty="0">
                <a:solidFill>
                  <a:schemeClr val="tx2"/>
                </a:solidFill>
                <a:latin typeface="Gill Sans"/>
                <a:ea typeface="Gill Sans" charset="0"/>
                <a:cs typeface="Gill Sans" charset="0"/>
                <a:sym typeface="Gill Sans" charset="0"/>
              </a:rPr>
              <a:t>nine </a:t>
            </a:r>
            <a:r>
              <a:rPr lang="en-US" sz="2000" b="1" dirty="0">
                <a:latin typeface="Gill Sans"/>
                <a:ea typeface="Gill Sans" charset="0"/>
                <a:cs typeface="Gill Sans" charset="0"/>
                <a:sym typeface="Gill Sans" charset="0"/>
              </a:rPr>
              <a:t>characteristics of living things.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The need for energy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Movement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Cellular structure and organization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Growth and development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Maintenance and repair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Reproduction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Response to stimuli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Variation and adaptation</a:t>
            </a:r>
          </a:p>
          <a:p>
            <a:pPr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000" dirty="0">
                <a:latin typeface="Gill Sans"/>
                <a:ea typeface="Gill Sans" charset="0"/>
                <a:cs typeface="Gill Sans" charset="0"/>
                <a:sym typeface="Gill Sans" charset="0"/>
              </a:rPr>
              <a:t>- Metabolism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1625203" y="386209"/>
            <a:ext cx="5834435" cy="756791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200" b="1" dirty="0"/>
              <a:t>1. Need for Energy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-38100" y="1524000"/>
            <a:ext cx="5143500" cy="5572125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  <a:normAutofit/>
          </a:bodyPr>
          <a:lstStyle/>
          <a:p>
            <a:pPr marL="625056">
              <a:buClr>
                <a:srgbClr val="000000"/>
              </a:buClr>
              <a:buSzPct val="171000"/>
              <a:buNone/>
            </a:pP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Every living organism need energy to run many activities.</a:t>
            </a:r>
          </a:p>
          <a:p>
            <a:pPr marL="625056">
              <a:spcBef>
                <a:spcPts val="1732"/>
              </a:spcBef>
              <a:buClr>
                <a:srgbClr val="000000"/>
              </a:buClr>
              <a:buSzPct val="171000"/>
              <a:buNone/>
            </a:pP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Sun is the universal energy source.</a:t>
            </a:r>
          </a:p>
          <a:p>
            <a:pPr marL="937584" lvl="1">
              <a:spcBef>
                <a:spcPts val="1732"/>
              </a:spcBef>
              <a:buClr>
                <a:srgbClr val="000000"/>
              </a:buClr>
              <a:buSzPct val="171000"/>
              <a:buNone/>
            </a:pP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1. </a:t>
            </a:r>
            <a:r>
              <a:rPr lang="en-US" sz="1800" b="1" dirty="0">
                <a:solidFill>
                  <a:srgbClr val="2B4714"/>
                </a:solidFill>
                <a:ea typeface="Arial Unicode MS" pitchFamily="34" charset="-128"/>
                <a:cs typeface="Arial Unicode MS" pitchFamily="34" charset="-128"/>
                <a:sym typeface="Gill Sans" charset="0"/>
              </a:rPr>
              <a:t>Primary Producers:</a:t>
            </a: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 Plants and Green organisms --&gt;produce food from sun</a:t>
            </a:r>
          </a:p>
          <a:p>
            <a:pPr marL="937584" lvl="1">
              <a:spcBef>
                <a:spcPts val="1732"/>
              </a:spcBef>
              <a:buClr>
                <a:srgbClr val="000000"/>
              </a:buClr>
              <a:buSzPct val="171000"/>
              <a:buNone/>
            </a:pP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2. </a:t>
            </a:r>
            <a:r>
              <a:rPr lang="en-US" sz="1800" b="1" dirty="0">
                <a:solidFill>
                  <a:srgbClr val="644600"/>
                </a:solidFill>
                <a:ea typeface="Arial Unicode MS" pitchFamily="34" charset="-128"/>
                <a:cs typeface="Arial Unicode MS" pitchFamily="34" charset="-128"/>
                <a:sym typeface="Gill Sans" charset="0"/>
              </a:rPr>
              <a:t>Primary consumers:</a:t>
            </a: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  Animals and non-green organisms--&gt; get food from Primary producers.</a:t>
            </a:r>
          </a:p>
          <a:p>
            <a:pPr marL="937584" lvl="1">
              <a:spcBef>
                <a:spcPts val="1732"/>
              </a:spcBef>
              <a:buClr>
                <a:srgbClr val="000000"/>
              </a:buClr>
              <a:buSzPct val="171000"/>
              <a:buNone/>
            </a:pP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3. </a:t>
            </a:r>
            <a:r>
              <a:rPr lang="en-US" sz="1800" b="1" dirty="0">
                <a:solidFill>
                  <a:srgbClr val="001F67"/>
                </a:solidFill>
                <a:ea typeface="Arial Unicode MS" pitchFamily="34" charset="-128"/>
                <a:cs typeface="Arial Unicode MS" pitchFamily="34" charset="-128"/>
                <a:sym typeface="Gill Sans" charset="0"/>
              </a:rPr>
              <a:t>Secondary consumers:</a:t>
            </a: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 Get food from both Producers and Primary consumers.</a:t>
            </a:r>
          </a:p>
          <a:p>
            <a:pPr marL="937584" lvl="1">
              <a:spcBef>
                <a:spcPts val="1732"/>
              </a:spcBef>
              <a:buClr>
                <a:srgbClr val="000000"/>
              </a:buClr>
              <a:buSzPct val="171000"/>
              <a:buNone/>
            </a:pP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4. </a:t>
            </a:r>
            <a:r>
              <a:rPr lang="en-US" sz="1800" b="1" dirty="0">
                <a:solidFill>
                  <a:srgbClr val="671D00"/>
                </a:solidFill>
                <a:ea typeface="Arial Unicode MS" pitchFamily="34" charset="-128"/>
                <a:cs typeface="Arial Unicode MS" pitchFamily="34" charset="-128"/>
                <a:sym typeface="Gill Sans" charset="0"/>
              </a:rPr>
              <a:t>Tertiary consumers: </a:t>
            </a: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Lives on primary and secondary consumers.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3316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6238" y="2286000"/>
            <a:ext cx="3506762" cy="30684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467600" y="1143000"/>
            <a:ext cx="892969" cy="892969"/>
            <a:chOff x="0" y="0"/>
            <a:chExt cx="800" cy="800"/>
          </a:xfrm>
        </p:grpSpPr>
        <p:sp>
          <p:nvSpPr>
            <p:cNvPr id="13320" name="Oval 4"/>
            <p:cNvSpPr>
              <a:spLocks/>
            </p:cNvSpPr>
            <p:nvPr/>
          </p:nvSpPr>
          <p:spPr bwMode="auto">
            <a:xfrm>
              <a:off x="0" y="0"/>
              <a:ext cx="800" cy="8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F3EB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13" name="Rectangle 5"/>
            <p:cNvSpPr>
              <a:spLocks/>
            </p:cNvSpPr>
            <p:nvPr/>
          </p:nvSpPr>
          <p:spPr bwMode="auto">
            <a:xfrm>
              <a:off x="116" y="316"/>
              <a:ext cx="568" cy="16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>
                <a:defRPr/>
              </a:pPr>
              <a:r>
                <a:rPr lang="en-US" sz="1300" dirty="0">
                  <a:solidFill>
                    <a:srgbClr val="343434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ea typeface="Gill Sans" charset="0"/>
                  <a:cs typeface="Gill Sans" charset="0"/>
                  <a:sym typeface="Gill Sans" charset="0"/>
                </a:rPr>
                <a:t>SUN</a:t>
              </a:r>
            </a:p>
          </p:txBody>
        </p:sp>
      </p:grpSp>
      <p:sp>
        <p:nvSpPr>
          <p:cNvPr id="13319" name="Rectangle 8"/>
          <p:cNvSpPr>
            <a:spLocks/>
          </p:cNvSpPr>
          <p:nvPr/>
        </p:nvSpPr>
        <p:spPr bwMode="auto">
          <a:xfrm>
            <a:off x="5804297" y="5464969"/>
            <a:ext cx="2321719" cy="1875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sz="1300" b="1" dirty="0">
                <a:solidFill>
                  <a:srgbClr val="430A1F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rPr>
              <a:t>Figure: Energy Pyramid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7926" y="1352326"/>
            <a:ext cx="4515074" cy="45150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4339" name="Rectangle 2"/>
          <p:cNvSpPr>
            <a:spLocks/>
          </p:cNvSpPr>
          <p:nvPr/>
        </p:nvSpPr>
        <p:spPr bwMode="auto">
          <a:xfrm>
            <a:off x="5298622" y="6124545"/>
            <a:ext cx="2016578" cy="2000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b="1" dirty="0">
                <a:solidFill>
                  <a:srgbClr val="1D300D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rPr>
              <a:t>Figure: The Energy Cycle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257800" y="330101"/>
            <a:ext cx="3714750" cy="736699"/>
          </a:xfrm>
          <a:ln w="12700"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63622">
              <a:defRPr/>
            </a:pPr>
            <a:r>
              <a:rPr lang="en-US" sz="2500" b="1" dirty="0"/>
              <a:t>1. Need for Energy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29016" y="5715000"/>
            <a:ext cx="609600" cy="521208"/>
          </a:xfrm>
        </p:spPr>
        <p:txBody>
          <a:bodyPr/>
          <a:lstStyle/>
          <a:p>
            <a:fld id="{4A824259-EC09-4C9F-9F84-F0AFA610838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714375" y="1017984"/>
            <a:ext cx="2232422" cy="4375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sz="3000" b="1" dirty="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rPr>
              <a:t>Why ?</a:t>
            </a:r>
          </a:p>
        </p:txBody>
      </p:sp>
      <p:sp>
        <p:nvSpPr>
          <p:cNvPr id="18437" name="Rectangle 5"/>
          <p:cNvSpPr>
            <a:spLocks/>
          </p:cNvSpPr>
          <p:nvPr/>
        </p:nvSpPr>
        <p:spPr bwMode="auto">
          <a:xfrm>
            <a:off x="446484" y="1875234"/>
            <a:ext cx="3696891" cy="45541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 Movement</a:t>
            </a:r>
          </a:p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 Growth &amp; development</a:t>
            </a:r>
          </a:p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 Repair and maintenance</a:t>
            </a:r>
          </a:p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 Response to stimuli</a:t>
            </a:r>
          </a:p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 Variations and Adaptation</a:t>
            </a:r>
          </a:p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 Reproduction</a:t>
            </a:r>
          </a:p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 Metabolism</a:t>
            </a:r>
          </a:p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Gill Sans" charset="0"/>
              </a:rPr>
              <a:t>------etc.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6241792" presetClass="entr" presetSubtype="35644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3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2482453" y="321469"/>
            <a:ext cx="3705820" cy="7143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200" b="1" dirty="0"/>
              <a:t>2. Movement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92906" y="1638300"/>
            <a:ext cx="4295180" cy="5143500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/>
          <a:p>
            <a:pPr lvl="2" eaLnBrk="1" hangingPunct="1">
              <a:buFontTx/>
              <a:buNone/>
            </a:pPr>
            <a:r>
              <a:rPr lang="en-US" sz="22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Animal</a:t>
            </a: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: Most obvious/visual</a:t>
            </a:r>
          </a:p>
          <a:p>
            <a:pPr lvl="2">
              <a:spcBef>
                <a:spcPts val="712"/>
              </a:spcBef>
              <a:buNone/>
            </a:pPr>
            <a:endParaRPr lang="en-US" sz="2200" dirty="0">
              <a:latin typeface="Arial Unicode MS" pitchFamily="34" charset="-128"/>
              <a:ea typeface="Arial Unicode MS" pitchFamily="34" charset="-128"/>
              <a:cs typeface="Arial Unicode MS" pitchFamily="34" charset="-128"/>
              <a:sym typeface="Arial" charset="0"/>
            </a:endParaRPr>
          </a:p>
          <a:p>
            <a:pPr lvl="2">
              <a:spcBef>
                <a:spcPts val="712"/>
              </a:spcBef>
              <a:buNone/>
            </a:pPr>
            <a:r>
              <a:rPr lang="en-US" sz="22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Plant</a:t>
            </a: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: </a:t>
            </a:r>
          </a:p>
          <a:p>
            <a:pPr lvl="2">
              <a:spcBef>
                <a:spcPts val="712"/>
              </a:spcBef>
              <a:buNone/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-Opening of buds</a:t>
            </a:r>
          </a:p>
          <a:p>
            <a:pPr lvl="2">
              <a:spcBef>
                <a:spcPts val="712"/>
              </a:spcBef>
              <a:buNone/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-Turning of leaves toward sun</a:t>
            </a:r>
          </a:p>
          <a:p>
            <a:pPr lvl="2">
              <a:spcBef>
                <a:spcPts val="712"/>
              </a:spcBef>
              <a:buNone/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-</a:t>
            </a:r>
            <a:r>
              <a:rPr lang="en-US" sz="2200" i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 Italic" charset="0"/>
              </a:rPr>
              <a:t>Mimosa </a:t>
            </a:r>
            <a:r>
              <a:rPr lang="en-US" sz="2200" i="1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 Italic" charset="0"/>
              </a:rPr>
              <a:t>pudica</a:t>
            </a:r>
            <a:r>
              <a:rPr lang="en-US" sz="2200" i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 Italic" charset="0"/>
              </a:rPr>
              <a:t> </a:t>
            </a: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(the sensitive plant)</a:t>
            </a:r>
          </a:p>
          <a:p>
            <a:pPr lvl="2">
              <a:spcBef>
                <a:spcPts val="712"/>
              </a:spcBef>
              <a:buNone/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-‘Sundew’ of northern bogs: Carnivorous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536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3810000"/>
            <a:ext cx="2892103" cy="21687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1360" y="1446609"/>
            <a:ext cx="3105299" cy="19165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5366" name="TextBox 5"/>
          <p:cNvSpPr txBox="1">
            <a:spLocks noChangeArrowheads="1"/>
          </p:cNvSpPr>
          <p:nvPr/>
        </p:nvSpPr>
        <p:spPr bwMode="auto">
          <a:xfrm>
            <a:off x="6019800" y="6059625"/>
            <a:ext cx="1875234" cy="26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Figure:</a:t>
            </a:r>
            <a:r>
              <a:rPr lang="en-US" sz="1300" i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 Italic" charset="0"/>
              </a:rPr>
              <a:t> Mimosa </a:t>
            </a:r>
            <a:r>
              <a:rPr lang="en-US" sz="1300" i="1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 Italic" charset="0"/>
              </a:rPr>
              <a:t>pudica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5367" name="TextBox 6"/>
          <p:cNvSpPr txBox="1">
            <a:spLocks noChangeArrowheads="1"/>
          </p:cNvSpPr>
          <p:nvPr/>
        </p:nvSpPr>
        <p:spPr bwMode="auto">
          <a:xfrm>
            <a:off x="5643563" y="3375422"/>
            <a:ext cx="2261832" cy="234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4291" tIns="32146" rIns="64291" bIns="32146">
            <a:spAutoFit/>
          </a:bodyPr>
          <a:lstStyle/>
          <a:p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Figure:</a:t>
            </a:r>
            <a:r>
              <a:rPr lang="en-US" sz="11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Arial" charset="0"/>
              </a:rPr>
              <a:t> ‘sundew’ of northern bogs.</a:t>
            </a:r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978" y="460772"/>
            <a:ext cx="6804422" cy="91082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100" b="1" dirty="0"/>
              <a:t>2. Movement: Locomotion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85750" y="1768078"/>
            <a:ext cx="5197078" cy="4393406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self-propulsion by the organism.</a:t>
            </a:r>
          </a:p>
          <a:p>
            <a:pPr>
              <a:lnSpc>
                <a:spcPct val="150000"/>
              </a:lnSpc>
              <a:spcBef>
                <a:spcPts val="703"/>
              </a:spcBef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can be swimming, running, flying, walking etc.</a:t>
            </a:r>
          </a:p>
          <a:p>
            <a:pPr>
              <a:lnSpc>
                <a:spcPct val="150000"/>
              </a:lnSpc>
              <a:spcBef>
                <a:spcPts val="703"/>
              </a:spcBef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microorganisms also can propel by their own locomotion mechanism.</a:t>
            </a:r>
          </a:p>
          <a:p>
            <a:pPr>
              <a:lnSpc>
                <a:spcPct val="150000"/>
              </a:lnSpc>
              <a:spcBef>
                <a:spcPts val="703"/>
              </a:spcBef>
            </a:pP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But any change of location is not locomotion. e.g. wind moves the branches of trees!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050" name="Picture 2" descr="https://encrypted-tbn3.gstatic.com/images?q=tbn:ANd9GcTsK2sw1YmvJKShuXxEFEcflJ7YmwyOidnhhRb9WhvyFFKevNj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86000"/>
            <a:ext cx="3989070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85750" y="274588"/>
            <a:ext cx="8858250" cy="117202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200" dirty="0">
                <a:solidFill>
                  <a:schemeClr val="tx1"/>
                </a:solidFill>
              </a:rPr>
              <a:t>3. Cellular Structure &amp; Organization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00063" y="1285875"/>
            <a:ext cx="8405068" cy="4968508"/>
            <a:chOff x="711199" y="1828800"/>
            <a:chExt cx="11953876" cy="7066323"/>
          </a:xfrm>
        </p:grpSpPr>
        <p:pic>
          <p:nvPicPr>
            <p:cNvPr id="1741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07000" y="1828800"/>
              <a:ext cx="3795346" cy="2857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1741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51199" y="5638800"/>
              <a:ext cx="2979737" cy="29797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17415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1199" y="1905000"/>
              <a:ext cx="3746307" cy="28829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17416" name="Rectangle 6"/>
            <p:cNvSpPr>
              <a:spLocks/>
            </p:cNvSpPr>
            <p:nvPr/>
          </p:nvSpPr>
          <p:spPr bwMode="auto">
            <a:xfrm>
              <a:off x="1397000" y="4800600"/>
              <a:ext cx="1998662" cy="2845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r>
                <a:rPr lang="en-US" sz="1300" b="1" dirty="0">
                  <a:ea typeface="Hoefler Text" pitchFamily="18" charset="0"/>
                  <a:cs typeface="Hoefler Text" pitchFamily="18" charset="0"/>
                </a:rPr>
                <a:t>Plant Cell</a:t>
              </a:r>
            </a:p>
          </p:txBody>
        </p:sp>
        <p:sp>
          <p:nvSpPr>
            <p:cNvPr id="17417" name="Rectangle 7"/>
            <p:cNvSpPr>
              <a:spLocks/>
            </p:cNvSpPr>
            <p:nvPr/>
          </p:nvSpPr>
          <p:spPr bwMode="auto">
            <a:xfrm>
              <a:off x="6426201" y="4800600"/>
              <a:ext cx="1117114" cy="2845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300" b="1" dirty="0">
                  <a:ea typeface="Hoefler Text" pitchFamily="18" charset="0"/>
                  <a:cs typeface="Hoefler Text" pitchFamily="18" charset="0"/>
                </a:rPr>
                <a:t>Animal Cell</a:t>
              </a:r>
            </a:p>
          </p:txBody>
        </p:sp>
        <p:sp>
          <p:nvSpPr>
            <p:cNvPr id="17419" name="Rectangle 9"/>
            <p:cNvSpPr>
              <a:spLocks/>
            </p:cNvSpPr>
            <p:nvPr/>
          </p:nvSpPr>
          <p:spPr bwMode="auto">
            <a:xfrm>
              <a:off x="4009812" y="8610600"/>
              <a:ext cx="1282904" cy="2845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300" b="1" dirty="0">
                  <a:ea typeface="Hoefler Text" pitchFamily="18" charset="0"/>
                  <a:cs typeface="Hoefler Text" pitchFamily="18" charset="0"/>
                </a:rPr>
                <a:t>Bacterial Cell</a:t>
              </a:r>
            </a:p>
          </p:txBody>
        </p:sp>
        <p:sp>
          <p:nvSpPr>
            <p:cNvPr id="17420" name="AutoShape 10"/>
            <p:cNvSpPr>
              <a:spLocks/>
            </p:cNvSpPr>
            <p:nvPr/>
          </p:nvSpPr>
          <p:spPr bwMode="auto">
            <a:xfrm>
              <a:off x="9629775" y="2746375"/>
              <a:ext cx="3035300" cy="3124200"/>
            </a:xfrm>
            <a:prstGeom prst="wedgeEllipseCallout">
              <a:avLst>
                <a:gd name="adj1" fmla="val -58370"/>
                <a:gd name="adj2" fmla="val -9352"/>
              </a:avLst>
            </a:prstGeom>
            <a:blipFill dpi="0" rotWithShape="0">
              <a:blip r:embed="rId5" cstate="print"/>
              <a:srcRect/>
              <a:tile tx="0" ty="0" sx="100000" sy="100000" flip="none" algn="tl"/>
            </a:blipFill>
            <a:ln w="25400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sz="2000" dirty="0">
                  <a:solidFill>
                    <a:srgbClr val="FFFFFF"/>
                  </a:solidFill>
                  <a:ea typeface="Hoefler Text" pitchFamily="18" charset="0"/>
                  <a:cs typeface="Hoefler Text" pitchFamily="18" charset="0"/>
                </a:rPr>
                <a:t>All Living thing are made up of  </a:t>
              </a:r>
            </a:p>
            <a:p>
              <a:r>
                <a:rPr lang="en-US" sz="2800" b="1" dirty="0">
                  <a:solidFill>
                    <a:srgbClr val="FFFA83"/>
                  </a:solidFill>
                  <a:ea typeface="Hoefler Text" pitchFamily="18" charset="0"/>
                  <a:cs typeface="Hoefler Text" pitchFamily="18" charset="0"/>
                </a:rPr>
                <a:t>CELLS</a:t>
              </a: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534400" cy="6858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200" b="1" dirty="0"/>
              <a:t>3. Cellular Structure &amp; Organization</a:t>
            </a:r>
          </a:p>
        </p:txBody>
      </p:sp>
      <p:sp>
        <p:nvSpPr>
          <p:cNvPr id="1843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9328" y="1545431"/>
            <a:ext cx="8804672" cy="5083969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spcBef>
                <a:spcPts val="1257"/>
              </a:spcBef>
              <a:buNone/>
            </a:pPr>
            <a:r>
              <a:rPr lang="en-US" b="1" dirty="0">
                <a:ea typeface="Arial Unicode MS" pitchFamily="34" charset="-128"/>
                <a:cs typeface="Arial Unicode MS" pitchFamily="34" charset="-128"/>
              </a:rPr>
              <a:t>Protoplasm</a:t>
            </a:r>
          </a:p>
          <a:p>
            <a:pPr>
              <a:spcBef>
                <a:spcPts val="1257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Complex mixture of substances</a:t>
            </a:r>
          </a:p>
          <a:p>
            <a:pPr>
              <a:spcBef>
                <a:spcPts val="1257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All living cells have Protoplasm</a:t>
            </a:r>
          </a:p>
          <a:p>
            <a:pPr>
              <a:spcBef>
                <a:spcPts val="1257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Made up of-- carbohydrates, fats, proteins, water etc.</a:t>
            </a:r>
          </a:p>
          <a:p>
            <a:pPr>
              <a:spcBef>
                <a:spcPts val="1257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Ensures the living condition.</a:t>
            </a:r>
          </a:p>
          <a:p>
            <a:pPr>
              <a:spcBef>
                <a:spcPts val="1257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Composition is different in different organisms.</a:t>
            </a:r>
          </a:p>
          <a:p>
            <a:pPr>
              <a:spcBef>
                <a:spcPts val="1257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Even in same organism, protoplasm differs from one part to another.--&gt; always changing.</a:t>
            </a:r>
          </a:p>
          <a:p>
            <a:pPr>
              <a:spcBef>
                <a:spcPts val="1257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Living things can organize material into protoplasm and organize protoplasm to make cell and ..... can organize cells to make a total living thing.--&gt; So, for this organizing capacity, they are called “</a:t>
            </a:r>
            <a:r>
              <a:rPr lang="en-US" sz="20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Organisms</a:t>
            </a: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zumeriserly.files.wordpress.com/2013/09/ay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850750"/>
            <a:ext cx="5105400" cy="288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4129" y="178594"/>
            <a:ext cx="7183934" cy="133945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200" b="1" dirty="0"/>
              <a:t>4. Growth &amp; Development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-152400" y="1752600"/>
            <a:ext cx="8911828" cy="4018359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Growth: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Getting larger is not only</a:t>
            </a:r>
          </a:p>
          <a:p>
            <a:pPr marL="274320" lvl="1" indent="0" eaLnBrk="1" hangingPunct="1">
              <a:lnSpc>
                <a:spcPct val="150000"/>
              </a:lnSpc>
              <a:buNone/>
            </a:pP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the Growth. 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Collection of things are not the Growth. 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i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By organizing materials, living things make special kind of protoplasm, reproduce cells/increase the cell number, goes from one state to another.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4402856" y="964406"/>
            <a:ext cx="4588744" cy="831578"/>
          </a:xfrm>
        </p:spPr>
        <p:txBody>
          <a:bodyPr/>
          <a:lstStyle/>
          <a:p>
            <a:pPr eaLnBrk="1" hangingPunct="1">
              <a:defRPr/>
            </a:pPr>
            <a:r>
              <a:rPr lang="en-US" sz="2500" b="1" dirty="0"/>
              <a:t>4. Growth &amp; Development</a:t>
            </a:r>
          </a:p>
        </p:txBody>
      </p:sp>
      <p:sp>
        <p:nvSpPr>
          <p:cNvPr id="2048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8600" y="3352800"/>
            <a:ext cx="8382000" cy="3482578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Development:</a:t>
            </a:r>
          </a:p>
          <a:p>
            <a:pPr lvl="1" eaLnBrk="1" hangingPunct="1">
              <a:lnSpc>
                <a:spcPct val="150000"/>
              </a:lnSpc>
              <a:buFontTx/>
              <a:buBlip>
                <a:blip r:embed="rId2"/>
              </a:buBlip>
            </a:pP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 series of changes that take place in as an organism grows toward </a:t>
            </a:r>
            <a:r>
              <a:rPr lang="en-US" sz="24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final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form, is called development.</a:t>
            </a:r>
          </a:p>
          <a:p>
            <a:pPr lvl="1" eaLnBrk="1" hangingPunct="1">
              <a:lnSpc>
                <a:spcPct val="150000"/>
              </a:lnSpc>
              <a:buFontTx/>
              <a:buBlip>
                <a:blip r:embed="rId2"/>
              </a:buBlip>
            </a:pP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By development an organism becomes a unique living thing with specialized parts and different from other.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87411"/>
            <a:ext cx="3657600" cy="27393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10600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3400" b="1" dirty="0"/>
              <a:t>5. Maintenance &amp; Repair</a:t>
            </a:r>
            <a:endParaRPr lang="en-US" sz="3400" b="1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 bwMode="auto">
          <a:xfrm>
            <a:off x="209252" y="1447800"/>
            <a:ext cx="8553748" cy="4343400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dirty="0"/>
              <a:t>Part of growth and development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/>
              <a:t>Appears to have stopped growth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But actually system runs as ‘maintenance and repair’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Replacing dead skin cells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Healing of cut fingers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Tail recovery of house lizard</a:t>
            </a:r>
            <a:r>
              <a:rPr lang="en-US" sz="24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074" name="Picture 2" descr="http://www.anoleannals.org/wp-content/uploads/2011/06/frog4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57600"/>
            <a:ext cx="4191000" cy="290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328" y="533400"/>
            <a:ext cx="8228707" cy="796975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GB" sz="3400" b="1" dirty="0"/>
              <a:t>6. Reproduction</a:t>
            </a:r>
            <a:br>
              <a:rPr lang="en-US" sz="3400" b="1" dirty="0"/>
            </a:br>
            <a:endParaRPr lang="en-US" sz="3400" b="1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 bwMode="auto">
          <a:xfrm>
            <a:off x="152401" y="1447800"/>
            <a:ext cx="8762999" cy="4572000"/>
          </a:xfrm>
          <a:noFill/>
          <a:ln>
            <a:miter lim="800000"/>
            <a:headEnd/>
            <a:tailEnd/>
          </a:ln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dirty="0"/>
              <a:t>Only living things can produce offspring's similar to themselves.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/>
              <a:t>Process can be different—</a:t>
            </a:r>
          </a:p>
          <a:p>
            <a:pPr lvl="3" eaLnBrk="1" hangingPunct="1">
              <a:lnSpc>
                <a:spcPct val="150000"/>
              </a:lnSpc>
            </a:pPr>
            <a:r>
              <a:rPr lang="en-US" sz="2400" dirty="0"/>
              <a:t>Laying eggs</a:t>
            </a:r>
          </a:p>
          <a:p>
            <a:pPr lvl="3" eaLnBrk="1" hangingPunct="1">
              <a:lnSpc>
                <a:spcPct val="150000"/>
              </a:lnSpc>
            </a:pPr>
            <a:r>
              <a:rPr lang="en-US" sz="2400" dirty="0"/>
              <a:t>Giving birth</a:t>
            </a:r>
          </a:p>
          <a:p>
            <a:pPr lvl="3" eaLnBrk="1" hangingPunct="1">
              <a:lnSpc>
                <a:spcPct val="150000"/>
              </a:lnSpc>
            </a:pPr>
            <a:r>
              <a:rPr lang="en-US" sz="2400" dirty="0"/>
              <a:t>Plant seeds develop to </a:t>
            </a:r>
          </a:p>
          <a:p>
            <a:pPr marL="822960" lvl="3" indent="0" eaLnBrk="1" hangingPunct="1">
              <a:lnSpc>
                <a:spcPct val="150000"/>
              </a:lnSpc>
              <a:buNone/>
            </a:pPr>
            <a:r>
              <a:rPr lang="en-US" sz="2400" dirty="0"/>
              <a:t>plants etc.</a:t>
            </a:r>
          </a:p>
          <a:p>
            <a:pPr marL="822960" lvl="3" indent="0" eaLnBrk="1" hangingPunct="1">
              <a:lnSpc>
                <a:spcPct val="150000"/>
              </a:lnSpc>
              <a:buNone/>
            </a:pPr>
            <a:endParaRPr lang="en-US" sz="2400" dirty="0"/>
          </a:p>
          <a:p>
            <a:pPr eaLnBrk="1" hangingPunct="1">
              <a:lnSpc>
                <a:spcPct val="150000"/>
              </a:lnSpc>
            </a:pPr>
            <a:r>
              <a:rPr lang="en-US" dirty="0"/>
              <a:t>Law of nature is;</a:t>
            </a:r>
          </a:p>
          <a:p>
            <a:pPr lvl="3"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    </a:t>
            </a:r>
            <a:r>
              <a:rPr lang="en-US" sz="2600" b="1" dirty="0"/>
              <a:t>“life produces life” &amp; “like produces like”</a:t>
            </a:r>
            <a:endParaRPr lang="en-US" sz="2400" b="1" dirty="0"/>
          </a:p>
          <a:p>
            <a:pPr eaLnBrk="1" hangingPunct="1">
              <a:lnSpc>
                <a:spcPct val="15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098" name="Picture 2" descr="http://cdn-img.people.com/emstag/styles/800x600/s3/i/2015/pets/news/150518/momma-cat-800.jpg?itok=ogV7vuB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52650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19200" y="498425"/>
            <a:ext cx="4317504" cy="796975"/>
          </a:xfrm>
          <a:prstGeom prst="rect">
            <a:avLst/>
          </a:prstGeom>
        </p:spPr>
        <p:txBody>
          <a:bodyPr lIns="64291" tIns="32146" rIns="64291" bIns="32146"/>
          <a:lstStyle/>
          <a:p>
            <a:pPr>
              <a:defRPr/>
            </a:pPr>
            <a:r>
              <a:rPr lang="en-GB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Baskerville" charset="0"/>
              </a:rPr>
              <a:t>6. Reproduction</a:t>
            </a:r>
            <a:br>
              <a:rPr lang="en-US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Baskerville" charset="0"/>
              </a:rPr>
            </a:br>
            <a:endParaRPr lang="en-US" sz="2800" b="1" kern="0" dirty="0">
              <a:solidFill>
                <a:schemeClr val="tx2"/>
              </a:solidFill>
              <a:latin typeface="+mj-lt"/>
              <a:ea typeface="+mj-ea"/>
              <a:cs typeface="+mj-cs"/>
              <a:sym typeface="Baskerville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9329" y="1446610"/>
            <a:ext cx="4613672" cy="4958567"/>
          </a:xfrm>
          <a:prstGeom prst="rect">
            <a:avLst/>
          </a:prstGeom>
          <a:noFill/>
        </p:spPr>
        <p:txBody>
          <a:bodyPr wrap="square" lIns="64291" tIns="32146" rIns="64291" bIns="32146">
            <a:spAutoFit/>
          </a:bodyPr>
          <a:lstStyle/>
          <a:p>
            <a:pPr>
              <a:defRPr/>
            </a:pPr>
            <a:r>
              <a:rPr lang="en-US" sz="2400" b="1" dirty="0">
                <a:sym typeface="Hoefler Text" charset="0"/>
              </a:rPr>
              <a:t>Life span:</a:t>
            </a:r>
          </a:p>
          <a:p>
            <a:pPr>
              <a:lnSpc>
                <a:spcPct val="150000"/>
              </a:lnSpc>
              <a:defRPr/>
            </a:pPr>
            <a:endParaRPr lang="en-US" sz="2000" b="1" dirty="0">
              <a:sym typeface="Hoefler Text" charset="0"/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ym typeface="Hoefler Text" charset="0"/>
              </a:rPr>
              <a:t>Varies in organism to organism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ym typeface="Hoefler Text" charset="0"/>
              </a:rPr>
              <a:t>Examples: 	</a:t>
            </a:r>
          </a:p>
          <a:p>
            <a:pPr algn="l">
              <a:lnSpc>
                <a:spcPct val="150000"/>
              </a:lnSpc>
              <a:defRPr/>
            </a:pPr>
            <a:r>
              <a:rPr lang="en-US" sz="2000" dirty="0">
                <a:sym typeface="Hoefler Text" charset="0"/>
              </a:rPr>
              <a:t>Human :~70 years</a:t>
            </a:r>
          </a:p>
          <a:p>
            <a:pPr algn="l">
              <a:lnSpc>
                <a:spcPct val="150000"/>
              </a:lnSpc>
              <a:defRPr/>
            </a:pPr>
            <a:r>
              <a:rPr lang="en-US" sz="2000" dirty="0">
                <a:sym typeface="Hoefler Text" charset="0"/>
              </a:rPr>
              <a:t>Horse :~30 years</a:t>
            </a:r>
          </a:p>
          <a:p>
            <a:pPr algn="l">
              <a:lnSpc>
                <a:spcPct val="150000"/>
              </a:lnSpc>
              <a:defRPr/>
            </a:pPr>
            <a:r>
              <a:rPr lang="en-US" sz="2000" dirty="0">
                <a:sym typeface="Hoefler Text" charset="0"/>
              </a:rPr>
              <a:t>Plants: 10/12/100/1000 years</a:t>
            </a:r>
          </a:p>
          <a:p>
            <a:pPr algn="l">
              <a:lnSpc>
                <a:spcPct val="150000"/>
              </a:lnSpc>
              <a:defRPr/>
            </a:pPr>
            <a:r>
              <a:rPr lang="en-US" sz="2000" dirty="0">
                <a:sym typeface="Hoefler Text" charset="0"/>
              </a:rPr>
              <a:t>Limited life span</a:t>
            </a:r>
            <a:r>
              <a:rPr lang="en-US" sz="2000" dirty="0">
                <a:sym typeface="Wingdings" pitchFamily="2" charset="2"/>
              </a:rPr>
              <a:t> continued offspring </a:t>
            </a:r>
            <a:r>
              <a:rPr lang="en-US" sz="2000" b="1" dirty="0">
                <a:sym typeface="Wingdings" pitchFamily="2" charset="2"/>
              </a:rPr>
              <a:t>Reproduction. </a:t>
            </a:r>
          </a:p>
          <a:p>
            <a:pPr algn="l">
              <a:lnSpc>
                <a:spcPct val="150000"/>
              </a:lnSpc>
              <a:defRPr/>
            </a:pPr>
            <a:endParaRPr lang="en-US" sz="2000" b="1" dirty="0">
              <a:sym typeface="Hoefler Text" charset="0"/>
            </a:endParaRPr>
          </a:p>
          <a:p>
            <a:pPr lvl="6">
              <a:defRPr/>
            </a:pPr>
            <a:endParaRPr lang="en-US" sz="2400" dirty="0">
              <a:sym typeface="Hoefler Text" charset="0"/>
            </a:endParaRPr>
          </a:p>
        </p:txBody>
      </p:sp>
      <p:pic>
        <p:nvPicPr>
          <p:cNvPr id="126978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685800"/>
            <a:ext cx="3050605" cy="24645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6980" name="Picture 4" descr="http://www.destination360.com/north-america/us/california/images/s/california-giant-sequoia-tre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733800"/>
            <a:ext cx="2946797" cy="24110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3558" name="TextBox 6"/>
          <p:cNvSpPr txBox="1">
            <a:spLocks noChangeArrowheads="1"/>
          </p:cNvSpPr>
          <p:nvPr/>
        </p:nvSpPr>
        <p:spPr bwMode="auto">
          <a:xfrm>
            <a:off x="5029200" y="3301037"/>
            <a:ext cx="3200400" cy="28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4291" tIns="32146" rIns="64291" bIns="32146">
            <a:spAutoFit/>
          </a:bodyPr>
          <a:lstStyle/>
          <a:p>
            <a:r>
              <a:rPr lang="en-US" sz="1400" b="1" dirty="0"/>
              <a:t>Figure: Redwood in California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862" y="5951904"/>
            <a:ext cx="4071938" cy="372696"/>
          </a:xfrm>
          <a:prstGeom prst="rect">
            <a:avLst/>
          </a:prstGeom>
          <a:noFill/>
        </p:spPr>
        <p:txBody>
          <a:bodyPr lIns="64291" tIns="32146" rIns="64291" bIns="32146">
            <a:spAutoFit/>
          </a:bodyPr>
          <a:lstStyle/>
          <a:p>
            <a:pPr>
              <a:defRPr/>
            </a:pPr>
            <a:r>
              <a:rPr lang="en-US" sz="2000" b="1" i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oefler Text" charset="0"/>
                <a:sym typeface="Hoefler Text" charset="0"/>
              </a:rPr>
              <a:t>Energy Requiring process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75047"/>
            <a:ext cx="7661672" cy="541363"/>
          </a:xfrm>
          <a:prstGeom prst="rect">
            <a:avLst/>
          </a:prstGeom>
        </p:spPr>
        <p:txBody>
          <a:bodyPr lIns="64291" tIns="32146" rIns="64291" bIns="32146">
            <a:spAutoFit/>
          </a:bodyPr>
          <a:lstStyle/>
          <a:p>
            <a:pPr algn="ctr">
              <a:defRPr/>
            </a:pPr>
            <a:r>
              <a:rPr lang="en-GB" sz="3100" b="1" dirty="0">
                <a:solidFill>
                  <a:schemeClr val="tx2"/>
                </a:solidFill>
                <a:latin typeface="+mj-lt"/>
                <a:sym typeface="Hoefler Text" charset="0"/>
              </a:rPr>
              <a:t>7. Response to Stimuli</a:t>
            </a:r>
            <a:endParaRPr lang="en-US" sz="3100" dirty="0">
              <a:solidFill>
                <a:schemeClr val="tx2"/>
              </a:solidFill>
              <a:latin typeface="+mj-lt"/>
              <a:sym typeface="Hoefler Text" charset="0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39328" y="1295400"/>
            <a:ext cx="8536781" cy="5974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4291" tIns="32146" rIns="64291" bIns="32146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</a:rPr>
              <a:t>Irritability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sz="2400" b="1" dirty="0">
                <a:solidFill>
                  <a:srgbClr val="6A5840"/>
                </a:solidFill>
              </a:rPr>
              <a:t>:  </a:t>
            </a:r>
            <a:r>
              <a:rPr lang="en-GB" sz="2400" b="1" dirty="0">
                <a:solidFill>
                  <a:srgbClr val="0070C0"/>
                </a:solidFill>
              </a:rPr>
              <a:t>Response to certain stimuli</a:t>
            </a:r>
          </a:p>
          <a:p>
            <a:pPr algn="l">
              <a:defRPr/>
            </a:pPr>
            <a:endParaRPr lang="en-GB" sz="2400" dirty="0"/>
          </a:p>
          <a:p>
            <a:pPr algn="l">
              <a:defRPr/>
            </a:pPr>
            <a:r>
              <a:rPr lang="en-GB" sz="2400" dirty="0"/>
              <a:t>Animal:  </a:t>
            </a:r>
          </a:p>
          <a:p>
            <a:pPr algn="l">
              <a:buFont typeface="Arial" charset="0"/>
              <a:buChar char="•"/>
              <a:defRPr/>
            </a:pPr>
            <a:r>
              <a:rPr lang="en-GB" sz="2400" dirty="0"/>
              <a:t>Have nervous system</a:t>
            </a:r>
          </a:p>
          <a:p>
            <a:pPr algn="l">
              <a:buFont typeface="Arial" charset="0"/>
              <a:buChar char="•"/>
              <a:defRPr/>
            </a:pPr>
            <a:r>
              <a:rPr lang="en-GB" sz="2400" dirty="0"/>
              <a:t> Use Eyes, nose, ear to response</a:t>
            </a:r>
          </a:p>
          <a:p>
            <a:pPr algn="l">
              <a:buFont typeface="Arial" charset="0"/>
              <a:buChar char="•"/>
              <a:defRPr/>
            </a:pPr>
            <a:endParaRPr lang="en-GB" sz="2400" dirty="0"/>
          </a:p>
          <a:p>
            <a:pPr algn="l">
              <a:defRPr/>
            </a:pPr>
            <a:r>
              <a:rPr lang="en-GB" sz="2400" dirty="0"/>
              <a:t>Plants: </a:t>
            </a:r>
          </a:p>
          <a:p>
            <a:pPr algn="l">
              <a:buFont typeface="Arial" charset="0"/>
              <a:buChar char="•"/>
              <a:defRPr/>
            </a:pPr>
            <a:r>
              <a:rPr lang="en-GB" sz="2400" dirty="0"/>
              <a:t>Do not have nervous system</a:t>
            </a:r>
          </a:p>
          <a:p>
            <a:pPr algn="l">
              <a:buFont typeface="Arial" charset="0"/>
              <a:buChar char="•"/>
              <a:defRPr/>
            </a:pPr>
            <a:r>
              <a:rPr lang="en-GB" sz="2400" dirty="0"/>
              <a:t>Slow response to light, oxygen, nutrient etc</a:t>
            </a:r>
          </a:p>
          <a:p>
            <a:pPr algn="l">
              <a:buFont typeface="Arial" charset="0"/>
              <a:buChar char="•"/>
              <a:defRPr/>
            </a:pPr>
            <a:endParaRPr lang="en-GB" sz="2400" dirty="0"/>
          </a:p>
          <a:p>
            <a:pPr algn="l">
              <a:defRPr/>
            </a:pPr>
            <a:r>
              <a:rPr lang="en-GB" sz="2400" dirty="0"/>
              <a:t>Microorganisms:</a:t>
            </a:r>
          </a:p>
          <a:p>
            <a:pPr algn="l">
              <a:buFont typeface="Arial" charset="0"/>
              <a:buChar char="•"/>
              <a:defRPr/>
            </a:pPr>
            <a:r>
              <a:rPr lang="en-GB" sz="2400" dirty="0"/>
              <a:t>Response to nutrients, environments</a:t>
            </a:r>
          </a:p>
          <a:p>
            <a:pPr algn="l">
              <a:buFont typeface="Arial" charset="0"/>
              <a:buChar char="•"/>
              <a:defRPr/>
            </a:pPr>
            <a:r>
              <a:rPr lang="en-GB" sz="2400" dirty="0"/>
              <a:t>Even single celled organism can response</a:t>
            </a:r>
          </a:p>
          <a:p>
            <a:pPr algn="l">
              <a:buFont typeface="Arial" charset="0"/>
              <a:buChar char="•"/>
              <a:defRPr/>
            </a:pPr>
            <a:endParaRPr lang="en-GB" sz="2400" dirty="0"/>
          </a:p>
          <a:p>
            <a:pPr algn="l">
              <a:buFont typeface="Arial" charset="0"/>
              <a:buChar char="•"/>
              <a:defRPr/>
            </a:pPr>
            <a:endParaRPr lang="en-GB" sz="2400" dirty="0"/>
          </a:p>
          <a:p>
            <a:pPr lvl="1" algn="l">
              <a:defRPr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7219" y="525437"/>
            <a:ext cx="7661672" cy="541363"/>
          </a:xfrm>
          <a:prstGeom prst="rect">
            <a:avLst/>
          </a:prstGeom>
        </p:spPr>
        <p:txBody>
          <a:bodyPr lIns="64291" tIns="32146" rIns="64291" bIns="32146">
            <a:spAutoFit/>
          </a:bodyPr>
          <a:lstStyle/>
          <a:p>
            <a:pPr algn="ctr">
              <a:defRPr/>
            </a:pPr>
            <a:r>
              <a:rPr lang="en-GB" sz="3100" b="1" dirty="0">
                <a:solidFill>
                  <a:schemeClr val="tx2"/>
                </a:solidFill>
                <a:latin typeface="+mj-lt"/>
                <a:sym typeface="Hoefler Text" charset="0"/>
              </a:rPr>
              <a:t>7. Response to Stimuli</a:t>
            </a:r>
            <a:endParaRPr lang="en-US" sz="3100" dirty="0">
              <a:solidFill>
                <a:schemeClr val="tx2"/>
              </a:solidFill>
              <a:latin typeface="+mj-lt"/>
              <a:sym typeface="Hoefler Text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981200"/>
            <a:ext cx="7494240" cy="1973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r>
              <a:rPr lang="en-GB" sz="3100" b="1" dirty="0"/>
              <a:t>Coordination :</a:t>
            </a:r>
          </a:p>
          <a:p>
            <a:r>
              <a:rPr lang="en-GB" sz="3100" dirty="0"/>
              <a:t>Doing the right thing in a right time</a:t>
            </a:r>
          </a:p>
          <a:p>
            <a:endParaRPr lang="en-GB" sz="3100" dirty="0"/>
          </a:p>
          <a:p>
            <a:endParaRPr lang="en-GB" sz="31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60797" y="3964782"/>
            <a:ext cx="7929563" cy="1496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291" tIns="32146" rIns="64291" bIns="32146">
            <a:spAutoFit/>
          </a:bodyPr>
          <a:lstStyle/>
          <a:p>
            <a:r>
              <a:rPr lang="en-GB" sz="3100" b="1" dirty="0"/>
              <a:t>Behaviour: </a:t>
            </a:r>
          </a:p>
          <a:p>
            <a:r>
              <a:rPr lang="en-GB" sz="3100" dirty="0"/>
              <a:t>Change to a stimuli, in a certain pattern </a:t>
            </a:r>
          </a:p>
          <a:p>
            <a:endParaRPr lang="en-US" sz="31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/>
          </p:cNvSpPr>
          <p:nvPr/>
        </p:nvSpPr>
        <p:spPr bwMode="auto">
          <a:xfrm>
            <a:off x="1250156" y="318008"/>
            <a:ext cx="6965156" cy="55736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64291" tIns="32146" rIns="64291" bIns="32146" anchor="ctr">
            <a:spAutoFit/>
          </a:bodyPr>
          <a:lstStyle/>
          <a:p>
            <a:pPr eaLnBrk="0" hangingPunct="0"/>
            <a:r>
              <a:rPr lang="en-GB" sz="3200" b="1" dirty="0">
                <a:solidFill>
                  <a:schemeClr val="tx2"/>
                </a:solidFill>
                <a:latin typeface="Verdana" pitchFamily="34" charset="0"/>
                <a:cs typeface="Times New Roman" pitchFamily="18" charset="0"/>
              </a:rPr>
              <a:t>8. Variation and Adaptation</a:t>
            </a: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5750" y="1116835"/>
            <a:ext cx="8572500" cy="5466399"/>
          </a:xfrm>
          <a:prstGeom prst="rect">
            <a:avLst/>
          </a:prstGeom>
          <a:noFill/>
        </p:spPr>
        <p:txBody>
          <a:bodyPr wrap="square" lIns="64291" tIns="32146" rIns="64291" bIns="32146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70C0"/>
                </a:solidFill>
                <a:sym typeface="Hoefler Text" charset="0"/>
              </a:rPr>
              <a:t>Variation:  </a:t>
            </a:r>
          </a:p>
          <a:p>
            <a:pPr>
              <a:defRPr/>
            </a:pPr>
            <a:r>
              <a:rPr lang="en-US" dirty="0">
                <a:sym typeface="Hoefler Text" charset="0"/>
              </a:rPr>
              <a:t>Changes occur as a result of characteristic.</a:t>
            </a:r>
          </a:p>
          <a:p>
            <a:pPr algn="l">
              <a:buFont typeface="Wingdings" pitchFamily="2" charset="2"/>
              <a:buChar char="Ø"/>
              <a:defRPr/>
            </a:pPr>
            <a:r>
              <a:rPr lang="en-GB" dirty="0">
                <a:sym typeface="Hoefler Text" charset="0"/>
              </a:rPr>
              <a:t>Most variations do not affect an organism’s chances of survival</a:t>
            </a:r>
          </a:p>
          <a:p>
            <a:pPr algn="l">
              <a:buFont typeface="Wingdings" pitchFamily="2" charset="2"/>
              <a:buChar char="Ø"/>
              <a:defRPr/>
            </a:pPr>
            <a:r>
              <a:rPr lang="en-GB" dirty="0">
                <a:sym typeface="Hoefler Text" charset="0"/>
              </a:rPr>
              <a:t>Give an organism a better chance of surviving in a changing environment</a:t>
            </a:r>
          </a:p>
          <a:p>
            <a:pPr algn="l">
              <a:lnSpc>
                <a:spcPct val="150000"/>
              </a:lnSpc>
              <a:defRPr/>
            </a:pPr>
            <a:endParaRPr lang="en-GB" b="1" dirty="0">
              <a:solidFill>
                <a:schemeClr val="accent1">
                  <a:lumMod val="75000"/>
                </a:schemeClr>
              </a:solidFill>
              <a:sym typeface="Hoefler Text" charset="0"/>
            </a:endParaRPr>
          </a:p>
          <a:p>
            <a:pPr algn="l">
              <a:lnSpc>
                <a:spcPct val="150000"/>
              </a:lnSpc>
              <a:defRPr/>
            </a:pPr>
            <a:endParaRPr lang="en-GB" b="1" dirty="0">
              <a:solidFill>
                <a:schemeClr val="accent1">
                  <a:lumMod val="75000"/>
                </a:schemeClr>
              </a:solidFill>
              <a:sym typeface="Hoefler Text" charset="0"/>
            </a:endParaRPr>
          </a:p>
          <a:p>
            <a:pPr algn="l">
              <a:lnSpc>
                <a:spcPct val="150000"/>
              </a:lnSpc>
              <a:defRPr/>
            </a:pPr>
            <a:endParaRPr lang="en-GB" b="1" dirty="0">
              <a:solidFill>
                <a:schemeClr val="accent1">
                  <a:lumMod val="75000"/>
                </a:schemeClr>
              </a:solidFill>
              <a:sym typeface="Hoefler Text" charset="0"/>
            </a:endParaRPr>
          </a:p>
          <a:p>
            <a:pPr algn="l">
              <a:lnSpc>
                <a:spcPct val="150000"/>
              </a:lnSpc>
              <a:defRPr/>
            </a:pPr>
            <a:endParaRPr lang="en-GB" b="1" dirty="0">
              <a:solidFill>
                <a:schemeClr val="accent1">
                  <a:lumMod val="75000"/>
                </a:schemeClr>
              </a:solidFill>
              <a:sym typeface="Hoefler Text" charset="0"/>
            </a:endParaRPr>
          </a:p>
          <a:p>
            <a:pPr algn="l">
              <a:lnSpc>
                <a:spcPct val="150000"/>
              </a:lnSpc>
              <a:defRPr/>
            </a:pPr>
            <a:endParaRPr lang="en-GB" b="1" dirty="0">
              <a:solidFill>
                <a:schemeClr val="accent1">
                  <a:lumMod val="75000"/>
                </a:schemeClr>
              </a:solidFill>
              <a:sym typeface="Hoefler Text" charset="0"/>
            </a:endParaRPr>
          </a:p>
          <a:p>
            <a:pPr algn="l">
              <a:lnSpc>
                <a:spcPct val="150000"/>
              </a:lnSpc>
              <a:defRPr/>
            </a:pPr>
            <a:endParaRPr lang="en-GB" b="1" dirty="0">
              <a:solidFill>
                <a:srgbClr val="0070C0"/>
              </a:solidFill>
              <a:sym typeface="Hoefler Text" charset="0"/>
            </a:endParaRPr>
          </a:p>
          <a:p>
            <a:pPr algn="l">
              <a:lnSpc>
                <a:spcPct val="150000"/>
              </a:lnSpc>
              <a:defRPr/>
            </a:pPr>
            <a:r>
              <a:rPr lang="en-GB" b="1" dirty="0">
                <a:solidFill>
                  <a:srgbClr val="0070C0"/>
                </a:solidFill>
                <a:sym typeface="Hoefler Text" charset="0"/>
              </a:rPr>
              <a:t>Adaptation:</a:t>
            </a:r>
          </a:p>
          <a:p>
            <a:pPr algn="l">
              <a:defRPr/>
            </a:pPr>
            <a:r>
              <a:rPr lang="en-GB" dirty="0">
                <a:sym typeface="Hoefler Text" charset="0"/>
              </a:rPr>
              <a:t>The process by which a certain type of organisms becomes better suited to survive in its environment is called </a:t>
            </a:r>
            <a:r>
              <a:rPr lang="en-GB" b="1" dirty="0">
                <a:sym typeface="Hoefler Text" charset="0"/>
              </a:rPr>
              <a:t>adaptation</a:t>
            </a:r>
            <a:r>
              <a:rPr lang="en-GB" dirty="0">
                <a:sym typeface="Hoefler Text" charset="0"/>
              </a:rPr>
              <a:t>.</a:t>
            </a:r>
          </a:p>
          <a:p>
            <a:pPr>
              <a:defRPr/>
            </a:pPr>
            <a:r>
              <a:rPr lang="en-GB" dirty="0">
                <a:sym typeface="Hoefler Text" charset="0"/>
              </a:rPr>
              <a:t>e.g.: Hibernation, Mimicry (</a:t>
            </a:r>
            <a:r>
              <a:rPr lang="en-US" dirty="0">
                <a:sym typeface="Hoefler Text" charset="0"/>
              </a:rPr>
              <a:t>The viceroy butterfly mimics the monarch butterfly by coloration. The monarch butterfly has a bitter taste to predators and predators avoid them.</a:t>
            </a:r>
            <a:endParaRPr lang="en-US" sz="2400" dirty="0">
              <a:sym typeface="Hoefler Text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2494059"/>
            <a:ext cx="2438400" cy="2077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 descr="http://favim.com/orig/201107/20/babies-cats-kittens-very-cute-Favim.com-110670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83" b="9399"/>
          <a:stretch/>
        </p:blipFill>
        <p:spPr bwMode="auto">
          <a:xfrm>
            <a:off x="762000" y="2438400"/>
            <a:ext cx="4419600" cy="219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533400"/>
            <a:ext cx="3263801" cy="618918"/>
          </a:xfrm>
          <a:prstGeom prst="rect">
            <a:avLst/>
          </a:prstGeom>
        </p:spPr>
        <p:txBody>
          <a:bodyPr lIns="64291" tIns="32146" rIns="64291" bIns="32146">
            <a:spAutoFit/>
          </a:bodyPr>
          <a:lstStyle/>
          <a:p>
            <a:pPr>
              <a:defRPr/>
            </a:pPr>
            <a:r>
              <a:rPr lang="en-GB" sz="3600" b="1" dirty="0">
                <a:solidFill>
                  <a:schemeClr val="tx2"/>
                </a:solidFill>
                <a:latin typeface="+mj-lt"/>
                <a:sym typeface="Hoefler Text" charset="0"/>
              </a:rPr>
              <a:t>9. Metabolism</a:t>
            </a:r>
            <a:endParaRPr lang="en-US" sz="3600" dirty="0">
              <a:solidFill>
                <a:schemeClr val="tx2"/>
              </a:solidFill>
              <a:latin typeface="+mj-lt"/>
              <a:sym typeface="Hoefler Text" charset="0"/>
            </a:endParaRPr>
          </a:p>
        </p:txBody>
      </p:sp>
      <p:sp>
        <p:nvSpPr>
          <p:cNvPr id="27651" name="Rectangle 1"/>
          <p:cNvSpPr>
            <a:spLocks/>
          </p:cNvSpPr>
          <p:nvPr/>
        </p:nvSpPr>
        <p:spPr bwMode="auto">
          <a:xfrm>
            <a:off x="607219" y="1921877"/>
            <a:ext cx="7850981" cy="412757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64291" tIns="32146" rIns="64291" bIns="32146" anchor="ctr">
            <a:spAutoFit/>
          </a:bodyPr>
          <a:lstStyle/>
          <a:p>
            <a:pPr eaLnBrk="0" hangingPunct="0">
              <a:buFont typeface="Arial" charset="0"/>
              <a:buChar char="•"/>
            </a:pPr>
            <a:r>
              <a:rPr lang="en-GB" sz="2200" dirty="0">
                <a:latin typeface="Verdana" pitchFamily="34" charset="0"/>
                <a:cs typeface="Times New Roman" pitchFamily="18" charset="0"/>
              </a:rPr>
              <a:t> The exchange of matter and energy </a:t>
            </a:r>
            <a:r>
              <a:rPr lang="en-GB" sz="2200" b="1" dirty="0">
                <a:latin typeface="Verdana" pitchFamily="34" charset="0"/>
                <a:cs typeface="Times New Roman" pitchFamily="18" charset="0"/>
              </a:rPr>
              <a:t>between</a:t>
            </a:r>
            <a:r>
              <a:rPr lang="en-GB" sz="2200" dirty="0">
                <a:latin typeface="Verdana" pitchFamily="34" charset="0"/>
                <a:cs typeface="Times New Roman" pitchFamily="18" charset="0"/>
              </a:rPr>
              <a:t> the organisms and within an organism.</a:t>
            </a:r>
          </a:p>
          <a:p>
            <a:pPr eaLnBrk="0" hangingPunct="0">
              <a:buFont typeface="Arial" charset="0"/>
              <a:buChar char="•"/>
            </a:pPr>
            <a:endParaRPr lang="en-GB" sz="2200" dirty="0">
              <a:latin typeface="Verdana" pitchFamily="34" charset="0"/>
              <a:cs typeface="Times New Roman" pitchFamily="18" charset="0"/>
            </a:endParaRPr>
          </a:p>
          <a:p>
            <a:pPr eaLnBrk="0" hangingPunct="0">
              <a:buFont typeface="Arial" charset="0"/>
              <a:buChar char="•"/>
            </a:pPr>
            <a:r>
              <a:rPr lang="en-GB" sz="2200" dirty="0">
                <a:latin typeface="Verdana" pitchFamily="34" charset="0"/>
              </a:rPr>
              <a:t> Metabolism is the sum of all the processes occurring in an organism.</a:t>
            </a:r>
          </a:p>
          <a:p>
            <a:pPr eaLnBrk="0" hangingPunct="0">
              <a:buFont typeface="Arial" charset="0"/>
              <a:buChar char="•"/>
            </a:pPr>
            <a:endParaRPr lang="en-GB" sz="2200" dirty="0">
              <a:latin typeface="Verdana" pitchFamily="34" charset="0"/>
            </a:endParaRPr>
          </a:p>
          <a:p>
            <a:pPr marL="800100" lvl="1" indent="-342900" eaLnBrk="0" hangingPunct="0">
              <a:buFont typeface="Wingdings" panose="05000000000000000000" pitchFamily="2" charset="2"/>
              <a:buChar char="Ø"/>
            </a:pPr>
            <a:r>
              <a:rPr lang="en-GB" sz="2200" dirty="0">
                <a:latin typeface="Verdana" pitchFamily="34" charset="0"/>
              </a:rPr>
              <a:t>Ingestion</a:t>
            </a:r>
          </a:p>
          <a:p>
            <a:pPr marL="800100" lvl="1" indent="-342900" eaLnBrk="0" hangingPunct="0">
              <a:buFont typeface="Wingdings" panose="05000000000000000000" pitchFamily="2" charset="2"/>
              <a:buChar char="Ø"/>
            </a:pPr>
            <a:r>
              <a:rPr lang="en-GB" sz="2200" dirty="0">
                <a:latin typeface="Verdana" pitchFamily="34" charset="0"/>
              </a:rPr>
              <a:t>Digestion</a:t>
            </a:r>
          </a:p>
          <a:p>
            <a:pPr marL="800100" lvl="1" indent="-342900" eaLnBrk="0" hangingPunct="0">
              <a:buFont typeface="Wingdings" panose="05000000000000000000" pitchFamily="2" charset="2"/>
              <a:buChar char="Ø"/>
            </a:pPr>
            <a:r>
              <a:rPr lang="en-GB" sz="2200" dirty="0">
                <a:latin typeface="Verdana" pitchFamily="34" charset="0"/>
              </a:rPr>
              <a:t>Assimilation</a:t>
            </a:r>
          </a:p>
          <a:p>
            <a:pPr marL="800100" lvl="1" indent="-342900" eaLnBrk="0" hangingPunct="0">
              <a:buFont typeface="Wingdings" panose="05000000000000000000" pitchFamily="2" charset="2"/>
              <a:buChar char="Ø"/>
            </a:pPr>
            <a:r>
              <a:rPr lang="en-GB" sz="2200" dirty="0">
                <a:latin typeface="Verdana" pitchFamily="34" charset="0"/>
              </a:rPr>
              <a:t>Respiration</a:t>
            </a:r>
          </a:p>
          <a:p>
            <a:pPr marL="800100" lvl="1" indent="-342900" eaLnBrk="0" hangingPunct="0">
              <a:buFont typeface="Wingdings" panose="05000000000000000000" pitchFamily="2" charset="2"/>
              <a:buChar char="Ø"/>
            </a:pPr>
            <a:r>
              <a:rPr lang="en-GB" sz="2200" dirty="0">
                <a:latin typeface="Verdana" pitchFamily="34" charset="0"/>
              </a:rPr>
              <a:t>Excretion</a:t>
            </a:r>
            <a:endParaRPr lang="en-GB" sz="2200" dirty="0"/>
          </a:p>
          <a:p>
            <a:pPr eaLnBrk="0" hangingPunct="0">
              <a:buFont typeface="Arial" charset="0"/>
              <a:buChar char="•"/>
            </a:pPr>
            <a:endParaRPr lang="en-GB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2"/>
          <p:cNvPicPr>
            <a:picLocks noChangeAspect="1"/>
          </p:cNvPicPr>
          <p:nvPr/>
        </p:nvPicPr>
        <p:blipFill>
          <a:blip r:embed="rId2" cstate="print"/>
          <a:srcRect r="-423" b="4614"/>
          <a:stretch>
            <a:fillRect/>
          </a:stretch>
        </p:blipFill>
        <p:spPr bwMode="auto">
          <a:xfrm>
            <a:off x="4038600" y="1828800"/>
            <a:ext cx="4838162" cy="40386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</p:pic>
      <p:sp>
        <p:nvSpPr>
          <p:cNvPr id="30" name="TextBox 29"/>
          <p:cNvSpPr txBox="1"/>
          <p:nvPr/>
        </p:nvSpPr>
        <p:spPr>
          <a:xfrm>
            <a:off x="392906" y="1875234"/>
            <a:ext cx="4102894" cy="308113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64291" tIns="32146" rIns="64291" bIns="32146">
            <a:spAutoFit/>
          </a:bodyPr>
          <a:lstStyle/>
          <a:p>
            <a:pPr>
              <a:defRPr/>
            </a:pPr>
            <a:r>
              <a:rPr lang="en-US" sz="2800" dirty="0">
                <a:latin typeface="Hoefler Text" charset="0"/>
                <a:sym typeface="Hoefler Text" charset="0"/>
              </a:rPr>
              <a:t>Metabolism has two distinct phases--</a:t>
            </a:r>
          </a:p>
          <a:p>
            <a:pPr>
              <a:defRPr/>
            </a:pPr>
            <a:endParaRPr lang="en-US" sz="2800" dirty="0">
              <a:latin typeface="Hoefler Text" charset="0"/>
              <a:sym typeface="Hoefler Text" charset="0"/>
            </a:endParaRPr>
          </a:p>
          <a:p>
            <a:pPr>
              <a:defRPr/>
            </a:pPr>
            <a:r>
              <a:rPr lang="en-US" sz="2800" dirty="0">
                <a:latin typeface="Hoefler Text" charset="0"/>
                <a:sym typeface="Hoefler Text" charset="0"/>
              </a:rPr>
              <a:t>1. Anabolism: Building up</a:t>
            </a:r>
          </a:p>
          <a:p>
            <a:pPr>
              <a:defRPr/>
            </a:pPr>
            <a:endParaRPr lang="en-US" sz="2800" dirty="0">
              <a:latin typeface="Hoefler Text" charset="0"/>
              <a:sym typeface="Hoefler Text" charset="0"/>
            </a:endParaRPr>
          </a:p>
          <a:p>
            <a:pPr>
              <a:defRPr/>
            </a:pPr>
            <a:r>
              <a:rPr lang="en-US" sz="2800" dirty="0">
                <a:latin typeface="Hoefler Text" charset="0"/>
                <a:sym typeface="Hoefler Text" charset="0"/>
              </a:rPr>
              <a:t>2. Catabolism: Breaking 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63899" y="609600"/>
            <a:ext cx="3263801" cy="557362"/>
          </a:xfrm>
          <a:prstGeom prst="rect">
            <a:avLst/>
          </a:prstGeom>
        </p:spPr>
        <p:txBody>
          <a:bodyPr lIns="64291" tIns="32146" rIns="64291" bIns="32146">
            <a:spAutoFit/>
          </a:bodyPr>
          <a:lstStyle/>
          <a:p>
            <a:pPr>
              <a:defRPr/>
            </a:pPr>
            <a:r>
              <a:rPr lang="en-GB" sz="3200" b="1" dirty="0">
                <a:solidFill>
                  <a:schemeClr val="tx2"/>
                </a:solidFill>
                <a:latin typeface="+mj-lt"/>
                <a:sym typeface="Hoefler Text" charset="0"/>
              </a:rPr>
              <a:t>9. Metabolism</a:t>
            </a:r>
            <a:endParaRPr lang="en-US" sz="3200" dirty="0">
              <a:solidFill>
                <a:schemeClr val="tx2"/>
              </a:solidFill>
              <a:latin typeface="+mj-lt"/>
              <a:sym typeface="Hoefler Text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553641" y="535781"/>
            <a:ext cx="8134945" cy="1090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600" dirty="0"/>
              <a:t>Characteristics of living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9699" name="Rectangle 2"/>
          <p:cNvSpPr>
            <a:spLocks/>
          </p:cNvSpPr>
          <p:nvPr/>
        </p:nvSpPr>
        <p:spPr bwMode="auto">
          <a:xfrm>
            <a:off x="767953" y="1768078"/>
            <a:ext cx="7393781" cy="45541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There are </a:t>
            </a:r>
            <a:r>
              <a:rPr lang="en-US" sz="2800" b="1" dirty="0">
                <a:solidFill>
                  <a:srgbClr val="4D0069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rPr>
              <a:t>nine</a:t>
            </a:r>
            <a:r>
              <a:rPr lang="en-US" sz="2200" b="1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 characteristics of living things.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The need for energy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Movement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Cellular structure and organization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Growth and development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Maintenance and repair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Reproduction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Response to stimuli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Variation and adaptation</a:t>
            </a:r>
          </a:p>
          <a:p>
            <a:pPr algn="just">
              <a:lnSpc>
                <a:spcPct val="130000"/>
              </a:lnSpc>
              <a:tabLst>
                <a:tab pos="321457" algn="l"/>
                <a:tab pos="642915" algn="l"/>
              </a:tabLst>
            </a:pPr>
            <a:r>
              <a:rPr lang="en-US" sz="2200" dirty="0">
                <a:latin typeface="Gill Sans" charset="0"/>
                <a:ea typeface="Gill Sans" charset="0"/>
                <a:cs typeface="Gill Sans" charset="0"/>
                <a:sym typeface="Gill Sans" charset="0"/>
              </a:rPr>
              <a:t>- Metabolism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4259-EC09-4C9F-9F84-F0AFA6108387}" type="slidenum">
              <a:rPr lang="en-US" smtClean="0">
                <a:solidFill>
                  <a:schemeClr val="tx1"/>
                </a:solidFill>
              </a:rPr>
              <a:pPr/>
              <a:t>34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14600" y="914400"/>
            <a:ext cx="39934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Questions?</a:t>
            </a:r>
            <a:endParaRPr lang="en-GB" sz="5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0"/>
            <a:ext cx="3086867" cy="377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671</TotalTime>
  <Words>1756</Words>
  <Application>Microsoft Office PowerPoint</Application>
  <PresentationFormat>On-screen Show (4:3)</PresentationFormat>
  <Paragraphs>327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Arial Unicode MS</vt:lpstr>
      <vt:lpstr>Calibri</vt:lpstr>
      <vt:lpstr>Gill Sans</vt:lpstr>
      <vt:lpstr>Hoefler Text</vt:lpstr>
      <vt:lpstr>Marker Felt</vt:lpstr>
      <vt:lpstr>Times New Roman</vt:lpstr>
      <vt:lpstr>Verdana</vt:lpstr>
      <vt:lpstr>Wingdings</vt:lpstr>
      <vt:lpstr>Clarity</vt:lpstr>
      <vt:lpstr>Introduction to Biology</vt:lpstr>
      <vt:lpstr>What is Biology?</vt:lpstr>
      <vt:lpstr>Origin of Life</vt:lpstr>
      <vt:lpstr>History: Cave Painting</vt:lpstr>
      <vt:lpstr>History: Food Collection</vt:lpstr>
      <vt:lpstr>History:  Agricultural way of life</vt:lpstr>
      <vt:lpstr>History: Use of Sense</vt:lpstr>
      <vt:lpstr>Modern Biology</vt:lpstr>
      <vt:lpstr>Biology Today</vt:lpstr>
      <vt:lpstr>Group of organisms being studied</vt:lpstr>
      <vt:lpstr>Approaches taken to study Biology</vt:lpstr>
      <vt:lpstr>PowerPoint Presentation</vt:lpstr>
      <vt:lpstr>PowerPoint Presentation</vt:lpstr>
      <vt:lpstr>So… Biology: Redefined</vt:lpstr>
      <vt:lpstr>What is Life?</vt:lpstr>
      <vt:lpstr>Characteristics of living things</vt:lpstr>
      <vt:lpstr>1. Need for Energy</vt:lpstr>
      <vt:lpstr>1. Need for Energy</vt:lpstr>
      <vt:lpstr>2. Movement</vt:lpstr>
      <vt:lpstr>2. Movement: Locomotion</vt:lpstr>
      <vt:lpstr>3. Cellular Structure &amp; Organization</vt:lpstr>
      <vt:lpstr>3. Cellular Structure &amp; Organization</vt:lpstr>
      <vt:lpstr>4. Growth &amp; Development</vt:lpstr>
      <vt:lpstr>4. Growth &amp; Development</vt:lpstr>
      <vt:lpstr>5. Maintenance &amp; Repair</vt:lpstr>
      <vt:lpstr>6. Reproduction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Characteristics of living things</vt:lpstr>
      <vt:lpstr>PowerPoint Presentation</vt:lpstr>
    </vt:vector>
  </TitlesOfParts>
  <Company>SMART Technologies (BD)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 103</dc:title>
  <dc:creator>Ehsan</dc:creator>
  <cp:lastModifiedBy>mahbubul.morshed@gmail.com</cp:lastModifiedBy>
  <cp:revision>109</cp:revision>
  <dcterms:created xsi:type="dcterms:W3CDTF">2014-09-15T10:34:44Z</dcterms:created>
  <dcterms:modified xsi:type="dcterms:W3CDTF">2026-06-03T05:47:30Z</dcterms:modified>
</cp:coreProperties>
</file>