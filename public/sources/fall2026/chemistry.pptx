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8"/>
  </p:notesMasterIdLst>
  <p:sldIdLst>
    <p:sldId id="257" r:id="rId2"/>
    <p:sldId id="276" r:id="rId3"/>
    <p:sldId id="286" r:id="rId4"/>
    <p:sldId id="262" r:id="rId5"/>
    <p:sldId id="263" r:id="rId6"/>
    <p:sldId id="264" r:id="rId7"/>
    <p:sldId id="265" r:id="rId8"/>
    <p:sldId id="261" r:id="rId9"/>
    <p:sldId id="259" r:id="rId10"/>
    <p:sldId id="260" r:id="rId11"/>
    <p:sldId id="267" r:id="rId12"/>
    <p:sldId id="266" r:id="rId13"/>
    <p:sldId id="277" r:id="rId14"/>
    <p:sldId id="278" r:id="rId15"/>
    <p:sldId id="268" r:id="rId16"/>
    <p:sldId id="269" r:id="rId17"/>
    <p:sldId id="285" r:id="rId18"/>
    <p:sldId id="270" r:id="rId19"/>
    <p:sldId id="287" r:id="rId20"/>
    <p:sldId id="271" r:id="rId21"/>
    <p:sldId id="272" r:id="rId22"/>
    <p:sldId id="284" r:id="rId23"/>
    <p:sldId id="273" r:id="rId24"/>
    <p:sldId id="274" r:id="rId25"/>
    <p:sldId id="275" r:id="rId26"/>
    <p:sldId id="301" r:id="rId27"/>
    <p:sldId id="282" r:id="rId28"/>
    <p:sldId id="288" r:id="rId29"/>
    <p:sldId id="289" r:id="rId30"/>
    <p:sldId id="290" r:id="rId31"/>
    <p:sldId id="292" r:id="rId32"/>
    <p:sldId id="297" r:id="rId33"/>
    <p:sldId id="294" r:id="rId34"/>
    <p:sldId id="298" r:id="rId35"/>
    <p:sldId id="296" r:id="rId36"/>
    <p:sldId id="300"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522" autoAdjust="0"/>
  </p:normalViewPr>
  <p:slideViewPr>
    <p:cSldViewPr>
      <p:cViewPr varScale="1">
        <p:scale>
          <a:sx n="65" d="100"/>
          <a:sy n="65" d="100"/>
        </p:scale>
        <p:origin x="1536"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B56F05-C4AC-4B8C-9FF3-95CB0D8F9802}" type="datetimeFigureOut">
              <a:rPr lang="en-US" smtClean="0"/>
              <a:pPr/>
              <a:t>5/31/2026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41BC95-ED02-4239-A632-513FDBCA2725}" type="slidenum">
              <a:rPr lang="en-US" smtClean="0"/>
              <a:pPr/>
              <a:t>‹#›</a:t>
            </a:fld>
            <a:endParaRPr lang="en-US"/>
          </a:p>
        </p:txBody>
      </p:sp>
    </p:spTree>
    <p:extLst>
      <p:ext uri="{BB962C8B-B14F-4D97-AF65-F5344CB8AC3E}">
        <p14:creationId xmlns:p14="http://schemas.microsoft.com/office/powerpoint/2010/main" val="1722714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Protons and neutrons are packed together tightly in a dense core, or </a:t>
            </a:r>
            <a:r>
              <a:rPr lang="en-US" sz="1200" b="1" kern="1200" baseline="0" dirty="0">
                <a:solidFill>
                  <a:schemeClr val="tx1"/>
                </a:solidFill>
                <a:latin typeface="+mn-lt"/>
                <a:ea typeface="+mn-ea"/>
                <a:cs typeface="+mn-cs"/>
              </a:rPr>
              <a:t>atomic nucleus, at the center of an atom;</a:t>
            </a:r>
          </a:p>
          <a:p>
            <a:r>
              <a:rPr lang="en-US" sz="1200" kern="1200" baseline="0" dirty="0">
                <a:solidFill>
                  <a:schemeClr val="tx1"/>
                </a:solidFill>
                <a:latin typeface="+mn-lt"/>
                <a:ea typeface="+mn-ea"/>
                <a:cs typeface="+mn-cs"/>
              </a:rPr>
              <a:t>protons give the nucleus a positive charge. The electrons form a sort of cloud of negative charge around the nucleus,</a:t>
            </a:r>
          </a:p>
          <a:p>
            <a:r>
              <a:rPr lang="en-US" sz="1200" kern="1200" baseline="0" dirty="0">
                <a:solidFill>
                  <a:schemeClr val="tx1"/>
                </a:solidFill>
                <a:latin typeface="+mn-lt"/>
                <a:ea typeface="+mn-ea"/>
                <a:cs typeface="+mn-cs"/>
              </a:rPr>
              <a:t>and it is the attraction between opposite charges that keeps the electrons in the vicinity of the nucleus.</a:t>
            </a:r>
          </a:p>
          <a:p>
            <a:endParaRPr lang="en-US" dirty="0"/>
          </a:p>
        </p:txBody>
      </p:sp>
      <p:sp>
        <p:nvSpPr>
          <p:cNvPr id="4" name="Slide Number Placeholder 3"/>
          <p:cNvSpPr>
            <a:spLocks noGrp="1"/>
          </p:cNvSpPr>
          <p:nvPr>
            <p:ph type="sldNum" sz="quarter" idx="10"/>
          </p:nvPr>
        </p:nvSpPr>
        <p:spPr/>
        <p:txBody>
          <a:bodyPr/>
          <a:lstStyle/>
          <a:p>
            <a:fld id="{C32296FF-3411-46CB-8BD6-C74809CE5088}" type="slidenum">
              <a:rPr lang="en-US" smtClean="0"/>
              <a:pPr/>
              <a:t>11</a:t>
            </a:fld>
            <a:endParaRPr lang="en-US"/>
          </a:p>
        </p:txBody>
      </p:sp>
    </p:spTree>
    <p:extLst>
      <p:ext uri="{BB962C8B-B14F-4D97-AF65-F5344CB8AC3E}">
        <p14:creationId xmlns:p14="http://schemas.microsoft.com/office/powerpoint/2010/main" val="2452634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Isotopes:</a:t>
            </a:r>
            <a:r>
              <a:rPr lang="en-US" baseline="0" dirty="0"/>
              <a:t> </a:t>
            </a:r>
            <a:r>
              <a:rPr lang="en-US" dirty="0"/>
              <a:t>Atoms that have same atomic number but different mass number. </a:t>
            </a:r>
          </a:p>
          <a:p>
            <a:endParaRPr lang="en-US" dirty="0"/>
          </a:p>
        </p:txBody>
      </p:sp>
      <p:sp>
        <p:nvSpPr>
          <p:cNvPr id="4" name="Slide Number Placeholder 3"/>
          <p:cNvSpPr>
            <a:spLocks noGrp="1"/>
          </p:cNvSpPr>
          <p:nvPr>
            <p:ph type="sldNum" sz="quarter" idx="10"/>
          </p:nvPr>
        </p:nvSpPr>
        <p:spPr/>
        <p:txBody>
          <a:bodyPr/>
          <a:lstStyle/>
          <a:p>
            <a:fld id="{C32296FF-3411-46CB-8BD6-C74809CE5088}" type="slidenum">
              <a:rPr lang="en-US" smtClean="0"/>
              <a:pPr/>
              <a:t>12</a:t>
            </a:fld>
            <a:endParaRPr lang="en-US"/>
          </a:p>
        </p:txBody>
      </p:sp>
    </p:spTree>
    <p:extLst>
      <p:ext uri="{BB962C8B-B14F-4D97-AF65-F5344CB8AC3E}">
        <p14:creationId xmlns:p14="http://schemas.microsoft.com/office/powerpoint/2010/main" val="4087911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19</a:t>
            </a:fld>
            <a:endParaRPr lang="en-US"/>
          </a:p>
        </p:txBody>
      </p:sp>
    </p:spTree>
    <p:extLst>
      <p:ext uri="{BB962C8B-B14F-4D97-AF65-F5344CB8AC3E}">
        <p14:creationId xmlns:p14="http://schemas.microsoft.com/office/powerpoint/2010/main" val="1084835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3A1E2E96-437B-4DE0-BA68-BAE37535254E}" type="slidenum">
              <a:rPr lang="en-US" smtClean="0"/>
              <a:pPr/>
              <a:t>22</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8619529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r>
              <a:rPr lang="en-US" dirty="0">
                <a:solidFill>
                  <a:srgbClr val="0000FF"/>
                </a:solidFill>
              </a:rPr>
              <a:t>Example: Hydrogen bonds form between water molecules. </a:t>
            </a:r>
            <a:r>
              <a:rPr lang="en-US" dirty="0"/>
              <a:t>The hydrogen atom has a slight positive charge and the other atom has a slight negative charge. </a:t>
            </a:r>
          </a:p>
          <a:p>
            <a:endParaRPr lang="en-US" dirty="0"/>
          </a:p>
          <a:p>
            <a:r>
              <a:rPr lang="en-US" b="1" dirty="0"/>
              <a:t>Hydrogen bonds form and break much more easily </a:t>
            </a:r>
            <a:r>
              <a:rPr lang="en-US" dirty="0"/>
              <a:t>than </a:t>
            </a:r>
            <a:r>
              <a:rPr lang="en-US" i="1" dirty="0"/>
              <a:t>covalent or ionic bonds do</a:t>
            </a:r>
            <a:r>
              <a:rPr lang="en-US" dirty="0"/>
              <a:t>. Even so, many of them form. Their collective strength imparts unique properties to many substances such as water. Hydrogen bonds that form among the atoms of biological molecules such as DNA hold these molecules in their characteristic shapes.</a:t>
            </a:r>
          </a:p>
          <a:p>
            <a:endParaRPr lang="en-US" dirty="0"/>
          </a:p>
        </p:txBody>
      </p:sp>
      <p:sp>
        <p:nvSpPr>
          <p:cNvPr id="40964" name="Slide Number Placeholder 3"/>
          <p:cNvSpPr>
            <a:spLocks noGrp="1"/>
          </p:cNvSpPr>
          <p:nvPr>
            <p:ph type="sldNum" sz="quarter" idx="5"/>
          </p:nvPr>
        </p:nvSpPr>
        <p:spPr>
          <a:noFill/>
        </p:spPr>
        <p:txBody>
          <a:bodyPr/>
          <a:lstStyle/>
          <a:p>
            <a:fld id="{CE552E5D-9532-45AA-A83B-98607AD127F2}" type="slidenum">
              <a:rPr lang="en-US" smtClean="0"/>
              <a:pPr/>
              <a:t>27</a:t>
            </a:fld>
            <a:endParaRPr lang="en-US"/>
          </a:p>
        </p:txBody>
      </p:sp>
    </p:spTree>
    <p:extLst>
      <p:ext uri="{BB962C8B-B14F-4D97-AF65-F5344CB8AC3E}">
        <p14:creationId xmlns:p14="http://schemas.microsoft.com/office/powerpoint/2010/main" val="4260386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normAutofit fontScale="55000" lnSpcReduction="20000"/>
          </a:bodyPr>
          <a:lstStyle/>
          <a:p>
            <a:r>
              <a:rPr lang="en-US" dirty="0"/>
              <a:t>Water's special properties as a liquid begin with the two polar covalent bonds in each water molecule. Overall, the molecule has no charge, but the oxygen pulls the shared electrons a bit more than the hydrogen atoms do. Thus, each of the atoms in a water molecule carries a slight charge: The oxygen atom is slightly negative, and the hydrogen atoms are slightly positive. The separation of charge means that the water molecule itself is polar. The polarity is very attractive to other water molecules, and hydrogen bonds form between them in tremendous numbers. Extensive hydrogen bonding between water molecules imparts unique properties to liquid water, and those properties make life possible.</a:t>
            </a:r>
          </a:p>
          <a:p>
            <a:endParaRPr lang="en-US" dirty="0"/>
          </a:p>
          <a:p>
            <a:r>
              <a:rPr lang="en-US" dirty="0"/>
              <a:t>First, water is an excellent solvent. A solvent is a liquid that can dissolve other substances. When a substance dissolves, its individual molecules or ions become solutes as they disperse. Salts, sugars, and many other compounds that dissolve easily in water are polar, so many hydrogen bonds form between them and water molecules. A salt is a compound that dissolves easily in water and releases ions other than H+ and OH" when it does. Hydrogen bonding with water dissolves such hydrophilic (water-loving) substances by pulling their individual molecules away from one another and keeping them apart.</a:t>
            </a:r>
          </a:p>
          <a:p>
            <a:endParaRPr lang="en-US" dirty="0"/>
          </a:p>
          <a:p>
            <a:r>
              <a:rPr lang="en-US" dirty="0"/>
              <a:t>You can see how water interacts with hydrophobic (water-dreading) substances if you shake a bottle filled with water and salad oil, then set it on a table and watch what happens. Salad oil consists of nonpolar molecules, and water molecules do not form many hydrogen bonds with nonpolar molecules. Shaking breaks some of the hydrogen bonds that keep water molecules together. However, the water quickly begins to cluster into drops as new hydrogen bonds form among its molecules. The bonding excludes molecules of oil and pushes them together into droplets that rise to the surface of the water. The same interaction occurs at the thin, oily membrane that separates the water inside of cells from the water outside of them. The organization of membranes—and of life—starts with such interactions.</a:t>
            </a:r>
          </a:p>
          <a:p>
            <a:endParaRPr lang="en-US" dirty="0"/>
          </a:p>
          <a:p>
            <a:r>
              <a:rPr lang="en-US" dirty="0"/>
              <a:t>A second property of water is temperature stability. Temperature is a way to measure the energy of molecular motion: All molecules jiggle nonstop, and they jiggle faster as they absorb heat. However, extensive hydrogen bonding restricts the movement of water molecules—it keeps them from jiggling as much as they would otherwise. Thus, compared with other liquids, water absorbs much more heat before its temperature rises. Temperature stability is an important component of homeostasis, because most of the molecules of life function properly only within a certain range of temperature.</a:t>
            </a:r>
          </a:p>
          <a:p>
            <a:endParaRPr lang="en-US" dirty="0"/>
          </a:p>
          <a:p>
            <a:r>
              <a:rPr lang="en-US" dirty="0"/>
              <a:t>Below 0°C (32°F), water molecules do not jiggle enough to break hydrogen bonds, and they become locked in the rigid, lattice-like bonding pattern of ice. Individual water molecules pack less densely in ice than they do in water, so ice floats on water. During cold winters, ice sheets may form near the surface of ponds, lakes, and streams. Such ice "blankets" insulate liquid water under them, so they help keep fish and other aquatic organisms from freezing.</a:t>
            </a:r>
          </a:p>
          <a:p>
            <a:endParaRPr lang="en-US" dirty="0"/>
          </a:p>
          <a:p>
            <a:r>
              <a:rPr lang="en-US" dirty="0"/>
              <a:t>A third life-sustaining property of liquid water is cohesion, which means that water molecules resist separating from one another. This property is important in many processes that sustain multi celled bodies. As one example, water molecules constantly escape from the surface of liquid water as vapor, a process called evaporation. Evaporation is resisted by the hydrogen bonding that keeps water molecules together. In other words, overcoming water's cohesion takes energy. Thus, evaporation sucks energy in the form of heat from liquid water, which decreases its surface temperature. Evaporative water loss can help you and some other mammals cool off when you sweat in hot, dry weather. Sweat, which is about 99 percent water, cools the skin as it evaporates.</a:t>
            </a:r>
          </a:p>
          <a:p>
            <a:endParaRPr lang="en-US" dirty="0"/>
          </a:p>
          <a:p>
            <a:r>
              <a:rPr lang="en-US" b="1" dirty="0"/>
              <a:t>Take-Home Message: Why is water essential to life?</a:t>
            </a:r>
          </a:p>
          <a:p>
            <a:r>
              <a:rPr lang="en-US" dirty="0"/>
              <a:t>Being polar, water molecules hydrogen-bond to one another and to other polar (hydrophilic) substances, and repel nonpolar (hydrophobic) substances.</a:t>
            </a:r>
          </a:p>
          <a:p>
            <a:r>
              <a:rPr lang="en-US" dirty="0"/>
              <a:t>Extensive hydrogen bonding between water molecules gives water unique properties that make life possible: cohesion, temperature stability, and a capacity to dissolve many substances..</a:t>
            </a:r>
          </a:p>
        </p:txBody>
      </p:sp>
      <p:sp>
        <p:nvSpPr>
          <p:cNvPr id="43012" name="Slide Number Placeholder 3"/>
          <p:cNvSpPr>
            <a:spLocks noGrp="1"/>
          </p:cNvSpPr>
          <p:nvPr>
            <p:ph type="sldNum" sz="quarter" idx="5"/>
          </p:nvPr>
        </p:nvSpPr>
        <p:spPr>
          <a:noFill/>
        </p:spPr>
        <p:txBody>
          <a:bodyPr/>
          <a:lstStyle/>
          <a:p>
            <a:fld id="{3BA03875-D253-4577-A4C9-1417C237B746}" type="slidenum">
              <a:rPr lang="en-US" smtClean="0"/>
              <a:pPr/>
              <a:t>28</a:t>
            </a:fld>
            <a:endParaRPr lang="en-US"/>
          </a:p>
        </p:txBody>
      </p:sp>
    </p:spTree>
    <p:extLst>
      <p:ext uri="{BB962C8B-B14F-4D97-AF65-F5344CB8AC3E}">
        <p14:creationId xmlns:p14="http://schemas.microsoft.com/office/powerpoint/2010/main" val="1040485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dirty="0"/>
          </a:p>
          <a:p>
            <a:endParaRPr lang="en-US" dirty="0"/>
          </a:p>
        </p:txBody>
      </p:sp>
      <p:sp>
        <p:nvSpPr>
          <p:cNvPr id="44036" name="Slide Number Placeholder 3"/>
          <p:cNvSpPr>
            <a:spLocks noGrp="1"/>
          </p:cNvSpPr>
          <p:nvPr>
            <p:ph type="sldNum" sz="quarter" idx="5"/>
          </p:nvPr>
        </p:nvSpPr>
        <p:spPr>
          <a:noFill/>
        </p:spPr>
        <p:txBody>
          <a:bodyPr/>
          <a:lstStyle/>
          <a:p>
            <a:fld id="{36D8D497-4D14-4395-9AE8-A73BD3886706}" type="slidenum">
              <a:rPr lang="en-US" smtClean="0"/>
              <a:pPr/>
              <a:t>35</a:t>
            </a:fld>
            <a:endParaRPr lang="en-US"/>
          </a:p>
        </p:txBody>
      </p:sp>
    </p:spTree>
    <p:extLst>
      <p:ext uri="{BB962C8B-B14F-4D97-AF65-F5344CB8AC3E}">
        <p14:creationId xmlns:p14="http://schemas.microsoft.com/office/powerpoint/2010/main" val="2762615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BBEEBDB-93C9-477C-9870-2B3510955FFD}"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D44E161-90E0-4C58-8609-544915303F91}"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6B934-5667-4EEC-835B-E8672CC509BB}"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C4A5B88-6282-4AFE-A73A-6557FE69BF42}" type="datetime1">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4B68DDD-E76B-4517-BBD5-31F5EA955096}" type="datetime1">
              <a:rPr lang="en-US" smtClean="0"/>
              <a:pPr/>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D2BFD75-C079-4F21-8732-B9A692E51C55}" type="datetime1">
              <a:rPr lang="en-US" smtClean="0"/>
              <a:pPr/>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D1526-B754-4910-A6BE-7039608FA5F6}" type="datetime1">
              <a:rPr lang="en-US" smtClean="0"/>
              <a:pPr/>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A53B54-9C48-43B7-BC96-A7B7F62F6E04}" type="datetime1">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A3A8D6-F6B5-4486-B726-3C420008E304}" type="datetime1">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F95C47A-0DA0-4690-BC45-C43118F9ED8E}"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453A490-27EF-4ACC-BB54-2FE3C734B9D9}"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8BA82-0AAF-405E-99DA-C7239379FAC4}" type="datetime1">
              <a:rPr lang="en-US" smtClean="0"/>
              <a:pPr/>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824259-EC09-4C9F-9F84-F0AFA61083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5"/>
          <p:cNvSpPr>
            <a:spLocks noGrp="1"/>
          </p:cNvSpPr>
          <p:nvPr>
            <p:ph type="ctrTitle"/>
          </p:nvPr>
        </p:nvSpPr>
        <p:spPr>
          <a:xfrm>
            <a:off x="457200" y="53975"/>
            <a:ext cx="7772400" cy="1470025"/>
          </a:xfrm>
        </p:spPr>
        <p:txBody>
          <a:bodyPr/>
          <a:lstStyle/>
          <a:p>
            <a:r>
              <a:rPr lang="en-US" b="1" dirty="0">
                <a:solidFill>
                  <a:schemeClr val="tx1"/>
                </a:solidFill>
              </a:rPr>
              <a:t>BIO-103:</a:t>
            </a:r>
            <a:br>
              <a:rPr lang="en-US" b="1" dirty="0">
                <a:solidFill>
                  <a:schemeClr val="tx1"/>
                </a:solidFill>
              </a:rPr>
            </a:br>
            <a:r>
              <a:rPr lang="en-US" b="1" dirty="0"/>
              <a:t>Chemistry of Life</a:t>
            </a:r>
            <a:endParaRPr lang="en-US" b="1" dirty="0">
              <a:solidFill>
                <a:schemeClr val="tx1"/>
              </a:solidFill>
            </a:endParaRPr>
          </a:p>
        </p:txBody>
      </p:sp>
      <p:sp>
        <p:nvSpPr>
          <p:cNvPr id="5122" name="Subtitle 4"/>
          <p:cNvSpPr>
            <a:spLocks noGrp="1"/>
          </p:cNvSpPr>
          <p:nvPr>
            <p:ph type="subTitle" idx="1"/>
          </p:nvPr>
        </p:nvSpPr>
        <p:spPr>
          <a:xfrm>
            <a:off x="1371600" y="4953000"/>
            <a:ext cx="6400800" cy="1752600"/>
          </a:xfrm>
        </p:spPr>
        <p:txBody>
          <a:bodyPr/>
          <a:lstStyle/>
          <a:p>
            <a:r>
              <a:rPr lang="en-US" b="1" dirty="0">
                <a:solidFill>
                  <a:schemeClr val="tx1"/>
                </a:solidFill>
              </a:rPr>
              <a:t>Prof. Dr. Md. </a:t>
            </a:r>
            <a:r>
              <a:rPr lang="en-US" b="1" dirty="0" err="1">
                <a:solidFill>
                  <a:schemeClr val="tx1"/>
                </a:solidFill>
              </a:rPr>
              <a:t>Mahbubul</a:t>
            </a:r>
            <a:r>
              <a:rPr lang="en-US" b="1" dirty="0">
                <a:solidFill>
                  <a:schemeClr val="tx1"/>
                </a:solidFill>
              </a:rPr>
              <a:t> Morshed</a:t>
            </a:r>
          </a:p>
        </p:txBody>
      </p:sp>
      <p:sp>
        <p:nvSpPr>
          <p:cNvPr id="5" name="Slide Number Placeholder 4"/>
          <p:cNvSpPr>
            <a:spLocks noGrp="1"/>
          </p:cNvSpPr>
          <p:nvPr>
            <p:ph type="sldNum" sz="quarter" idx="12"/>
          </p:nvPr>
        </p:nvSpPr>
        <p:spPr/>
        <p:txBody>
          <a:bodyPr/>
          <a:lstStyle/>
          <a:p>
            <a:fld id="{4A824259-EC09-4C9F-9F84-F0AFA6108387}" type="slidenum">
              <a:rPr lang="en-US" b="1" smtClean="0"/>
              <a:pPr/>
              <a:t>1</a:t>
            </a:fld>
            <a:endParaRPr lang="en-US" b="1" dirty="0"/>
          </a:p>
        </p:txBody>
      </p:sp>
      <p:sp>
        <p:nvSpPr>
          <p:cNvPr id="5124" name="TextBox 6"/>
          <p:cNvSpPr txBox="1">
            <a:spLocks noChangeArrowheads="1"/>
          </p:cNvSpPr>
          <p:nvPr/>
        </p:nvSpPr>
        <p:spPr bwMode="auto">
          <a:xfrm>
            <a:off x="7239000" y="533400"/>
            <a:ext cx="1267650" cy="372696"/>
          </a:xfrm>
          <a:prstGeom prst="rect">
            <a:avLst/>
          </a:prstGeom>
          <a:noFill/>
          <a:ln w="9525">
            <a:noFill/>
            <a:miter lim="800000"/>
            <a:headEnd/>
            <a:tailEnd/>
          </a:ln>
        </p:spPr>
        <p:txBody>
          <a:bodyPr wrap="none" lIns="64291" tIns="32146" rIns="64291" bIns="32146">
            <a:spAutoFit/>
          </a:bodyPr>
          <a:lstStyle/>
          <a:p>
            <a:r>
              <a:rPr lang="en-US" sz="2000" b="1" i="1" dirty="0">
                <a:solidFill>
                  <a:schemeClr val="accent1">
                    <a:lumMod val="75000"/>
                  </a:schemeClr>
                </a:solidFill>
              </a:rPr>
              <a:t>BIOLOGY 1</a:t>
            </a:r>
          </a:p>
        </p:txBody>
      </p:sp>
      <p:pic>
        <p:nvPicPr>
          <p:cNvPr id="14338" name="Picture 2" descr="http://www.articlesweb.org/blog/wp-content/gallery/the-chemistry-of-life/the-chemistry-of-life-5.jpg"/>
          <p:cNvPicPr>
            <a:picLocks noChangeAspect="1" noChangeArrowheads="1"/>
          </p:cNvPicPr>
          <p:nvPr/>
        </p:nvPicPr>
        <p:blipFill>
          <a:blip r:embed="rId2" cstate="print"/>
          <a:srcRect/>
          <a:stretch>
            <a:fillRect/>
          </a:stretch>
        </p:blipFill>
        <p:spPr bwMode="auto">
          <a:xfrm>
            <a:off x="2133600" y="1752600"/>
            <a:ext cx="4572000" cy="3048001"/>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down)">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Life depends on chemistry!</a:t>
            </a:r>
            <a:endParaRPr lang="en-GB" b="1" dirty="0"/>
          </a:p>
        </p:txBody>
      </p:sp>
      <p:sp>
        <p:nvSpPr>
          <p:cNvPr id="3" name="Content Placeholder 2"/>
          <p:cNvSpPr>
            <a:spLocks noGrp="1"/>
          </p:cNvSpPr>
          <p:nvPr>
            <p:ph idx="1"/>
          </p:nvPr>
        </p:nvSpPr>
        <p:spPr/>
        <p:txBody>
          <a:bodyPr>
            <a:normAutofit/>
          </a:bodyPr>
          <a:lstStyle/>
          <a:p>
            <a:pPr>
              <a:lnSpc>
                <a:spcPct val="80000"/>
              </a:lnSpc>
            </a:pPr>
            <a:r>
              <a:rPr lang="en-US" sz="2800" dirty="0">
                <a:latin typeface="+mj-lt"/>
              </a:rPr>
              <a:t>When you eat food or inhale oxygen, your body uses these materials in chemical reactions that keep you alive</a:t>
            </a:r>
          </a:p>
          <a:p>
            <a:pPr>
              <a:lnSpc>
                <a:spcPct val="80000"/>
              </a:lnSpc>
              <a:buNone/>
            </a:pPr>
            <a:endParaRPr lang="en-US" sz="2800" dirty="0">
              <a:latin typeface="+mj-lt"/>
            </a:endParaRPr>
          </a:p>
          <a:p>
            <a:pPr>
              <a:lnSpc>
                <a:spcPct val="80000"/>
              </a:lnSpc>
            </a:pPr>
            <a:r>
              <a:rPr lang="en-US" sz="2800" dirty="0">
                <a:latin typeface="+mj-lt"/>
              </a:rPr>
              <a:t>Just as buildings are made from bricks, steel, glass, and wood, living things are made from chemical compounds</a:t>
            </a:r>
          </a:p>
          <a:p>
            <a:pPr>
              <a:lnSpc>
                <a:spcPct val="80000"/>
              </a:lnSpc>
            </a:pPr>
            <a:endParaRPr lang="en-US" sz="2800" dirty="0">
              <a:latin typeface="+mj-lt"/>
            </a:endParaRPr>
          </a:p>
          <a:p>
            <a:pPr>
              <a:lnSpc>
                <a:spcPct val="80000"/>
              </a:lnSpc>
            </a:pPr>
            <a:r>
              <a:rPr lang="en-US" sz="2800" dirty="0">
                <a:latin typeface="+mj-lt"/>
              </a:rPr>
              <a:t>Wouldn’t you want an architect to understand building materials?  Same idea applies to geneticists, ecologists, zoologists, botanists, biologists, and etc.</a:t>
            </a:r>
          </a:p>
          <a:p>
            <a:endParaRPr lang="en-GB" sz="2800"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3</a:t>
            </a:fld>
            <a:endParaRPr lang="en-US"/>
          </a:p>
        </p:txBody>
      </p:sp>
      <p:sp>
        <p:nvSpPr>
          <p:cNvPr id="8" name="Rectangle 7"/>
          <p:cNvSpPr/>
          <p:nvPr/>
        </p:nvSpPr>
        <p:spPr>
          <a:xfrm>
            <a:off x="681048" y="622280"/>
            <a:ext cx="7490064" cy="3416320"/>
          </a:xfrm>
          <a:prstGeom prst="rect">
            <a:avLst/>
          </a:prstGeom>
          <a:noFill/>
        </p:spPr>
        <p:txBody>
          <a:bodyPr wrap="none" lIns="91440" tIns="45720" rIns="91440" bIns="45720">
            <a:spAutoFit/>
          </a:bodyPr>
          <a:lstStyle/>
          <a:p>
            <a:pPr algn="ctr"/>
            <a:r>
              <a:rPr lang="en-GB" sz="5400" b="1" cap="none" spc="0" dirty="0">
                <a:ln w="17780" cmpd="sng">
                  <a:solidFill>
                    <a:srgbClr val="FFFFFF"/>
                  </a:solidFill>
                  <a:prstDash val="solid"/>
                  <a:miter lim="800000"/>
                </a:ln>
              </a:rPr>
              <a:t>Let’s learn from a real life</a:t>
            </a:r>
          </a:p>
          <a:p>
            <a:pPr algn="ctr"/>
            <a:r>
              <a:rPr lang="en-GB" sz="5400" b="1" cap="none" spc="0" dirty="0">
                <a:ln w="17780" cmpd="sng">
                  <a:solidFill>
                    <a:srgbClr val="FFFFFF"/>
                  </a:solidFill>
                  <a:prstDash val="solid"/>
                  <a:miter lim="800000"/>
                </a:ln>
              </a:rPr>
              <a:t> example </a:t>
            </a:r>
          </a:p>
          <a:p>
            <a:pPr algn="ctr"/>
            <a:r>
              <a:rPr lang="en-GB" sz="5400" b="1" cap="none" spc="0" dirty="0">
                <a:ln w="17780" cmpd="sng">
                  <a:solidFill>
                    <a:srgbClr val="FFFFFF"/>
                  </a:solidFill>
                  <a:prstDash val="solid"/>
                  <a:miter lim="800000"/>
                </a:ln>
              </a:rPr>
              <a:t>why chemistry of life </a:t>
            </a:r>
          </a:p>
          <a:p>
            <a:pPr algn="ctr"/>
            <a:r>
              <a:rPr lang="en-GB" sz="5400" b="1" cap="none" spc="0" dirty="0">
                <a:ln w="17780" cmpd="sng">
                  <a:solidFill>
                    <a:srgbClr val="FFFFFF"/>
                  </a:solidFill>
                  <a:prstDash val="solid"/>
                  <a:miter lim="800000"/>
                </a:ln>
              </a:rPr>
              <a:t>is important…</a:t>
            </a:r>
          </a:p>
        </p:txBody>
      </p:sp>
      <p:pic>
        <p:nvPicPr>
          <p:cNvPr id="9" name="Picture 8"/>
          <p:cNvPicPr>
            <a:picLocks noChangeAspect="1" noChangeArrowheads="1"/>
          </p:cNvPicPr>
          <p:nvPr/>
        </p:nvPicPr>
        <p:blipFill>
          <a:blip r:embed="rId2" cstate="print"/>
          <a:srcRect l="781" t="11458" r="67188" b="43750"/>
          <a:stretch>
            <a:fillRect/>
          </a:stretch>
        </p:blipFill>
        <p:spPr bwMode="auto">
          <a:xfrm>
            <a:off x="6400800" y="3980984"/>
            <a:ext cx="2743200" cy="2877016"/>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GB" sz="4000" b="1" dirty="0"/>
              <a:t>Fat: Fear of frying</a:t>
            </a:r>
          </a:p>
        </p:txBody>
      </p:sp>
      <p:sp>
        <p:nvSpPr>
          <p:cNvPr id="4" name="Slide Number Placeholder 3"/>
          <p:cNvSpPr>
            <a:spLocks noGrp="1"/>
          </p:cNvSpPr>
          <p:nvPr>
            <p:ph type="sldNum" sz="quarter" idx="12"/>
          </p:nvPr>
        </p:nvSpPr>
        <p:spPr/>
        <p:txBody>
          <a:bodyPr/>
          <a:lstStyle/>
          <a:p>
            <a:fld id="{4A824259-EC09-4C9F-9F84-F0AFA6108387}" type="slidenum">
              <a:rPr lang="en-US" smtClean="0"/>
              <a:pPr/>
              <a:t>4</a:t>
            </a:fld>
            <a:endParaRPr lang="en-US"/>
          </a:p>
        </p:txBody>
      </p:sp>
      <p:pic>
        <p:nvPicPr>
          <p:cNvPr id="5" name="Picture 5" descr="http://www.grease-trap-software.com/picts/photofries.jpg"/>
          <p:cNvPicPr>
            <a:picLocks noChangeAspect="1" noChangeArrowheads="1"/>
          </p:cNvPicPr>
          <p:nvPr/>
        </p:nvPicPr>
        <p:blipFill>
          <a:blip r:embed="rId2" cstate="print"/>
          <a:srcRect/>
          <a:stretch>
            <a:fillRect/>
          </a:stretch>
        </p:blipFill>
        <p:spPr bwMode="auto">
          <a:xfrm>
            <a:off x="0" y="4857750"/>
            <a:ext cx="2667000" cy="2000250"/>
          </a:xfrm>
          <a:prstGeom prst="rect">
            <a:avLst/>
          </a:prstGeom>
          <a:noFill/>
        </p:spPr>
      </p:pic>
      <p:sp>
        <p:nvSpPr>
          <p:cNvPr id="6" name="Content Placeholder 2"/>
          <p:cNvSpPr>
            <a:spLocks noGrp="1"/>
          </p:cNvSpPr>
          <p:nvPr>
            <p:ph idx="1"/>
          </p:nvPr>
        </p:nvSpPr>
        <p:spPr>
          <a:xfrm>
            <a:off x="457200" y="1143000"/>
            <a:ext cx="8229600" cy="3352800"/>
          </a:xfrm>
        </p:spPr>
        <p:txBody>
          <a:bodyPr>
            <a:noAutofit/>
          </a:bodyPr>
          <a:lstStyle/>
          <a:p>
            <a:r>
              <a:rPr lang="en-GB" sz="2400" dirty="0"/>
              <a:t>What is fat?</a:t>
            </a:r>
          </a:p>
          <a:p>
            <a:r>
              <a:rPr lang="en-GB" sz="2400" dirty="0"/>
              <a:t>Is fat always bad for health?</a:t>
            </a:r>
          </a:p>
          <a:p>
            <a:r>
              <a:rPr lang="en-GB" sz="2400" dirty="0"/>
              <a:t>How can you differentiate good and bad fat?</a:t>
            </a:r>
          </a:p>
          <a:p>
            <a:endParaRPr lang="en-GB" sz="2400" dirty="0"/>
          </a:p>
          <a:p>
            <a:r>
              <a:rPr lang="en-GB" sz="2400" dirty="0"/>
              <a:t>We might need only a tablespoon of fat/day to stay healthy</a:t>
            </a:r>
          </a:p>
          <a:p>
            <a:r>
              <a:rPr lang="en-GB" sz="2400" dirty="0"/>
              <a:t>But the scenario is different in developed countries</a:t>
            </a:r>
          </a:p>
          <a:p>
            <a:r>
              <a:rPr lang="en-US" sz="2400" dirty="0"/>
              <a:t>Americans consume 100lb./year (reason of obesity and overweight) </a:t>
            </a:r>
            <a:endParaRPr lang="en-GB" sz="2400" dirty="0"/>
          </a:p>
          <a:p>
            <a:pPr>
              <a:buNone/>
            </a:pPr>
            <a:endParaRPr lang="en-GB" sz="2400" dirty="0"/>
          </a:p>
        </p:txBody>
      </p:sp>
      <p:sp>
        <p:nvSpPr>
          <p:cNvPr id="7" name="Right Brace 6"/>
          <p:cNvSpPr/>
          <p:nvPr/>
        </p:nvSpPr>
        <p:spPr>
          <a:xfrm>
            <a:off x="6477000" y="1143000"/>
            <a:ext cx="381000" cy="121920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9" name="TextBox 8"/>
          <p:cNvSpPr txBox="1"/>
          <p:nvPr/>
        </p:nvSpPr>
        <p:spPr>
          <a:xfrm>
            <a:off x="6934200" y="1524000"/>
            <a:ext cx="2209800" cy="369332"/>
          </a:xfrm>
          <a:prstGeom prst="rect">
            <a:avLst/>
          </a:prstGeom>
          <a:noFill/>
        </p:spPr>
        <p:txBody>
          <a:bodyPr wrap="square" rtlCol="0">
            <a:spAutoFit/>
          </a:bodyPr>
          <a:lstStyle/>
          <a:p>
            <a:r>
              <a:rPr lang="en-GB" dirty="0"/>
              <a:t>Food for thoughts</a:t>
            </a:r>
          </a:p>
        </p:txBody>
      </p:sp>
      <p:sp>
        <p:nvSpPr>
          <p:cNvPr id="8" name="Rectangle 7"/>
          <p:cNvSpPr/>
          <p:nvPr/>
        </p:nvSpPr>
        <p:spPr>
          <a:xfrm>
            <a:off x="2971800" y="4791670"/>
            <a:ext cx="5943600" cy="1754326"/>
          </a:xfrm>
          <a:prstGeom prst="rect">
            <a:avLst/>
          </a:prstGeom>
        </p:spPr>
        <p:txBody>
          <a:bodyPr wrap="square">
            <a:spAutoFit/>
          </a:bodyPr>
          <a:lstStyle/>
          <a:p>
            <a:pPr>
              <a:lnSpc>
                <a:spcPct val="150000"/>
              </a:lnSpc>
              <a:buFont typeface="Wingdings" pitchFamily="2" charset="2"/>
              <a:buChar char="Ø"/>
              <a:defRPr/>
            </a:pPr>
            <a:r>
              <a:rPr lang="en-US" dirty="0"/>
              <a:t> </a:t>
            </a:r>
            <a:r>
              <a:rPr lang="en-US" sz="2400" dirty="0"/>
              <a:t>The total </a:t>
            </a:r>
            <a:r>
              <a:rPr lang="en-US" sz="2400" b="1" dirty="0"/>
              <a:t>quantity</a:t>
            </a:r>
            <a:r>
              <a:rPr lang="en-US" sz="2400" dirty="0"/>
              <a:t> of fat we eat may be of </a:t>
            </a:r>
            <a:r>
              <a:rPr lang="en-US" sz="2400" b="1" dirty="0"/>
              <a:t>less importance</a:t>
            </a:r>
            <a:r>
              <a:rPr lang="en-US" sz="2400" dirty="0"/>
              <a:t> to health than the </a:t>
            </a:r>
            <a:r>
              <a:rPr lang="en-US" sz="2400" b="1" dirty="0"/>
              <a:t>kinds of fats </a:t>
            </a:r>
            <a:r>
              <a:rPr lang="en-US" sz="2400" dirty="0"/>
              <a:t>we eat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b="1" dirty="0"/>
              <a:t>Fat: Fear of frying</a:t>
            </a:r>
          </a:p>
        </p:txBody>
      </p:sp>
      <p:sp>
        <p:nvSpPr>
          <p:cNvPr id="3" name="Content Placeholder 2"/>
          <p:cNvSpPr>
            <a:spLocks noGrp="1"/>
          </p:cNvSpPr>
          <p:nvPr>
            <p:ph idx="1"/>
          </p:nvPr>
        </p:nvSpPr>
        <p:spPr>
          <a:xfrm>
            <a:off x="228600" y="1066800"/>
            <a:ext cx="8001000" cy="2819400"/>
          </a:xfrm>
        </p:spPr>
        <p:txBody>
          <a:bodyPr>
            <a:noAutofit/>
          </a:bodyPr>
          <a:lstStyle/>
          <a:p>
            <a:pPr>
              <a:defRPr/>
            </a:pPr>
            <a:r>
              <a:rPr lang="en-US" sz="2400" dirty="0"/>
              <a:t>Fats with a certain arrangement of hydrogen atoms around that carbon chain are called </a:t>
            </a:r>
            <a:r>
              <a:rPr lang="en-US" sz="2400" b="1" dirty="0"/>
              <a:t>trans fats</a:t>
            </a:r>
          </a:p>
          <a:p>
            <a:pPr>
              <a:defRPr/>
            </a:pPr>
            <a:r>
              <a:rPr lang="en-US" sz="2400" dirty="0"/>
              <a:t>Eating as little as </a:t>
            </a:r>
            <a:r>
              <a:rPr lang="en-US" sz="2400" b="1" dirty="0"/>
              <a:t>2 grams a day </a:t>
            </a:r>
            <a:r>
              <a:rPr lang="en-US" sz="2400" dirty="0"/>
              <a:t>of hydrogenated vegetable oils increases a person’s risk of atherosclerosis (hardening of the arteries), heart attack, and diabetes</a:t>
            </a:r>
          </a:p>
          <a:p>
            <a:pPr>
              <a:defRPr/>
            </a:pPr>
            <a:r>
              <a:rPr lang="en-US" sz="2400" dirty="0"/>
              <a:t>A small serving of French-fries made with hydrogenated vegetable oil contains about </a:t>
            </a:r>
            <a:r>
              <a:rPr lang="en-US" sz="2400" b="1" dirty="0"/>
              <a:t>5 grams of trans fats. </a:t>
            </a:r>
          </a:p>
        </p:txBody>
      </p:sp>
      <p:sp>
        <p:nvSpPr>
          <p:cNvPr id="4" name="Slide Number Placeholder 3"/>
          <p:cNvSpPr>
            <a:spLocks noGrp="1"/>
          </p:cNvSpPr>
          <p:nvPr>
            <p:ph type="sldNum" sz="quarter" idx="12"/>
          </p:nvPr>
        </p:nvSpPr>
        <p:spPr/>
        <p:txBody>
          <a:bodyPr/>
          <a:lstStyle/>
          <a:p>
            <a:fld id="{4A824259-EC09-4C9F-9F84-F0AFA6108387}" type="slidenum">
              <a:rPr lang="en-US" smtClean="0"/>
              <a:pPr/>
              <a:t>5</a:t>
            </a:fld>
            <a:endParaRPr lang="en-US"/>
          </a:p>
        </p:txBody>
      </p:sp>
      <p:pic>
        <p:nvPicPr>
          <p:cNvPr id="1026" name="Picture 2" descr="http://holistikhealth.com/blog/wp-content/uploads/2010/05/trans-fat.jpg"/>
          <p:cNvPicPr>
            <a:picLocks noChangeAspect="1" noChangeArrowheads="1"/>
          </p:cNvPicPr>
          <p:nvPr/>
        </p:nvPicPr>
        <p:blipFill>
          <a:blip r:embed="rId2" cstate="print"/>
          <a:srcRect/>
          <a:stretch>
            <a:fillRect/>
          </a:stretch>
        </p:blipFill>
        <p:spPr bwMode="auto">
          <a:xfrm>
            <a:off x="2057400" y="4047169"/>
            <a:ext cx="4400550" cy="1744031"/>
          </a:xfrm>
          <a:prstGeom prst="rect">
            <a:avLst/>
          </a:prstGeom>
          <a:noFill/>
        </p:spPr>
      </p:pic>
      <p:pic>
        <p:nvPicPr>
          <p:cNvPr id="8" name="Picture 4"/>
          <p:cNvPicPr>
            <a:picLocks noChangeAspect="1" noChangeArrowheads="1"/>
          </p:cNvPicPr>
          <p:nvPr/>
        </p:nvPicPr>
        <p:blipFill>
          <a:blip r:embed="rId3" cstate="print">
            <a:lum bright="-10000"/>
          </a:blip>
          <a:srcRect/>
          <a:stretch>
            <a:fillRect/>
          </a:stretch>
        </p:blipFill>
        <p:spPr bwMode="auto">
          <a:xfrm>
            <a:off x="76201" y="6020110"/>
            <a:ext cx="7467600" cy="799790"/>
          </a:xfrm>
          <a:prstGeom prst="rect">
            <a:avLst/>
          </a:prstGeom>
          <a:noFill/>
          <a:ln w="9525">
            <a:noFill/>
            <a:miter lim="800000"/>
            <a:headEnd/>
            <a:tailEnd/>
          </a:ln>
        </p:spPr>
      </p:pic>
      <p:sp>
        <p:nvSpPr>
          <p:cNvPr id="10" name="Rectangle 9"/>
          <p:cNvSpPr/>
          <p:nvPr/>
        </p:nvSpPr>
        <p:spPr>
          <a:xfrm>
            <a:off x="7241547" y="4473714"/>
            <a:ext cx="1826253" cy="707886"/>
          </a:xfrm>
          <a:prstGeom prst="rect">
            <a:avLst/>
          </a:prstGeom>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US" sz="4000" b="1" i="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How?</a:t>
            </a:r>
            <a:endParaRPr lang="en-US" sz="4000" b="1"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12" name="Curved Right Arrow 11"/>
          <p:cNvSpPr/>
          <p:nvPr/>
        </p:nvSpPr>
        <p:spPr>
          <a:xfrm rot="1448447" flipH="1">
            <a:off x="7752551" y="5276419"/>
            <a:ext cx="760169" cy="1386475"/>
          </a:xfrm>
          <a:prstGeom prst="curved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6</a:t>
            </a:fld>
            <a:endParaRPr lang="en-US"/>
          </a:p>
        </p:txBody>
      </p:sp>
      <p:pic>
        <p:nvPicPr>
          <p:cNvPr id="20482" name="Picture 2" descr="http://www.medfitsolutions.com/wp-content/uploads/2013/03/trans-fats-and-the-body.png"/>
          <p:cNvPicPr>
            <a:picLocks noChangeAspect="1" noChangeArrowheads="1"/>
          </p:cNvPicPr>
          <p:nvPr/>
        </p:nvPicPr>
        <p:blipFill>
          <a:blip cstate="print"/>
          <a:srcRect/>
          <a:stretch>
            <a:fillRect/>
          </a:stretch>
        </p:blipFill>
        <p:spPr bwMode="auto">
          <a:xfrm>
            <a:off x="1496347" y="152400"/>
            <a:ext cx="6657053" cy="5257800"/>
          </a:xfrm>
          <a:prstGeom prst="rect">
            <a:avLst/>
          </a:prstGeom>
          <a:noFill/>
        </p:spPr>
      </p:pic>
      <p:sp>
        <p:nvSpPr>
          <p:cNvPr id="7" name="Rectangle 6"/>
          <p:cNvSpPr/>
          <p:nvPr/>
        </p:nvSpPr>
        <p:spPr>
          <a:xfrm>
            <a:off x="1828800" y="6015335"/>
            <a:ext cx="5715000" cy="461665"/>
          </a:xfrm>
          <a:prstGeom prst="rect">
            <a:avLst/>
          </a:prstGeom>
        </p:spPr>
        <p:txBody>
          <a:bodyPr wrap="square">
            <a:spAutoFit/>
          </a:bodyPr>
          <a:lstStyle/>
          <a:p>
            <a:r>
              <a:rPr lang="en-US" sz="2400" b="1" i="1" dirty="0">
                <a:solidFill>
                  <a:srgbClr val="0070C0"/>
                </a:solidFill>
              </a:rPr>
              <a:t>So…lets learn about the chemistry of life!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76200" y="0"/>
            <a:ext cx="8000999" cy="6858000"/>
            <a:chOff x="76201" y="0"/>
            <a:chExt cx="8000999" cy="6858000"/>
          </a:xfrm>
        </p:grpSpPr>
        <p:pic>
          <p:nvPicPr>
            <p:cNvPr id="17410" name="Picture 2"/>
            <p:cNvPicPr>
              <a:picLocks noChangeAspect="1" noChangeArrowheads="1"/>
            </p:cNvPicPr>
            <p:nvPr/>
          </p:nvPicPr>
          <p:blipFill>
            <a:blip cstate="print"/>
            <a:srcRect b="52344"/>
            <a:stretch>
              <a:fillRect/>
            </a:stretch>
          </p:blipFill>
          <p:spPr bwMode="auto">
            <a:xfrm>
              <a:off x="533399" y="0"/>
              <a:ext cx="3698823" cy="6858000"/>
            </a:xfrm>
            <a:prstGeom prst="rect">
              <a:avLst/>
            </a:prstGeom>
            <a:noFill/>
            <a:ln w="9525">
              <a:noFill/>
              <a:miter lim="800000"/>
              <a:headEnd/>
              <a:tailEnd/>
            </a:ln>
            <a:effectLst/>
          </p:spPr>
        </p:pic>
        <p:pic>
          <p:nvPicPr>
            <p:cNvPr id="17411" name="Picture 3"/>
            <p:cNvPicPr>
              <a:picLocks noChangeAspect="1" noChangeArrowheads="1"/>
            </p:cNvPicPr>
            <p:nvPr/>
          </p:nvPicPr>
          <p:blipFill>
            <a:blip cstate="print"/>
            <a:srcRect t="46875"/>
            <a:stretch>
              <a:fillRect/>
            </a:stretch>
          </p:blipFill>
          <p:spPr bwMode="auto">
            <a:xfrm>
              <a:off x="4724400" y="0"/>
              <a:ext cx="3352800" cy="6857999"/>
            </a:xfrm>
            <a:prstGeom prst="rect">
              <a:avLst/>
            </a:prstGeom>
            <a:noFill/>
            <a:ln w="9525">
              <a:noFill/>
              <a:miter lim="800000"/>
              <a:headEnd/>
              <a:tailEnd/>
            </a:ln>
            <a:effectLst/>
          </p:spPr>
        </p:pic>
        <p:grpSp>
          <p:nvGrpSpPr>
            <p:cNvPr id="2" name="Group 10"/>
            <p:cNvGrpSpPr/>
            <p:nvPr/>
          </p:nvGrpSpPr>
          <p:grpSpPr>
            <a:xfrm>
              <a:off x="228600" y="3429000"/>
              <a:ext cx="1524000" cy="1219200"/>
              <a:chOff x="228600" y="3429000"/>
              <a:chExt cx="1524000" cy="1219200"/>
            </a:xfrm>
          </p:grpSpPr>
          <p:sp>
            <p:nvSpPr>
              <p:cNvPr id="4" name="Rectangle 3"/>
              <p:cNvSpPr/>
              <p:nvPr/>
            </p:nvSpPr>
            <p:spPr>
              <a:xfrm>
                <a:off x="762000" y="3429000"/>
                <a:ext cx="990600" cy="304800"/>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28600" y="3581400"/>
                <a:ext cx="685800" cy="369332"/>
              </a:xfrm>
              <a:prstGeom prst="rect">
                <a:avLst/>
              </a:prstGeom>
              <a:noFill/>
              <a:ln w="28575">
                <a:solidFill>
                  <a:srgbClr val="C00000"/>
                </a:solidFill>
              </a:ln>
            </p:spPr>
            <p:txBody>
              <a:bodyPr wrap="square" rtlCol="0">
                <a:spAutoFit/>
              </a:bodyPr>
              <a:lstStyle/>
              <a:p>
                <a:r>
                  <a:rPr lang="en-US" dirty="0"/>
                  <a:t>Life</a:t>
                </a:r>
              </a:p>
            </p:txBody>
          </p:sp>
          <p:cxnSp>
            <p:nvCxnSpPr>
              <p:cNvPr id="10" name="Straight Arrow Connector 9"/>
              <p:cNvCxnSpPr/>
              <p:nvPr/>
            </p:nvCxnSpPr>
            <p:spPr>
              <a:xfrm rot="5400000">
                <a:off x="-38894" y="4304506"/>
                <a:ext cx="685800" cy="1588"/>
              </a:xfrm>
              <a:prstGeom prst="straightConnector1">
                <a:avLst/>
              </a:prstGeom>
              <a:ln w="28575">
                <a:solidFill>
                  <a:srgbClr val="C00000"/>
                </a:solidFill>
                <a:tailEnd type="arrow"/>
              </a:ln>
            </p:spPr>
            <p:style>
              <a:lnRef idx="1">
                <a:schemeClr val="accent2"/>
              </a:lnRef>
              <a:fillRef idx="0">
                <a:schemeClr val="accent2"/>
              </a:fillRef>
              <a:effectRef idx="0">
                <a:schemeClr val="accent2"/>
              </a:effectRef>
              <a:fontRef idx="minor">
                <a:schemeClr val="tx1"/>
              </a:fontRef>
            </p:style>
          </p:cxnSp>
        </p:grpSp>
        <p:sp>
          <p:nvSpPr>
            <p:cNvPr id="12" name="TextBox 11"/>
            <p:cNvSpPr txBox="1"/>
            <p:nvPr/>
          </p:nvSpPr>
          <p:spPr>
            <a:xfrm rot="16200000">
              <a:off x="-634988" y="1525508"/>
              <a:ext cx="1791709" cy="369332"/>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wrap="none" rtlCol="0">
              <a:spAutoFit/>
            </a:bodyPr>
            <a:lstStyle/>
            <a:p>
              <a:r>
                <a:rPr lang="en-US" b="1" dirty="0">
                  <a:solidFill>
                    <a:srgbClr val="00B050"/>
                  </a:solidFill>
                </a:rPr>
                <a:t>Chemistry of Life</a:t>
              </a:r>
            </a:p>
          </p:txBody>
        </p:sp>
        <p:cxnSp>
          <p:nvCxnSpPr>
            <p:cNvPr id="14" name="Straight Arrow Connector 13"/>
            <p:cNvCxnSpPr/>
            <p:nvPr/>
          </p:nvCxnSpPr>
          <p:spPr>
            <a:xfrm rot="5400000" flipH="1" flipV="1">
              <a:off x="38100" y="1638300"/>
              <a:ext cx="990600" cy="1588"/>
            </a:xfrm>
            <a:prstGeom prst="straightConnector1">
              <a:avLst/>
            </a:prstGeom>
            <a:ln>
              <a:tailEnd type="arrow"/>
            </a:ln>
          </p:spPr>
          <p:style>
            <a:lnRef idx="2">
              <a:schemeClr val="accent3">
                <a:shade val="50000"/>
              </a:schemeClr>
            </a:lnRef>
            <a:fillRef idx="1">
              <a:schemeClr val="accent3"/>
            </a:fillRef>
            <a:effectRef idx="0">
              <a:schemeClr val="accent3"/>
            </a:effectRef>
            <a:fontRef idx="minor">
              <a:schemeClr val="lt1"/>
            </a:fontRef>
          </p:style>
        </p:cxn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GB" sz="3200" b="1" dirty="0"/>
              <a:t>Terminologies: To understand chemistry of life!</a:t>
            </a:r>
          </a:p>
        </p:txBody>
      </p:sp>
      <p:sp>
        <p:nvSpPr>
          <p:cNvPr id="4" name="Slide Number Placeholder 3"/>
          <p:cNvSpPr>
            <a:spLocks noGrp="1"/>
          </p:cNvSpPr>
          <p:nvPr>
            <p:ph type="sldNum" sz="quarter" idx="12"/>
          </p:nvPr>
        </p:nvSpPr>
        <p:spPr/>
        <p:txBody>
          <a:bodyPr/>
          <a:lstStyle/>
          <a:p>
            <a:fld id="{4A824259-EC09-4C9F-9F84-F0AFA6108387}" type="slidenum">
              <a:rPr lang="en-US" smtClean="0"/>
              <a:pPr/>
              <a:t>8</a:t>
            </a:fld>
            <a:endParaRPr lang="en-US"/>
          </a:p>
        </p:txBody>
      </p:sp>
      <p:pic>
        <p:nvPicPr>
          <p:cNvPr id="6" name="Picture 2"/>
          <p:cNvPicPr>
            <a:picLocks noChangeAspect="1" noChangeArrowheads="1"/>
          </p:cNvPicPr>
          <p:nvPr/>
        </p:nvPicPr>
        <p:blipFill>
          <a:blip r:embed="rId2" cstate="print"/>
          <a:srcRect/>
          <a:stretch>
            <a:fillRect/>
          </a:stretch>
        </p:blipFill>
        <p:spPr bwMode="auto">
          <a:xfrm>
            <a:off x="609600" y="3276600"/>
            <a:ext cx="7086390" cy="3352800"/>
          </a:xfrm>
          <a:prstGeom prst="rect">
            <a:avLst/>
          </a:prstGeom>
          <a:noFill/>
          <a:ln w="9525">
            <a:noFill/>
            <a:miter lim="800000"/>
            <a:headEnd/>
            <a:tailEnd/>
          </a:ln>
        </p:spPr>
      </p:pic>
      <p:sp>
        <p:nvSpPr>
          <p:cNvPr id="7" name="Rectangle 6"/>
          <p:cNvSpPr/>
          <p:nvPr/>
        </p:nvSpPr>
        <p:spPr>
          <a:xfrm>
            <a:off x="128027" y="1219200"/>
            <a:ext cx="8887946" cy="156966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marL="0" indent="0" algn="ctr">
              <a:buFont typeface="Wingdings" pitchFamily="2" charset="2"/>
              <a:buNone/>
              <a:defRPr/>
            </a:pPr>
            <a:r>
              <a:rPr lang="en-US" sz="3200" b="1" kern="1200" spc="50" dirty="0">
                <a:ln w="11430"/>
                <a:gradFill>
                  <a:gsLst>
                    <a:gs pos="25000">
                      <a:schemeClr val="accent2">
                        <a:satMod val="155000"/>
                      </a:schemeClr>
                    </a:gs>
                    <a:gs pos="100000">
                      <a:schemeClr val="accent2">
                        <a:shade val="45000"/>
                        <a:satMod val="165000"/>
                      </a:schemeClr>
                    </a:gs>
                  </a:gsLst>
                  <a:lin ang="5400000"/>
                </a:gradFill>
              </a:rPr>
              <a:t>Atom</a:t>
            </a:r>
            <a:r>
              <a:rPr lang="en-US" sz="3200" b="1" spc="50" dirty="0">
                <a:ln w="11430"/>
                <a:gradFill>
                  <a:gsLst>
                    <a:gs pos="25000">
                      <a:schemeClr val="accent2">
                        <a:satMod val="155000"/>
                      </a:schemeClr>
                    </a:gs>
                    <a:gs pos="100000">
                      <a:schemeClr val="accent2">
                        <a:shade val="45000"/>
                        <a:satMod val="165000"/>
                      </a:schemeClr>
                    </a:gs>
                  </a:gsLst>
                  <a:lin ang="5400000"/>
                </a:gradFill>
              </a:rPr>
              <a:t>  </a:t>
            </a:r>
            <a:r>
              <a:rPr lang="en-US" sz="3200" b="1" kern="1200" spc="50" dirty="0">
                <a:ln w="11430"/>
              </a:rPr>
              <a:t>Electron</a:t>
            </a:r>
            <a:r>
              <a:rPr lang="en-US" sz="3200" b="1" kern="1200" spc="50" dirty="0">
                <a:ln w="11430"/>
                <a:gradFill>
                  <a:gsLst>
                    <a:gs pos="25000">
                      <a:schemeClr val="accent2">
                        <a:satMod val="155000"/>
                      </a:schemeClr>
                    </a:gs>
                    <a:gs pos="100000">
                      <a:schemeClr val="accent2">
                        <a:shade val="45000"/>
                        <a:satMod val="165000"/>
                      </a:schemeClr>
                    </a:gs>
                  </a:gsLst>
                  <a:lin ang="5400000"/>
                </a:gradFill>
              </a:rPr>
              <a:t> Proton </a:t>
            </a:r>
            <a:r>
              <a:rPr lang="en-US" sz="3200" b="1" kern="1200" spc="50" dirty="0">
                <a:ln w="11430"/>
                <a:solidFill>
                  <a:srgbClr val="002060"/>
                </a:solidFill>
              </a:rPr>
              <a:t>Atomic Number </a:t>
            </a:r>
            <a:r>
              <a:rPr lang="en-US" sz="3200" b="1" kern="1200" spc="50" dirty="0">
                <a:ln w="11430"/>
                <a:gradFill>
                  <a:gsLst>
                    <a:gs pos="25000">
                      <a:schemeClr val="accent2">
                        <a:satMod val="155000"/>
                      </a:schemeClr>
                    </a:gs>
                    <a:gs pos="100000">
                      <a:schemeClr val="accent2">
                        <a:shade val="45000"/>
                        <a:satMod val="165000"/>
                      </a:schemeClr>
                    </a:gs>
                  </a:gsLst>
                  <a:lin ang="5400000"/>
                </a:gradFill>
              </a:rPr>
              <a:t>Neutron</a:t>
            </a:r>
          </a:p>
          <a:p>
            <a:pPr algn="ctr">
              <a:buFont typeface="Wingdings" pitchFamily="2" charset="2"/>
              <a:buNone/>
              <a:defRPr/>
            </a:pPr>
            <a:r>
              <a:rPr lang="en-US" sz="3200" b="1" kern="1200" spc="50" dirty="0">
                <a:ln w="11430"/>
                <a:solidFill>
                  <a:srgbClr val="7030A0"/>
                </a:solidFill>
              </a:rPr>
              <a:t>Mass Number</a:t>
            </a:r>
            <a:r>
              <a:rPr lang="en-US" sz="3200" b="1" kern="1200" spc="50" dirty="0">
                <a:ln w="11430"/>
                <a:gradFill>
                  <a:gsLst>
                    <a:gs pos="25000">
                      <a:schemeClr val="accent2">
                        <a:satMod val="155000"/>
                      </a:schemeClr>
                    </a:gs>
                    <a:gs pos="100000">
                      <a:schemeClr val="accent2">
                        <a:shade val="45000"/>
                        <a:satMod val="165000"/>
                      </a:schemeClr>
                    </a:gs>
                  </a:gsLst>
                  <a:lin ang="5400000"/>
                </a:gradFill>
              </a:rPr>
              <a:t>  Nucleus </a:t>
            </a:r>
            <a:r>
              <a:rPr lang="en-US" sz="3200" b="1" kern="1200" spc="50" dirty="0">
                <a:ln w="11430"/>
                <a:solidFill>
                  <a:schemeClr val="accent3">
                    <a:lumMod val="50000"/>
                  </a:schemeClr>
                </a:solidFill>
              </a:rPr>
              <a:t>Charge </a:t>
            </a:r>
            <a:r>
              <a:rPr lang="en-US" sz="3200" b="1" kern="1200" spc="50" dirty="0">
                <a:ln w="11430"/>
                <a:gradFill>
                  <a:gsLst>
                    <a:gs pos="25000">
                      <a:schemeClr val="accent2">
                        <a:satMod val="155000"/>
                      </a:schemeClr>
                    </a:gs>
                    <a:gs pos="100000">
                      <a:schemeClr val="accent2">
                        <a:shade val="45000"/>
                        <a:satMod val="165000"/>
                      </a:schemeClr>
                    </a:gs>
                  </a:gsLst>
                  <a:lin ang="5400000"/>
                </a:gradFill>
              </a:rPr>
              <a:t> Element  </a:t>
            </a:r>
            <a:r>
              <a:rPr lang="en-US" sz="3200" b="1" spc="50" dirty="0">
                <a:ln w="11430"/>
              </a:rPr>
              <a:t>I</a:t>
            </a:r>
            <a:r>
              <a:rPr lang="en-US" sz="3200" b="1" kern="1200" spc="50" dirty="0">
                <a:ln w="11430"/>
              </a:rPr>
              <a:t>sotopes</a:t>
            </a:r>
          </a:p>
          <a:p>
            <a:pPr algn="ctr">
              <a:buFont typeface="Wingdings" pitchFamily="2" charset="2"/>
              <a:buNone/>
              <a:defRPr/>
            </a:pPr>
            <a:r>
              <a:rPr lang="en-US" sz="3200" b="1" kern="1200" spc="50" dirty="0">
                <a:ln w="11430"/>
                <a:gradFill>
                  <a:gsLst>
                    <a:gs pos="25000">
                      <a:schemeClr val="accent2">
                        <a:satMod val="155000"/>
                      </a:schemeClr>
                    </a:gs>
                    <a:gs pos="100000">
                      <a:schemeClr val="accent2">
                        <a:shade val="45000"/>
                        <a:satMod val="165000"/>
                      </a:schemeClr>
                    </a:gs>
                  </a:gsLst>
                  <a:lin ang="5400000"/>
                </a:gradFill>
              </a:rPr>
              <a:t>Radioisotopes </a:t>
            </a:r>
            <a:r>
              <a:rPr lang="en-US" sz="3200" b="1" kern="1200" spc="50" dirty="0">
                <a:ln w="11430"/>
                <a:solidFill>
                  <a:srgbClr val="00B0F0"/>
                </a:solidFill>
              </a:rPr>
              <a:t>Radioactive-decay </a:t>
            </a:r>
            <a:endParaRPr lang="en-GB" sz="3200" b="1" spc="50" dirty="0">
              <a:ln w="11430"/>
              <a:solidFill>
                <a:srgbClr val="00B0F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GB" b="1" dirty="0"/>
              <a:t>Terminologies</a:t>
            </a:r>
          </a:p>
        </p:txBody>
      </p:sp>
      <p:sp>
        <p:nvSpPr>
          <p:cNvPr id="3" name="Content Placeholder 2"/>
          <p:cNvSpPr>
            <a:spLocks noGrp="1"/>
          </p:cNvSpPr>
          <p:nvPr>
            <p:ph idx="1"/>
          </p:nvPr>
        </p:nvSpPr>
        <p:spPr>
          <a:xfrm>
            <a:off x="457200" y="990601"/>
            <a:ext cx="8229600" cy="3352800"/>
          </a:xfrm>
        </p:spPr>
        <p:txBody>
          <a:bodyPr>
            <a:normAutofit/>
          </a:bodyPr>
          <a:lstStyle/>
          <a:p>
            <a:r>
              <a:rPr lang="en-US" sz="2000" b="1" dirty="0"/>
              <a:t>Atom</a:t>
            </a:r>
            <a:r>
              <a:rPr lang="en-US" sz="2000" dirty="0"/>
              <a:t> : Particle that is a fundamental building block of matter</a:t>
            </a:r>
          </a:p>
          <a:p>
            <a:r>
              <a:rPr lang="en-US" sz="2000" b="1" dirty="0"/>
              <a:t>Atomic number:</a:t>
            </a:r>
            <a:r>
              <a:rPr lang="en-US" sz="2000" dirty="0"/>
              <a:t> Number of protons in the atomic nucleus; determines the element.</a:t>
            </a:r>
            <a:endParaRPr lang="en-GB" sz="2000" dirty="0"/>
          </a:p>
          <a:p>
            <a:r>
              <a:rPr lang="en-US" sz="2000" b="1" dirty="0"/>
              <a:t>Charge:</a:t>
            </a:r>
            <a:r>
              <a:rPr lang="en-US" sz="2000" dirty="0"/>
              <a:t> Electrical property of some subatomic particles. Opposite charges attract; like charges repel.</a:t>
            </a:r>
            <a:endParaRPr lang="en-GB" sz="2000" dirty="0"/>
          </a:p>
          <a:p>
            <a:r>
              <a:rPr lang="en-US" sz="2000" b="1" dirty="0"/>
              <a:t>Electron: </a:t>
            </a:r>
            <a:r>
              <a:rPr lang="en-US" sz="2000" dirty="0"/>
              <a:t>Negatively charged subatomic particle that occupies </a:t>
            </a:r>
            <a:r>
              <a:rPr lang="en-US" sz="2000" dirty="0" err="1"/>
              <a:t>orbitals</a:t>
            </a:r>
            <a:r>
              <a:rPr lang="en-US" sz="2000" dirty="0"/>
              <a:t> around the atomic nucleus.</a:t>
            </a:r>
            <a:r>
              <a:rPr lang="en-GB" sz="2000" dirty="0"/>
              <a:t> </a:t>
            </a:r>
          </a:p>
          <a:p>
            <a:r>
              <a:rPr lang="en-US" sz="2000" b="1" dirty="0"/>
              <a:t>Element</a:t>
            </a:r>
            <a:r>
              <a:rPr lang="en-US" sz="2000" dirty="0"/>
              <a:t>: A pure substance that consists only of atoms with the same number of protons.</a:t>
            </a:r>
            <a:endParaRPr lang="en-GB" sz="2000" dirty="0"/>
          </a:p>
          <a:p>
            <a:pPr>
              <a:buNone/>
            </a:pPr>
            <a:endParaRPr lang="en-GB"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9</a:t>
            </a:fld>
            <a:endParaRPr lang="en-US"/>
          </a:p>
        </p:txBody>
      </p:sp>
      <p:pic>
        <p:nvPicPr>
          <p:cNvPr id="5" name="Picture 3"/>
          <p:cNvPicPr>
            <a:picLocks noChangeAspect="1" noChangeArrowheads="1"/>
          </p:cNvPicPr>
          <p:nvPr/>
        </p:nvPicPr>
        <p:blipFill>
          <a:blip r:embed="rId2" cstate="print"/>
          <a:srcRect/>
          <a:stretch>
            <a:fillRect/>
          </a:stretch>
        </p:blipFill>
        <p:spPr bwMode="auto">
          <a:xfrm>
            <a:off x="2144006" y="4262437"/>
            <a:ext cx="4637794" cy="25193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GB" b="1" dirty="0"/>
              <a:t>Terminologies</a:t>
            </a:r>
          </a:p>
        </p:txBody>
      </p:sp>
      <p:sp>
        <p:nvSpPr>
          <p:cNvPr id="3" name="Content Placeholder 2"/>
          <p:cNvSpPr>
            <a:spLocks noGrp="1"/>
          </p:cNvSpPr>
          <p:nvPr>
            <p:ph idx="1"/>
          </p:nvPr>
        </p:nvSpPr>
        <p:spPr>
          <a:xfrm>
            <a:off x="457200" y="1036637"/>
            <a:ext cx="8229600" cy="4525963"/>
          </a:xfrm>
        </p:spPr>
        <p:txBody>
          <a:bodyPr>
            <a:normAutofit/>
          </a:bodyPr>
          <a:lstStyle/>
          <a:p>
            <a:r>
              <a:rPr lang="en-US" sz="2200" b="1" dirty="0"/>
              <a:t>Isotopes:</a:t>
            </a:r>
            <a:r>
              <a:rPr lang="en-US" sz="2200" dirty="0"/>
              <a:t> Forms of an element that differ in the number of neutrons their atoms carry</a:t>
            </a:r>
            <a:endParaRPr lang="en-GB" sz="2200" dirty="0"/>
          </a:p>
          <a:p>
            <a:r>
              <a:rPr lang="en-US" sz="2200" b="1" dirty="0"/>
              <a:t>Mass number: </a:t>
            </a:r>
            <a:r>
              <a:rPr lang="en-US" sz="2200" dirty="0"/>
              <a:t>Total number of protons and neutrons in the nucleus of an element's atoms.</a:t>
            </a:r>
            <a:endParaRPr lang="en-GB" sz="2200" dirty="0"/>
          </a:p>
          <a:p>
            <a:r>
              <a:rPr lang="en-US" sz="2200" b="1" dirty="0"/>
              <a:t>Neutron:</a:t>
            </a:r>
            <a:r>
              <a:rPr lang="en-US" sz="2200" dirty="0"/>
              <a:t>  Uncharged subatomic particle in the atomic nucleus.</a:t>
            </a:r>
            <a:endParaRPr lang="en-GB" sz="2200" dirty="0"/>
          </a:p>
          <a:p>
            <a:r>
              <a:rPr lang="en-US" sz="2200" b="1" dirty="0"/>
              <a:t>Nucleus</a:t>
            </a:r>
            <a:r>
              <a:rPr lang="en-US" sz="2200" dirty="0"/>
              <a:t>: Core of an atom; occupied by protons and neutrons.</a:t>
            </a:r>
            <a:endParaRPr lang="en-GB" sz="2200" dirty="0"/>
          </a:p>
          <a:p>
            <a:r>
              <a:rPr lang="en-US" sz="2200" b="1" dirty="0"/>
              <a:t>Proton: </a:t>
            </a:r>
            <a:r>
              <a:rPr lang="en-US" sz="2200" dirty="0"/>
              <a:t>Positively charged subatomic particle that occurs in the nucleus of all atoms.</a:t>
            </a:r>
            <a:endParaRPr lang="en-GB" sz="2200" dirty="0"/>
          </a:p>
          <a:p>
            <a:r>
              <a:rPr lang="en-US" sz="2200" b="1" dirty="0"/>
              <a:t>Radioactive decay: </a:t>
            </a:r>
            <a:r>
              <a:rPr lang="en-US" sz="2200" dirty="0"/>
              <a:t>Process by which atoms of a radioisotope spontaneously emit energy and subatomic particles when their nucleus disintegrates.</a:t>
            </a:r>
            <a:endParaRPr lang="en-GB" sz="2200" dirty="0"/>
          </a:p>
          <a:p>
            <a:r>
              <a:rPr lang="en-US" sz="2200" b="1" dirty="0"/>
              <a:t>Radioisotope: </a:t>
            </a:r>
            <a:r>
              <a:rPr lang="en-US" sz="2200" dirty="0"/>
              <a:t>Isotope with an unstable nucleus.</a:t>
            </a:r>
            <a:endParaRPr lang="en-GB" sz="2200" dirty="0"/>
          </a:p>
          <a:p>
            <a:endParaRPr lang="en-GB"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10</a:t>
            </a:fld>
            <a:endParaRPr lang="en-US"/>
          </a:p>
        </p:txBody>
      </p:sp>
      <p:sp>
        <p:nvSpPr>
          <p:cNvPr id="5" name="Rectangle 4"/>
          <p:cNvSpPr/>
          <p:nvPr/>
        </p:nvSpPr>
        <p:spPr>
          <a:xfrm>
            <a:off x="3312168" y="5955268"/>
            <a:ext cx="4445191" cy="646331"/>
          </a:xfrm>
          <a:prstGeom prst="rect">
            <a:avLst/>
          </a:prstGeom>
        </p:spPr>
        <p:txBody>
          <a:bodyPr wrap="none">
            <a:spAutoFit/>
          </a:bodyPr>
          <a:lstStyle/>
          <a:p>
            <a:r>
              <a:rPr lang="en-US"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Let’s learn in details….</a:t>
            </a:r>
            <a:endParaRPr lang="en-GB" sz="36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Atomic Structure</a:t>
            </a:r>
          </a:p>
        </p:txBody>
      </p:sp>
      <p:pic>
        <p:nvPicPr>
          <p:cNvPr id="20482" name="Picture 2"/>
          <p:cNvPicPr>
            <a:picLocks noChangeAspect="1" noChangeArrowheads="1"/>
          </p:cNvPicPr>
          <p:nvPr/>
        </p:nvPicPr>
        <p:blipFill>
          <a:blip r:embed="rId3" cstate="print"/>
          <a:srcRect l="25000" t="38542" r="40625" b="32291"/>
          <a:stretch>
            <a:fillRect/>
          </a:stretch>
        </p:blipFill>
        <p:spPr bwMode="auto">
          <a:xfrm>
            <a:off x="1066800" y="2057400"/>
            <a:ext cx="7086600" cy="3607724"/>
          </a:xfrm>
          <a:prstGeom prst="rect">
            <a:avLst/>
          </a:prstGeom>
          <a:noFill/>
          <a:ln w="9525">
            <a:noFill/>
            <a:miter lim="800000"/>
            <a:headEnd/>
            <a:tailEnd/>
          </a:ln>
          <a:effectLst/>
        </p:spPr>
      </p:pic>
      <p:sp>
        <p:nvSpPr>
          <p:cNvPr id="5" name="TextBox 4"/>
          <p:cNvSpPr txBox="1"/>
          <p:nvPr/>
        </p:nvSpPr>
        <p:spPr>
          <a:xfrm>
            <a:off x="188693" y="1371600"/>
            <a:ext cx="2478307" cy="461665"/>
          </a:xfrm>
          <a:prstGeom prst="rect">
            <a:avLst/>
          </a:prstGeom>
          <a:noFill/>
        </p:spPr>
        <p:txBody>
          <a:bodyPr wrap="none" rtlCol="0">
            <a:spAutoFit/>
          </a:bodyPr>
          <a:lstStyle/>
          <a:p>
            <a:r>
              <a:rPr lang="en-US" sz="2400" b="1" dirty="0"/>
              <a:t>Atoms are neutral</a:t>
            </a:r>
          </a:p>
        </p:txBody>
      </p:sp>
      <p:sp>
        <p:nvSpPr>
          <p:cNvPr id="6" name="TextBox 5"/>
          <p:cNvSpPr txBox="1"/>
          <p:nvPr/>
        </p:nvSpPr>
        <p:spPr>
          <a:xfrm>
            <a:off x="3276600" y="1447800"/>
            <a:ext cx="4848122" cy="400110"/>
          </a:xfrm>
          <a:prstGeom prst="rect">
            <a:avLst/>
          </a:prstGeom>
          <a:noFill/>
        </p:spPr>
        <p:txBody>
          <a:bodyPr wrap="none" rtlCol="0">
            <a:spAutoFit/>
          </a:bodyPr>
          <a:lstStyle/>
          <a:p>
            <a:r>
              <a:rPr lang="en-US" sz="2000" b="1" dirty="0"/>
              <a:t>Numbers of e- and p+ are same in one atom</a:t>
            </a:r>
          </a:p>
        </p:txBody>
      </p:sp>
      <p:sp>
        <p:nvSpPr>
          <p:cNvPr id="7" name="TextBox 6"/>
          <p:cNvSpPr txBox="1"/>
          <p:nvPr/>
        </p:nvSpPr>
        <p:spPr>
          <a:xfrm>
            <a:off x="838200" y="6172200"/>
            <a:ext cx="7391400" cy="400110"/>
          </a:xfrm>
          <a:prstGeom prst="rect">
            <a:avLst/>
          </a:prstGeom>
          <a:noFill/>
        </p:spPr>
        <p:txBody>
          <a:bodyPr wrap="square" rtlCol="0">
            <a:spAutoFit/>
          </a:bodyPr>
          <a:lstStyle/>
          <a:p>
            <a:r>
              <a:rPr lang="en-US" sz="2000" b="1" dirty="0">
                <a:solidFill>
                  <a:srgbClr val="0070C0"/>
                </a:solidFill>
              </a:rPr>
              <a:t>Number of proton is fixed for an atom of an element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Bottom)">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slide(fromBottom)">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3" cstate="print"/>
          <a:srcRect t="16479"/>
          <a:stretch>
            <a:fillRect/>
          </a:stretch>
        </p:blipFill>
        <p:spPr bwMode="auto">
          <a:xfrm>
            <a:off x="1219200" y="1981200"/>
            <a:ext cx="6781800" cy="4248150"/>
          </a:xfrm>
          <a:prstGeom prst="rect">
            <a:avLst/>
          </a:prstGeom>
          <a:noFill/>
          <a:ln w="9525">
            <a:noFill/>
            <a:miter lim="800000"/>
            <a:headEnd/>
            <a:tailEnd/>
          </a:ln>
          <a:effectLst/>
        </p:spPr>
      </p:pic>
      <p:sp>
        <p:nvSpPr>
          <p:cNvPr id="3" name="TextBox 2"/>
          <p:cNvSpPr txBox="1"/>
          <p:nvPr/>
        </p:nvSpPr>
        <p:spPr>
          <a:xfrm>
            <a:off x="2743200" y="457200"/>
            <a:ext cx="3200400"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b="1" dirty="0"/>
              <a:t>ISOTOPES</a:t>
            </a:r>
          </a:p>
        </p:txBody>
      </p:sp>
      <p:sp>
        <p:nvSpPr>
          <p:cNvPr id="4" name="TextBox 3"/>
          <p:cNvSpPr txBox="1"/>
          <p:nvPr/>
        </p:nvSpPr>
        <p:spPr>
          <a:xfrm>
            <a:off x="2743200" y="1219200"/>
            <a:ext cx="3240439" cy="400110"/>
          </a:xfrm>
          <a:prstGeom prst="rect">
            <a:avLst/>
          </a:prstGeom>
          <a:noFill/>
        </p:spPr>
        <p:txBody>
          <a:bodyPr wrap="none" rtlCol="0">
            <a:spAutoFit/>
          </a:bodyPr>
          <a:lstStyle/>
          <a:p>
            <a:r>
              <a:rPr lang="en-US" sz="2000" b="1" dirty="0"/>
              <a:t>Differ in numbers of neutron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Ions</a:t>
            </a:r>
          </a:p>
        </p:txBody>
      </p:sp>
      <p:sp>
        <p:nvSpPr>
          <p:cNvPr id="3" name="Content Placeholder 2"/>
          <p:cNvSpPr>
            <a:spLocks noGrp="1"/>
          </p:cNvSpPr>
          <p:nvPr>
            <p:ph idx="1"/>
          </p:nvPr>
        </p:nvSpPr>
        <p:spPr>
          <a:xfrm>
            <a:off x="457200" y="1600200"/>
            <a:ext cx="8229600" cy="5029200"/>
          </a:xfrm>
        </p:spPr>
        <p:txBody>
          <a:bodyPr>
            <a:normAutofit fontScale="92500" lnSpcReduction="20000"/>
          </a:bodyPr>
          <a:lstStyle/>
          <a:p>
            <a:pPr>
              <a:lnSpc>
                <a:spcPct val="120000"/>
              </a:lnSpc>
              <a:spcBef>
                <a:spcPts val="0"/>
              </a:spcBef>
              <a:spcAft>
                <a:spcPts val="1200"/>
              </a:spcAft>
            </a:pPr>
            <a:r>
              <a:rPr lang="en-US" dirty="0"/>
              <a:t>An Ion is an atom or a group of atoms that has a net </a:t>
            </a:r>
            <a:r>
              <a:rPr lang="en-US" b="1" i="1" dirty="0"/>
              <a:t>positive</a:t>
            </a:r>
            <a:r>
              <a:rPr lang="en-US" dirty="0"/>
              <a:t> or </a:t>
            </a:r>
            <a:r>
              <a:rPr lang="en-US" b="1" i="1" dirty="0"/>
              <a:t>negative</a:t>
            </a:r>
            <a:r>
              <a:rPr lang="en-US" dirty="0"/>
              <a:t> charge.</a:t>
            </a:r>
          </a:p>
          <a:p>
            <a:pPr>
              <a:lnSpc>
                <a:spcPct val="120000"/>
              </a:lnSpc>
              <a:spcBef>
                <a:spcPts val="0"/>
              </a:spcBef>
              <a:spcAft>
                <a:spcPts val="1200"/>
              </a:spcAft>
            </a:pPr>
            <a:r>
              <a:rPr lang="en-US" dirty="0"/>
              <a:t>The number of “Proton” in the nucleus remains same during chemical reaction.</a:t>
            </a:r>
          </a:p>
          <a:p>
            <a:pPr>
              <a:lnSpc>
                <a:spcPct val="120000"/>
              </a:lnSpc>
              <a:spcBef>
                <a:spcPts val="0"/>
              </a:spcBef>
              <a:spcAft>
                <a:spcPts val="1200"/>
              </a:spcAft>
            </a:pPr>
            <a:r>
              <a:rPr lang="en-US" dirty="0"/>
              <a:t>“electrons” are lost/gained during a reaction. </a:t>
            </a:r>
          </a:p>
          <a:p>
            <a:pPr lvl="1">
              <a:lnSpc>
                <a:spcPct val="120000"/>
              </a:lnSpc>
              <a:spcBef>
                <a:spcPts val="0"/>
              </a:spcBef>
              <a:spcAft>
                <a:spcPts val="1200"/>
              </a:spcAft>
            </a:pPr>
            <a:r>
              <a:rPr lang="en-US" dirty="0"/>
              <a:t>The loss of 1/more electrons from a neutral atom results “</a:t>
            </a:r>
            <a:r>
              <a:rPr lang="en-US" dirty="0" err="1"/>
              <a:t>cation</a:t>
            </a:r>
            <a:r>
              <a:rPr lang="en-US" dirty="0"/>
              <a:t>” : an ion with (+) charge .</a:t>
            </a:r>
          </a:p>
          <a:p>
            <a:pPr lvl="1">
              <a:lnSpc>
                <a:spcPct val="120000"/>
              </a:lnSpc>
              <a:spcBef>
                <a:spcPts val="0"/>
              </a:spcBef>
              <a:spcAft>
                <a:spcPts val="1200"/>
              </a:spcAft>
            </a:pPr>
            <a:r>
              <a:rPr lang="en-US" dirty="0"/>
              <a:t>The gain of 1/more electrons from a neutral atom results “anion”: an ion with (-) charge.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cstate="print"/>
          <a:srcRect/>
          <a:stretch>
            <a:fillRect/>
          </a:stretch>
        </p:blipFill>
        <p:spPr bwMode="auto">
          <a:xfrm>
            <a:off x="1371600" y="762000"/>
            <a:ext cx="6303125" cy="4114800"/>
          </a:xfrm>
          <a:prstGeom prst="rect">
            <a:avLst/>
          </a:prstGeom>
          <a:noFill/>
          <a:ln w="9525">
            <a:noFill/>
            <a:miter lim="800000"/>
            <a:headEnd/>
            <a:tailEnd/>
          </a:ln>
          <a:effectLst/>
        </p:spPr>
      </p:pic>
      <p:grpSp>
        <p:nvGrpSpPr>
          <p:cNvPr id="2" name="Group 28"/>
          <p:cNvGrpSpPr>
            <a:grpSpLocks/>
          </p:cNvGrpSpPr>
          <p:nvPr/>
        </p:nvGrpSpPr>
        <p:grpSpPr bwMode="auto">
          <a:xfrm>
            <a:off x="1447800" y="5029200"/>
            <a:ext cx="2895600" cy="1143000"/>
            <a:chOff x="3552" y="1776"/>
            <a:chExt cx="1824" cy="720"/>
          </a:xfrm>
        </p:grpSpPr>
        <p:grpSp>
          <p:nvGrpSpPr>
            <p:cNvPr id="3" name="Group 11"/>
            <p:cNvGrpSpPr>
              <a:grpSpLocks/>
            </p:cNvGrpSpPr>
            <p:nvPr/>
          </p:nvGrpSpPr>
          <p:grpSpPr bwMode="auto">
            <a:xfrm>
              <a:off x="3552" y="1776"/>
              <a:ext cx="720" cy="720"/>
              <a:chOff x="3024" y="2160"/>
              <a:chExt cx="720" cy="720"/>
            </a:xfrm>
          </p:grpSpPr>
          <p:sp>
            <p:nvSpPr>
              <p:cNvPr id="6" name="Oval 8"/>
              <p:cNvSpPr>
                <a:spLocks noChangeArrowheads="1"/>
              </p:cNvSpPr>
              <p:nvPr/>
            </p:nvSpPr>
            <p:spPr bwMode="auto">
              <a:xfrm>
                <a:off x="3024" y="2160"/>
                <a:ext cx="720" cy="720"/>
              </a:xfrm>
              <a:prstGeom prst="ellipse">
                <a:avLst/>
              </a:prstGeom>
              <a:solidFill>
                <a:schemeClr val="accent2">
                  <a:lumMod val="75000"/>
                </a:schemeClr>
              </a:solidFill>
              <a:ln w="9525">
                <a:noFill/>
                <a:round/>
                <a:headEnd/>
                <a:tailEnd/>
              </a:ln>
            </p:spPr>
            <p:txBody>
              <a:bodyPr wrap="none" anchor="ctr"/>
              <a:lstStyle/>
              <a:p>
                <a:endParaRPr lang="en-US"/>
              </a:p>
            </p:txBody>
          </p:sp>
          <p:sp>
            <p:nvSpPr>
              <p:cNvPr id="7" name="Text Box 9"/>
              <p:cNvSpPr txBox="1">
                <a:spLocks noChangeArrowheads="1"/>
              </p:cNvSpPr>
              <p:nvPr/>
            </p:nvSpPr>
            <p:spPr bwMode="auto">
              <a:xfrm>
                <a:off x="3138" y="2357"/>
                <a:ext cx="492" cy="327"/>
              </a:xfrm>
              <a:prstGeom prst="rect">
                <a:avLst/>
              </a:prstGeom>
              <a:noFill/>
              <a:ln w="9525">
                <a:noFill/>
                <a:miter lim="800000"/>
                <a:headEnd/>
                <a:tailEnd/>
              </a:ln>
            </p:spPr>
            <p:txBody>
              <a:bodyPr wrap="none">
                <a:spAutoFit/>
              </a:bodyPr>
              <a:lstStyle/>
              <a:p>
                <a:r>
                  <a:rPr lang="en-US"/>
                  <a:t>Na</a:t>
                </a:r>
                <a:r>
                  <a:rPr lang="en-US" baseline="30000"/>
                  <a:t>+</a:t>
                </a:r>
                <a:endParaRPr lang="en-US"/>
              </a:p>
            </p:txBody>
          </p:sp>
        </p:grpSp>
        <p:sp>
          <p:nvSpPr>
            <p:cNvPr id="5" name="Text Box 21"/>
            <p:cNvSpPr txBox="1">
              <a:spLocks noChangeArrowheads="1"/>
            </p:cNvSpPr>
            <p:nvPr/>
          </p:nvSpPr>
          <p:spPr bwMode="auto">
            <a:xfrm>
              <a:off x="4389" y="1910"/>
              <a:ext cx="987" cy="442"/>
            </a:xfrm>
            <a:prstGeom prst="rect">
              <a:avLst/>
            </a:prstGeom>
            <a:noFill/>
            <a:ln w="9525">
              <a:noFill/>
              <a:miter lim="800000"/>
              <a:headEnd/>
              <a:tailEnd/>
            </a:ln>
          </p:spPr>
          <p:txBody>
            <a:bodyPr wrap="none">
              <a:spAutoFit/>
            </a:bodyPr>
            <a:lstStyle/>
            <a:p>
              <a:r>
                <a:rPr lang="en-US" sz="2000" dirty="0"/>
                <a:t>11 protons</a:t>
              </a:r>
            </a:p>
            <a:p>
              <a:r>
                <a:rPr lang="en-US" sz="2000" dirty="0"/>
                <a:t>10 electrons</a:t>
              </a:r>
            </a:p>
          </p:txBody>
        </p:sp>
      </p:grpSp>
      <p:grpSp>
        <p:nvGrpSpPr>
          <p:cNvPr id="4" name="Group 30"/>
          <p:cNvGrpSpPr>
            <a:grpSpLocks/>
          </p:cNvGrpSpPr>
          <p:nvPr/>
        </p:nvGrpSpPr>
        <p:grpSpPr bwMode="auto">
          <a:xfrm>
            <a:off x="5181600" y="4953000"/>
            <a:ext cx="3048000" cy="1447800"/>
            <a:chOff x="3456" y="3360"/>
            <a:chExt cx="1920" cy="912"/>
          </a:xfrm>
        </p:grpSpPr>
        <p:grpSp>
          <p:nvGrpSpPr>
            <p:cNvPr id="8" name="Group 24"/>
            <p:cNvGrpSpPr>
              <a:grpSpLocks/>
            </p:cNvGrpSpPr>
            <p:nvPr/>
          </p:nvGrpSpPr>
          <p:grpSpPr bwMode="auto">
            <a:xfrm>
              <a:off x="3456" y="3360"/>
              <a:ext cx="912" cy="912"/>
              <a:chOff x="3456" y="3360"/>
              <a:chExt cx="912" cy="912"/>
            </a:xfrm>
          </p:grpSpPr>
          <p:sp>
            <p:nvSpPr>
              <p:cNvPr id="11" name="Oval 18"/>
              <p:cNvSpPr>
                <a:spLocks noChangeArrowheads="1"/>
              </p:cNvSpPr>
              <p:nvPr/>
            </p:nvSpPr>
            <p:spPr bwMode="auto">
              <a:xfrm>
                <a:off x="3456" y="3360"/>
                <a:ext cx="912" cy="912"/>
              </a:xfrm>
              <a:prstGeom prst="ellipse">
                <a:avLst/>
              </a:prstGeom>
              <a:solidFill>
                <a:schemeClr val="accent6">
                  <a:lumMod val="60000"/>
                  <a:lumOff val="40000"/>
                </a:schemeClr>
              </a:solidFill>
              <a:ln w="9525">
                <a:noFill/>
                <a:round/>
                <a:headEnd/>
                <a:tailEnd/>
              </a:ln>
            </p:spPr>
            <p:txBody>
              <a:bodyPr wrap="none" anchor="ctr"/>
              <a:lstStyle/>
              <a:p>
                <a:endParaRPr lang="en-US"/>
              </a:p>
            </p:txBody>
          </p:sp>
          <p:sp>
            <p:nvSpPr>
              <p:cNvPr id="12" name="Text Box 19"/>
              <p:cNvSpPr txBox="1">
                <a:spLocks noChangeArrowheads="1"/>
              </p:cNvSpPr>
              <p:nvPr/>
            </p:nvSpPr>
            <p:spPr bwMode="auto">
              <a:xfrm>
                <a:off x="3734" y="3629"/>
                <a:ext cx="379" cy="327"/>
              </a:xfrm>
              <a:prstGeom prst="rect">
                <a:avLst/>
              </a:prstGeom>
              <a:noFill/>
              <a:ln w="9525">
                <a:noFill/>
                <a:miter lim="800000"/>
                <a:headEnd/>
                <a:tailEnd/>
              </a:ln>
            </p:spPr>
            <p:txBody>
              <a:bodyPr wrap="none">
                <a:spAutoFit/>
              </a:bodyPr>
              <a:lstStyle/>
              <a:p>
                <a:r>
                  <a:rPr lang="en-US"/>
                  <a:t>Cl</a:t>
                </a:r>
                <a:r>
                  <a:rPr lang="en-US" baseline="30000"/>
                  <a:t>-</a:t>
                </a:r>
                <a:endParaRPr lang="en-US"/>
              </a:p>
            </p:txBody>
          </p:sp>
        </p:grpSp>
        <p:sp>
          <p:nvSpPr>
            <p:cNvPr id="10" name="Text Box 26"/>
            <p:cNvSpPr txBox="1">
              <a:spLocks noChangeArrowheads="1"/>
            </p:cNvSpPr>
            <p:nvPr/>
          </p:nvSpPr>
          <p:spPr bwMode="auto">
            <a:xfrm>
              <a:off x="4389" y="3590"/>
              <a:ext cx="987" cy="442"/>
            </a:xfrm>
            <a:prstGeom prst="rect">
              <a:avLst/>
            </a:prstGeom>
            <a:noFill/>
            <a:ln w="9525">
              <a:noFill/>
              <a:miter lim="800000"/>
              <a:headEnd/>
              <a:tailEnd/>
            </a:ln>
          </p:spPr>
          <p:txBody>
            <a:bodyPr wrap="none">
              <a:spAutoFit/>
            </a:bodyPr>
            <a:lstStyle/>
            <a:p>
              <a:r>
                <a:rPr lang="en-US" sz="2000"/>
                <a:t>17 protons</a:t>
              </a:r>
            </a:p>
            <a:p>
              <a:r>
                <a:rPr lang="en-US" sz="2000"/>
                <a:t>18 electrons</a:t>
              </a:r>
            </a:p>
          </p:txBody>
        </p:sp>
      </p:grpSp>
      <p:sp>
        <p:nvSpPr>
          <p:cNvPr id="13" name="TextBox 12"/>
          <p:cNvSpPr txBox="1"/>
          <p:nvPr/>
        </p:nvSpPr>
        <p:spPr>
          <a:xfrm>
            <a:off x="609600" y="5867400"/>
            <a:ext cx="790088" cy="369332"/>
          </a:xfrm>
          <a:prstGeom prst="rect">
            <a:avLst/>
          </a:prstGeom>
          <a:noFill/>
        </p:spPr>
        <p:txBody>
          <a:bodyPr wrap="none" rtlCol="0">
            <a:spAutoFit/>
          </a:bodyPr>
          <a:lstStyle/>
          <a:p>
            <a:r>
              <a:rPr lang="en-US" dirty="0" err="1"/>
              <a:t>Cation</a:t>
            </a:r>
            <a:endParaRPr lang="en-US" dirty="0"/>
          </a:p>
        </p:txBody>
      </p:sp>
      <p:sp>
        <p:nvSpPr>
          <p:cNvPr id="14" name="TextBox 13"/>
          <p:cNvSpPr txBox="1"/>
          <p:nvPr/>
        </p:nvSpPr>
        <p:spPr>
          <a:xfrm>
            <a:off x="8153400" y="5867400"/>
            <a:ext cx="713657" cy="369332"/>
          </a:xfrm>
          <a:prstGeom prst="rect">
            <a:avLst/>
          </a:prstGeom>
          <a:noFill/>
        </p:spPr>
        <p:txBody>
          <a:bodyPr wrap="none" rtlCol="0">
            <a:spAutoFit/>
          </a:bodyPr>
          <a:lstStyle/>
          <a:p>
            <a:r>
              <a:rPr lang="en-US" dirty="0"/>
              <a:t>anion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Molecule </a:t>
            </a:r>
          </a:p>
        </p:txBody>
      </p:sp>
      <p:sp>
        <p:nvSpPr>
          <p:cNvPr id="3" name="Content Placeholder 2"/>
          <p:cNvSpPr>
            <a:spLocks noGrp="1"/>
          </p:cNvSpPr>
          <p:nvPr>
            <p:ph idx="1"/>
          </p:nvPr>
        </p:nvSpPr>
        <p:spPr/>
        <p:txBody>
          <a:bodyPr>
            <a:normAutofit fontScale="77500" lnSpcReduction="20000"/>
          </a:bodyPr>
          <a:lstStyle/>
          <a:p>
            <a:pPr>
              <a:lnSpc>
                <a:spcPct val="150000"/>
              </a:lnSpc>
            </a:pPr>
            <a:r>
              <a:rPr lang="en-US" b="1" dirty="0"/>
              <a:t>Molecule</a:t>
            </a:r>
            <a:r>
              <a:rPr lang="en-US" dirty="0"/>
              <a:t> is an aggregate of at least two atoms in a definite arrangement held together by chemical forces (bonds)</a:t>
            </a:r>
          </a:p>
          <a:p>
            <a:pPr>
              <a:lnSpc>
                <a:spcPct val="150000"/>
              </a:lnSpc>
            </a:pPr>
            <a:r>
              <a:rPr lang="en-US" dirty="0"/>
              <a:t>Molecules can contain atoms of same elements or different elements.</a:t>
            </a:r>
          </a:p>
          <a:p>
            <a:pPr>
              <a:lnSpc>
                <a:spcPct val="150000"/>
              </a:lnSpc>
            </a:pPr>
            <a:r>
              <a:rPr lang="en-US" dirty="0"/>
              <a:t>They should join in a fixed ratio.</a:t>
            </a:r>
          </a:p>
          <a:p>
            <a:pPr>
              <a:lnSpc>
                <a:spcPct val="150000"/>
              </a:lnSpc>
            </a:pPr>
            <a:r>
              <a:rPr lang="en-US" b="1" dirty="0"/>
              <a:t>Electrically </a:t>
            </a:r>
            <a:r>
              <a:rPr lang="en-US" b="1" i="1" dirty="0"/>
              <a:t>neutral</a:t>
            </a:r>
            <a:r>
              <a:rPr lang="en-US" b="1" dirty="0"/>
              <a:t> like atom.</a:t>
            </a:r>
          </a:p>
          <a:p>
            <a:pPr>
              <a:lnSpc>
                <a:spcPct val="150000"/>
              </a:lnSpc>
            </a:pPr>
            <a:r>
              <a:rPr lang="en-US" b="1" dirty="0"/>
              <a:t>Example: O</a:t>
            </a:r>
            <a:r>
              <a:rPr lang="en-US" b="1" baseline="-25000" dirty="0"/>
              <a:t>2</a:t>
            </a:r>
            <a:r>
              <a:rPr lang="en-US" b="1" dirty="0"/>
              <a:t>, H</a:t>
            </a:r>
            <a:r>
              <a:rPr lang="en-US" b="1" baseline="-25000" dirty="0"/>
              <a:t>2</a:t>
            </a:r>
            <a:r>
              <a:rPr lang="en-US" b="1" dirty="0"/>
              <a:t>, H</a:t>
            </a:r>
            <a:r>
              <a:rPr lang="en-US" b="1" baseline="-25000" dirty="0"/>
              <a:t>2</a:t>
            </a:r>
            <a:r>
              <a:rPr lang="en-US" b="1" dirty="0"/>
              <a:t>O, C</a:t>
            </a:r>
            <a:r>
              <a:rPr lang="en-US" b="1" baseline="-25000" dirty="0"/>
              <a:t>6</a:t>
            </a:r>
            <a:r>
              <a:rPr lang="en-US" b="1" dirty="0"/>
              <a:t>H</a:t>
            </a:r>
            <a:r>
              <a:rPr lang="en-US" b="1" baseline="-25000" dirty="0"/>
              <a:t>12</a:t>
            </a:r>
            <a:r>
              <a:rPr lang="en-US" b="1" dirty="0"/>
              <a:t>O</a:t>
            </a:r>
            <a:r>
              <a:rPr lang="en-US" b="1" baseline="-25000" dirty="0"/>
              <a:t>6</a:t>
            </a:r>
            <a:r>
              <a:rPr lang="en-US" b="1" dirty="0"/>
              <a:t> etc.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p:nvPr/>
        </p:nvGrpSpPr>
        <p:grpSpPr>
          <a:xfrm>
            <a:off x="914400" y="533400"/>
            <a:ext cx="7543800" cy="4191000"/>
            <a:chOff x="1143000" y="1752600"/>
            <a:chExt cx="6553200" cy="3276600"/>
          </a:xfrm>
        </p:grpSpPr>
        <p:pic>
          <p:nvPicPr>
            <p:cNvPr id="25602" name="Picture 2"/>
            <p:cNvPicPr>
              <a:picLocks noChangeAspect="1" noChangeArrowheads="1"/>
            </p:cNvPicPr>
            <p:nvPr/>
          </p:nvPicPr>
          <p:blipFill>
            <a:blip r:embed="rId2" cstate="print"/>
            <a:srcRect r="24779" b="55874"/>
            <a:stretch>
              <a:fillRect/>
            </a:stretch>
          </p:blipFill>
          <p:spPr bwMode="auto">
            <a:xfrm>
              <a:off x="1143000" y="1752600"/>
              <a:ext cx="6553200" cy="2133600"/>
            </a:xfrm>
            <a:prstGeom prst="rect">
              <a:avLst/>
            </a:prstGeom>
            <a:noFill/>
            <a:ln w="9525">
              <a:noFill/>
              <a:miter lim="800000"/>
              <a:headEnd/>
              <a:tailEnd/>
            </a:ln>
            <a:effectLst/>
          </p:spPr>
        </p:pic>
        <p:sp>
          <p:nvSpPr>
            <p:cNvPr id="3" name="TextBox 2"/>
            <p:cNvSpPr txBox="1"/>
            <p:nvPr/>
          </p:nvSpPr>
          <p:spPr>
            <a:xfrm>
              <a:off x="1752600" y="4267200"/>
              <a:ext cx="782522"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dirty="0"/>
                <a:t>Atoms</a:t>
              </a:r>
            </a:p>
          </p:txBody>
        </p:sp>
        <p:sp>
          <p:nvSpPr>
            <p:cNvPr id="4" name="TextBox 3"/>
            <p:cNvSpPr txBox="1"/>
            <p:nvPr/>
          </p:nvSpPr>
          <p:spPr>
            <a:xfrm>
              <a:off x="3733800" y="4105870"/>
              <a:ext cx="12954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Molecules of an element</a:t>
              </a:r>
            </a:p>
          </p:txBody>
        </p:sp>
        <p:sp>
          <p:nvSpPr>
            <p:cNvPr id="5" name="TextBox 4"/>
            <p:cNvSpPr txBox="1"/>
            <p:nvPr/>
          </p:nvSpPr>
          <p:spPr>
            <a:xfrm>
              <a:off x="5943600" y="4038600"/>
              <a:ext cx="129540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dirty="0"/>
                <a:t>Molecules of a compound</a:t>
              </a:r>
            </a:p>
          </p:txBody>
        </p:sp>
      </p:grpSp>
      <p:sp>
        <p:nvSpPr>
          <p:cNvPr id="9" name="Rectangle 8"/>
          <p:cNvSpPr/>
          <p:nvPr/>
        </p:nvSpPr>
        <p:spPr>
          <a:xfrm>
            <a:off x="467350" y="5221069"/>
            <a:ext cx="8209299" cy="523220"/>
          </a:xfrm>
          <a:prstGeom prst="rect">
            <a:avLst/>
          </a:prstGeom>
          <a:noFill/>
        </p:spPr>
        <p:txBody>
          <a:bodyPr wrap="none" lIns="91440" tIns="45720" rIns="91440" bIns="45720">
            <a:spAutoFit/>
          </a:bodyPr>
          <a:lstStyle/>
          <a:p>
            <a:pPr algn="ctr"/>
            <a:r>
              <a:rPr lang="en-US"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Look carefully how element and compound differ….??</a:t>
            </a:r>
            <a:endParaRPr lang="en-GB" sz="2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dirty="0"/>
              <a:t>Element vs. Compound</a:t>
            </a:r>
          </a:p>
        </p:txBody>
      </p:sp>
      <p:sp>
        <p:nvSpPr>
          <p:cNvPr id="3" name="Content Placeholder 2"/>
          <p:cNvSpPr>
            <a:spLocks noGrp="1"/>
          </p:cNvSpPr>
          <p:nvPr>
            <p:ph idx="1"/>
          </p:nvPr>
        </p:nvSpPr>
        <p:spPr>
          <a:xfrm>
            <a:off x="228600" y="1295400"/>
            <a:ext cx="8686800" cy="5257800"/>
          </a:xfrm>
        </p:spPr>
        <p:txBody>
          <a:bodyPr>
            <a:normAutofit fontScale="92500" lnSpcReduction="10000"/>
          </a:bodyPr>
          <a:lstStyle/>
          <a:p>
            <a:pPr>
              <a:spcBef>
                <a:spcPts val="1200"/>
              </a:spcBef>
              <a:spcAft>
                <a:spcPts val="1200"/>
              </a:spcAft>
            </a:pPr>
            <a:r>
              <a:rPr lang="en-US" dirty="0"/>
              <a:t>An </a:t>
            </a:r>
            <a:r>
              <a:rPr lang="en-US" b="1" dirty="0"/>
              <a:t>element </a:t>
            </a:r>
            <a:r>
              <a:rPr lang="en-US" dirty="0"/>
              <a:t>is a substance that cannot be broken down to other substances by chemical reactions.</a:t>
            </a:r>
          </a:p>
          <a:p>
            <a:pPr lvl="1">
              <a:spcBef>
                <a:spcPts val="1200"/>
              </a:spcBef>
              <a:spcAft>
                <a:spcPts val="1200"/>
              </a:spcAft>
            </a:pPr>
            <a:r>
              <a:rPr lang="en-US" dirty="0"/>
              <a:t>Each element has a symbol, usually the first letter or two of its name.</a:t>
            </a:r>
          </a:p>
          <a:p>
            <a:pPr lvl="1">
              <a:spcBef>
                <a:spcPts val="1200"/>
              </a:spcBef>
              <a:spcAft>
                <a:spcPts val="1200"/>
              </a:spcAft>
            </a:pPr>
            <a:r>
              <a:rPr lang="en-US" dirty="0"/>
              <a:t>Example: Carbon (C), Cobalt (Co), Hydrogen (H) etc.</a:t>
            </a:r>
          </a:p>
          <a:p>
            <a:pPr>
              <a:spcBef>
                <a:spcPts val="1200"/>
              </a:spcBef>
              <a:spcAft>
                <a:spcPts val="1200"/>
              </a:spcAft>
            </a:pPr>
            <a:r>
              <a:rPr lang="en-US" dirty="0"/>
              <a:t>A </a:t>
            </a:r>
            <a:r>
              <a:rPr lang="en-US" b="1" dirty="0"/>
              <a:t>compound </a:t>
            </a:r>
            <a:r>
              <a:rPr lang="en-US" dirty="0"/>
              <a:t>is a substance consisting of two or more different elements combined in a fixed ratio. </a:t>
            </a:r>
          </a:p>
          <a:p>
            <a:pPr lvl="1">
              <a:spcBef>
                <a:spcPts val="1200"/>
              </a:spcBef>
              <a:spcAft>
                <a:spcPts val="1200"/>
              </a:spcAft>
            </a:pPr>
            <a:r>
              <a:rPr lang="en-US" dirty="0"/>
              <a:t>Example: sodium chloride (</a:t>
            </a:r>
            <a:r>
              <a:rPr lang="en-US" dirty="0" err="1"/>
              <a:t>NaCl</a:t>
            </a:r>
            <a:r>
              <a:rPr lang="en-US" dirty="0"/>
              <a:t>), a compound composed of the elements sodium (Na) and chlorine (</a:t>
            </a:r>
            <a:r>
              <a:rPr lang="en-US" dirty="0" err="1"/>
              <a:t>Cl</a:t>
            </a:r>
            <a:r>
              <a:rPr lang="en-US" dirty="0"/>
              <a:t>) in a 1:1 ratio.</a:t>
            </a:r>
          </a:p>
        </p:txBody>
      </p:sp>
      <p:pic>
        <p:nvPicPr>
          <p:cNvPr id="18434" name="Picture 2"/>
          <p:cNvPicPr>
            <a:picLocks noChangeAspect="1" noChangeArrowheads="1"/>
          </p:cNvPicPr>
          <p:nvPr/>
        </p:nvPicPr>
        <p:blipFill>
          <a:blip r:embed="rId2" cstate="print"/>
          <a:srcRect/>
          <a:stretch>
            <a:fillRect/>
          </a:stretch>
        </p:blipFill>
        <p:spPr bwMode="auto">
          <a:xfrm>
            <a:off x="1905000" y="1371600"/>
            <a:ext cx="5257800" cy="4826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slide(fromBottom)">
                                      <p:cBhvr>
                                        <p:cTn id="7" dur="500"/>
                                        <p:tgtEl>
                                          <p:spTgt spid="18434"/>
                                        </p:tgtEl>
                                      </p:cBhvr>
                                    </p:animEffect>
                                  </p:childTnLst>
                                </p:cTn>
                              </p:par>
                              <p:par>
                                <p:cTn id="8" presetID="5" presetClass="exit" presetSubtype="5" fill="hold" grpId="0" nodeType="withEffect">
                                  <p:stCondLst>
                                    <p:cond delay="0"/>
                                  </p:stCondLst>
                                  <p:childTnLst>
                                    <p:animEffect transition="out" filter="checkerboard(down)">
                                      <p:cBhvr>
                                        <p:cTn id="9" dur="500"/>
                                        <p:tgtEl>
                                          <p:spTgt spid="3">
                                            <p:txEl>
                                              <p:pRg st="0" end="0"/>
                                            </p:txEl>
                                          </p:spTgt>
                                        </p:tgtEl>
                                      </p:cBhvr>
                                    </p:animEffect>
                                    <p:set>
                                      <p:cBhvr>
                                        <p:cTn id="10" dur="1" fill="hold">
                                          <p:stCondLst>
                                            <p:cond delay="499"/>
                                          </p:stCondLst>
                                        </p:cTn>
                                        <p:tgtEl>
                                          <p:spTgt spid="3">
                                            <p:txEl>
                                              <p:pRg st="0" end="0"/>
                                            </p:txEl>
                                          </p:spTgt>
                                        </p:tgtEl>
                                        <p:attrNameLst>
                                          <p:attrName>style.visibility</p:attrName>
                                        </p:attrNameLst>
                                      </p:cBhvr>
                                      <p:to>
                                        <p:strVal val="hidden"/>
                                      </p:to>
                                    </p:set>
                                  </p:childTnLst>
                                </p:cTn>
                              </p:par>
                              <p:par>
                                <p:cTn id="11" presetID="5" presetClass="exit" presetSubtype="5" fill="hold" grpId="0" nodeType="withEffect">
                                  <p:stCondLst>
                                    <p:cond delay="0"/>
                                  </p:stCondLst>
                                  <p:childTnLst>
                                    <p:animEffect transition="out" filter="checkerboard(down)">
                                      <p:cBhvr>
                                        <p:cTn id="12" dur="500"/>
                                        <p:tgtEl>
                                          <p:spTgt spid="3">
                                            <p:txEl>
                                              <p:pRg st="1" end="1"/>
                                            </p:txEl>
                                          </p:spTgt>
                                        </p:tgtEl>
                                      </p:cBhvr>
                                    </p:animEffect>
                                    <p:set>
                                      <p:cBhvr>
                                        <p:cTn id="13" dur="1" fill="hold">
                                          <p:stCondLst>
                                            <p:cond delay="499"/>
                                          </p:stCondLst>
                                        </p:cTn>
                                        <p:tgtEl>
                                          <p:spTgt spid="3">
                                            <p:txEl>
                                              <p:pRg st="1" end="1"/>
                                            </p:txEl>
                                          </p:spTgt>
                                        </p:tgtEl>
                                        <p:attrNameLst>
                                          <p:attrName>style.visibility</p:attrName>
                                        </p:attrNameLst>
                                      </p:cBhvr>
                                      <p:to>
                                        <p:strVal val="hidden"/>
                                      </p:to>
                                    </p:set>
                                  </p:childTnLst>
                                </p:cTn>
                              </p:par>
                              <p:par>
                                <p:cTn id="14" presetID="5" presetClass="exit" presetSubtype="5" fill="hold" grpId="0" nodeType="withEffect">
                                  <p:stCondLst>
                                    <p:cond delay="0"/>
                                  </p:stCondLst>
                                  <p:childTnLst>
                                    <p:animEffect transition="out" filter="checkerboard(down)">
                                      <p:cBhvr>
                                        <p:cTn id="15" dur="500"/>
                                        <p:tgtEl>
                                          <p:spTgt spid="3">
                                            <p:txEl>
                                              <p:pRg st="2" end="2"/>
                                            </p:txEl>
                                          </p:spTgt>
                                        </p:tgtEl>
                                      </p:cBhvr>
                                    </p:animEffect>
                                    <p:set>
                                      <p:cBhvr>
                                        <p:cTn id="16" dur="1" fill="hold">
                                          <p:stCondLst>
                                            <p:cond delay="499"/>
                                          </p:stCondLst>
                                        </p:cTn>
                                        <p:tgtEl>
                                          <p:spTgt spid="3">
                                            <p:txEl>
                                              <p:pRg st="2" end="2"/>
                                            </p:txEl>
                                          </p:spTgt>
                                        </p:tgtEl>
                                        <p:attrNameLst>
                                          <p:attrName>style.visibility</p:attrName>
                                        </p:attrNameLst>
                                      </p:cBhvr>
                                      <p:to>
                                        <p:strVal val="hidden"/>
                                      </p:to>
                                    </p:set>
                                  </p:childTnLst>
                                </p:cTn>
                              </p:par>
                              <p:par>
                                <p:cTn id="17" presetID="5" presetClass="exit" presetSubtype="5" fill="hold" grpId="0" nodeType="withEffect">
                                  <p:stCondLst>
                                    <p:cond delay="0"/>
                                  </p:stCondLst>
                                  <p:childTnLst>
                                    <p:animEffect transition="out" filter="checkerboard(down)">
                                      <p:cBhvr>
                                        <p:cTn id="18" dur="500"/>
                                        <p:tgtEl>
                                          <p:spTgt spid="3">
                                            <p:txEl>
                                              <p:pRg st="3" end="3"/>
                                            </p:txEl>
                                          </p:spTgt>
                                        </p:tgtEl>
                                      </p:cBhvr>
                                    </p:animEffect>
                                    <p:set>
                                      <p:cBhvr>
                                        <p:cTn id="19" dur="1" fill="hold">
                                          <p:stCondLst>
                                            <p:cond delay="499"/>
                                          </p:stCondLst>
                                        </p:cTn>
                                        <p:tgtEl>
                                          <p:spTgt spid="3">
                                            <p:txEl>
                                              <p:pRg st="3" end="3"/>
                                            </p:txEl>
                                          </p:spTgt>
                                        </p:tgtEl>
                                        <p:attrNameLst>
                                          <p:attrName>style.visibility</p:attrName>
                                        </p:attrNameLst>
                                      </p:cBhvr>
                                      <p:to>
                                        <p:strVal val="hidden"/>
                                      </p:to>
                                    </p:set>
                                  </p:childTnLst>
                                </p:cTn>
                              </p:par>
                              <p:par>
                                <p:cTn id="20" presetID="5" presetClass="exit" presetSubtype="5" fill="hold" grpId="0" nodeType="withEffect">
                                  <p:stCondLst>
                                    <p:cond delay="0"/>
                                  </p:stCondLst>
                                  <p:childTnLst>
                                    <p:animEffect transition="out" filter="checkerboard(down)">
                                      <p:cBhvr>
                                        <p:cTn id="21" dur="500"/>
                                        <p:tgtEl>
                                          <p:spTgt spid="3">
                                            <p:txEl>
                                              <p:pRg st="4" end="4"/>
                                            </p:txEl>
                                          </p:spTgt>
                                        </p:tgtEl>
                                      </p:cBhvr>
                                    </p:animEffect>
                                    <p:set>
                                      <p:cBhvr>
                                        <p:cTn id="22" dur="1" fill="hold">
                                          <p:stCondLst>
                                            <p:cond delay="499"/>
                                          </p:stCondLst>
                                        </p:cTn>
                                        <p:tgtEl>
                                          <p:spTgt spid="3">
                                            <p:txEl>
                                              <p:pRg st="4" end="4"/>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2AB72F4-30BA-431A-BF57-2C283C4FF0E4}" type="slidenum">
              <a:rPr lang="en-US"/>
              <a:pPr/>
              <a:t>18</a:t>
            </a:fld>
            <a:endParaRPr lang="en-US"/>
          </a:p>
        </p:txBody>
      </p:sp>
      <p:pic>
        <p:nvPicPr>
          <p:cNvPr id="27649" name="Picture 1"/>
          <p:cNvPicPr>
            <a:picLocks noChangeArrowheads="1"/>
          </p:cNvPicPr>
          <p:nvPr/>
        </p:nvPicPr>
        <p:blipFill>
          <a:blip r:embed="rId2" cstate="print"/>
          <a:srcRect l="34142" t="5803" r="920" b="3172"/>
          <a:stretch>
            <a:fillRect/>
          </a:stretch>
        </p:blipFill>
        <p:spPr bwMode="auto">
          <a:xfrm>
            <a:off x="1584325" y="2176463"/>
            <a:ext cx="5695950" cy="4029075"/>
          </a:xfrm>
          <a:prstGeom prst="rect">
            <a:avLst/>
          </a:prstGeom>
          <a:noFill/>
          <a:ln w="12700" cap="flat">
            <a:solidFill>
              <a:srgbClr val="00B050"/>
            </a:solidFill>
            <a:prstDash val="solid"/>
            <a:round/>
            <a:headEnd/>
            <a:tailEnd/>
          </a:ln>
        </p:spPr>
      </p:pic>
      <p:sp>
        <p:nvSpPr>
          <p:cNvPr id="27650" name="Rectangle 2"/>
          <p:cNvSpPr>
            <a:spLocks/>
          </p:cNvSpPr>
          <p:nvPr/>
        </p:nvSpPr>
        <p:spPr bwMode="auto">
          <a:xfrm>
            <a:off x="206374" y="431800"/>
            <a:ext cx="8556625" cy="1701800"/>
          </a:xfrm>
          <a:prstGeom prst="rect">
            <a:avLst/>
          </a:prstGeom>
          <a:noFill/>
          <a:ln w="12700" cap="flat">
            <a:noFill/>
            <a:miter lim="800000"/>
            <a:headEnd type="none" w="med" len="med"/>
            <a:tailEnd type="none" w="med" len="med"/>
          </a:ln>
        </p:spPr>
        <p:txBody>
          <a:bodyPr lIns="0" tIns="0" rIns="0" bIns="0"/>
          <a:lstStyle/>
          <a:p>
            <a:pPr>
              <a:lnSpc>
                <a:spcPct val="150000"/>
              </a:lnSpc>
              <a:buFont typeface="Arial" pitchFamily="34" charset="0"/>
              <a:buChar char="•"/>
            </a:pPr>
            <a:r>
              <a:rPr lang="en-US" sz="1800" b="1" dirty="0">
                <a:solidFill>
                  <a:schemeClr val="tx1"/>
                </a:solidFill>
                <a:latin typeface="Verdana Bold" charset="0"/>
                <a:ea typeface="Verdana Bold" charset="0"/>
                <a:cs typeface="Verdana Bold" charset="0"/>
                <a:sym typeface="Verdana Bold" charset="0"/>
              </a:rPr>
              <a:t> Atoms with vacancies tend to interact with other atoms: They give up, acquire, or share electrons until they have no vacancies in their outermost shell. Any atom is in its most stable state when it has no vacancies.</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hostingride.com/wp-content/uploads/2014/09/periodic-table.png"/>
          <p:cNvPicPr>
            <a:picLocks noChangeAspect="1" noChangeArrowheads="1"/>
          </p:cNvPicPr>
          <p:nvPr/>
        </p:nvPicPr>
        <p:blipFill>
          <a:blip r:embed="rId3" cstate="print"/>
          <a:srcRect/>
          <a:stretch>
            <a:fillRect/>
          </a:stretch>
        </p:blipFill>
        <p:spPr bwMode="auto">
          <a:xfrm>
            <a:off x="76494" y="762000"/>
            <a:ext cx="9067506" cy="5105400"/>
          </a:xfrm>
          <a:prstGeom prst="rect">
            <a:avLst/>
          </a:prstGeom>
          <a:noFill/>
        </p:spPr>
      </p:pic>
      <p:sp>
        <p:nvSpPr>
          <p:cNvPr id="4" name="Rectangle 3"/>
          <p:cNvSpPr/>
          <p:nvPr/>
        </p:nvSpPr>
        <p:spPr>
          <a:xfrm>
            <a:off x="5943600" y="5943600"/>
            <a:ext cx="3278462" cy="461665"/>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Verdana Bold" charset="0"/>
                <a:ea typeface="Verdana Bold" charset="0"/>
                <a:cs typeface="Verdana Bold" charset="0"/>
                <a:sym typeface="Verdana Bold" charset="0"/>
              </a:rPr>
              <a:t>No-vacancy state</a:t>
            </a:r>
            <a:endParaRPr lang="en-GB" sz="2400" b="1" cap="none"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ndParaRPr>
          </a:p>
        </p:txBody>
      </p:sp>
      <p:sp>
        <p:nvSpPr>
          <p:cNvPr id="6" name="Down Arrow 5"/>
          <p:cNvSpPr/>
          <p:nvPr/>
        </p:nvSpPr>
        <p:spPr>
          <a:xfrm rot="10800000">
            <a:off x="8686800" y="5029200"/>
            <a:ext cx="381000" cy="91440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207BD62F-48CF-40FE-B0EA-B86366ECDC60}" type="slidenum">
              <a:rPr lang="en-US"/>
              <a:pPr/>
              <a:t>20</a:t>
            </a:fld>
            <a:endParaRPr lang="en-US"/>
          </a:p>
        </p:txBody>
      </p:sp>
      <p:sp>
        <p:nvSpPr>
          <p:cNvPr id="28673" name="Rectangle 1"/>
          <p:cNvSpPr>
            <a:spLocks noGrp="1" noChangeArrowheads="1"/>
          </p:cNvSpPr>
          <p:nvPr>
            <p:ph type="title"/>
          </p:nvPr>
        </p:nvSpPr>
        <p:spPr>
          <a:ln/>
        </p:spPr>
        <p:txBody>
          <a:bodyPr/>
          <a:lstStyle/>
          <a:p>
            <a:r>
              <a:rPr lang="en-US" b="1" dirty="0"/>
              <a:t>Chemical Bond</a:t>
            </a:r>
          </a:p>
        </p:txBody>
      </p:sp>
      <p:sp>
        <p:nvSpPr>
          <p:cNvPr id="28674" name="Rectangle 2"/>
          <p:cNvSpPr>
            <a:spLocks noGrp="1" noChangeArrowheads="1"/>
          </p:cNvSpPr>
          <p:nvPr>
            <p:ph type="body" idx="1"/>
          </p:nvPr>
        </p:nvSpPr>
        <p:spPr>
          <a:ln/>
        </p:spPr>
        <p:txBody>
          <a:bodyPr>
            <a:normAutofit fontScale="92500" lnSpcReduction="10000"/>
          </a:bodyPr>
          <a:lstStyle/>
          <a:p>
            <a:pPr>
              <a:spcBef>
                <a:spcPts val="1200"/>
              </a:spcBef>
              <a:spcAft>
                <a:spcPts val="1800"/>
              </a:spcAft>
              <a:tabLst>
                <a:tab pos="914400" algn="l"/>
                <a:tab pos="914400" algn="l"/>
                <a:tab pos="914400" algn="l"/>
              </a:tabLst>
            </a:pPr>
            <a:r>
              <a:rPr lang="en-US" sz="2400" dirty="0">
                <a:latin typeface="Verdana Italic" charset="0"/>
                <a:ea typeface="Verdana Italic" charset="0"/>
                <a:cs typeface="Verdana Italic" charset="0"/>
                <a:sym typeface="Verdana Italic" charset="0"/>
              </a:rPr>
              <a:t>A </a:t>
            </a:r>
            <a:r>
              <a:rPr lang="en-US" sz="2400" dirty="0">
                <a:latin typeface="Verdana Bold Italic" charset="0"/>
                <a:ea typeface="Verdana Bold Italic" charset="0"/>
                <a:cs typeface="Verdana Bold Italic" charset="0"/>
                <a:sym typeface="Verdana Bold Italic" charset="0"/>
              </a:rPr>
              <a:t>molecule</a:t>
            </a:r>
            <a:r>
              <a:rPr lang="en-US" sz="2400" dirty="0">
                <a:latin typeface="Verdana Italic" charset="0"/>
                <a:ea typeface="Verdana Italic" charset="0"/>
                <a:cs typeface="Verdana Italic" charset="0"/>
                <a:sym typeface="Verdana Italic" charset="0"/>
              </a:rPr>
              <a:t> is a particle composed of two or more atoms of same or different elements</a:t>
            </a:r>
            <a:r>
              <a:rPr lang="en-US" sz="2400" dirty="0">
                <a:latin typeface="Verdana" charset="0"/>
                <a:ea typeface="Verdana" charset="0"/>
                <a:cs typeface="Verdana" charset="0"/>
                <a:sym typeface="Verdana" charset="0"/>
              </a:rPr>
              <a:t>. </a:t>
            </a:r>
          </a:p>
          <a:p>
            <a:pPr>
              <a:spcBef>
                <a:spcPts val="1200"/>
              </a:spcBef>
              <a:spcAft>
                <a:spcPts val="1800"/>
              </a:spcAft>
              <a:tabLst>
                <a:tab pos="914400" algn="l"/>
                <a:tab pos="914400" algn="l"/>
                <a:tab pos="914400" algn="l"/>
              </a:tabLst>
            </a:pPr>
            <a:r>
              <a:rPr lang="en-US" sz="2400" dirty="0">
                <a:latin typeface="Verdana" charset="0"/>
                <a:ea typeface="Verdana" charset="0"/>
                <a:cs typeface="Verdana" charset="0"/>
                <a:sym typeface="Verdana" charset="0"/>
              </a:rPr>
              <a:t>The force that holds the atoms together in a molecule is called a chemical bond. </a:t>
            </a:r>
          </a:p>
          <a:p>
            <a:pPr>
              <a:spcBef>
                <a:spcPts val="1200"/>
              </a:spcBef>
              <a:spcAft>
                <a:spcPts val="1800"/>
              </a:spcAft>
              <a:tabLst>
                <a:tab pos="914400" algn="l"/>
                <a:tab pos="914400" algn="l"/>
                <a:tab pos="914400" algn="l"/>
              </a:tabLst>
            </a:pPr>
            <a:r>
              <a:rPr lang="en-US" sz="2400" dirty="0">
                <a:latin typeface="Verdana" charset="0"/>
                <a:ea typeface="Verdana" charset="0"/>
                <a:cs typeface="Verdana" charset="0"/>
                <a:sym typeface="Verdana" charset="0"/>
              </a:rPr>
              <a:t>Most common and significant bonds are-</a:t>
            </a:r>
            <a:endParaRPr lang="en-US" sz="2400" dirty="0">
              <a:latin typeface="Verdana" charset="0"/>
              <a:sym typeface="Verdana" charset="0"/>
            </a:endParaRPr>
          </a:p>
          <a:p>
            <a:pPr marL="1371600" lvl="1" indent="-228600" algn="just">
              <a:spcBef>
                <a:spcPts val="1200"/>
              </a:spcBef>
              <a:spcAft>
                <a:spcPts val="1800"/>
              </a:spcAft>
              <a:buSzPct val="45000"/>
              <a:buFont typeface="Wingdings" charset="2"/>
              <a:buChar char="q"/>
              <a:tabLst>
                <a:tab pos="914400" algn="l"/>
                <a:tab pos="914400" algn="l"/>
                <a:tab pos="914400" algn="l"/>
              </a:tabLst>
            </a:pPr>
            <a:r>
              <a:rPr lang="en-US" sz="2400" b="1" dirty="0">
                <a:latin typeface="Verdana Italic" charset="0"/>
                <a:ea typeface="Verdana Italic" charset="0"/>
                <a:cs typeface="Verdana Italic" charset="0"/>
                <a:sym typeface="Verdana Italic" charset="0"/>
              </a:rPr>
              <a:t>Ionic bonds</a:t>
            </a:r>
            <a:endParaRPr lang="en-US" sz="2400" b="1" dirty="0">
              <a:latin typeface="Verdana" charset="0"/>
              <a:sym typeface="Verdana" charset="0"/>
            </a:endParaRPr>
          </a:p>
          <a:p>
            <a:pPr marL="1371600" lvl="1" indent="-228600" algn="just">
              <a:spcBef>
                <a:spcPts val="1200"/>
              </a:spcBef>
              <a:spcAft>
                <a:spcPts val="1800"/>
              </a:spcAft>
              <a:buSzPct val="45000"/>
              <a:buFont typeface="Wingdings" charset="2"/>
              <a:buChar char="q"/>
              <a:tabLst>
                <a:tab pos="914400" algn="l"/>
                <a:tab pos="914400" algn="l"/>
                <a:tab pos="914400" algn="l"/>
              </a:tabLst>
            </a:pPr>
            <a:r>
              <a:rPr lang="en-US" sz="2400" b="1" dirty="0">
                <a:latin typeface="Verdana Italic" charset="0"/>
                <a:ea typeface="Verdana Italic" charset="0"/>
                <a:cs typeface="Verdana Italic" charset="0"/>
                <a:sym typeface="Verdana Italic" charset="0"/>
              </a:rPr>
              <a:t>Covalent bonds</a:t>
            </a:r>
            <a:endParaRPr lang="en-US" sz="2400" b="1" dirty="0">
              <a:latin typeface="Verdana Italic" charset="0"/>
              <a:sym typeface="Verdana Italic" charset="0"/>
            </a:endParaRPr>
          </a:p>
          <a:p>
            <a:pPr marL="1371600" lvl="1" indent="-228600" algn="just">
              <a:spcBef>
                <a:spcPts val="1200"/>
              </a:spcBef>
              <a:spcAft>
                <a:spcPts val="1800"/>
              </a:spcAft>
              <a:buSzPct val="45000"/>
              <a:buFont typeface="Wingdings" charset="2"/>
              <a:buChar char="q"/>
              <a:tabLst>
                <a:tab pos="914400" algn="l"/>
                <a:tab pos="914400" algn="l"/>
                <a:tab pos="914400" algn="l"/>
              </a:tabLst>
            </a:pPr>
            <a:r>
              <a:rPr lang="en-US" sz="2400" b="1" dirty="0">
                <a:latin typeface="Verdana Italic" charset="0"/>
                <a:ea typeface="Verdana Italic" charset="0"/>
                <a:cs typeface="Verdana Italic" charset="0"/>
                <a:sym typeface="Verdana Italic" charset="0"/>
              </a:rPr>
              <a:t>Hydrogen bonds</a:t>
            </a:r>
            <a:endParaRPr lang="en-US" sz="2400" b="1" dirty="0">
              <a:latin typeface="Verdana Italic" charset="0"/>
              <a:sym typeface="Verdana Italic"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69D634C9-3FAF-41DF-BB8A-B846E51B5E08}" type="slidenum">
              <a:rPr lang="en-US"/>
              <a:pPr/>
              <a:t>21</a:t>
            </a:fld>
            <a:endParaRPr lang="en-US"/>
          </a:p>
        </p:txBody>
      </p:sp>
      <p:sp>
        <p:nvSpPr>
          <p:cNvPr id="29697" name="Rectangle 1"/>
          <p:cNvSpPr>
            <a:spLocks noGrp="1" noChangeArrowheads="1"/>
          </p:cNvSpPr>
          <p:nvPr>
            <p:ph type="title"/>
          </p:nvPr>
        </p:nvSpPr>
        <p:spPr>
          <a:ln/>
        </p:spPr>
        <p:txBody>
          <a:bodyPr/>
          <a:lstStyle/>
          <a:p>
            <a:r>
              <a:rPr lang="en-US" b="1" dirty="0"/>
              <a:t>Ionic Bond</a:t>
            </a:r>
          </a:p>
        </p:txBody>
      </p:sp>
      <p:sp>
        <p:nvSpPr>
          <p:cNvPr id="29698" name="Rectangle 2"/>
          <p:cNvSpPr>
            <a:spLocks noGrp="1" noChangeArrowheads="1"/>
          </p:cNvSpPr>
          <p:nvPr>
            <p:ph type="body" idx="1"/>
          </p:nvPr>
        </p:nvSpPr>
        <p:spPr>
          <a:xfrm>
            <a:off x="457200" y="1601788"/>
            <a:ext cx="4152900" cy="4521200"/>
          </a:xfrm>
          <a:ln/>
        </p:spPr>
        <p:txBody>
          <a:bodyPr/>
          <a:lstStyle/>
          <a:p>
            <a:r>
              <a:rPr lang="en-US" sz="2400" dirty="0"/>
              <a:t>Transfer of Electron from the outer most shell.</a:t>
            </a:r>
          </a:p>
          <a:p>
            <a:r>
              <a:rPr lang="en-US" sz="2400" dirty="0"/>
              <a:t>atom donate </a:t>
            </a:r>
            <a:r>
              <a:rPr lang="en-US" sz="2400" b="1" dirty="0"/>
              <a:t>e</a:t>
            </a:r>
            <a:r>
              <a:rPr lang="en-US" sz="2400" b="1" baseline="30000" dirty="0"/>
              <a:t>- </a:t>
            </a:r>
            <a:r>
              <a:rPr lang="en-US" sz="2400" dirty="0"/>
              <a:t>and become </a:t>
            </a:r>
            <a:r>
              <a:rPr lang="en-US" sz="2400" b="1" dirty="0" err="1"/>
              <a:t>cation</a:t>
            </a:r>
            <a:r>
              <a:rPr lang="en-US" sz="2400" b="1" dirty="0"/>
              <a:t>.</a:t>
            </a:r>
          </a:p>
          <a:p>
            <a:r>
              <a:rPr lang="en-US" sz="2400" dirty="0"/>
              <a:t>another atom receive that e- and become </a:t>
            </a:r>
            <a:r>
              <a:rPr lang="en-US" sz="2400" b="1" dirty="0"/>
              <a:t>anion.</a:t>
            </a:r>
          </a:p>
          <a:p>
            <a:r>
              <a:rPr lang="en-US" sz="2400" dirty="0"/>
              <a:t>Ionic bond is strong.</a:t>
            </a:r>
          </a:p>
          <a:p>
            <a:r>
              <a:rPr lang="en-US" sz="2400" dirty="0"/>
              <a:t>Example: </a:t>
            </a:r>
            <a:r>
              <a:rPr lang="en-US" sz="2400" dirty="0" err="1"/>
              <a:t>NaCl</a:t>
            </a:r>
            <a:r>
              <a:rPr lang="en-US" sz="2400" dirty="0"/>
              <a:t> is an ionic compound.</a:t>
            </a:r>
          </a:p>
        </p:txBody>
      </p:sp>
      <p:pic>
        <p:nvPicPr>
          <p:cNvPr id="29699" name="Picture 3"/>
          <p:cNvPicPr>
            <a:picLocks noChangeArrowheads="1"/>
          </p:cNvPicPr>
          <p:nvPr/>
        </p:nvPicPr>
        <p:blipFill>
          <a:blip r:embed="rId2" cstate="print"/>
          <a:srcRect/>
          <a:stretch>
            <a:fillRect/>
          </a:stretch>
        </p:blipFill>
        <p:spPr bwMode="auto">
          <a:xfrm>
            <a:off x="4700588" y="2359025"/>
            <a:ext cx="3908425" cy="2339975"/>
          </a:xfrm>
          <a:prstGeom prst="rect">
            <a:avLst/>
          </a:prstGeom>
          <a:noFill/>
          <a:ln w="12700" cap="flat">
            <a:solidFill>
              <a:schemeClr val="tx1"/>
            </a:solidFill>
            <a:prstDash val="solid"/>
            <a:round/>
            <a:headEnd/>
            <a:tailEnd/>
          </a:ln>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685800" y="152400"/>
            <a:ext cx="7772400" cy="533400"/>
          </a:xfrm>
          <a:effectLst>
            <a:outerShdw dist="35921" dir="2700000" algn="ctr" rotWithShape="0">
              <a:srgbClr val="808080"/>
            </a:outerShdw>
          </a:effectLst>
        </p:spPr>
        <p:txBody>
          <a:bodyPr>
            <a:noAutofit/>
          </a:bodyPr>
          <a:lstStyle/>
          <a:p>
            <a:pPr>
              <a:defRPr/>
            </a:pPr>
            <a:r>
              <a:rPr lang="en-US" sz="3600" b="1" dirty="0"/>
              <a:t>Ionization</a:t>
            </a:r>
          </a:p>
        </p:txBody>
      </p:sp>
      <p:sp>
        <p:nvSpPr>
          <p:cNvPr id="15363" name="Text Box 3"/>
          <p:cNvSpPr txBox="1">
            <a:spLocks noChangeArrowheads="1"/>
          </p:cNvSpPr>
          <p:nvPr/>
        </p:nvSpPr>
        <p:spPr bwMode="auto">
          <a:xfrm>
            <a:off x="381000" y="1524000"/>
            <a:ext cx="4343400" cy="4832092"/>
          </a:xfrm>
          <a:prstGeom prst="rect">
            <a:avLst/>
          </a:prstGeom>
          <a:noFill/>
          <a:ln w="9525">
            <a:noFill/>
            <a:miter lim="800000"/>
            <a:headEnd/>
            <a:tailEnd/>
          </a:ln>
        </p:spPr>
        <p:txBody>
          <a:bodyPr>
            <a:spAutoFit/>
          </a:bodyPr>
          <a:lstStyle/>
          <a:p>
            <a:pPr>
              <a:buClr>
                <a:schemeClr val="accent1"/>
              </a:buClr>
              <a:buFont typeface="Wingdings" pitchFamily="2" charset="2"/>
              <a:buChar char="§"/>
            </a:pPr>
            <a:r>
              <a:rPr lang="en-US" sz="2800" dirty="0"/>
              <a:t> Molecules formed by ionic bonding breakup (</a:t>
            </a:r>
            <a:r>
              <a:rPr lang="en-US" sz="2800" b="1" dirty="0"/>
              <a:t>ionization</a:t>
            </a:r>
            <a:r>
              <a:rPr lang="en-US" sz="2800" dirty="0"/>
              <a:t>) when dissolved in water (</a:t>
            </a:r>
            <a:r>
              <a:rPr lang="en-US" sz="2800" b="1" dirty="0"/>
              <a:t>solvent</a:t>
            </a:r>
            <a:r>
              <a:rPr lang="en-US" sz="2800" dirty="0"/>
              <a:t>), producing separate positive (</a:t>
            </a:r>
            <a:r>
              <a:rPr lang="en-US" sz="2800" b="1" dirty="0" err="1"/>
              <a:t>cation</a:t>
            </a:r>
            <a:r>
              <a:rPr lang="en-US" sz="2800" dirty="0"/>
              <a:t>) and negative (</a:t>
            </a:r>
            <a:r>
              <a:rPr lang="en-US" sz="2800" b="1" dirty="0"/>
              <a:t>anion</a:t>
            </a:r>
            <a:r>
              <a:rPr lang="en-US" sz="2800" dirty="0"/>
              <a:t>) ions.</a:t>
            </a:r>
          </a:p>
          <a:p>
            <a:pPr>
              <a:buClr>
                <a:schemeClr val="accent1"/>
              </a:buClr>
              <a:buFont typeface="Wingdings" pitchFamily="2" charset="2"/>
              <a:buChar char="§"/>
            </a:pPr>
            <a:endParaRPr lang="en-US" sz="2800" dirty="0"/>
          </a:p>
          <a:p>
            <a:pPr>
              <a:buClr>
                <a:schemeClr val="accent1"/>
              </a:buClr>
              <a:buFont typeface="Wingdings" pitchFamily="2" charset="2"/>
              <a:buChar char="§"/>
            </a:pPr>
            <a:r>
              <a:rPr lang="en-US" sz="2800" dirty="0"/>
              <a:t> These ions conduct electricity and thus called electrolytes.</a:t>
            </a:r>
          </a:p>
        </p:txBody>
      </p:sp>
      <p:pic>
        <p:nvPicPr>
          <p:cNvPr id="15364" name="Picture 5" descr="02_07"/>
          <p:cNvPicPr>
            <a:picLocks noGrp="1" noChangeAspect="1" noChangeArrowheads="1"/>
          </p:cNvPicPr>
          <p:nvPr>
            <p:ph idx="1"/>
          </p:nvPr>
        </p:nvPicPr>
        <p:blipFill>
          <a:blip r:embed="rId3" cstate="print"/>
          <a:srcRect/>
          <a:stretch>
            <a:fillRect/>
          </a:stretch>
        </p:blipFill>
        <p:spPr>
          <a:xfrm>
            <a:off x="4800600" y="1295400"/>
            <a:ext cx="4267200" cy="5440679"/>
          </a:xfrm>
        </p:spPr>
      </p:pic>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4397DB13-FF13-4D4B-A0D9-06D017B5A483}" type="slidenum">
              <a:rPr lang="en-US"/>
              <a:pPr/>
              <a:t>23</a:t>
            </a:fld>
            <a:endParaRPr lang="en-US"/>
          </a:p>
        </p:txBody>
      </p:sp>
      <p:sp>
        <p:nvSpPr>
          <p:cNvPr id="30721" name="Rectangle 1"/>
          <p:cNvSpPr>
            <a:spLocks noGrp="1" noChangeArrowheads="1"/>
          </p:cNvSpPr>
          <p:nvPr>
            <p:ph type="title"/>
          </p:nvPr>
        </p:nvSpPr>
        <p:spPr>
          <a:ln/>
        </p:spPr>
        <p:txBody>
          <a:bodyPr/>
          <a:lstStyle/>
          <a:p>
            <a:r>
              <a:rPr lang="en-US" b="1" dirty="0"/>
              <a:t>Covalent Bond</a:t>
            </a:r>
          </a:p>
        </p:txBody>
      </p:sp>
      <p:sp>
        <p:nvSpPr>
          <p:cNvPr id="30722" name="Rectangle 2"/>
          <p:cNvSpPr>
            <a:spLocks noGrp="1" noChangeArrowheads="1"/>
          </p:cNvSpPr>
          <p:nvPr>
            <p:ph type="body" idx="1"/>
          </p:nvPr>
        </p:nvSpPr>
        <p:spPr>
          <a:xfrm>
            <a:off x="431800" y="2147888"/>
            <a:ext cx="4572000" cy="3517900"/>
          </a:xfrm>
          <a:ln/>
        </p:spPr>
        <p:txBody>
          <a:bodyPr/>
          <a:lstStyle/>
          <a:p>
            <a:r>
              <a:rPr lang="en-US" sz="2400" dirty="0"/>
              <a:t>Outer most electron is shared.</a:t>
            </a:r>
          </a:p>
          <a:p>
            <a:r>
              <a:rPr lang="en-US" sz="2400" dirty="0"/>
              <a:t>when transfer is not possible.</a:t>
            </a:r>
          </a:p>
          <a:p>
            <a:r>
              <a:rPr lang="en-US" sz="2400" dirty="0"/>
              <a:t>Example: O</a:t>
            </a:r>
            <a:r>
              <a:rPr lang="en-US" sz="2400" baseline="-25000" dirty="0"/>
              <a:t>2</a:t>
            </a:r>
            <a:r>
              <a:rPr lang="en-US" sz="2400" dirty="0"/>
              <a:t>, H</a:t>
            </a:r>
            <a:r>
              <a:rPr lang="en-US" sz="2400" baseline="-25000" dirty="0"/>
              <a:t>2</a:t>
            </a:r>
            <a:r>
              <a:rPr lang="en-US" sz="2400" dirty="0"/>
              <a:t> etc are covalent compounds.</a:t>
            </a:r>
          </a:p>
        </p:txBody>
      </p:sp>
      <p:pic>
        <p:nvPicPr>
          <p:cNvPr id="30723" name="Picture 3"/>
          <p:cNvPicPr>
            <a:picLocks noChangeArrowheads="1"/>
          </p:cNvPicPr>
          <p:nvPr/>
        </p:nvPicPr>
        <p:blipFill>
          <a:blip r:embed="rId2" cstate="print"/>
          <a:srcRect/>
          <a:stretch>
            <a:fillRect/>
          </a:stretch>
        </p:blipFill>
        <p:spPr bwMode="auto">
          <a:xfrm>
            <a:off x="5197475" y="2252663"/>
            <a:ext cx="3667125" cy="2832100"/>
          </a:xfrm>
          <a:prstGeom prst="rect">
            <a:avLst/>
          </a:prstGeom>
          <a:noFill/>
          <a:ln w="12700" cap="flat">
            <a:solidFill>
              <a:schemeClr val="tx1"/>
            </a:solidFill>
            <a:prstDash val="solid"/>
            <a:round/>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3"/>
          <p:cNvPicPr>
            <a:picLocks noChangeArrowheads="1"/>
          </p:cNvPicPr>
          <p:nvPr/>
        </p:nvPicPr>
        <p:blipFill>
          <a:blip r:embed="rId2" cstate="print"/>
          <a:srcRect l="14406" t="16949" r="30708"/>
          <a:stretch>
            <a:fillRect/>
          </a:stretch>
        </p:blipFill>
        <p:spPr bwMode="auto">
          <a:xfrm>
            <a:off x="5638800" y="2514600"/>
            <a:ext cx="3276600" cy="2819400"/>
          </a:xfrm>
          <a:prstGeom prst="rect">
            <a:avLst/>
          </a:prstGeom>
          <a:noFill/>
          <a:ln w="9525" cap="flat">
            <a:noFill/>
            <a:round/>
            <a:headEnd/>
            <a:tailEnd/>
          </a:ln>
        </p:spPr>
      </p:pic>
      <p:sp>
        <p:nvSpPr>
          <p:cNvPr id="5" name="Slide Number Placeholder 3"/>
          <p:cNvSpPr>
            <a:spLocks noGrp="1"/>
          </p:cNvSpPr>
          <p:nvPr>
            <p:ph type="sldNum" sz="quarter" idx="10"/>
          </p:nvPr>
        </p:nvSpPr>
        <p:spPr/>
        <p:txBody>
          <a:bodyPr/>
          <a:lstStyle/>
          <a:p>
            <a:fld id="{9E32D318-D499-4E49-A43C-B97608DD5EAA}" type="slidenum">
              <a:rPr lang="en-US"/>
              <a:pPr/>
              <a:t>24</a:t>
            </a:fld>
            <a:endParaRPr lang="en-US"/>
          </a:p>
        </p:txBody>
      </p:sp>
      <p:sp>
        <p:nvSpPr>
          <p:cNvPr id="31745" name="Rectangle 1"/>
          <p:cNvSpPr>
            <a:spLocks noGrp="1" noChangeArrowheads="1"/>
          </p:cNvSpPr>
          <p:nvPr>
            <p:ph type="title"/>
          </p:nvPr>
        </p:nvSpPr>
        <p:spPr>
          <a:ln/>
        </p:spPr>
        <p:txBody>
          <a:bodyPr/>
          <a:lstStyle/>
          <a:p>
            <a:r>
              <a:rPr lang="en-US" b="1" dirty="0" err="1"/>
              <a:t>Electronegativity</a:t>
            </a:r>
            <a:endParaRPr lang="en-US" b="1" dirty="0"/>
          </a:p>
        </p:txBody>
      </p:sp>
      <p:sp>
        <p:nvSpPr>
          <p:cNvPr id="31746" name="Rectangle 2"/>
          <p:cNvSpPr>
            <a:spLocks noGrp="1" noChangeArrowheads="1"/>
          </p:cNvSpPr>
          <p:nvPr>
            <p:ph type="body" idx="1"/>
          </p:nvPr>
        </p:nvSpPr>
        <p:spPr>
          <a:xfrm>
            <a:off x="182563" y="1981200"/>
            <a:ext cx="5684837" cy="3886200"/>
          </a:xfrm>
          <a:ln/>
        </p:spPr>
        <p:txBody>
          <a:bodyPr>
            <a:normAutofit/>
          </a:bodyPr>
          <a:lstStyle/>
          <a:p>
            <a:pPr>
              <a:spcBef>
                <a:spcPct val="0"/>
              </a:spcBef>
            </a:pPr>
            <a:r>
              <a:rPr lang="en-US" sz="2400" dirty="0">
                <a:ea typeface="Verdana" charset="0"/>
                <a:cs typeface="Verdana" charset="0"/>
                <a:sym typeface="Verdana" charset="0"/>
              </a:rPr>
              <a:t>Atoms in a molecule attract shared electrons to varying degrees, depending on the element. </a:t>
            </a:r>
            <a:endParaRPr lang="en-US" sz="2400" dirty="0">
              <a:sym typeface="Verdana" charset="0"/>
            </a:endParaRPr>
          </a:p>
          <a:p>
            <a:pPr>
              <a:spcBef>
                <a:spcPts val="700"/>
              </a:spcBef>
            </a:pPr>
            <a:r>
              <a:rPr lang="en-US" sz="2400" dirty="0">
                <a:ea typeface="Verdana" charset="0"/>
                <a:cs typeface="Verdana" charset="0"/>
                <a:sym typeface="Verdana" charset="0"/>
              </a:rPr>
              <a:t>The attraction of a particular  atom  for  the  electrons  of  a  covalent  bond  is  called  its </a:t>
            </a:r>
            <a:r>
              <a:rPr lang="en-US" sz="2400" dirty="0" err="1">
                <a:ea typeface="Verdana" charset="0"/>
                <a:cs typeface="Verdana" charset="0"/>
                <a:sym typeface="Verdana" charset="0"/>
              </a:rPr>
              <a:t>electronegativity</a:t>
            </a:r>
            <a:r>
              <a:rPr lang="en-US" sz="2400" dirty="0">
                <a:ea typeface="Verdana" charset="0"/>
                <a:cs typeface="Verdana" charset="0"/>
                <a:sym typeface="Verdana" charset="0"/>
              </a:rPr>
              <a:t>. </a:t>
            </a:r>
            <a:endParaRPr lang="en-US" sz="2400" dirty="0">
              <a:sym typeface="Verdana" charset="0"/>
            </a:endParaRPr>
          </a:p>
          <a:p>
            <a:pPr>
              <a:spcBef>
                <a:spcPts val="700"/>
              </a:spcBef>
            </a:pPr>
            <a:r>
              <a:rPr lang="en-US" sz="2400" dirty="0">
                <a:ea typeface="Verdana" charset="0"/>
                <a:cs typeface="Verdana" charset="0"/>
                <a:sym typeface="Verdana" charset="0"/>
              </a:rPr>
              <a:t>The more electronegative an atom is, the more strongly it pulls shared electrons toward itself.</a:t>
            </a:r>
            <a:endParaRPr lang="en-US" sz="2400" dirty="0">
              <a:sym typeface="Verdana"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560F1654-BA8A-410A-83A6-902ACDB05C62}" type="slidenum">
              <a:rPr lang="en-US"/>
              <a:pPr/>
              <a:t>25</a:t>
            </a:fld>
            <a:endParaRPr lang="en-US"/>
          </a:p>
        </p:txBody>
      </p:sp>
      <p:sp>
        <p:nvSpPr>
          <p:cNvPr id="32769" name="Rectangle 1"/>
          <p:cNvSpPr>
            <a:spLocks noGrp="1" noChangeArrowheads="1"/>
          </p:cNvSpPr>
          <p:nvPr>
            <p:ph type="title"/>
          </p:nvPr>
        </p:nvSpPr>
        <p:spPr>
          <a:ln/>
        </p:spPr>
        <p:txBody>
          <a:bodyPr/>
          <a:lstStyle/>
          <a:p>
            <a:r>
              <a:rPr lang="en-US" b="1" dirty="0"/>
              <a:t>Types of Covalent Bond</a:t>
            </a:r>
          </a:p>
        </p:txBody>
      </p:sp>
      <p:sp>
        <p:nvSpPr>
          <p:cNvPr id="32770" name="Rectangle 2"/>
          <p:cNvSpPr>
            <a:spLocks noGrp="1" noChangeArrowheads="1"/>
          </p:cNvSpPr>
          <p:nvPr>
            <p:ph type="body" idx="1"/>
          </p:nvPr>
        </p:nvSpPr>
        <p:spPr>
          <a:xfrm>
            <a:off x="601663" y="1612900"/>
            <a:ext cx="4484687" cy="4064000"/>
          </a:xfrm>
          <a:ln/>
        </p:spPr>
        <p:txBody>
          <a:bodyPr>
            <a:normAutofit/>
          </a:bodyPr>
          <a:lstStyle/>
          <a:p>
            <a:r>
              <a:rPr lang="en-US" sz="2400" b="1" dirty="0"/>
              <a:t>Polar Covalent Bond</a:t>
            </a:r>
            <a:r>
              <a:rPr lang="en-US" sz="2400" dirty="0"/>
              <a:t>: </a:t>
            </a:r>
            <a:r>
              <a:rPr lang="en-US" sz="2400" dirty="0">
                <a:ea typeface="Verdana" charset="0"/>
                <a:cs typeface="Verdana" charset="0"/>
                <a:sym typeface="Verdana" charset="0"/>
              </a:rPr>
              <a:t>Atoms participating in the bonds do not share electrons equally.</a:t>
            </a:r>
          </a:p>
          <a:p>
            <a:pPr>
              <a:buNone/>
            </a:pPr>
            <a:endParaRPr lang="en-US" sz="2400" dirty="0"/>
          </a:p>
          <a:p>
            <a:r>
              <a:rPr lang="en-US" sz="2400" b="1" dirty="0"/>
              <a:t>Non Polar Covalent Bond</a:t>
            </a:r>
            <a:r>
              <a:rPr lang="en-US" sz="2400" dirty="0"/>
              <a:t>: </a:t>
            </a:r>
            <a:r>
              <a:rPr lang="en-US" sz="2400" dirty="0">
                <a:ea typeface="Verdana" charset="0"/>
                <a:cs typeface="Verdana" charset="0"/>
                <a:sym typeface="Verdana" charset="0"/>
              </a:rPr>
              <a:t>The atoms participating in the bond are sharing electrons equally. There is no difference in charge between the two ends of such bonds.</a:t>
            </a:r>
            <a:endParaRPr lang="en-US" sz="2400" dirty="0">
              <a:sym typeface="Verdana" charset="0"/>
            </a:endParaRPr>
          </a:p>
        </p:txBody>
      </p:sp>
      <p:pic>
        <p:nvPicPr>
          <p:cNvPr id="32771" name="Picture 3"/>
          <p:cNvPicPr>
            <a:picLocks noChangeArrowheads="1"/>
          </p:cNvPicPr>
          <p:nvPr/>
        </p:nvPicPr>
        <p:blipFill>
          <a:blip r:embed="rId2" cstate="print"/>
          <a:srcRect t="2120" b="48598"/>
          <a:stretch>
            <a:fillRect/>
          </a:stretch>
        </p:blipFill>
        <p:spPr bwMode="auto">
          <a:xfrm>
            <a:off x="5486400" y="1524000"/>
            <a:ext cx="2841625" cy="1771650"/>
          </a:xfrm>
          <a:prstGeom prst="rect">
            <a:avLst/>
          </a:prstGeom>
          <a:noFill/>
          <a:ln w="12700" cap="flat">
            <a:solidFill>
              <a:schemeClr val="tx1"/>
            </a:solidFill>
            <a:prstDash val="solid"/>
            <a:round/>
            <a:headEnd/>
            <a:tailEnd/>
          </a:ln>
        </p:spPr>
      </p:pic>
      <p:pic>
        <p:nvPicPr>
          <p:cNvPr id="32772" name="Picture 4"/>
          <p:cNvPicPr>
            <a:picLocks noChangeArrowheads="1"/>
          </p:cNvPicPr>
          <p:nvPr/>
        </p:nvPicPr>
        <p:blipFill>
          <a:blip r:embed="rId3" cstate="print"/>
          <a:srcRect b="68487"/>
          <a:stretch>
            <a:fillRect/>
          </a:stretch>
        </p:blipFill>
        <p:spPr bwMode="auto">
          <a:xfrm>
            <a:off x="5181600" y="4038600"/>
            <a:ext cx="3810000" cy="1295400"/>
          </a:xfrm>
          <a:prstGeom prst="rect">
            <a:avLst/>
          </a:prstGeom>
          <a:noFill/>
          <a:ln w="12700" cap="flat">
            <a:solidFill>
              <a:schemeClr val="tx1"/>
            </a:solidFill>
            <a:prstDash val="solid"/>
            <a:round/>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80647" y="457200"/>
            <a:ext cx="4075528" cy="3372499"/>
          </a:xfrm>
          <a:prstGeom prst="rect">
            <a:avLst/>
          </a:prstGeom>
        </p:spPr>
      </p:pic>
      <p:sp>
        <p:nvSpPr>
          <p:cNvPr id="4" name="Slide Number Placeholder 3"/>
          <p:cNvSpPr>
            <a:spLocks noGrp="1"/>
          </p:cNvSpPr>
          <p:nvPr>
            <p:ph type="sldNum" sz="quarter" idx="12"/>
          </p:nvPr>
        </p:nvSpPr>
        <p:spPr/>
        <p:txBody>
          <a:bodyPr/>
          <a:lstStyle/>
          <a:p>
            <a:fld id="{4A824259-EC09-4C9F-9F84-F0AFA6108387}" type="slidenum">
              <a:rPr lang="en-US" smtClean="0"/>
              <a:pPr/>
              <a:t>26</a:t>
            </a:fld>
            <a:endParaRPr lang="en-US"/>
          </a:p>
        </p:txBody>
      </p:sp>
      <p:pic>
        <p:nvPicPr>
          <p:cNvPr id="1026" name="Picture 2" descr="https://d2gne97vdumgn3.cloudfront.net/api/file/quKsPp1ASU61HzGnpx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6174" y="3947922"/>
            <a:ext cx="4343400" cy="2910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562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228600" y="123825"/>
            <a:ext cx="8686800" cy="609600"/>
          </a:xfrm>
        </p:spPr>
        <p:txBody>
          <a:bodyPr>
            <a:normAutofit fontScale="90000"/>
          </a:bodyPr>
          <a:lstStyle/>
          <a:p>
            <a:r>
              <a:rPr lang="en-US" sz="3600" b="1" dirty="0"/>
              <a:t>Hydrogen Bonds</a:t>
            </a:r>
          </a:p>
        </p:txBody>
      </p:sp>
      <p:sp>
        <p:nvSpPr>
          <p:cNvPr id="7" name="Content Placeholder 6"/>
          <p:cNvSpPr>
            <a:spLocks noGrp="1"/>
          </p:cNvSpPr>
          <p:nvPr>
            <p:ph idx="1"/>
          </p:nvPr>
        </p:nvSpPr>
        <p:spPr>
          <a:xfrm>
            <a:off x="152400" y="838200"/>
            <a:ext cx="8839200" cy="3581400"/>
          </a:xfrm>
        </p:spPr>
        <p:txBody>
          <a:bodyPr>
            <a:normAutofit fontScale="92500" lnSpcReduction="10000"/>
          </a:bodyPr>
          <a:lstStyle/>
          <a:p>
            <a:pPr>
              <a:lnSpc>
                <a:spcPct val="150000"/>
              </a:lnSpc>
              <a:defRPr/>
            </a:pPr>
            <a:r>
              <a:rPr lang="en-US" sz="2400" kern="1200" dirty="0"/>
              <a:t>A hydrogen bond is </a:t>
            </a:r>
            <a:r>
              <a:rPr lang="en-US" sz="2400" b="1" kern="1200" dirty="0">
                <a:solidFill>
                  <a:srgbClr val="0000FF"/>
                </a:solidFill>
              </a:rPr>
              <a:t>a weak attraction</a:t>
            </a:r>
            <a:r>
              <a:rPr lang="en-US" sz="2400" kern="1200" dirty="0"/>
              <a:t> between a </a:t>
            </a:r>
            <a:r>
              <a:rPr lang="en-US" sz="2400" b="1" kern="1200" dirty="0">
                <a:solidFill>
                  <a:srgbClr val="FF3300"/>
                </a:solidFill>
              </a:rPr>
              <a:t>hydrogen atom</a:t>
            </a:r>
            <a:r>
              <a:rPr lang="en-US" sz="2400" kern="1200" dirty="0"/>
              <a:t> and </a:t>
            </a:r>
            <a:r>
              <a:rPr lang="en-US" sz="2400" b="1" kern="1200" dirty="0">
                <a:solidFill>
                  <a:srgbClr val="FF3300"/>
                </a:solidFill>
              </a:rPr>
              <a:t>another atom </a:t>
            </a:r>
            <a:r>
              <a:rPr lang="en-US" sz="2400" kern="1200" dirty="0"/>
              <a:t>taking part in </a:t>
            </a:r>
            <a:r>
              <a:rPr lang="en-US" sz="2400" b="1" kern="1200" dirty="0"/>
              <a:t>a separate polar covalent bond</a:t>
            </a:r>
          </a:p>
          <a:p>
            <a:pPr>
              <a:lnSpc>
                <a:spcPct val="150000"/>
              </a:lnSpc>
              <a:defRPr/>
            </a:pPr>
            <a:r>
              <a:rPr lang="en-US" sz="2400" b="1" i="1" kern="1200" dirty="0">
                <a:solidFill>
                  <a:srgbClr val="0000FF"/>
                </a:solidFill>
              </a:rPr>
              <a:t>Like ionic bonds, hydrogen bonds form by the mutual attraction of opposite charges.</a:t>
            </a:r>
          </a:p>
          <a:p>
            <a:pPr>
              <a:lnSpc>
                <a:spcPct val="150000"/>
              </a:lnSpc>
              <a:defRPr/>
            </a:pPr>
            <a:r>
              <a:rPr lang="en-US" sz="2400" kern="1200" dirty="0"/>
              <a:t>Unlike ionic bonds, hydrogen bonds do not make molecules out of atoms, so they are not chemical bonds</a:t>
            </a:r>
          </a:p>
          <a:p>
            <a:pPr>
              <a:lnSpc>
                <a:spcPct val="150000"/>
              </a:lnSpc>
              <a:defRPr/>
            </a:pPr>
            <a:r>
              <a:rPr lang="en-US" sz="2400" b="1" kern="1200" dirty="0"/>
              <a:t>Hydrogen bonds form and break much more easily</a:t>
            </a:r>
            <a:endParaRPr lang="en-US" sz="2400" b="1" i="1" kern="1200" dirty="0">
              <a:solidFill>
                <a:srgbClr val="0000FF"/>
              </a:solidFill>
            </a:endParaRPr>
          </a:p>
          <a:p>
            <a:pPr>
              <a:defRPr/>
            </a:pPr>
            <a:endParaRPr lang="en-US" sz="2400" dirty="0"/>
          </a:p>
        </p:txBody>
      </p:sp>
      <p:grpSp>
        <p:nvGrpSpPr>
          <p:cNvPr id="2" name="Group 10"/>
          <p:cNvGrpSpPr>
            <a:grpSpLocks/>
          </p:cNvGrpSpPr>
          <p:nvPr/>
        </p:nvGrpSpPr>
        <p:grpSpPr bwMode="auto">
          <a:xfrm>
            <a:off x="1163638" y="4495800"/>
            <a:ext cx="7142162" cy="2133600"/>
            <a:chOff x="228600" y="2098798"/>
            <a:chExt cx="8365517" cy="2363674"/>
          </a:xfrm>
        </p:grpSpPr>
        <p:pic>
          <p:nvPicPr>
            <p:cNvPr id="16389" name="Picture 4"/>
            <p:cNvPicPr>
              <a:picLocks noChangeAspect="1" noChangeArrowheads="1"/>
            </p:cNvPicPr>
            <p:nvPr/>
          </p:nvPicPr>
          <p:blipFill>
            <a:blip r:embed="rId3" cstate="print"/>
            <a:srcRect/>
            <a:stretch>
              <a:fillRect/>
            </a:stretch>
          </p:blipFill>
          <p:spPr bwMode="auto">
            <a:xfrm>
              <a:off x="228600" y="2165226"/>
              <a:ext cx="3616035" cy="2297246"/>
            </a:xfrm>
            <a:prstGeom prst="rect">
              <a:avLst/>
            </a:prstGeom>
            <a:noFill/>
            <a:ln w="9525">
              <a:noFill/>
              <a:miter lim="800000"/>
              <a:headEnd/>
              <a:tailEnd/>
            </a:ln>
          </p:spPr>
        </p:pic>
        <p:pic>
          <p:nvPicPr>
            <p:cNvPr id="16390" name="Picture 5"/>
            <p:cNvPicPr>
              <a:picLocks noChangeAspect="1" noChangeArrowheads="1"/>
            </p:cNvPicPr>
            <p:nvPr/>
          </p:nvPicPr>
          <p:blipFill>
            <a:blip r:embed="rId4" cstate="print"/>
            <a:srcRect/>
            <a:stretch>
              <a:fillRect/>
            </a:stretch>
          </p:blipFill>
          <p:spPr bwMode="auto">
            <a:xfrm>
              <a:off x="3795401" y="2098798"/>
              <a:ext cx="4798716" cy="2285999"/>
            </a:xfrm>
            <a:prstGeom prst="rect">
              <a:avLst/>
            </a:prstGeom>
            <a:noFill/>
            <a:ln w="9525">
              <a:noFill/>
              <a:miter lim="800000"/>
              <a:headEnd/>
              <a:tailEnd/>
            </a:ln>
          </p:spPr>
        </p:pic>
      </p:gr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52400" y="123825"/>
            <a:ext cx="8839200" cy="609600"/>
          </a:xfrm>
        </p:spPr>
        <p:txBody>
          <a:bodyPr>
            <a:noAutofit/>
          </a:bodyPr>
          <a:lstStyle/>
          <a:p>
            <a:r>
              <a:rPr lang="en-US" sz="3600" b="1" dirty="0"/>
              <a:t>Water</a:t>
            </a:r>
          </a:p>
        </p:txBody>
      </p:sp>
      <p:sp>
        <p:nvSpPr>
          <p:cNvPr id="6147" name="Content Placeholder 2"/>
          <p:cNvSpPr>
            <a:spLocks noGrp="1"/>
          </p:cNvSpPr>
          <p:nvPr>
            <p:ph idx="1"/>
          </p:nvPr>
        </p:nvSpPr>
        <p:spPr>
          <a:xfrm>
            <a:off x="152400" y="838200"/>
            <a:ext cx="8839200" cy="5867400"/>
          </a:xfrm>
        </p:spPr>
        <p:txBody>
          <a:bodyPr>
            <a:normAutofit fontScale="92500" lnSpcReduction="20000"/>
          </a:bodyPr>
          <a:lstStyle/>
          <a:p>
            <a:pPr>
              <a:lnSpc>
                <a:spcPct val="150000"/>
              </a:lnSpc>
              <a:defRPr/>
            </a:pPr>
            <a:r>
              <a:rPr lang="en-US" dirty="0"/>
              <a:t>Water: </a:t>
            </a:r>
            <a:r>
              <a:rPr lang="en-US" b="1" dirty="0"/>
              <a:t>Polar covalent bonds </a:t>
            </a:r>
            <a:r>
              <a:rPr lang="en-US" dirty="0"/>
              <a:t>gives water its </a:t>
            </a:r>
            <a:r>
              <a:rPr lang="en-US" b="1" dirty="0">
                <a:effectLst>
                  <a:outerShdw blurRad="38100" dist="38100" dir="2700000" algn="tl">
                    <a:srgbClr val="000000">
                      <a:alpha val="43137"/>
                    </a:srgbClr>
                  </a:outerShdw>
                </a:effectLst>
              </a:rPr>
              <a:t>unique properties </a:t>
            </a:r>
            <a:r>
              <a:rPr lang="en-US" dirty="0"/>
              <a:t>that make life possible</a:t>
            </a:r>
          </a:p>
          <a:p>
            <a:pPr>
              <a:lnSpc>
                <a:spcPct val="150000"/>
              </a:lnSpc>
              <a:defRPr/>
            </a:pPr>
            <a:r>
              <a:rPr lang="en-US" dirty="0">
                <a:solidFill>
                  <a:srgbClr val="FF3300"/>
                </a:solidFill>
                <a:effectLst>
                  <a:outerShdw blurRad="38100" dist="38100" dir="2700000" algn="tl">
                    <a:srgbClr val="000000">
                      <a:alpha val="43137"/>
                    </a:srgbClr>
                  </a:outerShdw>
                </a:effectLst>
              </a:rPr>
              <a:t>Water is an excellent solvent</a:t>
            </a:r>
          </a:p>
          <a:p>
            <a:pPr lvl="1">
              <a:lnSpc>
                <a:spcPct val="150000"/>
              </a:lnSpc>
              <a:defRPr/>
            </a:pPr>
            <a:r>
              <a:rPr lang="en-US" dirty="0"/>
              <a:t>Hydrophilic substances</a:t>
            </a:r>
          </a:p>
          <a:p>
            <a:pPr lvl="1">
              <a:lnSpc>
                <a:spcPct val="150000"/>
              </a:lnSpc>
              <a:defRPr/>
            </a:pPr>
            <a:r>
              <a:rPr lang="en-US" dirty="0"/>
              <a:t>Hydrophobic substances</a:t>
            </a:r>
          </a:p>
          <a:p>
            <a:pPr>
              <a:lnSpc>
                <a:spcPct val="150000"/>
              </a:lnSpc>
              <a:defRPr/>
            </a:pPr>
            <a:r>
              <a:rPr lang="en-US" dirty="0">
                <a:solidFill>
                  <a:srgbClr val="0000FF"/>
                </a:solidFill>
                <a:effectLst>
                  <a:outerShdw blurRad="38100" dist="38100" dir="2700000" algn="tl">
                    <a:srgbClr val="000000">
                      <a:alpha val="43137"/>
                    </a:srgbClr>
                  </a:outerShdw>
                </a:effectLst>
              </a:rPr>
              <a:t>Water is stable in high temperature </a:t>
            </a:r>
          </a:p>
          <a:p>
            <a:pPr lvl="1">
              <a:lnSpc>
                <a:spcPct val="150000"/>
              </a:lnSpc>
              <a:defRPr/>
            </a:pPr>
            <a:r>
              <a:rPr lang="en-US" dirty="0"/>
              <a:t>Why ice floats on water?</a:t>
            </a:r>
          </a:p>
          <a:p>
            <a:pPr>
              <a:lnSpc>
                <a:spcPct val="150000"/>
              </a:lnSpc>
              <a:defRPr/>
            </a:pPr>
            <a:r>
              <a:rPr lang="en-US">
                <a:solidFill>
                  <a:srgbClr val="CC0066"/>
                </a:solidFill>
                <a:effectLst>
                  <a:outerShdw blurRad="38100" dist="38100" dir="2700000" algn="tl">
                    <a:srgbClr val="000000">
                      <a:alpha val="43137"/>
                    </a:srgbClr>
                  </a:outerShdw>
                </a:effectLst>
              </a:rPr>
              <a:t>Water is cohesive/adhesive </a:t>
            </a:r>
            <a:endParaRPr lang="en-US" dirty="0">
              <a:solidFill>
                <a:srgbClr val="CC0066"/>
              </a:solidFill>
              <a:effectLst>
                <a:outerShdw blurRad="38100" dist="38100" dir="2700000" algn="tl">
                  <a:srgbClr val="000000">
                    <a:alpha val="43137"/>
                  </a:srgbClr>
                </a:outerShdw>
              </a:effectLst>
            </a:endParaRPr>
          </a:p>
          <a:p>
            <a:pPr>
              <a:lnSpc>
                <a:spcPct val="150000"/>
              </a:lnSpc>
              <a:defRPr/>
            </a:pPr>
            <a:r>
              <a:rPr lang="en-US" dirty="0">
                <a:solidFill>
                  <a:srgbClr val="7030A0"/>
                </a:solidFill>
                <a:effectLst>
                  <a:outerShdw blurRad="38100" dist="38100" dir="2700000" algn="tl">
                    <a:srgbClr val="000000">
                      <a:alpha val="43137"/>
                    </a:srgbClr>
                  </a:outerShdw>
                </a:effectLst>
              </a:rPr>
              <a:t>Water evaporates</a:t>
            </a:r>
          </a:p>
        </p:txBody>
      </p:sp>
      <p:pic>
        <p:nvPicPr>
          <p:cNvPr id="11266" name="Picture 2" descr="http://water.usgs.gov/edu/graphics/adhesion-cohesion-2.gif"/>
          <p:cNvPicPr>
            <a:picLocks noChangeAspect="1" noChangeArrowheads="1"/>
          </p:cNvPicPr>
          <p:nvPr/>
        </p:nvPicPr>
        <p:blipFill>
          <a:blip r:embed="rId3" cstate="print"/>
          <a:srcRect/>
          <a:stretch>
            <a:fillRect/>
          </a:stretch>
        </p:blipFill>
        <p:spPr bwMode="auto">
          <a:xfrm>
            <a:off x="6705600" y="3352800"/>
            <a:ext cx="1986914" cy="3200400"/>
          </a:xfrm>
          <a:prstGeom prst="rect">
            <a:avLst/>
          </a:prstGeom>
          <a:noFill/>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mph" presetSubtype="1" nodeType="clickEffect">
                                  <p:stCondLst>
                                    <p:cond delay="0"/>
                                  </p:stCondLst>
                                  <p:childTnLst>
                                    <p:set>
                                      <p:cBhvr override="childStyle">
                                        <p:cTn id="6" dur="indefinite"/>
                                        <p:tgtEl>
                                          <p:spTgt spid="6147">
                                            <p:txEl>
                                              <p:pRg st="1" end="1"/>
                                            </p:txEl>
                                          </p:spTgt>
                                        </p:tgtEl>
                                        <p:attrNameLst>
                                          <p:attrName>style.fontStyle</p:attrName>
                                        </p:attrNameLst>
                                      </p:cBhvr>
                                      <p:to>
                                        <p:strVal val="normal"/>
                                      </p:to>
                                    </p:set>
                                    <p:set>
                                      <p:cBhvr override="childStyle">
                                        <p:cTn id="7" dur="indefinite"/>
                                        <p:tgtEl>
                                          <p:spTgt spid="6147">
                                            <p:txEl>
                                              <p:pRg st="1" end="1"/>
                                            </p:txEl>
                                          </p:spTgt>
                                        </p:tgtEl>
                                        <p:attrNameLst>
                                          <p:attrName>style.fontWeight</p:attrName>
                                        </p:attrNameLst>
                                      </p:cBhvr>
                                      <p:to>
                                        <p:strVal val="bold"/>
                                      </p:to>
                                    </p:set>
                                    <p:set>
                                      <p:cBhvr override="childStyle">
                                        <p:cTn id="8" dur="indefinite"/>
                                        <p:tgtEl>
                                          <p:spTgt spid="6147">
                                            <p:txEl>
                                              <p:pRg st="1" end="1"/>
                                            </p:txEl>
                                          </p:spTgt>
                                        </p:tgtEl>
                                        <p:attrNameLst>
                                          <p:attrName>style.textDecorationUnderline</p:attrName>
                                        </p:attrNameLst>
                                      </p:cBhvr>
                                      <p:to>
                                        <p:strVal val="false"/>
                                      </p:to>
                                    </p:set>
                                  </p:childTnLst>
                                </p:cTn>
                              </p:par>
                              <p:par>
                                <p:cTn id="9" presetID="5" presetClass="emph" presetSubtype="1" nodeType="withEffect">
                                  <p:stCondLst>
                                    <p:cond delay="0"/>
                                  </p:stCondLst>
                                  <p:childTnLst>
                                    <p:set>
                                      <p:cBhvr override="childStyle">
                                        <p:cTn id="10" dur="indefinite"/>
                                        <p:tgtEl>
                                          <p:spTgt spid="6147">
                                            <p:txEl>
                                              <p:pRg st="2" end="2"/>
                                            </p:txEl>
                                          </p:spTgt>
                                        </p:tgtEl>
                                        <p:attrNameLst>
                                          <p:attrName>style.fontStyle</p:attrName>
                                        </p:attrNameLst>
                                      </p:cBhvr>
                                      <p:to>
                                        <p:strVal val="normal"/>
                                      </p:to>
                                    </p:set>
                                    <p:set>
                                      <p:cBhvr override="childStyle">
                                        <p:cTn id="11" dur="indefinite"/>
                                        <p:tgtEl>
                                          <p:spTgt spid="6147">
                                            <p:txEl>
                                              <p:pRg st="2" end="2"/>
                                            </p:txEl>
                                          </p:spTgt>
                                        </p:tgtEl>
                                        <p:attrNameLst>
                                          <p:attrName>style.fontWeight</p:attrName>
                                        </p:attrNameLst>
                                      </p:cBhvr>
                                      <p:to>
                                        <p:strVal val="bold"/>
                                      </p:to>
                                    </p:set>
                                    <p:set>
                                      <p:cBhvr override="childStyle">
                                        <p:cTn id="12" dur="indefinite"/>
                                        <p:tgtEl>
                                          <p:spTgt spid="6147">
                                            <p:txEl>
                                              <p:pRg st="2" end="2"/>
                                            </p:txEl>
                                          </p:spTgt>
                                        </p:tgtEl>
                                        <p:attrNameLst>
                                          <p:attrName>style.textDecorationUnderline</p:attrName>
                                        </p:attrNameLst>
                                      </p:cBhvr>
                                      <p:to>
                                        <p:strVal val="false"/>
                                      </p:to>
                                    </p:set>
                                  </p:childTnLst>
                                </p:cTn>
                              </p:par>
                              <p:par>
                                <p:cTn id="13" presetID="5" presetClass="emph" presetSubtype="1" nodeType="withEffect">
                                  <p:stCondLst>
                                    <p:cond delay="0"/>
                                  </p:stCondLst>
                                  <p:childTnLst>
                                    <p:set>
                                      <p:cBhvr override="childStyle">
                                        <p:cTn id="14" dur="indefinite"/>
                                        <p:tgtEl>
                                          <p:spTgt spid="6147">
                                            <p:txEl>
                                              <p:pRg st="3" end="3"/>
                                            </p:txEl>
                                          </p:spTgt>
                                        </p:tgtEl>
                                        <p:attrNameLst>
                                          <p:attrName>style.fontStyle</p:attrName>
                                        </p:attrNameLst>
                                      </p:cBhvr>
                                      <p:to>
                                        <p:strVal val="normal"/>
                                      </p:to>
                                    </p:set>
                                    <p:set>
                                      <p:cBhvr override="childStyle">
                                        <p:cTn id="15" dur="indefinite"/>
                                        <p:tgtEl>
                                          <p:spTgt spid="6147">
                                            <p:txEl>
                                              <p:pRg st="3" end="3"/>
                                            </p:txEl>
                                          </p:spTgt>
                                        </p:tgtEl>
                                        <p:attrNameLst>
                                          <p:attrName>style.fontWeight</p:attrName>
                                        </p:attrNameLst>
                                      </p:cBhvr>
                                      <p:to>
                                        <p:strVal val="bold"/>
                                      </p:to>
                                    </p:set>
                                    <p:set>
                                      <p:cBhvr override="childStyle">
                                        <p:cTn id="16" dur="indefinite"/>
                                        <p:tgtEl>
                                          <p:spTgt spid="6147">
                                            <p:txEl>
                                              <p:pRg st="3" end="3"/>
                                            </p:txEl>
                                          </p:spTgt>
                                        </p:tgtEl>
                                        <p:attrNameLst>
                                          <p:attrName>style.textDecorationUnderline</p:attrName>
                                        </p:attrNameLst>
                                      </p:cBhvr>
                                      <p:to>
                                        <p:strVal val="false"/>
                                      </p:to>
                                    </p:set>
                                  </p:childTnLst>
                                </p:cTn>
                              </p:par>
                            </p:childTnLst>
                          </p:cTn>
                        </p:par>
                      </p:childTnLst>
                    </p:cTn>
                  </p:par>
                  <p:par>
                    <p:cTn id="17" fill="hold">
                      <p:stCondLst>
                        <p:cond delay="indefinite"/>
                      </p:stCondLst>
                      <p:childTnLst>
                        <p:par>
                          <p:cTn id="18" fill="hold">
                            <p:stCondLst>
                              <p:cond delay="0"/>
                            </p:stCondLst>
                            <p:childTnLst>
                              <p:par>
                                <p:cTn id="19" presetID="5" presetClass="emph" presetSubtype="1" nodeType="clickEffect">
                                  <p:stCondLst>
                                    <p:cond delay="0"/>
                                  </p:stCondLst>
                                  <p:childTnLst>
                                    <p:set>
                                      <p:cBhvr override="childStyle">
                                        <p:cTn id="20" dur="indefinite"/>
                                        <p:tgtEl>
                                          <p:spTgt spid="6147">
                                            <p:txEl>
                                              <p:pRg st="4" end="4"/>
                                            </p:txEl>
                                          </p:spTgt>
                                        </p:tgtEl>
                                        <p:attrNameLst>
                                          <p:attrName>style.fontStyle</p:attrName>
                                        </p:attrNameLst>
                                      </p:cBhvr>
                                      <p:to>
                                        <p:strVal val="normal"/>
                                      </p:to>
                                    </p:set>
                                    <p:set>
                                      <p:cBhvr override="childStyle">
                                        <p:cTn id="21" dur="indefinite"/>
                                        <p:tgtEl>
                                          <p:spTgt spid="6147">
                                            <p:txEl>
                                              <p:pRg st="4" end="4"/>
                                            </p:txEl>
                                          </p:spTgt>
                                        </p:tgtEl>
                                        <p:attrNameLst>
                                          <p:attrName>style.fontWeight</p:attrName>
                                        </p:attrNameLst>
                                      </p:cBhvr>
                                      <p:to>
                                        <p:strVal val="bold"/>
                                      </p:to>
                                    </p:set>
                                    <p:set>
                                      <p:cBhvr override="childStyle">
                                        <p:cTn id="22" dur="indefinite"/>
                                        <p:tgtEl>
                                          <p:spTgt spid="6147">
                                            <p:txEl>
                                              <p:pRg st="4" end="4"/>
                                            </p:txEl>
                                          </p:spTgt>
                                        </p:tgtEl>
                                        <p:attrNameLst>
                                          <p:attrName>style.textDecorationUnderline</p:attrName>
                                        </p:attrNameLst>
                                      </p:cBhvr>
                                      <p:to>
                                        <p:strVal val="false"/>
                                      </p:to>
                                    </p:set>
                                  </p:childTnLst>
                                </p:cTn>
                              </p:par>
                              <p:par>
                                <p:cTn id="23" presetID="5" presetClass="emph" presetSubtype="1" nodeType="withEffect">
                                  <p:stCondLst>
                                    <p:cond delay="0"/>
                                  </p:stCondLst>
                                  <p:childTnLst>
                                    <p:set>
                                      <p:cBhvr override="childStyle">
                                        <p:cTn id="24" dur="indefinite"/>
                                        <p:tgtEl>
                                          <p:spTgt spid="6147">
                                            <p:txEl>
                                              <p:pRg st="5" end="5"/>
                                            </p:txEl>
                                          </p:spTgt>
                                        </p:tgtEl>
                                        <p:attrNameLst>
                                          <p:attrName>style.fontStyle</p:attrName>
                                        </p:attrNameLst>
                                      </p:cBhvr>
                                      <p:to>
                                        <p:strVal val="normal"/>
                                      </p:to>
                                    </p:set>
                                    <p:set>
                                      <p:cBhvr override="childStyle">
                                        <p:cTn id="25" dur="indefinite"/>
                                        <p:tgtEl>
                                          <p:spTgt spid="6147">
                                            <p:txEl>
                                              <p:pRg st="5" end="5"/>
                                            </p:txEl>
                                          </p:spTgt>
                                        </p:tgtEl>
                                        <p:attrNameLst>
                                          <p:attrName>style.fontWeight</p:attrName>
                                        </p:attrNameLst>
                                      </p:cBhvr>
                                      <p:to>
                                        <p:strVal val="bold"/>
                                      </p:to>
                                    </p:set>
                                    <p:set>
                                      <p:cBhvr override="childStyle">
                                        <p:cTn id="26" dur="indefinite"/>
                                        <p:tgtEl>
                                          <p:spTgt spid="6147">
                                            <p:txEl>
                                              <p:pRg st="5" end="5"/>
                                            </p:txEl>
                                          </p:spTgt>
                                        </p:tgtEl>
                                        <p:attrNameLst>
                                          <p:attrName>style.textDecorationUnderline</p:attrName>
                                        </p:attrNameLst>
                                      </p:cBhvr>
                                      <p:to>
                                        <p:strVal val="false"/>
                                      </p:to>
                                    </p:set>
                                  </p:childTnLst>
                                </p:cTn>
                              </p:par>
                            </p:childTnLst>
                          </p:cTn>
                        </p:par>
                      </p:childTnLst>
                    </p:cTn>
                  </p:par>
                  <p:par>
                    <p:cTn id="27" fill="hold">
                      <p:stCondLst>
                        <p:cond delay="indefinite"/>
                      </p:stCondLst>
                      <p:childTnLst>
                        <p:par>
                          <p:cTn id="28" fill="hold">
                            <p:stCondLst>
                              <p:cond delay="0"/>
                            </p:stCondLst>
                            <p:childTnLst>
                              <p:par>
                                <p:cTn id="29" presetID="5" presetClass="emph" presetSubtype="1" nodeType="clickEffect">
                                  <p:stCondLst>
                                    <p:cond delay="0"/>
                                  </p:stCondLst>
                                  <p:childTnLst>
                                    <p:set>
                                      <p:cBhvr override="childStyle">
                                        <p:cTn id="30" dur="indefinite"/>
                                        <p:tgtEl>
                                          <p:spTgt spid="6147">
                                            <p:txEl>
                                              <p:pRg st="6" end="6"/>
                                            </p:txEl>
                                          </p:spTgt>
                                        </p:tgtEl>
                                        <p:attrNameLst>
                                          <p:attrName>style.fontStyle</p:attrName>
                                        </p:attrNameLst>
                                      </p:cBhvr>
                                      <p:to>
                                        <p:strVal val="normal"/>
                                      </p:to>
                                    </p:set>
                                    <p:set>
                                      <p:cBhvr override="childStyle">
                                        <p:cTn id="31" dur="indefinite"/>
                                        <p:tgtEl>
                                          <p:spTgt spid="6147">
                                            <p:txEl>
                                              <p:pRg st="6" end="6"/>
                                            </p:txEl>
                                          </p:spTgt>
                                        </p:tgtEl>
                                        <p:attrNameLst>
                                          <p:attrName>style.fontWeight</p:attrName>
                                        </p:attrNameLst>
                                      </p:cBhvr>
                                      <p:to>
                                        <p:strVal val="bold"/>
                                      </p:to>
                                    </p:set>
                                    <p:set>
                                      <p:cBhvr override="childStyle">
                                        <p:cTn id="32" dur="indefinite"/>
                                        <p:tgtEl>
                                          <p:spTgt spid="6147">
                                            <p:txEl>
                                              <p:pRg st="6" end="6"/>
                                            </p:txEl>
                                          </p:spTgt>
                                        </p:tgtEl>
                                        <p:attrNameLst>
                                          <p:attrName>style.textDecorationUnderline</p:attrName>
                                        </p:attrNameLst>
                                      </p:cBhvr>
                                      <p:to>
                                        <p:strVal val="false"/>
                                      </p:to>
                                    </p:set>
                                  </p:childTnLst>
                                </p:cTn>
                              </p:par>
                            </p:childTnLst>
                          </p:cTn>
                        </p:par>
                      </p:childTnLst>
                    </p:cTn>
                  </p:par>
                  <p:par>
                    <p:cTn id="33" fill="hold">
                      <p:stCondLst>
                        <p:cond delay="indefinite"/>
                      </p:stCondLst>
                      <p:childTnLst>
                        <p:par>
                          <p:cTn id="34" fill="hold">
                            <p:stCondLst>
                              <p:cond delay="0"/>
                            </p:stCondLst>
                            <p:childTnLst>
                              <p:par>
                                <p:cTn id="35" presetID="5" presetClass="emph" presetSubtype="1" nodeType="clickEffect">
                                  <p:stCondLst>
                                    <p:cond delay="0"/>
                                  </p:stCondLst>
                                  <p:childTnLst>
                                    <p:set>
                                      <p:cBhvr override="childStyle">
                                        <p:cTn id="36" dur="indefinite"/>
                                        <p:tgtEl>
                                          <p:spTgt spid="6147">
                                            <p:txEl>
                                              <p:pRg st="7" end="7"/>
                                            </p:txEl>
                                          </p:spTgt>
                                        </p:tgtEl>
                                        <p:attrNameLst>
                                          <p:attrName>style.fontStyle</p:attrName>
                                        </p:attrNameLst>
                                      </p:cBhvr>
                                      <p:to>
                                        <p:strVal val="normal"/>
                                      </p:to>
                                    </p:set>
                                    <p:set>
                                      <p:cBhvr override="childStyle">
                                        <p:cTn id="37" dur="indefinite"/>
                                        <p:tgtEl>
                                          <p:spTgt spid="6147">
                                            <p:txEl>
                                              <p:pRg st="7" end="7"/>
                                            </p:txEl>
                                          </p:spTgt>
                                        </p:tgtEl>
                                        <p:attrNameLst>
                                          <p:attrName>style.fontWeight</p:attrName>
                                        </p:attrNameLst>
                                      </p:cBhvr>
                                      <p:to>
                                        <p:strVal val="bold"/>
                                      </p:to>
                                    </p:set>
                                    <p:set>
                                      <p:cBhvr override="childStyle">
                                        <p:cTn id="38" dur="indefinite"/>
                                        <p:tgtEl>
                                          <p:spTgt spid="6147">
                                            <p:txEl>
                                              <p:pRg st="7" end="7"/>
                                            </p:txEl>
                                          </p:spTgt>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itle 2"/>
          <p:cNvSpPr>
            <a:spLocks noGrp="1"/>
          </p:cNvSpPr>
          <p:nvPr>
            <p:ph type="title"/>
          </p:nvPr>
        </p:nvSpPr>
        <p:spPr>
          <a:xfrm>
            <a:off x="2743200" y="76200"/>
            <a:ext cx="3124200" cy="533400"/>
          </a:xfrm>
        </p:spPr>
        <p:txBody>
          <a:bodyPr>
            <a:normAutofit fontScale="90000"/>
          </a:bodyPr>
          <a:lstStyle/>
          <a:p>
            <a:r>
              <a:rPr lang="en-US" sz="3600" b="1" dirty="0"/>
              <a:t>Diffusion</a:t>
            </a:r>
          </a:p>
        </p:txBody>
      </p:sp>
      <p:sp>
        <p:nvSpPr>
          <p:cNvPr id="4" name="Rectangle 3"/>
          <p:cNvSpPr/>
          <p:nvPr/>
        </p:nvSpPr>
        <p:spPr>
          <a:xfrm>
            <a:off x="381000" y="1030069"/>
            <a:ext cx="8305800" cy="707886"/>
          </a:xfrm>
          <a:prstGeom prst="rect">
            <a:avLst/>
          </a:prstGeom>
        </p:spPr>
        <p:txBody>
          <a:bodyPr wrap="square">
            <a:spAutoFit/>
          </a:bodyPr>
          <a:lstStyle/>
          <a:p>
            <a:r>
              <a:rPr lang="en-US" sz="2000" b="1" dirty="0"/>
              <a:t>The process by which molecules spread from areas of high concentration, to areas of low concentration. </a:t>
            </a:r>
            <a:endParaRPr lang="en-GB" sz="2000" b="1" dirty="0"/>
          </a:p>
        </p:txBody>
      </p:sp>
      <p:pic>
        <p:nvPicPr>
          <p:cNvPr id="8194" name="Picture 2" descr="http://solarwiki.ucdavis.edu/@api/deki/files/137/diffusion_1.png"/>
          <p:cNvPicPr>
            <a:picLocks noChangeAspect="1" noChangeArrowheads="1"/>
          </p:cNvPicPr>
          <p:nvPr/>
        </p:nvPicPr>
        <p:blipFill>
          <a:blip r:embed="rId2" cstate="print"/>
          <a:srcRect/>
          <a:stretch>
            <a:fillRect/>
          </a:stretch>
        </p:blipFill>
        <p:spPr bwMode="auto">
          <a:xfrm>
            <a:off x="1219200" y="1828800"/>
            <a:ext cx="7391400" cy="4730497"/>
          </a:xfrm>
          <a:prstGeom prst="rect">
            <a:avLst/>
          </a:prstGeom>
          <a:noFill/>
        </p:spPr>
      </p:pic>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cstate="print"/>
          <a:srcRect/>
          <a:stretch>
            <a:fillRect/>
          </a:stretch>
        </p:blipFill>
        <p:spPr bwMode="auto">
          <a:xfrm>
            <a:off x="204788" y="800100"/>
            <a:ext cx="8734425" cy="5753100"/>
          </a:xfrm>
          <a:prstGeom prst="rect">
            <a:avLst/>
          </a:prstGeom>
          <a:noFill/>
          <a:ln w="9525">
            <a:noFill/>
            <a:miter lim="800000"/>
            <a:headEnd/>
            <a:tailEnd/>
          </a:ln>
        </p:spPr>
      </p:pic>
      <p:sp>
        <p:nvSpPr>
          <p:cNvPr id="21507" name="Title 2"/>
          <p:cNvSpPr>
            <a:spLocks noGrp="1"/>
          </p:cNvSpPr>
          <p:nvPr>
            <p:ph type="title"/>
          </p:nvPr>
        </p:nvSpPr>
        <p:spPr>
          <a:xfrm>
            <a:off x="2743200" y="76200"/>
            <a:ext cx="3124200" cy="533400"/>
          </a:xfrm>
        </p:spPr>
        <p:txBody>
          <a:bodyPr>
            <a:normAutofit fontScale="90000"/>
          </a:bodyPr>
          <a:lstStyle/>
          <a:p>
            <a:r>
              <a:rPr lang="en-US" sz="3600" b="1" dirty="0"/>
              <a:t>Diffusion</a:t>
            </a: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200400" y="228600"/>
            <a:ext cx="2743200" cy="685800"/>
          </a:xfrm>
        </p:spPr>
        <p:txBody>
          <a:bodyPr>
            <a:normAutofit fontScale="90000"/>
          </a:bodyPr>
          <a:lstStyle/>
          <a:p>
            <a:r>
              <a:rPr lang="en-US" b="1" dirty="0"/>
              <a:t>OSMOSIS</a:t>
            </a:r>
          </a:p>
        </p:txBody>
      </p:sp>
      <p:sp>
        <p:nvSpPr>
          <p:cNvPr id="22531" name="Content Placeholder 2"/>
          <p:cNvSpPr>
            <a:spLocks noGrp="1"/>
          </p:cNvSpPr>
          <p:nvPr>
            <p:ph idx="1"/>
          </p:nvPr>
        </p:nvSpPr>
        <p:spPr>
          <a:xfrm>
            <a:off x="152400" y="990600"/>
            <a:ext cx="8839200" cy="5334000"/>
          </a:xfrm>
        </p:spPr>
        <p:txBody>
          <a:bodyPr/>
          <a:lstStyle/>
          <a:p>
            <a:r>
              <a:rPr lang="en-US" sz="2400" dirty="0"/>
              <a:t>The diffusion of water (across a membrane). Water will move in the direction where there is a high concentration of solute (and hence a lower concentration of water).</a:t>
            </a:r>
            <a:endParaRPr lang="en-GB" sz="2400" dirty="0"/>
          </a:p>
          <a:p>
            <a:endParaRPr lang="en-US" dirty="0"/>
          </a:p>
        </p:txBody>
      </p:sp>
      <p:pic>
        <p:nvPicPr>
          <p:cNvPr id="6146" name="Picture 2" descr="http://lh5.ggpht.com/-4AuojW8MTF4/Uor75xtfRqI/AAAAAAAAAZ8/u8i1HaN46pA/osmosis_thumb%25255B2%25255D.gif?imgmax=800"/>
          <p:cNvPicPr>
            <a:picLocks noChangeAspect="1" noChangeArrowheads="1" noCrop="1"/>
          </p:cNvPicPr>
          <p:nvPr/>
        </p:nvPicPr>
        <p:blipFill>
          <a:blip r:embed="rId2" cstate="print"/>
          <a:srcRect/>
          <a:stretch>
            <a:fillRect/>
          </a:stretch>
        </p:blipFill>
        <p:spPr bwMode="auto">
          <a:xfrm>
            <a:off x="1828800" y="2285999"/>
            <a:ext cx="6096000" cy="4572001"/>
          </a:xfrm>
          <a:prstGeom prst="rect">
            <a:avLst/>
          </a:prstGeom>
          <a:noFill/>
        </p:spPr>
      </p:pic>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Diffusion vs. Osmosis</a:t>
            </a:r>
          </a:p>
        </p:txBody>
      </p:sp>
      <p:sp>
        <p:nvSpPr>
          <p:cNvPr id="4" name="Slide Number Placeholder 3"/>
          <p:cNvSpPr>
            <a:spLocks noGrp="1"/>
          </p:cNvSpPr>
          <p:nvPr>
            <p:ph type="sldNum" sz="quarter" idx="12"/>
          </p:nvPr>
        </p:nvSpPr>
        <p:spPr/>
        <p:txBody>
          <a:bodyPr/>
          <a:lstStyle/>
          <a:p>
            <a:fld id="{4A824259-EC09-4C9F-9F84-F0AFA6108387}" type="slidenum">
              <a:rPr lang="en-US" smtClean="0"/>
              <a:pPr/>
              <a:t>32</a:t>
            </a:fld>
            <a:endParaRPr lang="en-US"/>
          </a:p>
        </p:txBody>
      </p:sp>
      <p:pic>
        <p:nvPicPr>
          <p:cNvPr id="56322" name="Picture 2" descr="http://images.tutorvista.com/cms/images/40/osmosis-and-diffusion-venn-diagram.png"/>
          <p:cNvPicPr>
            <a:picLocks noChangeAspect="1" noChangeArrowheads="1"/>
          </p:cNvPicPr>
          <p:nvPr/>
        </p:nvPicPr>
        <p:blipFill>
          <a:blip r:embed="rId2" cstate="print"/>
          <a:srcRect/>
          <a:stretch>
            <a:fillRect/>
          </a:stretch>
        </p:blipFill>
        <p:spPr bwMode="auto">
          <a:xfrm>
            <a:off x="449368" y="1371600"/>
            <a:ext cx="8008832" cy="511100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Effect transition="in" filter="wipe(down)">
                                      <p:cBhvr>
                                        <p:cTn id="7" dur="500"/>
                                        <p:tgtEl>
                                          <p:spTgt spid="56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76200" y="152400"/>
            <a:ext cx="8839200" cy="609600"/>
          </a:xfrm>
        </p:spPr>
        <p:txBody>
          <a:bodyPr>
            <a:normAutofit/>
          </a:bodyPr>
          <a:lstStyle/>
          <a:p>
            <a:pPr eaLnBrk="1" hangingPunct="1">
              <a:defRPr/>
            </a:pPr>
            <a:r>
              <a:rPr lang="en-US" altLang="en-US" sz="3200" b="1" dirty="0"/>
              <a:t>Tonicity</a:t>
            </a:r>
            <a:endParaRPr lang="en-US" sz="3200" b="1" dirty="0"/>
          </a:p>
        </p:txBody>
      </p:sp>
      <p:sp>
        <p:nvSpPr>
          <p:cNvPr id="25603" name="Rectangle 3"/>
          <p:cNvSpPr>
            <a:spLocks noGrp="1" noChangeArrowheads="1"/>
          </p:cNvSpPr>
          <p:nvPr>
            <p:ph type="body" idx="1"/>
          </p:nvPr>
        </p:nvSpPr>
        <p:spPr>
          <a:xfrm>
            <a:off x="76200" y="609600"/>
            <a:ext cx="8991600" cy="6096000"/>
          </a:xfrm>
        </p:spPr>
        <p:txBody>
          <a:bodyPr>
            <a:normAutofit fontScale="92500" lnSpcReduction="10000"/>
          </a:bodyPr>
          <a:lstStyle/>
          <a:p>
            <a:pPr eaLnBrk="1" hangingPunct="1"/>
            <a:endParaRPr lang="en-US" altLang="en-US" sz="2400" dirty="0"/>
          </a:p>
          <a:p>
            <a:pPr eaLnBrk="1" hangingPunct="1"/>
            <a:r>
              <a:rPr lang="en-US" altLang="en-US" sz="2400" dirty="0"/>
              <a:t>The effect of a solution on the osmotic movement of H</a:t>
            </a:r>
            <a:r>
              <a:rPr lang="en-US" altLang="en-US" sz="2400" baseline="-25000" dirty="0"/>
              <a:t>2</a:t>
            </a:r>
            <a:r>
              <a:rPr lang="en-US" altLang="en-US" sz="2400" dirty="0"/>
              <a:t>0.</a:t>
            </a:r>
          </a:p>
          <a:p>
            <a:pPr eaLnBrk="1" hangingPunct="1"/>
            <a:r>
              <a:rPr lang="en-US" altLang="en-US" sz="2400" dirty="0"/>
              <a:t>The tonicity of a solution has no units</a:t>
            </a:r>
          </a:p>
          <a:p>
            <a:pPr eaLnBrk="1" hangingPunct="1"/>
            <a:r>
              <a:rPr lang="en-US" altLang="en-US" sz="2400" dirty="0"/>
              <a:t>Reflection of its concentration of non-penetrating  solutes  relative  to  the  cell’s  concentration of non-penetrating solutes</a:t>
            </a:r>
          </a:p>
          <a:p>
            <a:pPr eaLnBrk="1" hangingPunct="1"/>
            <a:endParaRPr lang="en-US" altLang="en-US" sz="2400" dirty="0"/>
          </a:p>
          <a:p>
            <a:pPr eaLnBrk="1" hangingPunct="1">
              <a:lnSpc>
                <a:spcPct val="80000"/>
              </a:lnSpc>
            </a:pPr>
            <a:r>
              <a:rPr lang="en-US" altLang="en-US" sz="2800" b="1" dirty="0"/>
              <a:t>Isotonic</a:t>
            </a:r>
          </a:p>
          <a:p>
            <a:pPr>
              <a:lnSpc>
                <a:spcPct val="80000"/>
              </a:lnSpc>
              <a:buNone/>
            </a:pPr>
            <a:r>
              <a:rPr lang="en-US" sz="2800" dirty="0"/>
              <a:t>	</a:t>
            </a:r>
            <a:r>
              <a:rPr lang="en-US" sz="2200" dirty="0"/>
              <a:t>If the concentration of solute (salt) is equal on both sides, the water will move back and forth but it won't have any result on the overall amount of water on either side</a:t>
            </a:r>
            <a:endParaRPr lang="en-GB" sz="2200" b="1" dirty="0"/>
          </a:p>
          <a:p>
            <a:pPr eaLnBrk="1" hangingPunct="1">
              <a:lnSpc>
                <a:spcPct val="80000"/>
              </a:lnSpc>
            </a:pPr>
            <a:endParaRPr lang="en-US" altLang="en-US" sz="2800" b="1" dirty="0"/>
          </a:p>
          <a:p>
            <a:pPr eaLnBrk="1" hangingPunct="1">
              <a:lnSpc>
                <a:spcPct val="80000"/>
              </a:lnSpc>
            </a:pPr>
            <a:r>
              <a:rPr lang="en-US" altLang="en-US" sz="2400" b="1" dirty="0"/>
              <a:t>Hypotonic</a:t>
            </a:r>
          </a:p>
          <a:p>
            <a:pPr>
              <a:lnSpc>
                <a:spcPct val="80000"/>
              </a:lnSpc>
              <a:buNone/>
            </a:pPr>
            <a:r>
              <a:rPr lang="en-US" sz="2400" dirty="0"/>
              <a:t>	The word "</a:t>
            </a:r>
            <a:r>
              <a:rPr lang="en-US" sz="2400" b="1" dirty="0"/>
              <a:t>HYPO</a:t>
            </a:r>
            <a:r>
              <a:rPr lang="en-US" sz="2400" dirty="0"/>
              <a:t>" means less, in this case there are less solute (salt) molecules outside the cell, since salt sucks, water will move into the cell</a:t>
            </a:r>
            <a:endParaRPr lang="en-GB" sz="2400" dirty="0"/>
          </a:p>
          <a:p>
            <a:pPr eaLnBrk="1" hangingPunct="1">
              <a:lnSpc>
                <a:spcPct val="80000"/>
              </a:lnSpc>
            </a:pPr>
            <a:endParaRPr lang="en-US" altLang="en-US" sz="2400" b="1" dirty="0"/>
          </a:p>
          <a:p>
            <a:pPr eaLnBrk="1" hangingPunct="1">
              <a:lnSpc>
                <a:spcPct val="80000"/>
              </a:lnSpc>
            </a:pPr>
            <a:r>
              <a:rPr lang="en-US" altLang="en-US" sz="2400" b="1" dirty="0"/>
              <a:t>Hypertonic</a:t>
            </a:r>
          </a:p>
          <a:p>
            <a:pPr>
              <a:lnSpc>
                <a:spcPct val="80000"/>
              </a:lnSpc>
              <a:buNone/>
            </a:pPr>
            <a:r>
              <a:rPr lang="en-US" sz="2400" dirty="0"/>
              <a:t>	The word "</a:t>
            </a:r>
            <a:r>
              <a:rPr lang="en-US" sz="2400" b="1" dirty="0"/>
              <a:t>HYPER</a:t>
            </a:r>
            <a:r>
              <a:rPr lang="en-US" sz="2400" dirty="0"/>
              <a:t>" means more, in this case there are more solute (salt) molecules outside the cell, which causes the water to be sucked in that direction.</a:t>
            </a:r>
            <a:endParaRPr lang="en-GB" sz="2400" dirty="0"/>
          </a:p>
          <a:p>
            <a:pPr eaLnBrk="1" hangingPunct="1">
              <a:lnSpc>
                <a:spcPct val="80000"/>
              </a:lnSpc>
            </a:pPr>
            <a:endParaRPr lang="en-US" altLang="en-US" sz="2400" b="1" dirty="0"/>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143000"/>
          </a:xfrm>
        </p:spPr>
        <p:txBody>
          <a:bodyPr/>
          <a:lstStyle/>
          <a:p>
            <a:r>
              <a:rPr lang="en-GB" b="1" dirty="0"/>
              <a:t>Tonicity and living cells </a:t>
            </a:r>
          </a:p>
        </p:txBody>
      </p:sp>
      <p:sp>
        <p:nvSpPr>
          <p:cNvPr id="4" name="Slide Number Placeholder 3"/>
          <p:cNvSpPr>
            <a:spLocks noGrp="1"/>
          </p:cNvSpPr>
          <p:nvPr>
            <p:ph type="sldNum" sz="quarter" idx="12"/>
          </p:nvPr>
        </p:nvSpPr>
        <p:spPr/>
        <p:txBody>
          <a:bodyPr/>
          <a:lstStyle/>
          <a:p>
            <a:fld id="{4A824259-EC09-4C9F-9F84-F0AFA6108387}" type="slidenum">
              <a:rPr lang="en-US" smtClean="0"/>
              <a:pPr/>
              <a:t>34</a:t>
            </a:fld>
            <a:endParaRPr lang="en-US"/>
          </a:p>
        </p:txBody>
      </p:sp>
      <p:pic>
        <p:nvPicPr>
          <p:cNvPr id="57349" name="Picture 5" descr="http://test.classconnection.s3.amazonaws.com/794/flashcards/406794/png/tonicity.png"/>
          <p:cNvPicPr>
            <a:picLocks noChangeAspect="1" noChangeArrowheads="1"/>
          </p:cNvPicPr>
          <p:nvPr/>
        </p:nvPicPr>
        <p:blipFill>
          <a:blip r:embed="rId2" cstate="print"/>
          <a:srcRect/>
          <a:stretch>
            <a:fillRect/>
          </a:stretch>
        </p:blipFill>
        <p:spPr bwMode="auto">
          <a:xfrm>
            <a:off x="685800" y="914400"/>
            <a:ext cx="7544508" cy="59436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0" y="0"/>
            <a:ext cx="4038600" cy="609600"/>
          </a:xfrm>
        </p:spPr>
        <p:txBody>
          <a:bodyPr>
            <a:normAutofit fontScale="90000"/>
          </a:bodyPr>
          <a:lstStyle/>
          <a:p>
            <a:r>
              <a:rPr lang="en-US" sz="3600" dirty="0"/>
              <a:t>Acids and Bases</a:t>
            </a:r>
          </a:p>
        </p:txBody>
      </p:sp>
      <p:sp>
        <p:nvSpPr>
          <p:cNvPr id="3" name="Content Placeholder 2"/>
          <p:cNvSpPr>
            <a:spLocks noGrp="1"/>
          </p:cNvSpPr>
          <p:nvPr>
            <p:ph idx="1"/>
          </p:nvPr>
        </p:nvSpPr>
        <p:spPr>
          <a:xfrm>
            <a:off x="0" y="1371600"/>
            <a:ext cx="6172200" cy="5486400"/>
          </a:xfrm>
        </p:spPr>
        <p:txBody>
          <a:bodyPr>
            <a:normAutofit fontScale="92500" lnSpcReduction="10000"/>
          </a:bodyPr>
          <a:lstStyle/>
          <a:p>
            <a:pPr>
              <a:lnSpc>
                <a:spcPct val="120000"/>
              </a:lnSpc>
              <a:defRPr/>
            </a:pPr>
            <a:r>
              <a:rPr lang="en-US" sz="1800" b="1" dirty="0">
                <a:solidFill>
                  <a:srgbClr val="006600"/>
                </a:solidFill>
              </a:rPr>
              <a:t>Acids: </a:t>
            </a:r>
            <a:r>
              <a:rPr lang="en-US" sz="1800" dirty="0">
                <a:solidFill>
                  <a:srgbClr val="006600"/>
                </a:solidFill>
              </a:rPr>
              <a:t>Fossil fuel, N</a:t>
            </a:r>
            <a:r>
              <a:rPr lang="en-US" sz="1800" baseline="-25000" dirty="0">
                <a:solidFill>
                  <a:srgbClr val="006600"/>
                </a:solidFill>
              </a:rPr>
              <a:t>2</a:t>
            </a:r>
            <a:r>
              <a:rPr lang="en-US" sz="1800" dirty="0">
                <a:solidFill>
                  <a:srgbClr val="006600"/>
                </a:solidFill>
              </a:rPr>
              <a:t> containing fertilizers, Acid rain</a:t>
            </a:r>
          </a:p>
          <a:p>
            <a:pPr>
              <a:lnSpc>
                <a:spcPct val="120000"/>
              </a:lnSpc>
              <a:defRPr/>
            </a:pPr>
            <a:r>
              <a:rPr lang="en-US" sz="1800" b="1" dirty="0">
                <a:solidFill>
                  <a:srgbClr val="006600"/>
                </a:solidFill>
              </a:rPr>
              <a:t>Bases</a:t>
            </a:r>
          </a:p>
          <a:p>
            <a:pPr>
              <a:lnSpc>
                <a:spcPct val="120000"/>
              </a:lnSpc>
              <a:defRPr/>
            </a:pPr>
            <a:r>
              <a:rPr lang="en-US" sz="1800" kern="1200" dirty="0">
                <a:solidFill>
                  <a:srgbClr val="006600"/>
                </a:solidFill>
              </a:rPr>
              <a:t>Hydrogen ions contribute to </a:t>
            </a:r>
            <a:r>
              <a:rPr lang="en-US" sz="1800" kern="1200" dirty="0" err="1">
                <a:solidFill>
                  <a:srgbClr val="006600"/>
                </a:solidFill>
              </a:rPr>
              <a:t>pH.</a:t>
            </a:r>
            <a:r>
              <a:rPr lang="en-US" sz="1800" kern="1200" dirty="0">
                <a:solidFill>
                  <a:srgbClr val="006600"/>
                </a:solidFill>
              </a:rPr>
              <a:t> Acids release hydrogen ions in water; bases accept them. Salts release ions other than H</a:t>
            </a:r>
            <a:r>
              <a:rPr lang="en-US" sz="1800" kern="1200" baseline="30000" dirty="0">
                <a:solidFill>
                  <a:srgbClr val="006600"/>
                </a:solidFill>
              </a:rPr>
              <a:t>+</a:t>
            </a:r>
            <a:r>
              <a:rPr lang="en-US" sz="1800" kern="1200" dirty="0">
                <a:solidFill>
                  <a:srgbClr val="006600"/>
                </a:solidFill>
              </a:rPr>
              <a:t> and OH</a:t>
            </a:r>
            <a:r>
              <a:rPr lang="en-US" sz="1800" kern="1200" baseline="30000" dirty="0">
                <a:solidFill>
                  <a:srgbClr val="006600"/>
                </a:solidFill>
              </a:rPr>
              <a:t>-</a:t>
            </a:r>
            <a:r>
              <a:rPr lang="en-US" sz="1800" kern="1200" dirty="0">
                <a:solidFill>
                  <a:srgbClr val="006600"/>
                </a:solidFill>
              </a:rPr>
              <a:t>.</a:t>
            </a:r>
          </a:p>
          <a:p>
            <a:pPr>
              <a:lnSpc>
                <a:spcPct val="120000"/>
              </a:lnSpc>
              <a:defRPr/>
            </a:pPr>
            <a:r>
              <a:rPr lang="en-US" sz="1800" dirty="0">
                <a:solidFill>
                  <a:srgbClr val="C00000"/>
                </a:solidFill>
              </a:rPr>
              <a:t>What is pH </a:t>
            </a:r>
          </a:p>
          <a:p>
            <a:pPr>
              <a:lnSpc>
                <a:spcPct val="120000"/>
              </a:lnSpc>
              <a:defRPr/>
            </a:pPr>
            <a:r>
              <a:rPr lang="en-US" sz="1800" dirty="0">
                <a:solidFill>
                  <a:srgbClr val="C00000"/>
                </a:solidFill>
              </a:rPr>
              <a:t>A figure expressing the acidity or alkalinity of a solution on a logarithmic scale on which 7 is neutral, lower values are more acid, and higher values more alkaline. </a:t>
            </a:r>
          </a:p>
          <a:p>
            <a:pPr>
              <a:lnSpc>
                <a:spcPct val="120000"/>
              </a:lnSpc>
              <a:defRPr/>
            </a:pPr>
            <a:r>
              <a:rPr lang="en-US" sz="1800" dirty="0">
                <a:solidFill>
                  <a:srgbClr val="C00000"/>
                </a:solidFill>
              </a:rPr>
              <a:t>The pH is equal to -log</a:t>
            </a:r>
            <a:r>
              <a:rPr lang="en-US" sz="1800" baseline="-25000" dirty="0">
                <a:solidFill>
                  <a:srgbClr val="C00000"/>
                </a:solidFill>
              </a:rPr>
              <a:t>10</a:t>
            </a:r>
            <a:r>
              <a:rPr lang="en-US" sz="1800" dirty="0">
                <a:solidFill>
                  <a:srgbClr val="C00000"/>
                </a:solidFill>
              </a:rPr>
              <a:t> </a:t>
            </a:r>
            <a:r>
              <a:rPr lang="en-US" sz="1800" i="1" dirty="0">
                <a:solidFill>
                  <a:srgbClr val="C00000"/>
                </a:solidFill>
              </a:rPr>
              <a:t>c</a:t>
            </a:r>
            <a:r>
              <a:rPr lang="en-US" sz="1800" dirty="0">
                <a:solidFill>
                  <a:srgbClr val="C00000"/>
                </a:solidFill>
              </a:rPr>
              <a:t>, where </a:t>
            </a:r>
            <a:r>
              <a:rPr lang="en-US" sz="1800" i="1" dirty="0">
                <a:solidFill>
                  <a:srgbClr val="C00000"/>
                </a:solidFill>
              </a:rPr>
              <a:t>c</a:t>
            </a:r>
            <a:r>
              <a:rPr lang="en-US" sz="1800" dirty="0">
                <a:solidFill>
                  <a:srgbClr val="C00000"/>
                </a:solidFill>
              </a:rPr>
              <a:t> is the hydrogen ion concentration in moles per liter.</a:t>
            </a:r>
          </a:p>
          <a:p>
            <a:pPr>
              <a:lnSpc>
                <a:spcPct val="120000"/>
              </a:lnSpc>
              <a:defRPr/>
            </a:pPr>
            <a:r>
              <a:rPr lang="en-US" sz="1800" dirty="0">
                <a:solidFill>
                  <a:srgbClr val="0000FF"/>
                </a:solidFill>
              </a:rPr>
              <a:t>Buffers</a:t>
            </a:r>
          </a:p>
          <a:p>
            <a:pPr>
              <a:defRPr/>
            </a:pPr>
            <a:r>
              <a:rPr lang="en-US" sz="1800" dirty="0">
                <a:solidFill>
                  <a:srgbClr val="0000FF"/>
                </a:solidFill>
              </a:rPr>
              <a:t>A solution that resists changes in pH when acid or alkali is added to it. Buffers typically involve a weak acid or alkali together with one of its salts.</a:t>
            </a:r>
            <a:endParaRPr lang="en-US" sz="1800" kern="1200" dirty="0">
              <a:solidFill>
                <a:srgbClr val="0000FF"/>
              </a:solidFill>
            </a:endParaRPr>
          </a:p>
          <a:p>
            <a:pPr>
              <a:lnSpc>
                <a:spcPct val="120000"/>
              </a:lnSpc>
              <a:defRPr/>
            </a:pPr>
            <a:r>
              <a:rPr lang="en-US" sz="1800" kern="1200" dirty="0">
                <a:solidFill>
                  <a:srgbClr val="0000FF"/>
                </a:solidFill>
              </a:rPr>
              <a:t>Buffers keep the pH of body fluids stable. They are part of homeostasis.</a:t>
            </a:r>
          </a:p>
        </p:txBody>
      </p:sp>
      <p:pic>
        <p:nvPicPr>
          <p:cNvPr id="18436" name="Picture 2"/>
          <p:cNvPicPr>
            <a:picLocks noChangeAspect="1" noChangeArrowheads="1"/>
          </p:cNvPicPr>
          <p:nvPr/>
        </p:nvPicPr>
        <p:blipFill>
          <a:blip r:embed="rId3" cstate="print"/>
          <a:srcRect/>
          <a:stretch>
            <a:fillRect/>
          </a:stretch>
        </p:blipFill>
        <p:spPr bwMode="auto">
          <a:xfrm>
            <a:off x="6172200" y="0"/>
            <a:ext cx="2971800" cy="6858000"/>
          </a:xfrm>
          <a:prstGeom prst="rect">
            <a:avLst/>
          </a:prstGeom>
          <a:noFill/>
          <a:ln w="9525">
            <a:noFill/>
            <a:miter lim="800000"/>
            <a:headEnd/>
            <a:tailEnd/>
          </a:ln>
        </p:spPr>
      </p:pic>
      <p:pic>
        <p:nvPicPr>
          <p:cNvPr id="27653" name="Picture 3"/>
          <p:cNvPicPr>
            <a:picLocks noChangeAspect="1" noChangeArrowheads="1"/>
          </p:cNvPicPr>
          <p:nvPr/>
        </p:nvPicPr>
        <p:blipFill>
          <a:blip r:embed="rId4" cstate="print"/>
          <a:srcRect/>
          <a:stretch>
            <a:fillRect/>
          </a:stretch>
        </p:blipFill>
        <p:spPr bwMode="auto">
          <a:xfrm>
            <a:off x="0" y="609600"/>
            <a:ext cx="5181600" cy="802879"/>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par>
                                <p:cTn id="21" presetID="3" presetClass="emph" presetSubtype="2" fill="hold" nodeType="withEffect">
                                  <p:stCondLst>
                                    <p:cond delay="0"/>
                                  </p:stCondLst>
                                  <p:childTnLst>
                                    <p:animClr clrSpc="rgb" dir="cw">
                                      <p:cBhvr override="childStyle">
                                        <p:cTn id="22" dur="500" fill="hold"/>
                                        <p:tgtEl>
                                          <p:spTgt spid="3">
                                            <p:txEl>
                                              <p:pRg st="0" end="0"/>
                                            </p:txEl>
                                          </p:spTgt>
                                        </p:tgtEl>
                                        <p:attrNameLst>
                                          <p:attrName>style.color</p:attrName>
                                        </p:attrNameLst>
                                      </p:cBhvr>
                                      <p:to>
                                        <a:srgbClr val="D1DB85"/>
                                      </p:to>
                                    </p:animClr>
                                  </p:childTnLst>
                                </p:cTn>
                              </p:par>
                              <p:par>
                                <p:cTn id="23" presetID="3" presetClass="emph" presetSubtype="2" fill="hold" nodeType="withEffect">
                                  <p:stCondLst>
                                    <p:cond delay="0"/>
                                  </p:stCondLst>
                                  <p:childTnLst>
                                    <p:animClr clrSpc="rgb" dir="cw">
                                      <p:cBhvr override="childStyle">
                                        <p:cTn id="24" dur="500" fill="hold"/>
                                        <p:tgtEl>
                                          <p:spTgt spid="3">
                                            <p:txEl>
                                              <p:pRg st="1" end="1"/>
                                            </p:txEl>
                                          </p:spTgt>
                                        </p:tgtEl>
                                        <p:attrNameLst>
                                          <p:attrName>style.color</p:attrName>
                                        </p:attrNameLst>
                                      </p:cBhvr>
                                      <p:to>
                                        <a:srgbClr val="D1DB85"/>
                                      </p:to>
                                    </p:animClr>
                                  </p:childTnLst>
                                </p:cTn>
                              </p:par>
                              <p:par>
                                <p:cTn id="25" presetID="3" presetClass="emph" presetSubtype="2" fill="hold" nodeType="withEffect">
                                  <p:stCondLst>
                                    <p:cond delay="0"/>
                                  </p:stCondLst>
                                  <p:childTnLst>
                                    <p:animClr clrSpc="rgb" dir="cw">
                                      <p:cBhvr override="childStyle">
                                        <p:cTn id="26" dur="500" fill="hold"/>
                                        <p:tgtEl>
                                          <p:spTgt spid="3">
                                            <p:txEl>
                                              <p:pRg st="2" end="2"/>
                                            </p:txEl>
                                          </p:spTgt>
                                        </p:tgtEl>
                                        <p:attrNameLst>
                                          <p:attrName>style.color</p:attrName>
                                        </p:attrNameLst>
                                      </p:cBhvr>
                                      <p:to>
                                        <a:srgbClr val="D1DB85"/>
                                      </p:to>
                                    </p:animClr>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linds(horizontal)">
                                      <p:cBhvr>
                                        <p:cTn id="31" dur="500"/>
                                        <p:tgtEl>
                                          <p:spTgt spid="3">
                                            <p:txEl>
                                              <p:pRg st="4" end="4"/>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blinds(horizontal)">
                                      <p:cBhvr>
                                        <p:cTn id="34" dur="500"/>
                                        <p:tgtEl>
                                          <p:spTgt spid="3">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blinds(horizontal)">
                                      <p:cBhvr>
                                        <p:cTn id="39" dur="500"/>
                                        <p:tgtEl>
                                          <p:spTgt spid="3">
                                            <p:txEl>
                                              <p:pRg st="6" end="6"/>
                                            </p:txEl>
                                          </p:spTgt>
                                        </p:tgtEl>
                                      </p:cBhvr>
                                    </p:animEffect>
                                  </p:childTnLst>
                                </p:cTn>
                              </p:par>
                              <p:par>
                                <p:cTn id="40" presetID="3" presetClass="emph" presetSubtype="2" fill="hold" nodeType="withEffect">
                                  <p:stCondLst>
                                    <p:cond delay="0"/>
                                  </p:stCondLst>
                                  <p:childTnLst>
                                    <p:animClr clrSpc="rgb" dir="cw">
                                      <p:cBhvr override="childStyle">
                                        <p:cTn id="41" dur="500" fill="hold"/>
                                        <p:tgtEl>
                                          <p:spTgt spid="3">
                                            <p:txEl>
                                              <p:pRg st="3" end="3"/>
                                            </p:txEl>
                                          </p:spTgt>
                                        </p:tgtEl>
                                        <p:attrNameLst>
                                          <p:attrName>style.color</p:attrName>
                                        </p:attrNameLst>
                                      </p:cBhvr>
                                      <p:to>
                                        <a:srgbClr val="FF714F"/>
                                      </p:to>
                                    </p:animClr>
                                  </p:childTnLst>
                                </p:cTn>
                              </p:par>
                              <p:par>
                                <p:cTn id="42" presetID="3" presetClass="emph" presetSubtype="2" fill="hold" nodeType="withEffect">
                                  <p:stCondLst>
                                    <p:cond delay="0"/>
                                  </p:stCondLst>
                                  <p:childTnLst>
                                    <p:animClr clrSpc="rgb" dir="cw">
                                      <p:cBhvr override="childStyle">
                                        <p:cTn id="43" dur="500" fill="hold"/>
                                        <p:tgtEl>
                                          <p:spTgt spid="3">
                                            <p:txEl>
                                              <p:pRg st="4" end="4"/>
                                            </p:txEl>
                                          </p:spTgt>
                                        </p:tgtEl>
                                        <p:attrNameLst>
                                          <p:attrName>style.color</p:attrName>
                                        </p:attrNameLst>
                                      </p:cBhvr>
                                      <p:to>
                                        <a:srgbClr val="FF714F"/>
                                      </p:to>
                                    </p:animClr>
                                  </p:childTnLst>
                                </p:cTn>
                              </p:par>
                              <p:par>
                                <p:cTn id="44" presetID="3" presetClass="emph" presetSubtype="2" fill="hold" nodeType="withEffect">
                                  <p:stCondLst>
                                    <p:cond delay="0"/>
                                  </p:stCondLst>
                                  <p:childTnLst>
                                    <p:animClr clrSpc="rgb" dir="cw">
                                      <p:cBhvr override="childStyle">
                                        <p:cTn id="45" dur="500" fill="hold"/>
                                        <p:tgtEl>
                                          <p:spTgt spid="3">
                                            <p:txEl>
                                              <p:pRg st="5" end="5"/>
                                            </p:txEl>
                                          </p:spTgt>
                                        </p:tgtEl>
                                        <p:attrNameLst>
                                          <p:attrName>style.color</p:attrName>
                                        </p:attrNameLst>
                                      </p:cBhvr>
                                      <p:to>
                                        <a:srgbClr val="FF714F"/>
                                      </p:to>
                                    </p:animClr>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blinds(horizontal)">
                                      <p:cBhvr>
                                        <p:cTn id="50" dur="500"/>
                                        <p:tgtEl>
                                          <p:spTgt spid="3">
                                            <p:txEl>
                                              <p:pRg st="7" end="7"/>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blinds(horizontal)">
                                      <p:cBhvr>
                                        <p:cTn id="5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p:cNvPicPr>
            <a:picLocks noChangeAspect="1" noChangeArrowheads="1"/>
          </p:cNvPicPr>
          <p:nvPr/>
        </p:nvPicPr>
        <p:blipFill>
          <a:blip r:embed="rId2" cstate="print"/>
          <a:srcRect/>
          <a:stretch>
            <a:fillRect/>
          </a:stretch>
        </p:blipFill>
        <p:spPr bwMode="auto">
          <a:xfrm>
            <a:off x="2971800" y="457200"/>
            <a:ext cx="2335113" cy="2508126"/>
          </a:xfrm>
          <a:prstGeom prst="rect">
            <a:avLst/>
          </a:prstGeom>
          <a:noFill/>
          <a:ln w="12700">
            <a:noFill/>
            <a:miter lim="800000"/>
            <a:headEnd/>
            <a:tailEnd/>
          </a:ln>
        </p:spPr>
      </p:pic>
      <p:sp>
        <p:nvSpPr>
          <p:cNvPr id="4" name="Slide Number Placeholder 3"/>
          <p:cNvSpPr>
            <a:spLocks noGrp="1"/>
          </p:cNvSpPr>
          <p:nvPr>
            <p:ph type="sldNum" sz="quarter" idx="12"/>
          </p:nvPr>
        </p:nvSpPr>
        <p:spPr/>
        <p:txBody>
          <a:bodyPr/>
          <a:lstStyle/>
          <a:p>
            <a:fld id="{4A824259-EC09-4C9F-9F84-F0AFA6108387}" type="slidenum">
              <a:rPr lang="en-US" smtClean="0">
                <a:solidFill>
                  <a:schemeClr val="tx1"/>
                </a:solidFill>
              </a:rPr>
              <a:pPr/>
              <a:t>36</a:t>
            </a:fld>
            <a:endParaRPr lang="en-US" dirty="0">
              <a:solidFill>
                <a:schemeClr val="tx1"/>
              </a:solidFill>
            </a:endParaRPr>
          </a:p>
        </p:txBody>
      </p:sp>
      <p:sp>
        <p:nvSpPr>
          <p:cNvPr id="5" name="Rectangle 4"/>
          <p:cNvSpPr/>
          <p:nvPr/>
        </p:nvSpPr>
        <p:spPr>
          <a:xfrm>
            <a:off x="1676400" y="3198674"/>
            <a:ext cx="5743881" cy="1754326"/>
          </a:xfrm>
          <a:prstGeom prst="rect">
            <a:avLst/>
          </a:prstGeom>
          <a:noFill/>
        </p:spPr>
        <p:txBody>
          <a:bodyPr wrap="none" lIns="91440" tIns="45720" rIns="91440" bIns="45720">
            <a:spAutoFit/>
          </a:bodyPr>
          <a:lstStyle/>
          <a:p>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p>
          <a:p>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Any Questions?</a:t>
            </a:r>
            <a:endParaRPr lang="en-GB"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1025</TotalTime>
  <Words>2515</Words>
  <Application>Microsoft Office PowerPoint</Application>
  <PresentationFormat>On-screen Show (4:3)</PresentationFormat>
  <Paragraphs>212</Paragraphs>
  <Slides>36</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Verdana</vt:lpstr>
      <vt:lpstr>Verdana Bold</vt:lpstr>
      <vt:lpstr>Verdana Bold Italic</vt:lpstr>
      <vt:lpstr>Verdana Italic</vt:lpstr>
      <vt:lpstr>Wingdings</vt:lpstr>
      <vt:lpstr>Office Theme</vt:lpstr>
      <vt:lpstr>BIO-103: Chemistry of Life</vt:lpstr>
      <vt:lpstr>Life depends on chemistry!</vt:lpstr>
      <vt:lpstr>PowerPoint Presentation</vt:lpstr>
      <vt:lpstr>Fat: Fear of frying</vt:lpstr>
      <vt:lpstr>Fat: Fear of frying</vt:lpstr>
      <vt:lpstr>PowerPoint Presentation</vt:lpstr>
      <vt:lpstr>PowerPoint Presentation</vt:lpstr>
      <vt:lpstr>Terminologies: To understand chemistry of life!</vt:lpstr>
      <vt:lpstr>Terminologies</vt:lpstr>
      <vt:lpstr>Terminologies</vt:lpstr>
      <vt:lpstr>Atomic Structure</vt:lpstr>
      <vt:lpstr>PowerPoint Presentation</vt:lpstr>
      <vt:lpstr>Ions</vt:lpstr>
      <vt:lpstr>PowerPoint Presentation</vt:lpstr>
      <vt:lpstr>Molecule </vt:lpstr>
      <vt:lpstr>PowerPoint Presentation</vt:lpstr>
      <vt:lpstr>Element vs. Compound</vt:lpstr>
      <vt:lpstr>PowerPoint Presentation</vt:lpstr>
      <vt:lpstr>PowerPoint Presentation</vt:lpstr>
      <vt:lpstr>Chemical Bond</vt:lpstr>
      <vt:lpstr>Ionic Bond</vt:lpstr>
      <vt:lpstr>Ionization</vt:lpstr>
      <vt:lpstr>Covalent Bond</vt:lpstr>
      <vt:lpstr>Electronegativity</vt:lpstr>
      <vt:lpstr>Types of Covalent Bond</vt:lpstr>
      <vt:lpstr>PowerPoint Presentation</vt:lpstr>
      <vt:lpstr>Hydrogen Bonds</vt:lpstr>
      <vt:lpstr>Water</vt:lpstr>
      <vt:lpstr>Diffusion</vt:lpstr>
      <vt:lpstr>Diffusion</vt:lpstr>
      <vt:lpstr>OSMOSIS</vt:lpstr>
      <vt:lpstr>Diffusion vs. Osmosis</vt:lpstr>
      <vt:lpstr>Tonicity</vt:lpstr>
      <vt:lpstr>Tonicity and living cells </vt:lpstr>
      <vt:lpstr>Acids and Bases</vt:lpstr>
      <vt:lpstr>PowerPoint Presentation</vt:lpstr>
    </vt:vector>
  </TitlesOfParts>
  <Company>SMART Technologies (BD)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 103</dc:title>
  <dc:creator>Ehsan</dc:creator>
  <cp:lastModifiedBy>mahbubul.morshed@gmail.com</cp:lastModifiedBy>
  <cp:revision>152</cp:revision>
  <dcterms:created xsi:type="dcterms:W3CDTF">2014-09-15T10:34:44Z</dcterms:created>
  <dcterms:modified xsi:type="dcterms:W3CDTF">2026-05-31T05:35:22Z</dcterms:modified>
</cp:coreProperties>
</file>