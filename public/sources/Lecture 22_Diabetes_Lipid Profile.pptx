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 id="2147483664" r:id="rId2"/>
  </p:sldMasterIdLst>
  <p:notesMasterIdLst>
    <p:notesMasterId r:id="rId25"/>
  </p:notesMasterIdLst>
  <p:handoutMasterIdLst>
    <p:handoutMasterId r:id="rId26"/>
  </p:handoutMasterIdLst>
  <p:sldIdLst>
    <p:sldId id="321" r:id="rId3"/>
    <p:sldId id="322" r:id="rId4"/>
    <p:sldId id="349" r:id="rId5"/>
    <p:sldId id="353" r:id="rId6"/>
    <p:sldId id="350" r:id="rId7"/>
    <p:sldId id="323" r:id="rId8"/>
    <p:sldId id="351" r:id="rId9"/>
    <p:sldId id="324" r:id="rId10"/>
    <p:sldId id="325" r:id="rId11"/>
    <p:sldId id="326" r:id="rId12"/>
    <p:sldId id="327" r:id="rId13"/>
    <p:sldId id="328" r:id="rId14"/>
    <p:sldId id="294" r:id="rId15"/>
    <p:sldId id="330" r:id="rId16"/>
    <p:sldId id="331" r:id="rId17"/>
    <p:sldId id="333" r:id="rId18"/>
    <p:sldId id="352" r:id="rId19"/>
    <p:sldId id="334" r:id="rId20"/>
    <p:sldId id="336" r:id="rId21"/>
    <p:sldId id="337" r:id="rId22"/>
    <p:sldId id="338" r:id="rId23"/>
    <p:sldId id="339" r:id="rId24"/>
  </p:sldIdLst>
  <p:sldSz cx="9144000" cy="6858000" type="screen4x3"/>
  <p:notesSz cx="6985000" cy="9282113"/>
  <p:defaultTex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23">
          <p15:clr>
            <a:srgbClr val="A4A3A4"/>
          </p15:clr>
        </p15:guide>
        <p15:guide id="2" pos="220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32FF"/>
    <a:srgbClr val="021ABF"/>
    <a:srgbClr val="9437FF"/>
    <a:srgbClr val="FF00FF"/>
    <a:srgbClr val="FF2F92"/>
    <a:srgbClr val="04F7F4"/>
    <a:srgbClr val="005493"/>
    <a:srgbClr val="00D6D2"/>
    <a:srgbClr val="009193"/>
    <a:srgbClr val="D883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898" autoAdjust="0"/>
    <p:restoredTop sz="94510" autoAdjust="0"/>
  </p:normalViewPr>
  <p:slideViewPr>
    <p:cSldViewPr snapToGrid="0">
      <p:cViewPr varScale="1">
        <p:scale>
          <a:sx n="82" d="100"/>
          <a:sy n="82" d="100"/>
        </p:scale>
        <p:origin x="408" y="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37" d="100"/>
          <a:sy n="37" d="100"/>
        </p:scale>
        <p:origin x="-1446" y="-72"/>
      </p:cViewPr>
      <p:guideLst>
        <p:guide orient="horz" pos="2923"/>
        <p:guide pos="2200"/>
      </p:guideLst>
    </p:cSldViewPr>
  </p:notesViewPr>
  <p:gridSpacing cx="75895" cy="75895"/>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handoutMaster" Target="handoutMasters/handoutMaster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91C9ED21-F672-40D2-BB6F-70896592A075}"/>
              </a:ext>
            </a:extLst>
          </p:cNvPr>
          <p:cNvSpPr>
            <a:spLocks noGrp="1" noChangeArrowheads="1"/>
          </p:cNvSpPr>
          <p:nvPr>
            <p:ph type="hdr" sz="quarter"/>
          </p:nvPr>
        </p:nvSpPr>
        <p:spPr bwMode="auto">
          <a:xfrm>
            <a:off x="0" y="0"/>
            <a:ext cx="3048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48131" name="Rectangle 3">
            <a:extLst>
              <a:ext uri="{FF2B5EF4-FFF2-40B4-BE49-F238E27FC236}">
                <a16:creationId xmlns:a16="http://schemas.microsoft.com/office/drawing/2014/main" id="{E2314DE3-52F1-4B8F-9E6D-186E92DDC64D}"/>
              </a:ext>
            </a:extLst>
          </p:cNvPr>
          <p:cNvSpPr>
            <a:spLocks noGrp="1" noChangeArrowheads="1"/>
          </p:cNvSpPr>
          <p:nvPr>
            <p:ph type="dt" sz="quarter" idx="1"/>
          </p:nvPr>
        </p:nvSpPr>
        <p:spPr bwMode="auto">
          <a:xfrm>
            <a:off x="3962400" y="0"/>
            <a:ext cx="3048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48132" name="Rectangle 4">
            <a:extLst>
              <a:ext uri="{FF2B5EF4-FFF2-40B4-BE49-F238E27FC236}">
                <a16:creationId xmlns:a16="http://schemas.microsoft.com/office/drawing/2014/main" id="{A6073CD3-973E-4BC5-B313-284E084571D5}"/>
              </a:ext>
            </a:extLst>
          </p:cNvPr>
          <p:cNvSpPr>
            <a:spLocks noGrp="1" noChangeArrowheads="1"/>
          </p:cNvSpPr>
          <p:nvPr>
            <p:ph type="ftr" sz="quarter" idx="2"/>
          </p:nvPr>
        </p:nvSpPr>
        <p:spPr bwMode="auto">
          <a:xfrm>
            <a:off x="0" y="8839200"/>
            <a:ext cx="3048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48133" name="Rectangle 5">
            <a:extLst>
              <a:ext uri="{FF2B5EF4-FFF2-40B4-BE49-F238E27FC236}">
                <a16:creationId xmlns:a16="http://schemas.microsoft.com/office/drawing/2014/main" id="{9D2D59A3-B77C-4889-878A-4EB599906978}"/>
              </a:ext>
            </a:extLst>
          </p:cNvPr>
          <p:cNvSpPr>
            <a:spLocks noGrp="1" noChangeArrowheads="1"/>
          </p:cNvSpPr>
          <p:nvPr>
            <p:ph type="sldNum" sz="quarter" idx="3"/>
          </p:nvPr>
        </p:nvSpPr>
        <p:spPr bwMode="auto">
          <a:xfrm>
            <a:off x="3962400" y="8839200"/>
            <a:ext cx="3048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0BDD0D7E-3F73-4807-AEDE-DEEEF61C2634}" type="slidenum">
              <a:rPr lang="en-US" altLang="en-US"/>
              <a:pPr/>
              <a:t>‹#›</a:t>
            </a:fld>
            <a:endParaRPr lang="en-US" altLang="en-US"/>
          </a:p>
        </p:txBody>
      </p:sp>
    </p:spTree>
    <p:extLst>
      <p:ext uri="{BB962C8B-B14F-4D97-AF65-F5344CB8AC3E}">
        <p14:creationId xmlns:p14="http://schemas.microsoft.com/office/powerpoint/2010/main" val="379151966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A399435C-0150-4773-B9FC-F279B021172F}"/>
              </a:ext>
            </a:extLst>
          </p:cNvPr>
          <p:cNvSpPr>
            <a:spLocks noGrp="1" noChangeArrowheads="1"/>
          </p:cNvSpPr>
          <p:nvPr>
            <p:ph type="hdr" sz="quarter"/>
          </p:nvPr>
        </p:nvSpPr>
        <p:spPr bwMode="auto">
          <a:xfrm>
            <a:off x="0" y="0"/>
            <a:ext cx="3027363" cy="4635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66563" name="Rectangle 3">
            <a:extLst>
              <a:ext uri="{FF2B5EF4-FFF2-40B4-BE49-F238E27FC236}">
                <a16:creationId xmlns:a16="http://schemas.microsoft.com/office/drawing/2014/main" id="{D0E2E3AC-4553-40BD-9561-C30AAFB70DDE}"/>
              </a:ext>
            </a:extLst>
          </p:cNvPr>
          <p:cNvSpPr>
            <a:spLocks noGrp="1" noChangeArrowheads="1"/>
          </p:cNvSpPr>
          <p:nvPr>
            <p:ph type="dt" idx="1"/>
          </p:nvPr>
        </p:nvSpPr>
        <p:spPr bwMode="auto">
          <a:xfrm>
            <a:off x="3956050" y="0"/>
            <a:ext cx="3027363" cy="4635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23556" name="Rectangle 4">
            <a:extLst>
              <a:ext uri="{FF2B5EF4-FFF2-40B4-BE49-F238E27FC236}">
                <a16:creationId xmlns:a16="http://schemas.microsoft.com/office/drawing/2014/main" id="{BA180D87-546A-4002-BCA9-1FD7424AAC63}"/>
              </a:ext>
            </a:extLst>
          </p:cNvPr>
          <p:cNvSpPr>
            <a:spLocks noGrp="1" noRot="1" noChangeAspect="1" noChangeArrowheads="1" noTextEdit="1"/>
          </p:cNvSpPr>
          <p:nvPr>
            <p:ph type="sldImg" idx="2"/>
          </p:nvPr>
        </p:nvSpPr>
        <p:spPr bwMode="auto">
          <a:xfrm>
            <a:off x="1173163" y="696913"/>
            <a:ext cx="4638675" cy="34798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6565" name="Rectangle 5">
            <a:extLst>
              <a:ext uri="{FF2B5EF4-FFF2-40B4-BE49-F238E27FC236}">
                <a16:creationId xmlns:a16="http://schemas.microsoft.com/office/drawing/2014/main" id="{A9ED1EF0-122E-44B8-A2D5-323482A979AB}"/>
              </a:ext>
            </a:extLst>
          </p:cNvPr>
          <p:cNvSpPr>
            <a:spLocks noGrp="1" noChangeArrowheads="1"/>
          </p:cNvSpPr>
          <p:nvPr>
            <p:ph type="body" sz="quarter" idx="3"/>
          </p:nvPr>
        </p:nvSpPr>
        <p:spPr bwMode="auto">
          <a:xfrm>
            <a:off x="698500" y="4408488"/>
            <a:ext cx="5588000" cy="417671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6566" name="Rectangle 6">
            <a:extLst>
              <a:ext uri="{FF2B5EF4-FFF2-40B4-BE49-F238E27FC236}">
                <a16:creationId xmlns:a16="http://schemas.microsoft.com/office/drawing/2014/main" id="{E85CC950-575E-4215-839E-2792485D65B6}"/>
              </a:ext>
            </a:extLst>
          </p:cNvPr>
          <p:cNvSpPr>
            <a:spLocks noGrp="1" noChangeArrowheads="1"/>
          </p:cNvSpPr>
          <p:nvPr>
            <p:ph type="ftr" sz="quarter" idx="4"/>
          </p:nvPr>
        </p:nvSpPr>
        <p:spPr bwMode="auto">
          <a:xfrm>
            <a:off x="0" y="8816975"/>
            <a:ext cx="3027363" cy="4635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66567" name="Rectangle 7">
            <a:extLst>
              <a:ext uri="{FF2B5EF4-FFF2-40B4-BE49-F238E27FC236}">
                <a16:creationId xmlns:a16="http://schemas.microsoft.com/office/drawing/2014/main" id="{56D4D893-A42A-469D-8C83-EA3E52F89399}"/>
              </a:ext>
            </a:extLst>
          </p:cNvPr>
          <p:cNvSpPr>
            <a:spLocks noGrp="1" noChangeArrowheads="1"/>
          </p:cNvSpPr>
          <p:nvPr>
            <p:ph type="sldNum" sz="quarter" idx="5"/>
          </p:nvPr>
        </p:nvSpPr>
        <p:spPr bwMode="auto">
          <a:xfrm>
            <a:off x="3956050" y="8816975"/>
            <a:ext cx="3027363" cy="4635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F12D1137-BBCA-400F-9550-5E109B1F8AEF}" type="slidenum">
              <a:rPr lang="en-US" altLang="en-US"/>
              <a:pPr/>
              <a:t>‹#›</a:t>
            </a:fld>
            <a:endParaRPr lang="en-US" altLang="en-US"/>
          </a:p>
        </p:txBody>
      </p:sp>
    </p:spTree>
    <p:extLst>
      <p:ext uri="{BB962C8B-B14F-4D97-AF65-F5344CB8AC3E}">
        <p14:creationId xmlns:p14="http://schemas.microsoft.com/office/powerpoint/2010/main" val="62177812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www.ncbi.nlm.nih.gov/pmc/articles/PMC9768618/#eq003" TargetMode="External"/><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D94F7F4B-085E-42A8-8158-427FCC3D6E4C}" type="slidenum">
              <a:rPr lang="en-US" altLang="en-US"/>
              <a:pPr>
                <a:spcBef>
                  <a:spcPct val="0"/>
                </a:spcBef>
              </a:pPr>
              <a:t>13</a:t>
            </a:fld>
            <a:endParaRPr lang="en-US" altLang="en-US"/>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xfrm>
            <a:off x="541338" y="4344988"/>
            <a:ext cx="5872162" cy="42656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z="1100" b="1">
                <a:solidFill>
                  <a:srgbClr val="000000"/>
                </a:solidFill>
              </a:rPr>
              <a:t>KEY MESSAGE: The DCCT showed that people with type 1 diabetes who followed an intensive therapy regimen that lowered their A1c values had fewer long-term complications.</a:t>
            </a:r>
          </a:p>
          <a:p>
            <a:pPr eaLnBrk="1" hangingPunct="1"/>
            <a:endParaRPr lang="en-US" altLang="en-US" sz="1100">
              <a:solidFill>
                <a:srgbClr val="000000"/>
              </a:solidFill>
            </a:endParaRPr>
          </a:p>
          <a:p>
            <a:pPr eaLnBrk="1" hangingPunct="1"/>
            <a:r>
              <a:rPr lang="en-US" altLang="en-US" sz="1100" b="1" i="1">
                <a:solidFill>
                  <a:srgbClr val="000000"/>
                </a:solidFill>
              </a:rPr>
              <a:t>Supporting Points</a:t>
            </a:r>
            <a:endParaRPr lang="en-US" altLang="en-US" sz="1100" b="1">
              <a:solidFill>
                <a:srgbClr val="000000"/>
              </a:solidFill>
            </a:endParaRPr>
          </a:p>
          <a:p>
            <a:pPr eaLnBrk="1" hangingPunct="1">
              <a:buFontTx/>
              <a:buChar char="•"/>
            </a:pPr>
            <a:r>
              <a:rPr lang="en-US" altLang="en-US" sz="1100" b="1">
                <a:solidFill>
                  <a:srgbClr val="000000"/>
                </a:solidFill>
              </a:rPr>
              <a:t> The DCCT is the longest and largest study to show that lowering blood glucose to improve A1c results slows or prevents the development of complications in type 1 diabetes. </a:t>
            </a:r>
            <a:r>
              <a:rPr lang="en-US" altLang="en-US" sz="1100">
                <a:solidFill>
                  <a:srgbClr val="000000"/>
                </a:solidFill>
              </a:rPr>
              <a:t>The DCCT examined more than 1,400 people with type 1 diabetes for 10 years. Two groups of patients were followed: one treated conventionally and another treated intensively. The volunteers in the intensive treatment group tested their blood more often and followed a more stringent schedule for insulin injection (multiple daily insulin injections or treatment with an insulin pump). Compared with people who had conventional therapy, the intensive treatment group had 35% to 56% less kidney damage (decreases in microalbuminuria and albuminuria, respectively), 60% less nerve damage (clinical neuropathy), and 76% less eye disease (retinopathy).</a:t>
            </a:r>
          </a:p>
          <a:p>
            <a:pPr eaLnBrk="1" hangingPunct="1">
              <a:buFontTx/>
              <a:buChar char="•"/>
            </a:pPr>
            <a:r>
              <a:rPr lang="en-US" altLang="en-US" sz="1100" b="1">
                <a:solidFill>
                  <a:srgbClr val="000000"/>
                </a:solidFill>
              </a:rPr>
              <a:t> Improved glycemic control also was associated with fewer cardiovascular events in the DCCT.</a:t>
            </a:r>
            <a:r>
              <a:rPr lang="en-US" altLang="en-US" sz="1100">
                <a:solidFill>
                  <a:srgbClr val="000000"/>
                </a:solidFill>
              </a:rPr>
              <a:t> However, this finding was not statistically significant, perhaps because the study volunteers were young adults in whom the incidence of heart disease would be expected to be low.</a:t>
            </a:r>
          </a:p>
          <a:p>
            <a:pPr eaLnBrk="1" hangingPunct="1"/>
            <a:endParaRPr lang="en-US" altLang="en-US" sz="1100">
              <a:solidFill>
                <a:srgbClr val="000000"/>
              </a:solidFill>
            </a:endParaRPr>
          </a:p>
        </p:txBody>
      </p:sp>
    </p:spTree>
    <p:extLst>
      <p:ext uri="{BB962C8B-B14F-4D97-AF65-F5344CB8AC3E}">
        <p14:creationId xmlns:p14="http://schemas.microsoft.com/office/powerpoint/2010/main" val="34109633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i="0" dirty="0">
                <a:solidFill>
                  <a:srgbClr val="292929"/>
                </a:solidFill>
                <a:effectLst/>
                <a:latin typeface="Source Serif Pro" panose="02040603050405020204" pitchFamily="18" charset="0"/>
              </a:rPr>
              <a:t>Low density lipoproteins (LDL)</a:t>
            </a:r>
            <a:r>
              <a:rPr lang="en-GB" b="0" i="0" dirty="0">
                <a:solidFill>
                  <a:srgbClr val="292929"/>
                </a:solidFill>
                <a:effectLst/>
                <a:latin typeface="Source Serif Pro" panose="02040603050405020204" pitchFamily="18" charset="0"/>
              </a:rPr>
              <a:t> are often called “</a:t>
            </a:r>
            <a:r>
              <a:rPr lang="en-GB" b="1" i="0" dirty="0">
                <a:solidFill>
                  <a:srgbClr val="292929"/>
                </a:solidFill>
                <a:effectLst/>
                <a:latin typeface="Source Serif Pro" panose="02040603050405020204" pitchFamily="18" charset="0"/>
              </a:rPr>
              <a:t>the bad cholesterol</a:t>
            </a:r>
            <a:r>
              <a:rPr lang="en-GB" b="0" i="0" dirty="0">
                <a:solidFill>
                  <a:srgbClr val="292929"/>
                </a:solidFill>
                <a:effectLst/>
                <a:latin typeface="Source Serif Pro" panose="02040603050405020204" pitchFamily="18" charset="0"/>
              </a:rPr>
              <a:t>“, because they can build plaque in the walls of your arteries, causing </a:t>
            </a:r>
            <a:r>
              <a:rPr lang="en-GB" b="1" i="0" dirty="0">
                <a:solidFill>
                  <a:srgbClr val="292929"/>
                </a:solidFill>
                <a:effectLst/>
                <a:latin typeface="Source Serif Pro" panose="02040603050405020204" pitchFamily="18" charset="0"/>
              </a:rPr>
              <a:t>atherosclerosis</a:t>
            </a:r>
            <a:r>
              <a:rPr lang="en-GB" b="0" i="0" dirty="0">
                <a:solidFill>
                  <a:srgbClr val="292929"/>
                </a:solidFill>
                <a:effectLst/>
                <a:latin typeface="Source Serif Pro" panose="02040603050405020204" pitchFamily="18" charset="0"/>
              </a:rPr>
              <a:t>.</a:t>
            </a:r>
            <a:endParaRPr lang="en-BD" dirty="0"/>
          </a:p>
        </p:txBody>
      </p:sp>
      <p:sp>
        <p:nvSpPr>
          <p:cNvPr id="4" name="Slide Number Placeholder 3"/>
          <p:cNvSpPr>
            <a:spLocks noGrp="1"/>
          </p:cNvSpPr>
          <p:nvPr>
            <p:ph type="sldNum" sz="quarter" idx="5"/>
          </p:nvPr>
        </p:nvSpPr>
        <p:spPr/>
        <p:txBody>
          <a:bodyPr/>
          <a:lstStyle/>
          <a:p>
            <a:fld id="{F12D1137-BBCA-400F-9550-5E109B1F8AEF}" type="slidenum">
              <a:rPr lang="en-US" altLang="en-US" smtClean="0"/>
              <a:pPr/>
              <a:t>16</a:t>
            </a:fld>
            <a:endParaRPr lang="en-US" altLang="en-US"/>
          </a:p>
        </p:txBody>
      </p:sp>
    </p:spTree>
    <p:extLst>
      <p:ext uri="{BB962C8B-B14F-4D97-AF65-F5344CB8AC3E}">
        <p14:creationId xmlns:p14="http://schemas.microsoft.com/office/powerpoint/2010/main" val="5391709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err="1">
                <a:solidFill>
                  <a:srgbClr val="212121"/>
                </a:solidFill>
                <a:effectLst/>
                <a:latin typeface="Cambria" panose="02040503050406030204" pitchFamily="18" charset="0"/>
              </a:rPr>
              <a:t>herefore</a:t>
            </a:r>
            <a:r>
              <a:rPr lang="en-GB" b="0" i="0" dirty="0">
                <a:solidFill>
                  <a:srgbClr val="212121"/>
                </a:solidFill>
                <a:effectLst/>
                <a:latin typeface="Cambria" panose="02040503050406030204" pitchFamily="18" charset="0"/>
              </a:rPr>
              <a:t>, VLDL-C is calculated by dividing the concentration of triglycerides (mg/dL or mmol/dL) by 5 or 2.26, respectively (</a:t>
            </a:r>
            <a:r>
              <a:rPr lang="en-GB" b="0" i="0" u="sng" dirty="0">
                <a:solidFill>
                  <a:srgbClr val="376FAA"/>
                </a:solidFill>
                <a:effectLst/>
                <a:latin typeface="Cambria" panose="02040503050406030204" pitchFamily="18" charset="0"/>
                <a:hlinkClick r:id="rId3"/>
              </a:rPr>
              <a:t>equation III</a:t>
            </a:r>
            <a:r>
              <a:rPr lang="en-GB" b="0" i="0" dirty="0">
                <a:solidFill>
                  <a:srgbClr val="212121"/>
                </a:solidFill>
                <a:effectLst/>
                <a:latin typeface="Cambria" panose="02040503050406030204" pitchFamily="18" charset="0"/>
              </a:rPr>
              <a:t>). Then, LDL-C is estimated by subtracting the concentration of HDL-C and calculated VLDL-C from the concentration of total cholesterol</a:t>
            </a:r>
            <a:endParaRPr lang="en-BD" dirty="0"/>
          </a:p>
        </p:txBody>
      </p:sp>
      <p:sp>
        <p:nvSpPr>
          <p:cNvPr id="4" name="Slide Number Placeholder 3"/>
          <p:cNvSpPr>
            <a:spLocks noGrp="1"/>
          </p:cNvSpPr>
          <p:nvPr>
            <p:ph type="sldNum" sz="quarter" idx="5"/>
          </p:nvPr>
        </p:nvSpPr>
        <p:spPr/>
        <p:txBody>
          <a:bodyPr/>
          <a:lstStyle/>
          <a:p>
            <a:fld id="{F12D1137-BBCA-400F-9550-5E109B1F8AEF}" type="slidenum">
              <a:rPr lang="en-US" altLang="en-US" smtClean="0"/>
              <a:pPr/>
              <a:t>17</a:t>
            </a:fld>
            <a:endParaRPr lang="en-US" altLang="en-US"/>
          </a:p>
        </p:txBody>
      </p:sp>
    </p:spTree>
    <p:extLst>
      <p:ext uri="{BB962C8B-B14F-4D97-AF65-F5344CB8AC3E}">
        <p14:creationId xmlns:p14="http://schemas.microsoft.com/office/powerpoint/2010/main" val="20074215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59B934C3-3373-4C2A-9CF1-D8A66213E3F6}"/>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DC7F9AF7-3374-49B9-87FA-5E6248D7E3F4}"/>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D29ED13A-230F-4853-AA9F-090AE6285A64}"/>
              </a:ext>
            </a:extLst>
          </p:cNvPr>
          <p:cNvSpPr>
            <a:spLocks noGrp="1" noChangeArrowheads="1"/>
          </p:cNvSpPr>
          <p:nvPr>
            <p:ph type="sldNum" sz="quarter" idx="12"/>
          </p:nvPr>
        </p:nvSpPr>
        <p:spPr>
          <a:ln/>
        </p:spPr>
        <p:txBody>
          <a:bodyPr/>
          <a:lstStyle>
            <a:lvl1pPr>
              <a:defRPr/>
            </a:lvl1pPr>
          </a:lstStyle>
          <a:p>
            <a:fld id="{778EA631-B3FF-4034-BF13-5AA5B843F56C}" type="slidenum">
              <a:rPr lang="en-US" altLang="en-US"/>
              <a:pPr/>
              <a:t>‹#›</a:t>
            </a:fld>
            <a:endParaRPr lang="en-US" altLang="en-US"/>
          </a:p>
        </p:txBody>
      </p:sp>
    </p:spTree>
    <p:extLst>
      <p:ext uri="{BB962C8B-B14F-4D97-AF65-F5344CB8AC3E}">
        <p14:creationId xmlns:p14="http://schemas.microsoft.com/office/powerpoint/2010/main" val="34522014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6D29D643-6F12-4E80-829E-0B2AC49623CC}"/>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54AADAEC-E5CC-4F8F-BD84-96292A5A3E7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7C074C83-88F7-4636-A7B6-96FD5EB43F1D}"/>
              </a:ext>
            </a:extLst>
          </p:cNvPr>
          <p:cNvSpPr>
            <a:spLocks noGrp="1" noChangeArrowheads="1"/>
          </p:cNvSpPr>
          <p:nvPr>
            <p:ph type="sldNum" sz="quarter" idx="12"/>
          </p:nvPr>
        </p:nvSpPr>
        <p:spPr>
          <a:ln/>
        </p:spPr>
        <p:txBody>
          <a:bodyPr/>
          <a:lstStyle>
            <a:lvl1pPr>
              <a:defRPr/>
            </a:lvl1pPr>
          </a:lstStyle>
          <a:p>
            <a:fld id="{0CFF3292-364C-4EDD-9F8C-46605AC64267}" type="slidenum">
              <a:rPr lang="en-US" altLang="en-US"/>
              <a:pPr/>
              <a:t>‹#›</a:t>
            </a:fld>
            <a:endParaRPr lang="en-US" altLang="en-US"/>
          </a:p>
        </p:txBody>
      </p:sp>
    </p:spTree>
    <p:extLst>
      <p:ext uri="{BB962C8B-B14F-4D97-AF65-F5344CB8AC3E}">
        <p14:creationId xmlns:p14="http://schemas.microsoft.com/office/powerpoint/2010/main" val="14592868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54A0F234-6C0F-4B74-95D7-DA430EA46D40}"/>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347C8B9F-25E7-489E-8825-35A787F507C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68600789-5C5B-4771-A726-7B2E1C80F505}"/>
              </a:ext>
            </a:extLst>
          </p:cNvPr>
          <p:cNvSpPr>
            <a:spLocks noGrp="1" noChangeArrowheads="1"/>
          </p:cNvSpPr>
          <p:nvPr>
            <p:ph type="sldNum" sz="quarter" idx="12"/>
          </p:nvPr>
        </p:nvSpPr>
        <p:spPr>
          <a:ln/>
        </p:spPr>
        <p:txBody>
          <a:bodyPr/>
          <a:lstStyle>
            <a:lvl1pPr>
              <a:defRPr/>
            </a:lvl1pPr>
          </a:lstStyle>
          <a:p>
            <a:fld id="{C2E3EFA1-BDD2-4A35-834D-FF83F4A4B7F4}" type="slidenum">
              <a:rPr lang="en-US" altLang="en-US"/>
              <a:pPr/>
              <a:t>‹#›</a:t>
            </a:fld>
            <a:endParaRPr lang="en-US" altLang="en-US"/>
          </a:p>
        </p:txBody>
      </p:sp>
    </p:spTree>
    <p:extLst>
      <p:ext uri="{BB962C8B-B14F-4D97-AF65-F5344CB8AC3E}">
        <p14:creationId xmlns:p14="http://schemas.microsoft.com/office/powerpoint/2010/main" val="34559677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835A8BBE-D6D6-446B-8BBC-2547F7815648}"/>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F12AD578-F008-4270-8A83-CA30EF761DB7}"/>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EACB5305-4BA4-4B41-82EC-B41FC55DEE2C}"/>
              </a:ext>
            </a:extLst>
          </p:cNvPr>
          <p:cNvSpPr>
            <a:spLocks noGrp="1" noChangeArrowheads="1"/>
          </p:cNvSpPr>
          <p:nvPr>
            <p:ph type="sldNum" sz="quarter" idx="12"/>
          </p:nvPr>
        </p:nvSpPr>
        <p:spPr>
          <a:ln/>
        </p:spPr>
        <p:txBody>
          <a:bodyPr/>
          <a:lstStyle>
            <a:lvl1pPr>
              <a:defRPr/>
            </a:lvl1pPr>
          </a:lstStyle>
          <a:p>
            <a:fld id="{4216D51B-DED4-4EBF-9BBB-88F2C2037B0A}" type="slidenum">
              <a:rPr lang="en-US" altLang="en-US"/>
              <a:pPr/>
              <a:t>‹#›</a:t>
            </a:fld>
            <a:endParaRPr lang="en-US" altLang="en-US"/>
          </a:p>
        </p:txBody>
      </p:sp>
    </p:spTree>
    <p:extLst>
      <p:ext uri="{BB962C8B-B14F-4D97-AF65-F5344CB8AC3E}">
        <p14:creationId xmlns:p14="http://schemas.microsoft.com/office/powerpoint/2010/main" val="33269039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A77CB904-8D1E-4108-B816-CF8F1D8DFF0E}"/>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5204B683-2D02-43D1-97BA-22F967BE6E54}"/>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6">
            <a:extLst>
              <a:ext uri="{FF2B5EF4-FFF2-40B4-BE49-F238E27FC236}">
                <a16:creationId xmlns:a16="http://schemas.microsoft.com/office/drawing/2014/main" id="{D65CD1C9-67A2-4F1A-81A7-E449A3E408B0}"/>
              </a:ext>
            </a:extLst>
          </p:cNvPr>
          <p:cNvSpPr>
            <a:spLocks noGrp="1" noChangeArrowheads="1"/>
          </p:cNvSpPr>
          <p:nvPr>
            <p:ph type="sldNum" sz="quarter" idx="12"/>
          </p:nvPr>
        </p:nvSpPr>
        <p:spPr>
          <a:ln/>
        </p:spPr>
        <p:txBody>
          <a:bodyPr/>
          <a:lstStyle>
            <a:lvl1pPr>
              <a:defRPr/>
            </a:lvl1pPr>
          </a:lstStyle>
          <a:p>
            <a:fld id="{E77863C1-69EA-48CC-A7BC-4A9F8E8F5C03}" type="slidenum">
              <a:rPr lang="en-US" altLang="en-US"/>
              <a:pPr/>
              <a:t>‹#›</a:t>
            </a:fld>
            <a:endParaRPr lang="en-US" altLang="en-US"/>
          </a:p>
        </p:txBody>
      </p:sp>
    </p:spTree>
    <p:extLst>
      <p:ext uri="{BB962C8B-B14F-4D97-AF65-F5344CB8AC3E}">
        <p14:creationId xmlns:p14="http://schemas.microsoft.com/office/powerpoint/2010/main" val="32120556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BF8493D0-2E76-44E9-9E1E-9C5D2FFFB154}"/>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42CCBEBB-6A3E-4103-A706-8A1DCCE3B289}"/>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B8C1EA11-CFBB-4C48-8859-74CD9A7A93D9}"/>
              </a:ext>
            </a:extLst>
          </p:cNvPr>
          <p:cNvSpPr>
            <a:spLocks noGrp="1" noChangeArrowheads="1"/>
          </p:cNvSpPr>
          <p:nvPr>
            <p:ph type="sldNum" sz="quarter" idx="12"/>
          </p:nvPr>
        </p:nvSpPr>
        <p:spPr>
          <a:ln/>
        </p:spPr>
        <p:txBody>
          <a:bodyPr/>
          <a:lstStyle>
            <a:lvl1pPr>
              <a:defRPr/>
            </a:lvl1pPr>
          </a:lstStyle>
          <a:p>
            <a:fld id="{16803E88-43B6-46E9-98ED-DC7549ACCE42}" type="slidenum">
              <a:rPr lang="en-US" altLang="en-US"/>
              <a:pPr/>
              <a:t>‹#›</a:t>
            </a:fld>
            <a:endParaRPr lang="en-US" altLang="en-US"/>
          </a:p>
        </p:txBody>
      </p:sp>
    </p:spTree>
    <p:extLst>
      <p:ext uri="{BB962C8B-B14F-4D97-AF65-F5344CB8AC3E}">
        <p14:creationId xmlns:p14="http://schemas.microsoft.com/office/powerpoint/2010/main" val="23821121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F66B86A7-EAAD-4234-BF32-03236EB4D870}"/>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FF5E5BD6-6639-49F4-8718-EDFC9EE35C5B}"/>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B9CA4BB4-F0E6-4F6B-81E2-2B327D746FD2}"/>
              </a:ext>
            </a:extLst>
          </p:cNvPr>
          <p:cNvSpPr>
            <a:spLocks noGrp="1" noChangeArrowheads="1"/>
          </p:cNvSpPr>
          <p:nvPr>
            <p:ph type="sldNum" sz="quarter" idx="12"/>
          </p:nvPr>
        </p:nvSpPr>
        <p:spPr>
          <a:ln/>
        </p:spPr>
        <p:txBody>
          <a:bodyPr/>
          <a:lstStyle>
            <a:lvl1pPr>
              <a:defRPr/>
            </a:lvl1pPr>
          </a:lstStyle>
          <a:p>
            <a:fld id="{7176A974-E460-4CD2-8678-EF01D07A87D8}" type="slidenum">
              <a:rPr lang="en-US" altLang="en-US"/>
              <a:pPr/>
              <a:t>‹#›</a:t>
            </a:fld>
            <a:endParaRPr lang="en-US" altLang="en-US"/>
          </a:p>
        </p:txBody>
      </p:sp>
    </p:spTree>
    <p:extLst>
      <p:ext uri="{BB962C8B-B14F-4D97-AF65-F5344CB8AC3E}">
        <p14:creationId xmlns:p14="http://schemas.microsoft.com/office/powerpoint/2010/main" val="14942938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50B08CDB-92F3-4DC1-B8D9-6DBF2CC483F0}"/>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7BBFACBB-0FC7-46C1-B02E-A0468ECC79E7}"/>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8C378A09-0E68-40BE-80C5-4279799D2366}"/>
              </a:ext>
            </a:extLst>
          </p:cNvPr>
          <p:cNvSpPr>
            <a:spLocks noGrp="1" noChangeArrowheads="1"/>
          </p:cNvSpPr>
          <p:nvPr>
            <p:ph type="sldNum" sz="quarter" idx="12"/>
          </p:nvPr>
        </p:nvSpPr>
        <p:spPr>
          <a:ln/>
        </p:spPr>
        <p:txBody>
          <a:bodyPr/>
          <a:lstStyle>
            <a:lvl1pPr>
              <a:defRPr/>
            </a:lvl1pPr>
          </a:lstStyle>
          <a:p>
            <a:fld id="{6FA71917-341E-4A15-BA81-A80ECCF0FB84}" type="slidenum">
              <a:rPr lang="en-US" altLang="en-US"/>
              <a:pPr/>
              <a:t>‹#›</a:t>
            </a:fld>
            <a:endParaRPr lang="en-US" altLang="en-US"/>
          </a:p>
        </p:txBody>
      </p:sp>
    </p:spTree>
    <p:extLst>
      <p:ext uri="{BB962C8B-B14F-4D97-AF65-F5344CB8AC3E}">
        <p14:creationId xmlns:p14="http://schemas.microsoft.com/office/powerpoint/2010/main" val="10830611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3C665772-608C-404D-91BD-28C4EC62AB63}"/>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FF8E50D9-5309-4286-B882-1FE9F0444962}"/>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289DF87D-86F7-4B7A-8AB3-2049F8321642}"/>
              </a:ext>
            </a:extLst>
          </p:cNvPr>
          <p:cNvSpPr>
            <a:spLocks noGrp="1" noChangeArrowheads="1"/>
          </p:cNvSpPr>
          <p:nvPr>
            <p:ph type="sldNum" sz="quarter" idx="12"/>
          </p:nvPr>
        </p:nvSpPr>
        <p:spPr>
          <a:ln/>
        </p:spPr>
        <p:txBody>
          <a:bodyPr/>
          <a:lstStyle>
            <a:lvl1pPr>
              <a:defRPr/>
            </a:lvl1pPr>
          </a:lstStyle>
          <a:p>
            <a:fld id="{949745CD-3965-4DF7-A914-F12DC0628CDB}" type="slidenum">
              <a:rPr lang="en-US" altLang="en-US"/>
              <a:pPr/>
              <a:t>‹#›</a:t>
            </a:fld>
            <a:endParaRPr lang="en-US" altLang="en-US"/>
          </a:p>
        </p:txBody>
      </p:sp>
    </p:spTree>
    <p:extLst>
      <p:ext uri="{BB962C8B-B14F-4D97-AF65-F5344CB8AC3E}">
        <p14:creationId xmlns:p14="http://schemas.microsoft.com/office/powerpoint/2010/main" val="40311382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9BB60A31-2A33-41C0-A515-9286F0CF50EF}"/>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6C0C817D-150B-4D33-AAA7-1845F73626F3}"/>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24EAD364-B470-4CBE-89A7-8CED8B62C333}"/>
              </a:ext>
            </a:extLst>
          </p:cNvPr>
          <p:cNvSpPr>
            <a:spLocks noGrp="1" noChangeArrowheads="1"/>
          </p:cNvSpPr>
          <p:nvPr>
            <p:ph type="sldNum" sz="quarter" idx="12"/>
          </p:nvPr>
        </p:nvSpPr>
        <p:spPr>
          <a:ln/>
        </p:spPr>
        <p:txBody>
          <a:bodyPr/>
          <a:lstStyle>
            <a:lvl1pPr>
              <a:defRPr/>
            </a:lvl1pPr>
          </a:lstStyle>
          <a:p>
            <a:fld id="{ACF0E774-5851-4680-B0D9-1ACB6B3A4B4C}" type="slidenum">
              <a:rPr lang="en-US" altLang="en-US"/>
              <a:pPr/>
              <a:t>‹#›</a:t>
            </a:fld>
            <a:endParaRPr lang="en-US" altLang="en-US"/>
          </a:p>
        </p:txBody>
      </p:sp>
    </p:spTree>
    <p:extLst>
      <p:ext uri="{BB962C8B-B14F-4D97-AF65-F5344CB8AC3E}">
        <p14:creationId xmlns:p14="http://schemas.microsoft.com/office/powerpoint/2010/main" val="5643756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22D5B29F-211A-4621-9ADB-BF85B8625B61}"/>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D0D3E00A-E673-483B-BBD6-E695D89D1F79}"/>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BD45CEF1-9BEF-4C17-BCD7-E431CCF0C2AF}"/>
              </a:ext>
            </a:extLst>
          </p:cNvPr>
          <p:cNvSpPr>
            <a:spLocks noGrp="1" noChangeArrowheads="1"/>
          </p:cNvSpPr>
          <p:nvPr>
            <p:ph type="sldNum" sz="quarter" idx="12"/>
          </p:nvPr>
        </p:nvSpPr>
        <p:spPr>
          <a:ln/>
        </p:spPr>
        <p:txBody>
          <a:bodyPr/>
          <a:lstStyle>
            <a:lvl1pPr>
              <a:defRPr/>
            </a:lvl1pPr>
          </a:lstStyle>
          <a:p>
            <a:fld id="{78D2103C-FB1A-4351-936B-BD57860F79B7}" type="slidenum">
              <a:rPr lang="en-US" altLang="en-US"/>
              <a:pPr/>
              <a:t>‹#›</a:t>
            </a:fld>
            <a:endParaRPr lang="en-US" altLang="en-US"/>
          </a:p>
        </p:txBody>
      </p:sp>
    </p:spTree>
    <p:extLst>
      <p:ext uri="{BB962C8B-B14F-4D97-AF65-F5344CB8AC3E}">
        <p14:creationId xmlns:p14="http://schemas.microsoft.com/office/powerpoint/2010/main" val="171318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OverObj" preserve="1">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685800" y="1981200"/>
            <a:ext cx="77724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85800" y="4114800"/>
            <a:ext cx="77724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F50F30F7-E012-4725-8D96-AF2AACBEDFC2}"/>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DAC19860-E23D-41EE-B395-6D0B04B2402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87FF2F1F-D431-49E3-912B-3B0252FB4D91}"/>
              </a:ext>
            </a:extLst>
          </p:cNvPr>
          <p:cNvSpPr>
            <a:spLocks noGrp="1" noChangeArrowheads="1"/>
          </p:cNvSpPr>
          <p:nvPr>
            <p:ph type="sldNum" sz="quarter" idx="12"/>
          </p:nvPr>
        </p:nvSpPr>
        <p:spPr>
          <a:ln/>
        </p:spPr>
        <p:txBody>
          <a:bodyPr/>
          <a:lstStyle>
            <a:lvl1pPr>
              <a:defRPr/>
            </a:lvl1pPr>
          </a:lstStyle>
          <a:p>
            <a:fld id="{C142A9C2-9170-4B29-A228-4752C327A6C5}" type="slidenum">
              <a:rPr lang="en-US" altLang="en-US"/>
              <a:pPr/>
              <a:t>‹#›</a:t>
            </a:fld>
            <a:endParaRPr lang="en-US" altLang="en-US"/>
          </a:p>
        </p:txBody>
      </p:sp>
    </p:spTree>
    <p:extLst>
      <p:ext uri="{BB962C8B-B14F-4D97-AF65-F5344CB8AC3E}">
        <p14:creationId xmlns:p14="http://schemas.microsoft.com/office/powerpoint/2010/main" val="3841852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verTx" preserve="1">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a:t>Click to edit Master title style</a:t>
            </a:r>
          </a:p>
        </p:txBody>
      </p:sp>
      <p:sp>
        <p:nvSpPr>
          <p:cNvPr id="3" name="Content Placeholder 2"/>
          <p:cNvSpPr>
            <a:spLocks noGrp="1"/>
          </p:cNvSpPr>
          <p:nvPr>
            <p:ph sz="half" idx="1"/>
          </p:nvPr>
        </p:nvSpPr>
        <p:spPr>
          <a:xfrm>
            <a:off x="685800" y="1981200"/>
            <a:ext cx="77724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85800" y="4114800"/>
            <a:ext cx="77724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85312B34-8544-420C-B7F1-8E9A54133C34}"/>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25C19FAB-50D3-4780-9AC2-05F95131A609}"/>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DAD2A0AE-D356-46C3-86EA-C8F59D48E003}"/>
              </a:ext>
            </a:extLst>
          </p:cNvPr>
          <p:cNvSpPr>
            <a:spLocks noGrp="1" noChangeArrowheads="1"/>
          </p:cNvSpPr>
          <p:nvPr>
            <p:ph type="sldNum" sz="quarter" idx="12"/>
          </p:nvPr>
        </p:nvSpPr>
        <p:spPr>
          <a:ln/>
        </p:spPr>
        <p:txBody>
          <a:bodyPr/>
          <a:lstStyle>
            <a:lvl1pPr>
              <a:defRPr/>
            </a:lvl1pPr>
          </a:lstStyle>
          <a:p>
            <a:fld id="{481ADFBF-AA2C-4958-AFAD-681F9A25F49D}" type="slidenum">
              <a:rPr lang="en-US" altLang="en-US"/>
              <a:pPr/>
              <a:t>‹#›</a:t>
            </a:fld>
            <a:endParaRPr lang="en-US" altLang="en-US"/>
          </a:p>
        </p:txBody>
      </p:sp>
    </p:spTree>
    <p:extLst>
      <p:ext uri="{BB962C8B-B14F-4D97-AF65-F5344CB8AC3E}">
        <p14:creationId xmlns:p14="http://schemas.microsoft.com/office/powerpoint/2010/main" val="38689237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fourObj" preserve="1">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685800" y="609600"/>
            <a:ext cx="7772400" cy="1143000"/>
          </a:xfrm>
        </p:spPr>
        <p:txBody>
          <a:bodyPr/>
          <a:lstStyle/>
          <a:p>
            <a:r>
              <a:rPr lang="en-US"/>
              <a:t>Click to edit Master title style</a:t>
            </a:r>
          </a:p>
        </p:txBody>
      </p:sp>
      <p:sp>
        <p:nvSpPr>
          <p:cNvPr id="3" name="Content Placeholder 2"/>
          <p:cNvSpPr>
            <a:spLocks noGrp="1"/>
          </p:cNvSpPr>
          <p:nvPr>
            <p:ph sz="quarter" idx="1"/>
          </p:nvPr>
        </p:nvSpPr>
        <p:spPr>
          <a:xfrm>
            <a:off x="685800" y="19812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9812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85800" y="41148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48200" y="41148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F9C3C189-284F-49ED-B667-E8A106F58846}"/>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3180BD58-4C5B-43BE-828D-4C40D9CA7A09}"/>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6">
            <a:extLst>
              <a:ext uri="{FF2B5EF4-FFF2-40B4-BE49-F238E27FC236}">
                <a16:creationId xmlns:a16="http://schemas.microsoft.com/office/drawing/2014/main" id="{3A7E488F-D7A7-405B-865A-F1FBEC6F8D7E}"/>
              </a:ext>
            </a:extLst>
          </p:cNvPr>
          <p:cNvSpPr>
            <a:spLocks noGrp="1" noChangeArrowheads="1"/>
          </p:cNvSpPr>
          <p:nvPr>
            <p:ph type="sldNum" sz="quarter" idx="12"/>
          </p:nvPr>
        </p:nvSpPr>
        <p:spPr>
          <a:ln/>
        </p:spPr>
        <p:txBody>
          <a:bodyPr/>
          <a:lstStyle>
            <a:lvl1pPr>
              <a:defRPr/>
            </a:lvl1pPr>
          </a:lstStyle>
          <a:p>
            <a:fld id="{35E93977-C7AF-406A-914D-3AC0DE142B5F}" type="slidenum">
              <a:rPr lang="en-US" altLang="en-US"/>
              <a:pPr/>
              <a:t>‹#›</a:t>
            </a:fld>
            <a:endParaRPr lang="en-US" altLang="en-US"/>
          </a:p>
        </p:txBody>
      </p:sp>
    </p:spTree>
    <p:extLst>
      <p:ext uri="{BB962C8B-B14F-4D97-AF65-F5344CB8AC3E}">
        <p14:creationId xmlns:p14="http://schemas.microsoft.com/office/powerpoint/2010/main" val="41238709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77FA0971-F6CD-4C67-84AB-D23402A9287C}"/>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2B136F30-CBA0-4486-A994-67EEF71E7834}"/>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D9ABAA0F-92E3-4A97-87AA-46CF363FB9A5}"/>
              </a:ext>
            </a:extLst>
          </p:cNvPr>
          <p:cNvSpPr>
            <a:spLocks noGrp="1" noChangeArrowheads="1"/>
          </p:cNvSpPr>
          <p:nvPr>
            <p:ph type="sldNum" sz="quarter" idx="12"/>
          </p:nvPr>
        </p:nvSpPr>
        <p:spPr>
          <a:ln/>
        </p:spPr>
        <p:txBody>
          <a:bodyPr/>
          <a:lstStyle>
            <a:lvl1pPr>
              <a:defRPr/>
            </a:lvl1pPr>
          </a:lstStyle>
          <a:p>
            <a:fld id="{9E07DC1E-E1C4-4CBF-8552-6307A4A42644}" type="slidenum">
              <a:rPr lang="en-US" altLang="en-US"/>
              <a:pPr/>
              <a:t>‹#›</a:t>
            </a:fld>
            <a:endParaRPr lang="en-US" altLang="en-US"/>
          </a:p>
        </p:txBody>
      </p:sp>
    </p:spTree>
    <p:extLst>
      <p:ext uri="{BB962C8B-B14F-4D97-AF65-F5344CB8AC3E}">
        <p14:creationId xmlns:p14="http://schemas.microsoft.com/office/powerpoint/2010/main" val="325761711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58A0B03-93F9-4DF9-A5D5-6F452ED8AA6C}" type="datetime1">
              <a:rPr lang="en-US" smtClean="0"/>
              <a:pPr/>
              <a:t>03-Dec-25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692594-9571-400C-AFC9-4934A70373E4}" type="slidenum">
              <a:rPr lang="en-US" smtClean="0"/>
              <a:pPr/>
              <a:t>‹#›</a:t>
            </a:fld>
            <a:endParaRPr lang="en-US"/>
          </a:p>
        </p:txBody>
      </p:sp>
    </p:spTree>
    <p:extLst>
      <p:ext uri="{BB962C8B-B14F-4D97-AF65-F5344CB8AC3E}">
        <p14:creationId xmlns:p14="http://schemas.microsoft.com/office/powerpoint/2010/main" val="127724836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0A1E4D5-C555-4AAB-B051-245AC361C352}" type="datetime1">
              <a:rPr lang="en-US" smtClean="0"/>
              <a:pPr/>
              <a:t>03-Dec-25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692594-9571-400C-AFC9-4934A70373E4}" type="slidenum">
              <a:rPr lang="en-US" smtClean="0"/>
              <a:pPr/>
              <a:t>‹#›</a:t>
            </a:fld>
            <a:endParaRPr lang="en-US"/>
          </a:p>
        </p:txBody>
      </p:sp>
    </p:spTree>
    <p:extLst>
      <p:ext uri="{BB962C8B-B14F-4D97-AF65-F5344CB8AC3E}">
        <p14:creationId xmlns:p14="http://schemas.microsoft.com/office/powerpoint/2010/main" val="350435975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F15AB6A-AEB5-4818-B86E-0CE28A223B58}" type="datetime1">
              <a:rPr lang="en-US" smtClean="0"/>
              <a:pPr/>
              <a:t>03-Dec-25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692594-9571-400C-AFC9-4934A70373E4}" type="slidenum">
              <a:rPr lang="en-US" smtClean="0"/>
              <a:pPr/>
              <a:t>‹#›</a:t>
            </a:fld>
            <a:endParaRPr lang="en-US"/>
          </a:p>
        </p:txBody>
      </p:sp>
    </p:spTree>
    <p:extLst>
      <p:ext uri="{BB962C8B-B14F-4D97-AF65-F5344CB8AC3E}">
        <p14:creationId xmlns:p14="http://schemas.microsoft.com/office/powerpoint/2010/main" val="376848323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0C62C25-7221-4001-A6F0-4979AF3A9214}" type="datetime1">
              <a:rPr lang="en-US" smtClean="0"/>
              <a:pPr/>
              <a:t>03-Dec-25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692594-9571-400C-AFC9-4934A70373E4}" type="slidenum">
              <a:rPr lang="en-US" smtClean="0"/>
              <a:pPr/>
              <a:t>‹#›</a:t>
            </a:fld>
            <a:endParaRPr lang="en-US"/>
          </a:p>
        </p:txBody>
      </p:sp>
    </p:spTree>
    <p:extLst>
      <p:ext uri="{BB962C8B-B14F-4D97-AF65-F5344CB8AC3E}">
        <p14:creationId xmlns:p14="http://schemas.microsoft.com/office/powerpoint/2010/main" val="340925950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D40231C-17F1-4C33-926B-3FD333F4AF6E}" type="datetime1">
              <a:rPr lang="en-US" smtClean="0"/>
              <a:pPr/>
              <a:t>03-Dec-25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4692594-9571-400C-AFC9-4934A70373E4}" type="slidenum">
              <a:rPr lang="en-US" smtClean="0"/>
              <a:pPr/>
              <a:t>‹#›</a:t>
            </a:fld>
            <a:endParaRPr lang="en-US"/>
          </a:p>
        </p:txBody>
      </p:sp>
    </p:spTree>
    <p:extLst>
      <p:ext uri="{BB962C8B-B14F-4D97-AF65-F5344CB8AC3E}">
        <p14:creationId xmlns:p14="http://schemas.microsoft.com/office/powerpoint/2010/main" val="125522970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6810552-3019-479B-8365-4FDBCF9BB96B}" type="datetime1">
              <a:rPr lang="en-US" smtClean="0"/>
              <a:pPr/>
              <a:t>03-Dec-25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4692594-9571-400C-AFC9-4934A70373E4}" type="slidenum">
              <a:rPr lang="en-US" smtClean="0"/>
              <a:pPr/>
              <a:t>‹#›</a:t>
            </a:fld>
            <a:endParaRPr lang="en-US"/>
          </a:p>
        </p:txBody>
      </p:sp>
    </p:spTree>
    <p:extLst>
      <p:ext uri="{BB962C8B-B14F-4D97-AF65-F5344CB8AC3E}">
        <p14:creationId xmlns:p14="http://schemas.microsoft.com/office/powerpoint/2010/main" val="15830443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F63A208-2A2B-4F33-AC63-C87608107256}" type="datetime1">
              <a:rPr lang="en-US" smtClean="0"/>
              <a:pPr/>
              <a:t>03-Dec-25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4692594-9571-400C-AFC9-4934A70373E4}" type="slidenum">
              <a:rPr lang="en-US" smtClean="0"/>
              <a:pPr/>
              <a:t>‹#›</a:t>
            </a:fld>
            <a:endParaRPr lang="en-US"/>
          </a:p>
        </p:txBody>
      </p:sp>
    </p:spTree>
    <p:extLst>
      <p:ext uri="{BB962C8B-B14F-4D97-AF65-F5344CB8AC3E}">
        <p14:creationId xmlns:p14="http://schemas.microsoft.com/office/powerpoint/2010/main" val="326610667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0EAF8CB-5D37-470F-9ED5-92ADE0F7DB48}" type="datetime1">
              <a:rPr lang="en-US" smtClean="0"/>
              <a:pPr/>
              <a:t>03-Dec-25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692594-9571-400C-AFC9-4934A70373E4}" type="slidenum">
              <a:rPr lang="en-US" smtClean="0"/>
              <a:pPr/>
              <a:t>‹#›</a:t>
            </a:fld>
            <a:endParaRPr lang="en-US"/>
          </a:p>
        </p:txBody>
      </p:sp>
    </p:spTree>
    <p:extLst>
      <p:ext uri="{BB962C8B-B14F-4D97-AF65-F5344CB8AC3E}">
        <p14:creationId xmlns:p14="http://schemas.microsoft.com/office/powerpoint/2010/main" val="258292691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9EE1367-AD4D-438B-B681-2A1B8DDC8984}" type="datetime1">
              <a:rPr lang="en-US" smtClean="0"/>
              <a:pPr/>
              <a:t>03-Dec-25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692594-9571-400C-AFC9-4934A70373E4}" type="slidenum">
              <a:rPr lang="en-US" smtClean="0"/>
              <a:pPr/>
              <a:t>‹#›</a:t>
            </a:fld>
            <a:endParaRPr lang="en-US"/>
          </a:p>
        </p:txBody>
      </p:sp>
    </p:spTree>
    <p:extLst>
      <p:ext uri="{BB962C8B-B14F-4D97-AF65-F5344CB8AC3E}">
        <p14:creationId xmlns:p14="http://schemas.microsoft.com/office/powerpoint/2010/main" val="118529212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F4B9A9F-F338-46AE-AA01-6892C503F664}" type="datetime1">
              <a:rPr lang="en-US" smtClean="0"/>
              <a:pPr/>
              <a:t>03-Dec-25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692594-9571-400C-AFC9-4934A70373E4}" type="slidenum">
              <a:rPr lang="en-US" smtClean="0"/>
              <a:pPr/>
              <a:t>‹#›</a:t>
            </a:fld>
            <a:endParaRPr lang="en-US"/>
          </a:p>
        </p:txBody>
      </p:sp>
    </p:spTree>
    <p:extLst>
      <p:ext uri="{BB962C8B-B14F-4D97-AF65-F5344CB8AC3E}">
        <p14:creationId xmlns:p14="http://schemas.microsoft.com/office/powerpoint/2010/main" val="157724902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C2021EE-2A88-4C60-8C5B-3DB2B92AB7C6}" type="datetime1">
              <a:rPr lang="en-US" smtClean="0"/>
              <a:pPr/>
              <a:t>03-Dec-25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692594-9571-400C-AFC9-4934A70373E4}" type="slidenum">
              <a:rPr lang="en-US" smtClean="0"/>
              <a:pPr/>
              <a:t>‹#›</a:t>
            </a:fld>
            <a:endParaRPr lang="en-US"/>
          </a:p>
        </p:txBody>
      </p:sp>
    </p:spTree>
    <p:extLst>
      <p:ext uri="{BB962C8B-B14F-4D97-AF65-F5344CB8AC3E}">
        <p14:creationId xmlns:p14="http://schemas.microsoft.com/office/powerpoint/2010/main" val="260141182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clipArtAndTx">
  <p:cSld name="Title, Clip Art and Text">
    <p:spTree>
      <p:nvGrpSpPr>
        <p:cNvPr id="1" name=""/>
        <p:cNvGrpSpPr/>
        <p:nvPr/>
      </p:nvGrpSpPr>
      <p:grpSpPr>
        <a:xfrm>
          <a:off x="0" y="0"/>
          <a:ext cx="0" cy="0"/>
          <a:chOff x="0" y="0"/>
          <a:chExt cx="0" cy="0"/>
        </a:xfrm>
      </p:grpSpPr>
      <p:sp>
        <p:nvSpPr>
          <p:cNvPr id="2" name="Title 1"/>
          <p:cNvSpPr>
            <a:spLocks noGrp="1"/>
          </p:cNvSpPr>
          <p:nvPr>
            <p:ph type="title"/>
          </p:nvPr>
        </p:nvSpPr>
        <p:spPr>
          <a:xfrm>
            <a:off x="685800" y="304800"/>
            <a:ext cx="7772400" cy="990600"/>
          </a:xfrm>
        </p:spPr>
        <p:txBody>
          <a:bodyPr/>
          <a:lstStyle/>
          <a:p>
            <a:r>
              <a:rPr lang="en-US"/>
              <a:t>Click to edit Master title style</a:t>
            </a:r>
          </a:p>
        </p:txBody>
      </p:sp>
      <p:sp>
        <p:nvSpPr>
          <p:cNvPr id="3" name="ClipArt Placeholder 2"/>
          <p:cNvSpPr>
            <a:spLocks noGrp="1"/>
          </p:cNvSpPr>
          <p:nvPr>
            <p:ph type="clipArt" sz="half" idx="1"/>
          </p:nvPr>
        </p:nvSpPr>
        <p:spPr>
          <a:xfrm>
            <a:off x="685800" y="1981200"/>
            <a:ext cx="3810000" cy="4114800"/>
          </a:xfrm>
        </p:spPr>
        <p:txBody>
          <a:bodyPr/>
          <a:lstStyle/>
          <a:p>
            <a:pPr lvl="0"/>
            <a:endParaRPr lang="en-US" noProof="0"/>
          </a:p>
        </p:txBody>
      </p:sp>
      <p:sp>
        <p:nvSpPr>
          <p:cNvPr id="4" name="Text Placeholder 3"/>
          <p:cNvSpPr>
            <a:spLocks noGrp="1"/>
          </p:cNvSpPr>
          <p:nvPr>
            <p:ph type="body" sz="half" idx="2"/>
          </p:nvPr>
        </p:nvSpPr>
        <p:spPr>
          <a:xfrm>
            <a:off x="46482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6761348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685800" y="304800"/>
            <a:ext cx="7772400" cy="990600"/>
          </a:xfrm>
        </p:spPr>
        <p:txBody>
          <a:bodyPr/>
          <a:lstStyle/>
          <a:p>
            <a:r>
              <a:rPr lang="en-US"/>
              <a:t>Click to edit Master title style</a:t>
            </a:r>
          </a:p>
        </p:txBody>
      </p:sp>
      <p:sp>
        <p:nvSpPr>
          <p:cNvPr id="3" name="Text Placeholder 2"/>
          <p:cNvSpPr>
            <a:spLocks noGrp="1"/>
          </p:cNvSpPr>
          <p:nvPr>
            <p:ph type="body"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lipArt Placeholder 3"/>
          <p:cNvSpPr>
            <a:spLocks noGrp="1"/>
          </p:cNvSpPr>
          <p:nvPr>
            <p:ph type="clipArt" sz="half" idx="2"/>
          </p:nvPr>
        </p:nvSpPr>
        <p:spPr>
          <a:xfrm>
            <a:off x="4648200" y="1981200"/>
            <a:ext cx="3810000" cy="4114800"/>
          </a:xfrm>
        </p:spPr>
        <p:txBody>
          <a:bodyPr/>
          <a:lstStyle/>
          <a:p>
            <a:pPr lvl="0"/>
            <a:endParaRPr lang="en-US" noProof="0"/>
          </a:p>
        </p:txBody>
      </p:sp>
    </p:spTree>
    <p:extLst>
      <p:ext uri="{BB962C8B-B14F-4D97-AF65-F5344CB8AC3E}">
        <p14:creationId xmlns:p14="http://schemas.microsoft.com/office/powerpoint/2010/main" val="266780120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304800"/>
            <a:ext cx="7772400" cy="990600"/>
          </a:xfrm>
        </p:spPr>
        <p:txBody>
          <a:bodyPr/>
          <a:lstStyle/>
          <a:p>
            <a:r>
              <a:rPr lang="en-US"/>
              <a:t>Click to edit Master title style</a:t>
            </a:r>
          </a:p>
        </p:txBody>
      </p:sp>
      <p:sp>
        <p:nvSpPr>
          <p:cNvPr id="3" name="Text Placeholder 2"/>
          <p:cNvSpPr>
            <a:spLocks noGrp="1"/>
          </p:cNvSpPr>
          <p:nvPr>
            <p:ph type="body"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9812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41148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787429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slideLayout" Target="../slideLayouts/slideLayout28.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5" Type="http://schemas.openxmlformats.org/officeDocument/2006/relationships/theme" Target="../theme/theme2.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CE7D5101-9C65-4E3C-A786-9612698B1168}"/>
              </a:ext>
            </a:extLst>
          </p:cNvPr>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C501CEBD-2959-4036-922B-5AE48FE37059}"/>
              </a:ext>
            </a:extLst>
          </p:cNvPr>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09E4F7EC-CD7F-427C-B296-F4D7123C086F}"/>
              </a:ext>
            </a:extLst>
          </p:cNvPr>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pPr>
              <a:defRPr/>
            </a:pPr>
            <a:endParaRPr lang="en-US"/>
          </a:p>
        </p:txBody>
      </p:sp>
      <p:sp>
        <p:nvSpPr>
          <p:cNvPr id="1029" name="Rectangle 5">
            <a:extLst>
              <a:ext uri="{FF2B5EF4-FFF2-40B4-BE49-F238E27FC236}">
                <a16:creationId xmlns:a16="http://schemas.microsoft.com/office/drawing/2014/main" id="{E0F396A0-1C63-41FB-BF1D-1ED2841B879A}"/>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pPr>
              <a:defRPr/>
            </a:pPr>
            <a:endParaRPr lang="en-US"/>
          </a:p>
        </p:txBody>
      </p:sp>
      <p:sp>
        <p:nvSpPr>
          <p:cNvPr id="1030" name="Rectangle 6">
            <a:extLst>
              <a:ext uri="{FF2B5EF4-FFF2-40B4-BE49-F238E27FC236}">
                <a16:creationId xmlns:a16="http://schemas.microsoft.com/office/drawing/2014/main" id="{98DBFFC2-5D93-449A-BBAC-4AEA26CFBCA1}"/>
              </a:ext>
            </a:extLst>
          </p:cNvPr>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fld id="{18F48A3C-2A90-4A29-B661-6F79EE7DE1BF}"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B4C8D32-0753-4F5B-B222-BE93E5C65320}" type="datetime1">
              <a:rPr lang="en-US" smtClean="0"/>
              <a:pPr/>
              <a:t>03-Dec-25</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692594-9571-400C-AFC9-4934A70373E4}" type="slidenum">
              <a:rPr lang="en-US" smtClean="0"/>
              <a:pPr/>
              <a:t>‹#›</a:t>
            </a:fld>
            <a:endParaRPr lang="en-US"/>
          </a:p>
        </p:txBody>
      </p:sp>
    </p:spTree>
    <p:extLst>
      <p:ext uri="{BB962C8B-B14F-4D97-AF65-F5344CB8AC3E}">
        <p14:creationId xmlns:p14="http://schemas.microsoft.com/office/powerpoint/2010/main" val="190704250"/>
      </p:ext>
    </p:extLst>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 id="2147483678" r:id="rId1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hyperlink" Target="http://www.sciencedaily.com/videos/2005/1010-insulin_independence.htm" TargetMode="Externa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4" descr="genthumb">
            <a:extLst>
              <a:ext uri="{FF2B5EF4-FFF2-40B4-BE49-F238E27FC236}">
                <a16:creationId xmlns:a16="http://schemas.microsoft.com/office/drawing/2014/main" id="{94D26287-2A8C-49AA-94D7-0051FBA334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1257300"/>
            <a:ext cx="5105400" cy="421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4">
            <a:extLst>
              <a:ext uri="{FF2B5EF4-FFF2-40B4-BE49-F238E27FC236}">
                <a16:creationId xmlns:a16="http://schemas.microsoft.com/office/drawing/2014/main" id="{C575F947-CB0A-40E2-8A24-7153EE06B0C6}"/>
              </a:ext>
            </a:extLst>
          </p:cNvPr>
          <p:cNvSpPr>
            <a:spLocks noRot="1" noChangeArrowheads="1"/>
          </p:cNvSpPr>
          <p:nvPr/>
        </p:nvSpPr>
        <p:spPr bwMode="auto">
          <a:xfrm>
            <a:off x="381000" y="262851"/>
            <a:ext cx="8229600" cy="533219"/>
          </a:xfrm>
          <a:prstGeom prst="rect">
            <a:avLst/>
          </a:prstGeom>
          <a:solidFill>
            <a:schemeClr val="accent6">
              <a:lumMod val="20000"/>
              <a:lumOff val="80000"/>
            </a:schemeClr>
          </a:solidFill>
          <a:ln>
            <a:noFill/>
          </a:ln>
        </p:spPr>
        <p:txBody>
          <a:bodyPr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4000" dirty="0">
                <a:solidFill>
                  <a:srgbClr val="9437FF"/>
                </a:solidFill>
              </a:rPr>
              <a:t>What is Diabetes Mellitus?</a:t>
            </a:r>
          </a:p>
        </p:txBody>
      </p:sp>
      <p:sp>
        <p:nvSpPr>
          <p:cNvPr id="3075" name="Rectangle 5">
            <a:extLst>
              <a:ext uri="{FF2B5EF4-FFF2-40B4-BE49-F238E27FC236}">
                <a16:creationId xmlns:a16="http://schemas.microsoft.com/office/drawing/2014/main" id="{860EAFA1-BAD5-411D-AF2B-1A897D2894CC}"/>
              </a:ext>
            </a:extLst>
          </p:cNvPr>
          <p:cNvSpPr>
            <a:spLocks noChangeArrowheads="1"/>
          </p:cNvSpPr>
          <p:nvPr/>
        </p:nvSpPr>
        <p:spPr bwMode="auto">
          <a:xfrm>
            <a:off x="381000" y="1016876"/>
            <a:ext cx="8458200" cy="53734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75000"/>
              </a:lnSpc>
            </a:pPr>
            <a:r>
              <a:rPr lang="en-US" altLang="en-US" sz="2800" dirty="0">
                <a:solidFill>
                  <a:srgbClr val="0000FF"/>
                </a:solidFill>
              </a:rPr>
              <a:t>Normal Glucose Metabolism: </a:t>
            </a:r>
          </a:p>
          <a:p>
            <a:pPr>
              <a:lnSpc>
                <a:spcPct val="75000"/>
              </a:lnSpc>
            </a:pPr>
            <a:endParaRPr lang="en-US" altLang="en-US" sz="1050" dirty="0">
              <a:solidFill>
                <a:srgbClr val="0000FF"/>
              </a:solidFill>
            </a:endParaRPr>
          </a:p>
          <a:p>
            <a:pPr>
              <a:lnSpc>
                <a:spcPct val="75000"/>
              </a:lnSpc>
              <a:spcBef>
                <a:spcPct val="50000"/>
              </a:spcBef>
              <a:buFontTx/>
              <a:buChar char="•"/>
            </a:pPr>
            <a:r>
              <a:rPr lang="en-US" altLang="en-US" dirty="0"/>
              <a:t>When the amount of glucose in the blood increases, e.g., after a meal, it triggers the release of the </a:t>
            </a:r>
            <a:r>
              <a:rPr lang="en-US" altLang="en-US" dirty="0">
                <a:solidFill>
                  <a:srgbClr val="FF00FF"/>
                </a:solidFill>
              </a:rPr>
              <a:t>peptide hormone insulin </a:t>
            </a:r>
            <a:r>
              <a:rPr lang="en-US" altLang="en-US" dirty="0"/>
              <a:t>from the pancreas. </a:t>
            </a:r>
          </a:p>
          <a:p>
            <a:pPr>
              <a:lnSpc>
                <a:spcPct val="75000"/>
              </a:lnSpc>
              <a:spcBef>
                <a:spcPct val="50000"/>
              </a:spcBef>
              <a:buFontTx/>
              <a:buChar char="•"/>
            </a:pPr>
            <a:r>
              <a:rPr lang="en-US" altLang="en-US" dirty="0"/>
              <a:t>Insulin </a:t>
            </a:r>
            <a:r>
              <a:rPr lang="en-US" altLang="en-US" b="1" dirty="0"/>
              <a:t>stimulates muscle and fat cells </a:t>
            </a:r>
            <a:r>
              <a:rPr lang="en-US" altLang="en-US" dirty="0"/>
              <a:t>to take-in glucose from the blood and stimulates the liver to metabolize glucose, causing the blood sugar level to decrease to normal levels.</a:t>
            </a:r>
          </a:p>
          <a:p>
            <a:pPr>
              <a:lnSpc>
                <a:spcPct val="75000"/>
              </a:lnSpc>
            </a:pPr>
            <a:endParaRPr lang="en-US" altLang="en-US" sz="2800" dirty="0">
              <a:solidFill>
                <a:srgbClr val="0000FF"/>
              </a:solidFill>
            </a:endParaRPr>
          </a:p>
          <a:p>
            <a:pPr>
              <a:lnSpc>
                <a:spcPct val="75000"/>
              </a:lnSpc>
            </a:pPr>
            <a:r>
              <a:rPr lang="en-US" altLang="en-US" sz="2800" dirty="0">
                <a:solidFill>
                  <a:srgbClr val="0000FF"/>
                </a:solidFill>
              </a:rPr>
              <a:t>Diabetes Mellitus -</a:t>
            </a:r>
          </a:p>
          <a:p>
            <a:pPr>
              <a:lnSpc>
                <a:spcPct val="75000"/>
              </a:lnSpc>
              <a:spcBef>
                <a:spcPct val="50000"/>
              </a:spcBef>
              <a:buFontTx/>
              <a:buChar char="•"/>
            </a:pPr>
            <a:r>
              <a:rPr lang="en-US" altLang="en-US" dirty="0">
                <a:solidFill>
                  <a:srgbClr val="008000"/>
                </a:solidFill>
              </a:rPr>
              <a:t>Diabetes mellitus is a metabolic disorder characterized by </a:t>
            </a:r>
            <a:r>
              <a:rPr lang="en-US" altLang="en-US" dirty="0"/>
              <a:t>abnormally high levels of sugar </a:t>
            </a:r>
            <a:r>
              <a:rPr lang="en-US" altLang="en-US" dirty="0">
                <a:solidFill>
                  <a:srgbClr val="008000"/>
                </a:solidFill>
              </a:rPr>
              <a:t>(glucose) in the blood.</a:t>
            </a:r>
          </a:p>
          <a:p>
            <a:pPr>
              <a:lnSpc>
                <a:spcPct val="75000"/>
              </a:lnSpc>
              <a:spcBef>
                <a:spcPct val="25000"/>
              </a:spcBef>
              <a:buFontTx/>
              <a:buChar char="•"/>
            </a:pPr>
            <a:r>
              <a:rPr lang="en-US" altLang="en-US" dirty="0">
                <a:solidFill>
                  <a:srgbClr val="008000"/>
                </a:solidFill>
              </a:rPr>
              <a:t>Condition of high levels of glucose in the blood is called </a:t>
            </a:r>
            <a:r>
              <a:rPr lang="en-US" altLang="en-US" dirty="0">
                <a:solidFill>
                  <a:srgbClr val="FF2F92"/>
                </a:solidFill>
              </a:rPr>
              <a:t>Hyperglycemia</a:t>
            </a:r>
            <a:r>
              <a:rPr lang="en-US" altLang="en-US" dirty="0">
                <a:solidFill>
                  <a:srgbClr val="008000"/>
                </a:solidFill>
              </a:rPr>
              <a:t>. </a:t>
            </a:r>
          </a:p>
          <a:p>
            <a:pPr>
              <a:lnSpc>
                <a:spcPct val="75000"/>
              </a:lnSpc>
              <a:spcBef>
                <a:spcPct val="25000"/>
              </a:spcBef>
              <a:buFontTx/>
              <a:buChar char="•"/>
            </a:pPr>
            <a:r>
              <a:rPr lang="en-US" altLang="en-US" dirty="0">
                <a:solidFill>
                  <a:srgbClr val="008000"/>
                </a:solidFill>
              </a:rPr>
              <a:t>Hereditary and environmental factors are responsible.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4">
            <a:extLst>
              <a:ext uri="{FF2B5EF4-FFF2-40B4-BE49-F238E27FC236}">
                <a16:creationId xmlns:a16="http://schemas.microsoft.com/office/drawing/2014/main" id="{31B93848-3F2C-4057-8A04-1A7F2107F850}"/>
              </a:ext>
            </a:extLst>
          </p:cNvPr>
          <p:cNvSpPr>
            <a:spLocks noRot="1" noChangeArrowheads="1"/>
          </p:cNvSpPr>
          <p:nvPr/>
        </p:nvSpPr>
        <p:spPr bwMode="auto">
          <a:xfrm>
            <a:off x="381000" y="244307"/>
            <a:ext cx="8229600" cy="645195"/>
          </a:xfrm>
          <a:prstGeom prst="rect">
            <a:avLst/>
          </a:prstGeom>
          <a:solidFill>
            <a:schemeClr val="accent6">
              <a:lumMod val="20000"/>
              <a:lumOff val="80000"/>
            </a:schemeClr>
          </a:solidFill>
          <a:ln>
            <a:noFill/>
          </a:ln>
        </p:spPr>
        <p:txBody>
          <a:bodyPr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4000" dirty="0">
                <a:solidFill>
                  <a:srgbClr val="9437FF"/>
                </a:solidFill>
              </a:rPr>
              <a:t>Causes of Hyperglycemia</a:t>
            </a:r>
          </a:p>
        </p:txBody>
      </p:sp>
      <p:sp>
        <p:nvSpPr>
          <p:cNvPr id="4099" name="Rectangle 5">
            <a:extLst>
              <a:ext uri="{FF2B5EF4-FFF2-40B4-BE49-F238E27FC236}">
                <a16:creationId xmlns:a16="http://schemas.microsoft.com/office/drawing/2014/main" id="{A16745FA-F379-41CA-9FD3-63F8B7C55B17}"/>
              </a:ext>
            </a:extLst>
          </p:cNvPr>
          <p:cNvSpPr>
            <a:spLocks noChangeArrowheads="1"/>
          </p:cNvSpPr>
          <p:nvPr/>
        </p:nvSpPr>
        <p:spPr bwMode="auto">
          <a:xfrm>
            <a:off x="381000" y="1080595"/>
            <a:ext cx="8648700" cy="4447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75000"/>
              </a:lnSpc>
              <a:buFontTx/>
              <a:buChar char="•"/>
            </a:pPr>
            <a:r>
              <a:rPr lang="en-US" altLang="en-US" dirty="0">
                <a:solidFill>
                  <a:schemeClr val="hlink"/>
                </a:solidFill>
              </a:rPr>
              <a:t>Insulin</a:t>
            </a:r>
            <a:r>
              <a:rPr lang="en-US" altLang="en-US" dirty="0"/>
              <a:t> is a hormone secreted from the </a:t>
            </a:r>
            <a:r>
              <a:rPr lang="en-US" altLang="en-US" dirty="0">
                <a:solidFill>
                  <a:schemeClr val="hlink"/>
                </a:solidFill>
              </a:rPr>
              <a:t>Islet cells</a:t>
            </a:r>
            <a:r>
              <a:rPr lang="en-US" altLang="en-US" dirty="0"/>
              <a:t> of the</a:t>
            </a:r>
          </a:p>
          <a:p>
            <a:pPr>
              <a:lnSpc>
                <a:spcPct val="75000"/>
              </a:lnSpc>
              <a:spcBef>
                <a:spcPct val="10000"/>
              </a:spcBef>
            </a:pPr>
            <a:r>
              <a:rPr lang="en-US" altLang="en-US" dirty="0"/>
              <a:t>    </a:t>
            </a:r>
            <a:r>
              <a:rPr lang="en-US" altLang="en-US" dirty="0">
                <a:solidFill>
                  <a:schemeClr val="hlink"/>
                </a:solidFill>
              </a:rPr>
              <a:t>Pancreas</a:t>
            </a:r>
            <a:r>
              <a:rPr lang="en-US" altLang="en-US" dirty="0"/>
              <a:t>. </a:t>
            </a:r>
          </a:p>
          <a:p>
            <a:pPr>
              <a:lnSpc>
                <a:spcPct val="75000"/>
              </a:lnSpc>
              <a:spcBef>
                <a:spcPct val="25000"/>
              </a:spcBef>
              <a:buFontTx/>
              <a:buChar char="•"/>
            </a:pPr>
            <a:r>
              <a:rPr lang="en-US" altLang="en-US" dirty="0">
                <a:solidFill>
                  <a:schemeClr val="hlink"/>
                </a:solidFill>
              </a:rPr>
              <a:t>Insulin enables cells</a:t>
            </a:r>
            <a:r>
              <a:rPr lang="en-US" altLang="en-US" dirty="0"/>
              <a:t> to </a:t>
            </a:r>
            <a:r>
              <a:rPr lang="en-US" altLang="en-US" b="1" dirty="0"/>
              <a:t>absorb glucose </a:t>
            </a:r>
            <a:r>
              <a:rPr lang="en-US" altLang="en-US" dirty="0"/>
              <a:t>in order to turn it</a:t>
            </a:r>
          </a:p>
          <a:p>
            <a:pPr>
              <a:lnSpc>
                <a:spcPct val="75000"/>
              </a:lnSpc>
              <a:spcBef>
                <a:spcPct val="10000"/>
              </a:spcBef>
            </a:pPr>
            <a:r>
              <a:rPr lang="en-US" altLang="en-US" dirty="0"/>
              <a:t>	into energy, thereby keeping the normal blood glucose</a:t>
            </a:r>
          </a:p>
          <a:p>
            <a:pPr>
              <a:lnSpc>
                <a:spcPct val="75000"/>
              </a:lnSpc>
              <a:spcBef>
                <a:spcPct val="10000"/>
              </a:spcBef>
            </a:pPr>
            <a:r>
              <a:rPr lang="en-US" altLang="en-US" dirty="0"/>
              <a:t>	level in the blood.</a:t>
            </a:r>
          </a:p>
          <a:p>
            <a:pPr>
              <a:lnSpc>
                <a:spcPct val="75000"/>
              </a:lnSpc>
              <a:spcBef>
                <a:spcPct val="25000"/>
              </a:spcBef>
              <a:buFontTx/>
              <a:buChar char="•"/>
            </a:pPr>
            <a:r>
              <a:rPr lang="en-US" altLang="en-US" dirty="0"/>
              <a:t>In diabetes, blood </a:t>
            </a:r>
            <a:r>
              <a:rPr lang="en-US" altLang="en-US" dirty="0">
                <a:solidFill>
                  <a:srgbClr val="009193"/>
                </a:solidFill>
              </a:rPr>
              <a:t>sugar levels remain high</a:t>
            </a:r>
            <a:r>
              <a:rPr lang="en-US" altLang="en-US" dirty="0"/>
              <a:t>, may be because insulin </a:t>
            </a:r>
          </a:p>
          <a:p>
            <a:pPr lvl="1">
              <a:lnSpc>
                <a:spcPct val="75000"/>
              </a:lnSpc>
              <a:spcBef>
                <a:spcPct val="10000"/>
              </a:spcBef>
            </a:pPr>
            <a:r>
              <a:rPr lang="en-US" altLang="en-US" dirty="0"/>
              <a:t>	-- is </a:t>
            </a:r>
            <a:r>
              <a:rPr lang="en-US" altLang="en-US" dirty="0">
                <a:solidFill>
                  <a:srgbClr val="FF2F92"/>
                </a:solidFill>
              </a:rPr>
              <a:t>not being </a:t>
            </a:r>
            <a:r>
              <a:rPr lang="en-US" altLang="en-US" dirty="0">
                <a:solidFill>
                  <a:srgbClr val="9437FF"/>
                </a:solidFill>
              </a:rPr>
              <a:t>produced</a:t>
            </a:r>
            <a:r>
              <a:rPr lang="en-US" altLang="en-US" dirty="0">
                <a:solidFill>
                  <a:srgbClr val="FF2F92"/>
                </a:solidFill>
              </a:rPr>
              <a:t> </a:t>
            </a:r>
            <a:r>
              <a:rPr lang="en-US" altLang="en-US" dirty="0"/>
              <a:t>at all</a:t>
            </a:r>
          </a:p>
          <a:p>
            <a:pPr lvl="1">
              <a:lnSpc>
                <a:spcPct val="75000"/>
              </a:lnSpc>
              <a:spcBef>
                <a:spcPct val="10000"/>
              </a:spcBef>
            </a:pPr>
            <a:r>
              <a:rPr lang="en-US" altLang="en-US" dirty="0"/>
              <a:t>	-- is </a:t>
            </a:r>
            <a:r>
              <a:rPr lang="en-US" altLang="en-US" dirty="0">
                <a:solidFill>
                  <a:srgbClr val="FF2F92"/>
                </a:solidFill>
              </a:rPr>
              <a:t>not made at </a:t>
            </a:r>
            <a:r>
              <a:rPr lang="en-US" altLang="en-US" dirty="0">
                <a:solidFill>
                  <a:srgbClr val="0432FF"/>
                </a:solidFill>
              </a:rPr>
              <a:t>sufficient levels</a:t>
            </a:r>
            <a:r>
              <a:rPr lang="en-US" altLang="en-US" dirty="0"/>
              <a:t>, or </a:t>
            </a:r>
          </a:p>
          <a:p>
            <a:pPr lvl="1">
              <a:lnSpc>
                <a:spcPct val="75000"/>
              </a:lnSpc>
              <a:spcBef>
                <a:spcPct val="10000"/>
              </a:spcBef>
            </a:pPr>
            <a:r>
              <a:rPr lang="en-US" altLang="en-US" dirty="0"/>
              <a:t>	-- is </a:t>
            </a:r>
            <a:r>
              <a:rPr lang="en-US" altLang="en-US" dirty="0">
                <a:solidFill>
                  <a:srgbClr val="0432FF"/>
                </a:solidFill>
              </a:rPr>
              <a:t>not as effective </a:t>
            </a:r>
            <a:r>
              <a:rPr lang="en-US" altLang="en-US" dirty="0"/>
              <a:t>as it should be. </a:t>
            </a:r>
          </a:p>
          <a:p>
            <a:pPr>
              <a:lnSpc>
                <a:spcPct val="75000"/>
              </a:lnSpc>
              <a:spcBef>
                <a:spcPct val="25000"/>
              </a:spcBef>
            </a:pPr>
            <a:endParaRPr lang="en-US" altLang="en-US" dirty="0"/>
          </a:p>
          <a:p>
            <a:pPr>
              <a:lnSpc>
                <a:spcPct val="75000"/>
              </a:lnSpc>
              <a:spcBef>
                <a:spcPct val="25000"/>
              </a:spcBef>
            </a:pPr>
            <a:r>
              <a:rPr lang="en-US" altLang="en-US" dirty="0"/>
              <a:t>This causes glucose to accumulate in the blood, often leading to various complications.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3" descr="slide6">
            <a:extLst>
              <a:ext uri="{FF2B5EF4-FFF2-40B4-BE49-F238E27FC236}">
                <a16:creationId xmlns:a16="http://schemas.microsoft.com/office/drawing/2014/main" id="{1D83D9EB-3076-6F43-B1D1-534D6BF302C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b="3239"/>
          <a:stretch>
            <a:fillRect/>
          </a:stretch>
        </p:blipFill>
        <p:spPr bwMode="auto">
          <a:xfrm>
            <a:off x="34621" y="3760851"/>
            <a:ext cx="2905752" cy="3081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 Box 4">
            <a:extLst>
              <a:ext uri="{FF2B5EF4-FFF2-40B4-BE49-F238E27FC236}">
                <a16:creationId xmlns:a16="http://schemas.microsoft.com/office/drawing/2014/main" id="{75967D86-DB89-6D4B-A396-B57BEFA6D6C8}"/>
              </a:ext>
            </a:extLst>
          </p:cNvPr>
          <p:cNvSpPr txBox="1">
            <a:spLocks noChangeArrowheads="1"/>
          </p:cNvSpPr>
          <p:nvPr/>
        </p:nvSpPr>
        <p:spPr bwMode="auto">
          <a:xfrm>
            <a:off x="351182" y="615212"/>
            <a:ext cx="4061792"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spcBef>
                <a:spcPct val="50000"/>
              </a:spcBef>
            </a:pPr>
            <a:r>
              <a:rPr lang="en-US" altLang="en-US" sz="2000" dirty="0">
                <a:latin typeface="Cambria" panose="02040503050406030204" pitchFamily="18" charset="0"/>
              </a:rPr>
              <a:t>When you eat, your body breaks food down into glucose. </a:t>
            </a:r>
            <a:r>
              <a:rPr lang="en-US" altLang="en-US" sz="2000" dirty="0">
                <a:solidFill>
                  <a:srgbClr val="FF0000"/>
                </a:solidFill>
                <a:latin typeface="Cambria" panose="02040503050406030204" pitchFamily="18" charset="0"/>
              </a:rPr>
              <a:t>Glucose</a:t>
            </a:r>
            <a:r>
              <a:rPr lang="en-US" altLang="en-US" sz="2000" dirty="0">
                <a:latin typeface="Cambria" panose="02040503050406030204" pitchFamily="18" charset="0"/>
              </a:rPr>
              <a:t> is a  type of sugar that is  your body’s  main source of energy.</a:t>
            </a:r>
          </a:p>
        </p:txBody>
      </p:sp>
      <p:sp>
        <p:nvSpPr>
          <p:cNvPr id="3" name="Text Box 4">
            <a:extLst>
              <a:ext uri="{FF2B5EF4-FFF2-40B4-BE49-F238E27FC236}">
                <a16:creationId xmlns:a16="http://schemas.microsoft.com/office/drawing/2014/main" id="{2A9CEEB4-BBD1-BB4B-8DE7-0DEDAEFE2E6D}"/>
              </a:ext>
            </a:extLst>
          </p:cNvPr>
          <p:cNvSpPr txBox="1">
            <a:spLocks noChangeArrowheads="1"/>
          </p:cNvSpPr>
          <p:nvPr/>
        </p:nvSpPr>
        <p:spPr bwMode="auto">
          <a:xfrm>
            <a:off x="5400261" y="676766"/>
            <a:ext cx="2696817"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spcBef>
                <a:spcPct val="50000"/>
              </a:spcBef>
            </a:pPr>
            <a:r>
              <a:rPr lang="en-US" altLang="en-US" sz="2000" dirty="0">
                <a:latin typeface="Cambria" panose="02040503050406030204" pitchFamily="18" charset="0"/>
              </a:rPr>
              <a:t>As blood glucose rises, the body sends a signal to the pancreas, which releases </a:t>
            </a:r>
            <a:r>
              <a:rPr lang="en-US" altLang="en-US" sz="2000" dirty="0">
                <a:solidFill>
                  <a:srgbClr val="FF0000"/>
                </a:solidFill>
                <a:latin typeface="Cambria" panose="02040503050406030204" pitchFamily="18" charset="0"/>
              </a:rPr>
              <a:t>insulin</a:t>
            </a:r>
            <a:r>
              <a:rPr lang="en-US" altLang="en-US" sz="2000" dirty="0">
                <a:latin typeface="Cambria" panose="02040503050406030204" pitchFamily="18" charset="0"/>
              </a:rPr>
              <a:t>.</a:t>
            </a:r>
          </a:p>
        </p:txBody>
      </p:sp>
      <p:pic>
        <p:nvPicPr>
          <p:cNvPr id="4" name="Picture 6" descr="slide3">
            <a:extLst>
              <a:ext uri="{FF2B5EF4-FFF2-40B4-BE49-F238E27FC236}">
                <a16:creationId xmlns:a16="http://schemas.microsoft.com/office/drawing/2014/main" id="{D85FE146-2B5A-E944-A3FF-59A9CC50C849}"/>
              </a:ext>
            </a:extLst>
          </p:cNvPr>
          <p:cNvPicPr>
            <a:picLocks noChangeAspect="1" noChangeArrowheads="1"/>
          </p:cNvPicPr>
          <p:nvPr/>
        </p:nvPicPr>
        <p:blipFill>
          <a:blip r:embed="rId3" cstate="print">
            <a:clrChange>
              <a:clrFrom>
                <a:srgbClr val="010101"/>
              </a:clrFrom>
              <a:clrTo>
                <a:srgbClr val="010101">
                  <a:alpha val="0"/>
                </a:srgbClr>
              </a:clrTo>
            </a:clrChange>
            <a:extLst>
              <a:ext uri="{28A0092B-C50C-407E-A947-70E740481C1C}">
                <a14:useLocalDpi xmlns:a14="http://schemas.microsoft.com/office/drawing/2010/main" val="0"/>
              </a:ext>
            </a:extLst>
          </a:blip>
          <a:srcRect/>
          <a:stretch>
            <a:fillRect/>
          </a:stretch>
        </p:blipFill>
        <p:spPr bwMode="auto">
          <a:xfrm>
            <a:off x="7305354" y="1938651"/>
            <a:ext cx="1779011" cy="1596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4">
            <a:extLst>
              <a:ext uri="{FF2B5EF4-FFF2-40B4-BE49-F238E27FC236}">
                <a16:creationId xmlns:a16="http://schemas.microsoft.com/office/drawing/2014/main" id="{A1EDDB53-2882-914C-86DE-75B3D0A4E90B}"/>
              </a:ext>
            </a:extLst>
          </p:cNvPr>
          <p:cNvSpPr txBox="1">
            <a:spLocks noChangeArrowheads="1"/>
          </p:cNvSpPr>
          <p:nvPr/>
        </p:nvSpPr>
        <p:spPr bwMode="auto">
          <a:xfrm>
            <a:off x="4398112" y="4181927"/>
            <a:ext cx="2907242"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r" eaLnBrk="1" hangingPunct="1">
              <a:spcBef>
                <a:spcPct val="50000"/>
              </a:spcBef>
            </a:pPr>
            <a:r>
              <a:rPr lang="en-US" altLang="en-US" sz="1800" dirty="0">
                <a:latin typeface="Cambria" panose="02040503050406030204" pitchFamily="18" charset="0"/>
              </a:rPr>
              <a:t>Acting as a key, insulin binds to a place on the cell  membrane (an </a:t>
            </a:r>
            <a:r>
              <a:rPr lang="en-US" altLang="en-US" sz="1800" dirty="0">
                <a:solidFill>
                  <a:srgbClr val="FF0000"/>
                </a:solidFill>
                <a:latin typeface="Cambria" panose="02040503050406030204" pitchFamily="18" charset="0"/>
              </a:rPr>
              <a:t>insulin receptor</a:t>
            </a:r>
            <a:r>
              <a:rPr lang="en-US" altLang="en-US" sz="1800" dirty="0">
                <a:latin typeface="Cambria" panose="02040503050406030204" pitchFamily="18" charset="0"/>
              </a:rPr>
              <a:t>), unlocking the cell so glucose can pass into it. There, most of the glucose is used for energy right away.</a:t>
            </a:r>
          </a:p>
        </p:txBody>
      </p:sp>
      <p:pic>
        <p:nvPicPr>
          <p:cNvPr id="6" name="Picture 6" descr="slide4">
            <a:extLst>
              <a:ext uri="{FF2B5EF4-FFF2-40B4-BE49-F238E27FC236}">
                <a16:creationId xmlns:a16="http://schemas.microsoft.com/office/drawing/2014/main" id="{E5CB2EA1-418E-194F-A01D-206661AB1967}"/>
              </a:ext>
            </a:extLst>
          </p:cNvPr>
          <p:cNvPicPr>
            <a:picLocks noChangeAspect="1" noChangeArrowheads="1"/>
          </p:cNvPicPr>
          <p:nvPr/>
        </p:nvPicPr>
        <p:blipFill>
          <a:blip r:embed="rId4" cstate="print">
            <a:clrChange>
              <a:clrFrom>
                <a:srgbClr val="010101"/>
              </a:clrFrom>
              <a:clrTo>
                <a:srgbClr val="010101">
                  <a:alpha val="0"/>
                </a:srgbClr>
              </a:clrTo>
            </a:clrChange>
            <a:extLst>
              <a:ext uri="{28A0092B-C50C-407E-A947-70E740481C1C}">
                <a14:useLocalDpi xmlns:a14="http://schemas.microsoft.com/office/drawing/2010/main" val="0"/>
              </a:ext>
            </a:extLst>
          </a:blip>
          <a:srcRect/>
          <a:stretch>
            <a:fillRect/>
          </a:stretch>
        </p:blipFill>
        <p:spPr bwMode="auto">
          <a:xfrm>
            <a:off x="7305354" y="4243481"/>
            <a:ext cx="1689246" cy="1812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 Box 7">
            <a:extLst>
              <a:ext uri="{FF2B5EF4-FFF2-40B4-BE49-F238E27FC236}">
                <a16:creationId xmlns:a16="http://schemas.microsoft.com/office/drawing/2014/main" id="{2A69A3BD-0906-B841-828F-9BF41816FDD4}"/>
              </a:ext>
            </a:extLst>
          </p:cNvPr>
          <p:cNvSpPr txBox="1">
            <a:spLocks noChangeArrowheads="1"/>
          </p:cNvSpPr>
          <p:nvPr/>
        </p:nvSpPr>
        <p:spPr bwMode="auto">
          <a:xfrm>
            <a:off x="1838646" y="2698443"/>
            <a:ext cx="2574328" cy="1988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39725" indent="-339725">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indent="0" eaLnBrk="1" hangingPunct="1">
              <a:lnSpc>
                <a:spcPct val="80000"/>
              </a:lnSpc>
              <a:buClr>
                <a:srgbClr val="41B9D5"/>
              </a:buClr>
            </a:pPr>
            <a:r>
              <a:rPr lang="en-US" altLang="en-US" sz="1800" dirty="0">
                <a:latin typeface="Cambria" panose="02040503050406030204" pitchFamily="18" charset="0"/>
              </a:rPr>
              <a:t>As your blood glucose </a:t>
            </a:r>
            <a:r>
              <a:rPr lang="en-US" altLang="en-US" sz="2800" dirty="0">
                <a:solidFill>
                  <a:srgbClr val="FF0000"/>
                </a:solidFill>
                <a:latin typeface="Cambria" panose="02040503050406030204" pitchFamily="18" charset="0"/>
              </a:rPr>
              <a:t>rises </a:t>
            </a:r>
            <a:r>
              <a:rPr lang="en-US" altLang="en-US" sz="1800" dirty="0">
                <a:latin typeface="Cambria" panose="02040503050406030204" pitchFamily="18" charset="0"/>
              </a:rPr>
              <a:t>(after a meal), the  pancreas releases insulin.</a:t>
            </a:r>
          </a:p>
          <a:p>
            <a:pPr marL="0" indent="0" eaLnBrk="1" hangingPunct="1">
              <a:lnSpc>
                <a:spcPct val="80000"/>
              </a:lnSpc>
              <a:buClr>
                <a:srgbClr val="41B9D5"/>
              </a:buClr>
            </a:pPr>
            <a:r>
              <a:rPr lang="en-US" altLang="en-US" sz="1800" dirty="0">
                <a:latin typeface="Cambria" panose="02040503050406030204" pitchFamily="18" charset="0"/>
              </a:rPr>
              <a:t> </a:t>
            </a:r>
          </a:p>
          <a:p>
            <a:pPr marL="0" indent="0" eaLnBrk="1" hangingPunct="1">
              <a:lnSpc>
                <a:spcPct val="80000"/>
              </a:lnSpc>
              <a:buClr>
                <a:srgbClr val="41B9D5"/>
              </a:buClr>
            </a:pPr>
            <a:r>
              <a:rPr lang="en-US" altLang="en-US" sz="1800" dirty="0">
                <a:latin typeface="Cambria" panose="02040503050406030204" pitchFamily="18" charset="0"/>
              </a:rPr>
              <a:t>Blood glucose goes up and down throughout the day</a:t>
            </a:r>
          </a:p>
        </p:txBody>
      </p:sp>
      <p:cxnSp>
        <p:nvCxnSpPr>
          <p:cNvPr id="10" name="Straight Arrow Connector 9">
            <a:extLst>
              <a:ext uri="{FF2B5EF4-FFF2-40B4-BE49-F238E27FC236}">
                <a16:creationId xmlns:a16="http://schemas.microsoft.com/office/drawing/2014/main" id="{37B45D5A-8351-AF45-906E-CD94B347682D}"/>
              </a:ext>
            </a:extLst>
          </p:cNvPr>
          <p:cNvCxnSpPr>
            <a:stCxn id="2" idx="3"/>
          </p:cNvCxnSpPr>
          <p:nvPr/>
        </p:nvCxnSpPr>
        <p:spPr bwMode="auto">
          <a:xfrm flipV="1">
            <a:off x="4412974" y="1276931"/>
            <a:ext cx="861391" cy="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2" name="Straight Arrow Connector 11">
            <a:extLst>
              <a:ext uri="{FF2B5EF4-FFF2-40B4-BE49-F238E27FC236}">
                <a16:creationId xmlns:a16="http://schemas.microsoft.com/office/drawing/2014/main" id="{55D51976-69EB-104B-833F-1610DF8794C0}"/>
              </a:ext>
            </a:extLst>
          </p:cNvPr>
          <p:cNvCxnSpPr/>
          <p:nvPr/>
        </p:nvCxnSpPr>
        <p:spPr bwMode="auto">
          <a:xfrm>
            <a:off x="6748669" y="2093843"/>
            <a:ext cx="0" cy="1440936"/>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4" name="Straight Arrow Connector 13">
            <a:extLst>
              <a:ext uri="{FF2B5EF4-FFF2-40B4-BE49-F238E27FC236}">
                <a16:creationId xmlns:a16="http://schemas.microsoft.com/office/drawing/2014/main" id="{099017EE-6F71-574E-A6EF-64203694130B}"/>
              </a:ext>
            </a:extLst>
          </p:cNvPr>
          <p:cNvCxnSpPr>
            <a:endCxn id="7" idx="2"/>
          </p:cNvCxnSpPr>
          <p:nvPr/>
        </p:nvCxnSpPr>
        <p:spPr bwMode="auto">
          <a:xfrm flipH="1" flipV="1">
            <a:off x="3125810" y="4686680"/>
            <a:ext cx="1167894" cy="109289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Tree>
    <p:extLst>
      <p:ext uri="{BB962C8B-B14F-4D97-AF65-F5344CB8AC3E}">
        <p14:creationId xmlns:p14="http://schemas.microsoft.com/office/powerpoint/2010/main" val="16364877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6">
            <a:extLst>
              <a:ext uri="{FF2B5EF4-FFF2-40B4-BE49-F238E27FC236}">
                <a16:creationId xmlns:a16="http://schemas.microsoft.com/office/drawing/2014/main" id="{C4B7D3BF-A736-41B2-A798-1C9764318435}"/>
              </a:ext>
            </a:extLst>
          </p:cNvPr>
          <p:cNvSpPr>
            <a:spLocks noChangeArrowheads="1"/>
          </p:cNvSpPr>
          <p:nvPr/>
        </p:nvSpPr>
        <p:spPr bwMode="auto">
          <a:xfrm>
            <a:off x="4495800" y="1409700"/>
            <a:ext cx="4191000" cy="4400550"/>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sz="1800">
              <a:latin typeface="Tahoma" panose="020B0604030504040204" pitchFamily="34" charset="0"/>
            </a:endParaRPr>
          </a:p>
        </p:txBody>
      </p:sp>
      <p:sp>
        <p:nvSpPr>
          <p:cNvPr id="5123" name="Rectangle 7">
            <a:extLst>
              <a:ext uri="{FF2B5EF4-FFF2-40B4-BE49-F238E27FC236}">
                <a16:creationId xmlns:a16="http://schemas.microsoft.com/office/drawing/2014/main" id="{AAC18479-CC01-4A1F-AE6C-7A019D22397C}"/>
              </a:ext>
            </a:extLst>
          </p:cNvPr>
          <p:cNvSpPr>
            <a:spLocks noChangeArrowheads="1"/>
          </p:cNvSpPr>
          <p:nvPr/>
        </p:nvSpPr>
        <p:spPr bwMode="auto">
          <a:xfrm>
            <a:off x="5143500" y="1676400"/>
            <a:ext cx="3200400" cy="381000"/>
          </a:xfrm>
          <a:prstGeom prst="rect">
            <a:avLst/>
          </a:prstGeom>
          <a:solidFill>
            <a:srgbClr val="0066CC"/>
          </a:solidFill>
          <a:ln w="9525">
            <a:solidFill>
              <a:schemeClr val="tx1"/>
            </a:solidFill>
            <a:miter lim="800000"/>
            <a:headEnd/>
            <a:tailEnd/>
          </a:ln>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2000">
                <a:latin typeface="Tahoma" panose="020B0604030504040204" pitchFamily="34" charset="0"/>
              </a:rPr>
              <a:t>If insufficient/lack of insulin</a:t>
            </a:r>
            <a:r>
              <a:rPr lang="en-US" altLang="en-US" sz="1800">
                <a:latin typeface="Tahoma" panose="020B0604030504040204" pitchFamily="34" charset="0"/>
              </a:rPr>
              <a:t> </a:t>
            </a:r>
          </a:p>
        </p:txBody>
      </p:sp>
      <p:sp>
        <p:nvSpPr>
          <p:cNvPr id="5124" name="Line 8">
            <a:extLst>
              <a:ext uri="{FF2B5EF4-FFF2-40B4-BE49-F238E27FC236}">
                <a16:creationId xmlns:a16="http://schemas.microsoft.com/office/drawing/2014/main" id="{C19694E1-10FC-4F4A-AC0A-7F05720C688C}"/>
              </a:ext>
            </a:extLst>
          </p:cNvPr>
          <p:cNvSpPr>
            <a:spLocks noChangeShapeType="1"/>
          </p:cNvSpPr>
          <p:nvPr/>
        </p:nvSpPr>
        <p:spPr bwMode="auto">
          <a:xfrm>
            <a:off x="6553200" y="2152650"/>
            <a:ext cx="0" cy="781050"/>
          </a:xfrm>
          <a:prstGeom prst="line">
            <a:avLst/>
          </a:prstGeom>
          <a:noFill/>
          <a:ln w="9525">
            <a:solidFill>
              <a:schemeClr val="bg2"/>
            </a:solidFill>
            <a:round/>
            <a:headEnd/>
            <a:tailEnd type="triangle" w="med" len="med"/>
          </a:ln>
          <a:extLst>
            <a:ext uri="{909E8E84-426E-40DD-AFC4-6F175D3DCCD1}">
              <a14:hiddenFill xmlns:a14="http://schemas.microsoft.com/office/drawing/2010/main">
                <a:noFill/>
              </a14:hiddenFill>
            </a:ext>
          </a:extLst>
        </p:spPr>
        <p:txBody>
          <a:bodyPr/>
          <a:lstStyle/>
          <a:p>
            <a:endParaRPr lang="en-MY"/>
          </a:p>
        </p:txBody>
      </p:sp>
      <p:sp>
        <p:nvSpPr>
          <p:cNvPr id="5125" name="Rectangle 9">
            <a:extLst>
              <a:ext uri="{FF2B5EF4-FFF2-40B4-BE49-F238E27FC236}">
                <a16:creationId xmlns:a16="http://schemas.microsoft.com/office/drawing/2014/main" id="{11D9199B-DCAE-443F-BB03-3CE71A7CC4CB}"/>
              </a:ext>
            </a:extLst>
          </p:cNvPr>
          <p:cNvSpPr>
            <a:spLocks noChangeArrowheads="1"/>
          </p:cNvSpPr>
          <p:nvPr/>
        </p:nvSpPr>
        <p:spPr bwMode="auto">
          <a:xfrm>
            <a:off x="5162550" y="3009900"/>
            <a:ext cx="3124200" cy="381000"/>
          </a:xfrm>
          <a:prstGeom prst="rect">
            <a:avLst/>
          </a:prstGeom>
          <a:solidFill>
            <a:srgbClr val="0066CC"/>
          </a:solidFill>
          <a:ln w="9525">
            <a:solidFill>
              <a:schemeClr val="tx1"/>
            </a:solidFill>
            <a:miter lim="800000"/>
            <a:headEnd/>
            <a:tailEnd/>
          </a:ln>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2000">
                <a:latin typeface="Tahoma" panose="020B0604030504040204" pitchFamily="34" charset="0"/>
              </a:rPr>
              <a:t>Glucose can’t enter the cell</a:t>
            </a:r>
          </a:p>
        </p:txBody>
      </p:sp>
      <p:sp>
        <p:nvSpPr>
          <p:cNvPr id="5126" name="Rectangle 10">
            <a:extLst>
              <a:ext uri="{FF2B5EF4-FFF2-40B4-BE49-F238E27FC236}">
                <a16:creationId xmlns:a16="http://schemas.microsoft.com/office/drawing/2014/main" id="{0DB48AEA-83DD-48FE-B8E0-53A85CCD9933}"/>
              </a:ext>
            </a:extLst>
          </p:cNvPr>
          <p:cNvSpPr>
            <a:spLocks noChangeArrowheads="1"/>
          </p:cNvSpPr>
          <p:nvPr/>
        </p:nvSpPr>
        <p:spPr bwMode="auto">
          <a:xfrm>
            <a:off x="5124450" y="4286250"/>
            <a:ext cx="2971800" cy="381000"/>
          </a:xfrm>
          <a:prstGeom prst="rect">
            <a:avLst/>
          </a:prstGeom>
          <a:solidFill>
            <a:srgbClr val="0066CC"/>
          </a:solidFill>
          <a:ln w="9525">
            <a:solidFill>
              <a:schemeClr val="tx1"/>
            </a:solidFill>
            <a:miter lim="800000"/>
            <a:headEnd/>
            <a:tailEnd/>
          </a:ln>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2000">
                <a:latin typeface="Tahoma" panose="020B0604030504040204" pitchFamily="34" charset="0"/>
              </a:rPr>
              <a:t>Glucose remains in blood </a:t>
            </a:r>
          </a:p>
        </p:txBody>
      </p:sp>
      <p:sp>
        <p:nvSpPr>
          <p:cNvPr id="5127" name="Line 11">
            <a:extLst>
              <a:ext uri="{FF2B5EF4-FFF2-40B4-BE49-F238E27FC236}">
                <a16:creationId xmlns:a16="http://schemas.microsoft.com/office/drawing/2014/main" id="{5BBA6ECE-936F-4B50-8689-BF97A3AE296D}"/>
              </a:ext>
            </a:extLst>
          </p:cNvPr>
          <p:cNvSpPr>
            <a:spLocks noChangeShapeType="1"/>
          </p:cNvSpPr>
          <p:nvPr/>
        </p:nvSpPr>
        <p:spPr bwMode="auto">
          <a:xfrm>
            <a:off x="6572250" y="3486150"/>
            <a:ext cx="0" cy="723900"/>
          </a:xfrm>
          <a:prstGeom prst="line">
            <a:avLst/>
          </a:prstGeom>
          <a:noFill/>
          <a:ln w="9525">
            <a:solidFill>
              <a:schemeClr val="bg2"/>
            </a:solidFill>
            <a:round/>
            <a:headEnd/>
            <a:tailEnd type="triangle" w="med" len="med"/>
          </a:ln>
          <a:extLst>
            <a:ext uri="{909E8E84-426E-40DD-AFC4-6F175D3DCCD1}">
              <a14:hiddenFill xmlns:a14="http://schemas.microsoft.com/office/drawing/2010/main">
                <a:noFill/>
              </a14:hiddenFill>
            </a:ext>
          </a:extLst>
        </p:spPr>
        <p:txBody>
          <a:bodyPr/>
          <a:lstStyle/>
          <a:p>
            <a:endParaRPr lang="en-MY"/>
          </a:p>
        </p:txBody>
      </p:sp>
      <p:sp>
        <p:nvSpPr>
          <p:cNvPr id="5128" name="Line 12">
            <a:extLst>
              <a:ext uri="{FF2B5EF4-FFF2-40B4-BE49-F238E27FC236}">
                <a16:creationId xmlns:a16="http://schemas.microsoft.com/office/drawing/2014/main" id="{C28C5683-240F-49C8-BE33-35FD438AF5C6}"/>
              </a:ext>
            </a:extLst>
          </p:cNvPr>
          <p:cNvSpPr>
            <a:spLocks noChangeShapeType="1"/>
          </p:cNvSpPr>
          <p:nvPr/>
        </p:nvSpPr>
        <p:spPr bwMode="auto">
          <a:xfrm>
            <a:off x="6591300" y="4648200"/>
            <a:ext cx="0" cy="762000"/>
          </a:xfrm>
          <a:prstGeom prst="line">
            <a:avLst/>
          </a:prstGeom>
          <a:noFill/>
          <a:ln w="9525">
            <a:solidFill>
              <a:schemeClr val="bg2"/>
            </a:solidFill>
            <a:round/>
            <a:headEnd/>
            <a:tailEnd type="triangle" w="med" len="med"/>
          </a:ln>
          <a:extLst>
            <a:ext uri="{909E8E84-426E-40DD-AFC4-6F175D3DCCD1}">
              <a14:hiddenFill xmlns:a14="http://schemas.microsoft.com/office/drawing/2010/main">
                <a:noFill/>
              </a14:hiddenFill>
            </a:ext>
          </a:extLst>
        </p:spPr>
        <p:txBody>
          <a:bodyPr/>
          <a:lstStyle/>
          <a:p>
            <a:endParaRPr lang="en-MY"/>
          </a:p>
        </p:txBody>
      </p:sp>
      <p:sp>
        <p:nvSpPr>
          <p:cNvPr id="5129" name="Rectangle 13">
            <a:extLst>
              <a:ext uri="{FF2B5EF4-FFF2-40B4-BE49-F238E27FC236}">
                <a16:creationId xmlns:a16="http://schemas.microsoft.com/office/drawing/2014/main" id="{0D779A39-0D13-4FCD-8697-4276EB958033}"/>
              </a:ext>
            </a:extLst>
          </p:cNvPr>
          <p:cNvSpPr>
            <a:spLocks noChangeArrowheads="1"/>
          </p:cNvSpPr>
          <p:nvPr/>
        </p:nvSpPr>
        <p:spPr bwMode="auto">
          <a:xfrm>
            <a:off x="4819650" y="5467350"/>
            <a:ext cx="3733800" cy="381000"/>
          </a:xfrm>
          <a:prstGeom prst="rect">
            <a:avLst/>
          </a:prstGeom>
          <a:solidFill>
            <a:srgbClr val="0066CC"/>
          </a:solidFill>
          <a:ln w="9525">
            <a:solidFill>
              <a:schemeClr val="tx1"/>
            </a:solidFill>
            <a:miter lim="800000"/>
            <a:headEnd/>
            <a:tailEnd/>
          </a:ln>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2000">
                <a:latin typeface="Tahoma" panose="020B0604030504040204" pitchFamily="34" charset="0"/>
              </a:rPr>
              <a:t>Diabetes Mellitus/Hyperglycemia</a:t>
            </a:r>
          </a:p>
        </p:txBody>
      </p:sp>
      <p:pic>
        <p:nvPicPr>
          <p:cNvPr id="5130" name="Picture 14" descr="15079-1">
            <a:hlinkClick r:id="rId2"/>
            <a:extLst>
              <a:ext uri="{FF2B5EF4-FFF2-40B4-BE49-F238E27FC236}">
                <a16:creationId xmlns:a16="http://schemas.microsoft.com/office/drawing/2014/main" id="{B1976CE0-AA2D-4AE0-99D4-D933C619C0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300" y="1428750"/>
            <a:ext cx="4000500" cy="440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31" name="Line 15">
            <a:extLst>
              <a:ext uri="{FF2B5EF4-FFF2-40B4-BE49-F238E27FC236}">
                <a16:creationId xmlns:a16="http://schemas.microsoft.com/office/drawing/2014/main" id="{B81C6757-4E9D-4C91-8D24-278AE59AFAFE}"/>
              </a:ext>
            </a:extLst>
          </p:cNvPr>
          <p:cNvSpPr>
            <a:spLocks noChangeShapeType="1"/>
          </p:cNvSpPr>
          <p:nvPr/>
        </p:nvSpPr>
        <p:spPr bwMode="auto">
          <a:xfrm flipV="1">
            <a:off x="1809750" y="2038350"/>
            <a:ext cx="3371850" cy="762000"/>
          </a:xfrm>
          <a:prstGeom prst="line">
            <a:avLst/>
          </a:prstGeom>
          <a:noFill/>
          <a:ln w="9525">
            <a:solidFill>
              <a:schemeClr val="bg2"/>
            </a:solidFill>
            <a:round/>
            <a:headEnd/>
            <a:tailEnd type="triangle" w="med" len="med"/>
          </a:ln>
          <a:extLst>
            <a:ext uri="{909E8E84-426E-40DD-AFC4-6F175D3DCCD1}">
              <a14:hiddenFill xmlns:a14="http://schemas.microsoft.com/office/drawing/2010/main">
                <a:noFill/>
              </a14:hiddenFill>
            </a:ext>
          </a:extLst>
        </p:spPr>
        <p:txBody>
          <a:bodyPr/>
          <a:lstStyle/>
          <a:p>
            <a:endParaRPr lang="en-MY"/>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4">
            <a:extLst>
              <a:ext uri="{FF2B5EF4-FFF2-40B4-BE49-F238E27FC236}">
                <a16:creationId xmlns:a16="http://schemas.microsoft.com/office/drawing/2014/main" id="{739C787E-AD6B-4DBE-BB73-F53D5887C3A6}"/>
              </a:ext>
            </a:extLst>
          </p:cNvPr>
          <p:cNvSpPr>
            <a:spLocks noChangeArrowheads="1"/>
          </p:cNvSpPr>
          <p:nvPr/>
        </p:nvSpPr>
        <p:spPr bwMode="auto">
          <a:xfrm>
            <a:off x="790575" y="201943"/>
            <a:ext cx="7477125" cy="674964"/>
          </a:xfrm>
          <a:prstGeom prst="rect">
            <a:avLst/>
          </a:prstGeom>
          <a:solidFill>
            <a:schemeClr val="accent6">
              <a:lumMod val="20000"/>
              <a:lumOff val="80000"/>
            </a:schemeClr>
          </a:solidFill>
          <a:ln>
            <a:noFill/>
          </a:ln>
        </p:spPr>
        <p:txBody>
          <a:bodyPr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4000" dirty="0">
                <a:solidFill>
                  <a:srgbClr val="9437FF"/>
                </a:solidFill>
              </a:rPr>
              <a:t>Types of Diabetes</a:t>
            </a:r>
          </a:p>
        </p:txBody>
      </p:sp>
      <p:sp>
        <p:nvSpPr>
          <p:cNvPr id="6147" name="Rectangle 5">
            <a:extLst>
              <a:ext uri="{FF2B5EF4-FFF2-40B4-BE49-F238E27FC236}">
                <a16:creationId xmlns:a16="http://schemas.microsoft.com/office/drawing/2014/main" id="{1173DFAC-7549-4B6C-9C30-7B871002DEBD}"/>
              </a:ext>
            </a:extLst>
          </p:cNvPr>
          <p:cNvSpPr>
            <a:spLocks noChangeArrowheads="1"/>
          </p:cNvSpPr>
          <p:nvPr/>
        </p:nvSpPr>
        <p:spPr bwMode="auto">
          <a:xfrm>
            <a:off x="394140" y="1123950"/>
            <a:ext cx="8455570" cy="4467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90000"/>
              </a:lnSpc>
              <a:spcBef>
                <a:spcPct val="20000"/>
              </a:spcBef>
            </a:pPr>
            <a:r>
              <a:rPr lang="en-US" altLang="en-US" dirty="0"/>
              <a:t>There are mainly three types of diabetes: </a:t>
            </a:r>
          </a:p>
          <a:p>
            <a:pPr marL="457200" indent="-457200">
              <a:lnSpc>
                <a:spcPct val="90000"/>
              </a:lnSpc>
              <a:spcBef>
                <a:spcPct val="20000"/>
              </a:spcBef>
              <a:buFont typeface="+mj-lt"/>
              <a:buAutoNum type="arabicPeriod"/>
            </a:pPr>
            <a:r>
              <a:rPr lang="en-US" altLang="en-US" dirty="0">
                <a:solidFill>
                  <a:srgbClr val="0432FF"/>
                </a:solidFill>
              </a:rPr>
              <a:t>Type I </a:t>
            </a:r>
            <a:r>
              <a:rPr lang="en-US" altLang="en-US" dirty="0"/>
              <a:t>or </a:t>
            </a:r>
            <a:r>
              <a:rPr lang="en-US" altLang="en-US" dirty="0">
                <a:solidFill>
                  <a:schemeClr val="hlink"/>
                </a:solidFill>
              </a:rPr>
              <a:t>insulin dependent diabetes</a:t>
            </a:r>
            <a:r>
              <a:rPr lang="en-US" altLang="en-US" dirty="0"/>
              <a:t> often called </a:t>
            </a:r>
            <a:r>
              <a:rPr lang="en-US" altLang="en-US" b="1" dirty="0"/>
              <a:t>juvenile onset</a:t>
            </a:r>
            <a:r>
              <a:rPr lang="en-US" altLang="en-US" dirty="0"/>
              <a:t> diabetes,</a:t>
            </a:r>
          </a:p>
          <a:p>
            <a:pPr marL="457200" indent="-457200">
              <a:lnSpc>
                <a:spcPct val="75000"/>
              </a:lnSpc>
              <a:spcBef>
                <a:spcPct val="10000"/>
              </a:spcBef>
              <a:buFont typeface="+mj-lt"/>
              <a:buAutoNum type="arabicPeriod"/>
            </a:pPr>
            <a:r>
              <a:rPr lang="en-US" altLang="en-US" dirty="0">
                <a:solidFill>
                  <a:srgbClr val="0432FF"/>
                </a:solidFill>
              </a:rPr>
              <a:t>Type II </a:t>
            </a:r>
            <a:r>
              <a:rPr lang="en-US" altLang="en-US" dirty="0"/>
              <a:t>or </a:t>
            </a:r>
            <a:r>
              <a:rPr lang="en-US" altLang="en-US" dirty="0">
                <a:solidFill>
                  <a:schemeClr val="hlink"/>
                </a:solidFill>
              </a:rPr>
              <a:t>non-insulin dependent diabetes</a:t>
            </a:r>
            <a:r>
              <a:rPr lang="en-US" altLang="en-US" dirty="0"/>
              <a:t> often called </a:t>
            </a:r>
            <a:r>
              <a:rPr lang="en-US" altLang="en-US" b="1" dirty="0"/>
              <a:t>adult onset</a:t>
            </a:r>
            <a:r>
              <a:rPr lang="en-US" altLang="en-US" dirty="0"/>
              <a:t> diabetes &amp;</a:t>
            </a:r>
          </a:p>
          <a:p>
            <a:pPr marL="457200" indent="-457200">
              <a:lnSpc>
                <a:spcPct val="75000"/>
              </a:lnSpc>
              <a:spcBef>
                <a:spcPct val="10000"/>
              </a:spcBef>
              <a:buFont typeface="+mj-lt"/>
              <a:buAutoNum type="arabicPeriod"/>
            </a:pPr>
            <a:r>
              <a:rPr lang="en-US" altLang="en-US" dirty="0">
                <a:solidFill>
                  <a:srgbClr val="0432FF"/>
                </a:solidFill>
              </a:rPr>
              <a:t>Gestational diabetes </a:t>
            </a:r>
            <a:r>
              <a:rPr lang="en-US" altLang="en-US" dirty="0">
                <a:solidFill>
                  <a:schemeClr val="hlink"/>
                </a:solidFill>
              </a:rPr>
              <a:t>(GDM) – </a:t>
            </a:r>
            <a:r>
              <a:rPr lang="en-US" altLang="en-US" dirty="0"/>
              <a:t>during pregnancy </a:t>
            </a:r>
          </a:p>
          <a:p>
            <a:pPr>
              <a:lnSpc>
                <a:spcPct val="90000"/>
              </a:lnSpc>
              <a:spcBef>
                <a:spcPct val="20000"/>
              </a:spcBef>
            </a:pPr>
            <a:endParaRPr lang="en-US" altLang="en-US" dirty="0"/>
          </a:p>
          <a:p>
            <a:pPr>
              <a:lnSpc>
                <a:spcPct val="90000"/>
              </a:lnSpc>
              <a:spcBef>
                <a:spcPct val="20000"/>
              </a:spcBef>
              <a:buFont typeface="Arial" panose="020B0604020202020204" pitchFamily="34" charset="0"/>
              <a:buChar char="•"/>
            </a:pPr>
            <a:r>
              <a:rPr lang="en-US" altLang="en-US" dirty="0"/>
              <a:t>The most common forms of diabetes are type 1 diabetes (5%), which is an autoimmune disorder and </a:t>
            </a:r>
            <a:r>
              <a:rPr lang="en-US" altLang="en-US" dirty="0">
                <a:solidFill>
                  <a:srgbClr val="0432FF"/>
                </a:solidFill>
              </a:rPr>
              <a:t>type 2 diabetes (95%), </a:t>
            </a:r>
            <a:r>
              <a:rPr lang="en-US" altLang="en-US" dirty="0"/>
              <a:t>which is associated with obesity.</a:t>
            </a:r>
          </a:p>
          <a:p>
            <a:pPr>
              <a:lnSpc>
                <a:spcPct val="90000"/>
              </a:lnSpc>
              <a:spcBef>
                <a:spcPct val="20000"/>
              </a:spcBef>
              <a:buFont typeface="Arial" panose="020B0604020202020204" pitchFamily="34" charset="0"/>
              <a:buChar char="•"/>
            </a:pPr>
            <a:r>
              <a:rPr lang="en-US" altLang="en-US" dirty="0"/>
              <a:t>Gestational diabetes is a form of diabetes that occurs during pregnancy.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5">
            <a:extLst>
              <a:ext uri="{FF2B5EF4-FFF2-40B4-BE49-F238E27FC236}">
                <a16:creationId xmlns:a16="http://schemas.microsoft.com/office/drawing/2014/main" id="{8625DF76-14B8-4B90-AA71-93E890BBA40F}"/>
              </a:ext>
            </a:extLst>
          </p:cNvPr>
          <p:cNvSpPr>
            <a:spLocks noChangeArrowheads="1"/>
          </p:cNvSpPr>
          <p:nvPr/>
        </p:nvSpPr>
        <p:spPr bwMode="auto">
          <a:xfrm>
            <a:off x="199040" y="457200"/>
            <a:ext cx="8896350" cy="5712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75000"/>
              </a:lnSpc>
            </a:pPr>
            <a:r>
              <a:rPr lang="en-US" altLang="en-US" dirty="0">
                <a:solidFill>
                  <a:schemeClr val="hlink"/>
                </a:solidFill>
              </a:rPr>
              <a:t>Type 1 diabetes: </a:t>
            </a:r>
          </a:p>
          <a:p>
            <a:pPr lvl="1">
              <a:lnSpc>
                <a:spcPct val="75000"/>
              </a:lnSpc>
              <a:spcBef>
                <a:spcPct val="25000"/>
              </a:spcBef>
              <a:buFontTx/>
              <a:buChar char="•"/>
            </a:pPr>
            <a:r>
              <a:rPr lang="en-US" altLang="en-US" dirty="0"/>
              <a:t>Most commonly occurs in children </a:t>
            </a:r>
          </a:p>
          <a:p>
            <a:pPr lvl="1">
              <a:lnSpc>
                <a:spcPct val="75000"/>
              </a:lnSpc>
              <a:spcBef>
                <a:spcPct val="25000"/>
              </a:spcBef>
              <a:buFontTx/>
              <a:buChar char="•"/>
            </a:pPr>
            <a:r>
              <a:rPr lang="en-US" altLang="en-US" dirty="0"/>
              <a:t>Is a result of the body's </a:t>
            </a:r>
            <a:r>
              <a:rPr lang="en-US" altLang="en-US" dirty="0">
                <a:solidFill>
                  <a:srgbClr val="0432FF"/>
                </a:solidFill>
              </a:rPr>
              <a:t>immune system attacking and destroying the beta islet cells</a:t>
            </a:r>
            <a:r>
              <a:rPr lang="en-US" altLang="en-US" dirty="0"/>
              <a:t>. </a:t>
            </a:r>
          </a:p>
          <a:p>
            <a:pPr lvl="1">
              <a:lnSpc>
                <a:spcPct val="75000"/>
              </a:lnSpc>
              <a:spcBef>
                <a:spcPct val="25000"/>
              </a:spcBef>
              <a:buFontTx/>
              <a:buChar char="•"/>
            </a:pPr>
            <a:r>
              <a:rPr lang="en-US" altLang="en-US" dirty="0"/>
              <a:t>The trigger for this autoimmune attack is not clear, but the result is the end of insulin production.</a:t>
            </a:r>
          </a:p>
          <a:p>
            <a:pPr>
              <a:lnSpc>
                <a:spcPct val="75000"/>
              </a:lnSpc>
              <a:spcBef>
                <a:spcPct val="50000"/>
              </a:spcBef>
            </a:pPr>
            <a:r>
              <a:rPr lang="en-US" altLang="en-US" dirty="0">
                <a:solidFill>
                  <a:schemeClr val="hlink"/>
                </a:solidFill>
              </a:rPr>
              <a:t>Type 2 diabetes:</a:t>
            </a:r>
          </a:p>
          <a:p>
            <a:pPr lvl="1">
              <a:lnSpc>
                <a:spcPct val="75000"/>
              </a:lnSpc>
              <a:spcBef>
                <a:spcPct val="25000"/>
              </a:spcBef>
              <a:buFontTx/>
              <a:buChar char="•"/>
            </a:pPr>
            <a:r>
              <a:rPr lang="en-US" altLang="en-US" dirty="0"/>
              <a:t>Type 2 diabetes commonly occurs in adults who are obese. </a:t>
            </a:r>
          </a:p>
          <a:p>
            <a:pPr lvl="1">
              <a:lnSpc>
                <a:spcPct val="75000"/>
              </a:lnSpc>
              <a:spcBef>
                <a:spcPct val="15000"/>
              </a:spcBef>
              <a:buFontTx/>
              <a:buChar char="•"/>
            </a:pPr>
            <a:r>
              <a:rPr lang="en-US" altLang="en-US" dirty="0"/>
              <a:t>There are many underlying factors that contribute to the high blood glucose levels in these individuals. </a:t>
            </a:r>
          </a:p>
          <a:p>
            <a:pPr lvl="1">
              <a:lnSpc>
                <a:spcPct val="75000"/>
              </a:lnSpc>
              <a:spcBef>
                <a:spcPct val="15000"/>
              </a:spcBef>
              <a:buFontTx/>
              <a:buChar char="•"/>
            </a:pPr>
            <a:r>
              <a:rPr lang="en-US" altLang="en-US" dirty="0">
                <a:solidFill>
                  <a:schemeClr val="hlink"/>
                </a:solidFill>
              </a:rPr>
              <a:t>An important factor</a:t>
            </a:r>
            <a:r>
              <a:rPr lang="en-US" altLang="en-US" dirty="0"/>
              <a:t> is the body's </a:t>
            </a:r>
            <a:r>
              <a:rPr lang="en-US" altLang="en-US" b="1" dirty="0">
                <a:solidFill>
                  <a:srgbClr val="FF00FF"/>
                </a:solidFill>
              </a:rPr>
              <a:t>resistance to insulin</a:t>
            </a:r>
            <a:r>
              <a:rPr lang="en-US" altLang="en-US" dirty="0"/>
              <a:t>, essentially ignoring its insulin secretions. </a:t>
            </a:r>
          </a:p>
          <a:p>
            <a:pPr lvl="1">
              <a:lnSpc>
                <a:spcPct val="75000"/>
              </a:lnSpc>
              <a:spcBef>
                <a:spcPct val="15000"/>
              </a:spcBef>
              <a:buFontTx/>
              <a:buChar char="•"/>
            </a:pPr>
            <a:r>
              <a:rPr lang="en-US" altLang="en-US" dirty="0">
                <a:solidFill>
                  <a:schemeClr val="hlink"/>
                </a:solidFill>
              </a:rPr>
              <a:t>A second factor</a:t>
            </a:r>
            <a:r>
              <a:rPr lang="en-US" altLang="en-US" dirty="0"/>
              <a:t> is the </a:t>
            </a:r>
            <a:r>
              <a:rPr lang="en-US" altLang="en-US" dirty="0">
                <a:solidFill>
                  <a:schemeClr val="hlink"/>
                </a:solidFill>
              </a:rPr>
              <a:t>falling production of insulin</a:t>
            </a:r>
            <a:r>
              <a:rPr lang="en-US" altLang="en-US" dirty="0"/>
              <a:t> by the beta cells of the pancreas. </a:t>
            </a:r>
          </a:p>
          <a:p>
            <a:pPr lvl="1">
              <a:lnSpc>
                <a:spcPct val="75000"/>
              </a:lnSpc>
              <a:spcBef>
                <a:spcPct val="25000"/>
              </a:spcBef>
            </a:pPr>
            <a:r>
              <a:rPr lang="en-US" altLang="en-US" dirty="0"/>
              <a:t>Therefore, an individual with type 2 diabetes may have a</a:t>
            </a:r>
          </a:p>
          <a:p>
            <a:pPr lvl="1">
              <a:lnSpc>
                <a:spcPct val="75000"/>
              </a:lnSpc>
              <a:spcBef>
                <a:spcPct val="10000"/>
              </a:spcBef>
            </a:pPr>
            <a:r>
              <a:rPr lang="en-US" altLang="en-US" dirty="0"/>
              <a:t>combination of </a:t>
            </a:r>
            <a:r>
              <a:rPr lang="en-US" altLang="en-US" dirty="0">
                <a:solidFill>
                  <a:srgbClr val="009193"/>
                </a:solidFill>
              </a:rPr>
              <a:t>deficient secretion and deficient action</a:t>
            </a:r>
            <a:r>
              <a:rPr lang="en-US" altLang="en-US" dirty="0"/>
              <a:t> of</a:t>
            </a:r>
          </a:p>
          <a:p>
            <a:pPr lvl="1">
              <a:lnSpc>
                <a:spcPct val="75000"/>
              </a:lnSpc>
              <a:spcBef>
                <a:spcPct val="10000"/>
              </a:spcBef>
            </a:pPr>
            <a:r>
              <a:rPr lang="en-US" altLang="en-US" dirty="0"/>
              <a:t>insulin.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4">
            <a:extLst>
              <a:ext uri="{FF2B5EF4-FFF2-40B4-BE49-F238E27FC236}">
                <a16:creationId xmlns:a16="http://schemas.microsoft.com/office/drawing/2014/main" id="{AEC2B6D6-F061-449E-8381-F4B04A597F73}"/>
              </a:ext>
            </a:extLst>
          </p:cNvPr>
          <p:cNvSpPr>
            <a:spLocks noRot="1" noChangeArrowheads="1"/>
          </p:cNvSpPr>
          <p:nvPr/>
        </p:nvSpPr>
        <p:spPr bwMode="auto">
          <a:xfrm>
            <a:off x="415637" y="196932"/>
            <a:ext cx="8312727" cy="477675"/>
          </a:xfrm>
          <a:prstGeom prst="rect">
            <a:avLst/>
          </a:prstGeom>
          <a:solidFill>
            <a:schemeClr val="accent6">
              <a:lumMod val="20000"/>
              <a:lumOff val="80000"/>
            </a:schemeClr>
          </a:solidFill>
          <a:ln>
            <a:noFill/>
          </a:ln>
        </p:spPr>
        <p:txBody>
          <a:bodyPr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3200" dirty="0">
                <a:solidFill>
                  <a:srgbClr val="9437FF"/>
                </a:solidFill>
              </a:rPr>
              <a:t>Type I &amp; II Diabetes : Insulin Response </a:t>
            </a:r>
          </a:p>
        </p:txBody>
      </p:sp>
      <p:pic>
        <p:nvPicPr>
          <p:cNvPr id="8195" name="Picture 5" descr="cell legend">
            <a:extLst>
              <a:ext uri="{FF2B5EF4-FFF2-40B4-BE49-F238E27FC236}">
                <a16:creationId xmlns:a16="http://schemas.microsoft.com/office/drawing/2014/main" id="{C9FDE39D-E54F-4B94-9838-053B2B43B6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143000"/>
            <a:ext cx="1968500" cy="2895600"/>
          </a:xfrm>
          <a:prstGeom prst="rect">
            <a:avLst/>
          </a:prstGeom>
          <a:noFill/>
          <a:ln w="38100" cmpd="dbl">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8196" name="Picture 6" descr="Normal Cell">
            <a:extLst>
              <a:ext uri="{FF2B5EF4-FFF2-40B4-BE49-F238E27FC236}">
                <a16:creationId xmlns:a16="http://schemas.microsoft.com/office/drawing/2014/main" id="{B98E0826-EE40-4A59-B337-F84DB21CE0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8400" y="1143000"/>
            <a:ext cx="2009775" cy="2895600"/>
          </a:xfrm>
          <a:prstGeom prst="rect">
            <a:avLst/>
          </a:prstGeom>
          <a:noFill/>
          <a:ln w="38100" cmpd="dbl">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8197" name="Picture 7" descr="Type I Diabetes Cell">
            <a:extLst>
              <a:ext uri="{FF2B5EF4-FFF2-40B4-BE49-F238E27FC236}">
                <a16:creationId xmlns:a16="http://schemas.microsoft.com/office/drawing/2014/main" id="{8A55ED28-B80D-4741-9230-E93359EC2B3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19600" y="1143000"/>
            <a:ext cx="2005013" cy="2895600"/>
          </a:xfrm>
          <a:prstGeom prst="rect">
            <a:avLst/>
          </a:prstGeom>
          <a:noFill/>
          <a:ln w="38100" cmpd="dbl">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8198" name="Picture 8" descr="Type II Diabetes Cell">
            <a:extLst>
              <a:ext uri="{FF2B5EF4-FFF2-40B4-BE49-F238E27FC236}">
                <a16:creationId xmlns:a16="http://schemas.microsoft.com/office/drawing/2014/main" id="{411E9264-8325-4D89-9540-AA49799EC7D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b="2499"/>
          <a:stretch>
            <a:fillRect/>
          </a:stretch>
        </p:blipFill>
        <p:spPr bwMode="auto">
          <a:xfrm>
            <a:off x="6434138" y="1143000"/>
            <a:ext cx="2090737" cy="2971800"/>
          </a:xfrm>
          <a:prstGeom prst="rect">
            <a:avLst/>
          </a:prstGeom>
          <a:noFill/>
          <a:ln w="38100" cmpd="dbl">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8199" name="Rectangle 9">
            <a:extLst>
              <a:ext uri="{FF2B5EF4-FFF2-40B4-BE49-F238E27FC236}">
                <a16:creationId xmlns:a16="http://schemas.microsoft.com/office/drawing/2014/main" id="{CB087885-2279-4638-85BA-3BFA03C45C30}"/>
              </a:ext>
            </a:extLst>
          </p:cNvPr>
          <p:cNvSpPr>
            <a:spLocks noChangeArrowheads="1"/>
          </p:cNvSpPr>
          <p:nvPr/>
        </p:nvSpPr>
        <p:spPr bwMode="auto">
          <a:xfrm>
            <a:off x="2438400" y="4038600"/>
            <a:ext cx="1981200" cy="2743200"/>
          </a:xfrm>
          <a:prstGeom prst="rect">
            <a:avLst/>
          </a:prstGeom>
          <a:solidFill>
            <a:schemeClr val="folHlink"/>
          </a:solidFill>
          <a:ln w="38100" cmpd="dbl">
            <a:solidFill>
              <a:schemeClr val="tx1"/>
            </a:solidFill>
            <a:miter lim="800000"/>
            <a:headEnd/>
            <a:tailEnd/>
          </a:ln>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600">
                <a:solidFill>
                  <a:srgbClr val="000000"/>
                </a:solidFill>
                <a:latin typeface="Tahoma" panose="020B0604030504040204" pitchFamily="34" charset="0"/>
              </a:rPr>
              <a:t>This is a normal </a:t>
            </a:r>
          </a:p>
          <a:p>
            <a:pPr algn="ctr"/>
            <a:r>
              <a:rPr lang="en-US" altLang="en-US" sz="1600">
                <a:solidFill>
                  <a:srgbClr val="000000"/>
                </a:solidFill>
                <a:latin typeface="Tahoma" panose="020B0604030504040204" pitchFamily="34" charset="0"/>
              </a:rPr>
              <a:t>cell. </a:t>
            </a:r>
          </a:p>
          <a:p>
            <a:pPr algn="ctr"/>
            <a:r>
              <a:rPr lang="en-US" altLang="en-US" sz="1600">
                <a:solidFill>
                  <a:srgbClr val="000000"/>
                </a:solidFill>
                <a:latin typeface="Tahoma" panose="020B0604030504040204" pitchFamily="34" charset="0"/>
              </a:rPr>
              <a:t>Insulin is present </a:t>
            </a:r>
          </a:p>
          <a:p>
            <a:pPr algn="ctr"/>
            <a:r>
              <a:rPr lang="en-US" altLang="en-US" sz="1600">
                <a:solidFill>
                  <a:srgbClr val="000000"/>
                </a:solidFill>
                <a:latin typeface="Tahoma" panose="020B0604030504040204" pitchFamily="34" charset="0"/>
              </a:rPr>
              <a:t>and is taken into </a:t>
            </a:r>
          </a:p>
          <a:p>
            <a:pPr algn="ctr"/>
            <a:r>
              <a:rPr lang="en-US" altLang="en-US" sz="1600">
                <a:solidFill>
                  <a:srgbClr val="000000"/>
                </a:solidFill>
                <a:latin typeface="Tahoma" panose="020B0604030504040204" pitchFamily="34" charset="0"/>
              </a:rPr>
              <a:t>the cell to </a:t>
            </a:r>
          </a:p>
          <a:p>
            <a:pPr algn="ctr"/>
            <a:r>
              <a:rPr lang="en-US" altLang="en-US" sz="1600">
                <a:solidFill>
                  <a:srgbClr val="000000"/>
                </a:solidFill>
                <a:latin typeface="Tahoma" panose="020B0604030504040204" pitchFamily="34" charset="0"/>
              </a:rPr>
              <a:t>facilitate proper</a:t>
            </a:r>
          </a:p>
          <a:p>
            <a:pPr algn="ctr"/>
            <a:r>
              <a:rPr lang="en-US" altLang="en-US" sz="1600">
                <a:solidFill>
                  <a:srgbClr val="000000"/>
                </a:solidFill>
                <a:latin typeface="Tahoma" panose="020B0604030504040204" pitchFamily="34" charset="0"/>
              </a:rPr>
              <a:t> glucose uptake.</a:t>
            </a:r>
          </a:p>
        </p:txBody>
      </p:sp>
      <p:sp>
        <p:nvSpPr>
          <p:cNvPr id="8200" name="Rectangle 10">
            <a:extLst>
              <a:ext uri="{FF2B5EF4-FFF2-40B4-BE49-F238E27FC236}">
                <a16:creationId xmlns:a16="http://schemas.microsoft.com/office/drawing/2014/main" id="{438AF6FC-14B5-4255-89B4-635B61AB656D}"/>
              </a:ext>
            </a:extLst>
          </p:cNvPr>
          <p:cNvSpPr>
            <a:spLocks noChangeArrowheads="1"/>
          </p:cNvSpPr>
          <p:nvPr/>
        </p:nvSpPr>
        <p:spPr bwMode="auto">
          <a:xfrm>
            <a:off x="4343400" y="4038600"/>
            <a:ext cx="2057400" cy="2743200"/>
          </a:xfrm>
          <a:prstGeom prst="rect">
            <a:avLst/>
          </a:prstGeom>
          <a:solidFill>
            <a:srgbClr val="9966FF"/>
          </a:solidFill>
          <a:ln w="9525">
            <a:solidFill>
              <a:schemeClr val="tx1"/>
            </a:solidFill>
            <a:miter lim="800000"/>
            <a:headEnd/>
            <a:tailEnd/>
          </a:ln>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600">
                <a:latin typeface="Tahoma" panose="020B0604030504040204" pitchFamily="34" charset="0"/>
              </a:rPr>
              <a:t>In Type I diabetes, </a:t>
            </a:r>
          </a:p>
          <a:p>
            <a:pPr algn="ctr"/>
            <a:r>
              <a:rPr lang="en-US" altLang="en-US" sz="1600">
                <a:latin typeface="Tahoma" panose="020B0604030504040204" pitchFamily="34" charset="0"/>
              </a:rPr>
              <a:t>insulin is not </a:t>
            </a:r>
          </a:p>
          <a:p>
            <a:pPr algn="ctr"/>
            <a:r>
              <a:rPr lang="en-US" altLang="en-US" sz="1600">
                <a:latin typeface="Tahoma" panose="020B0604030504040204" pitchFamily="34" charset="0"/>
              </a:rPr>
              <a:t>produced; so,</a:t>
            </a:r>
          </a:p>
          <a:p>
            <a:pPr algn="ctr"/>
            <a:r>
              <a:rPr lang="en-US" altLang="en-US" sz="1600">
                <a:latin typeface="Tahoma" panose="020B0604030504040204" pitchFamily="34" charset="0"/>
              </a:rPr>
              <a:t> there is nothing </a:t>
            </a:r>
          </a:p>
          <a:p>
            <a:pPr algn="ctr"/>
            <a:r>
              <a:rPr lang="en-US" altLang="en-US" sz="1600">
                <a:latin typeface="Tahoma" panose="020B0604030504040204" pitchFamily="34" charset="0"/>
              </a:rPr>
              <a:t>to signal the </a:t>
            </a:r>
          </a:p>
          <a:p>
            <a:pPr algn="ctr"/>
            <a:r>
              <a:rPr lang="en-US" altLang="en-US" sz="1600">
                <a:latin typeface="Tahoma" panose="020B0604030504040204" pitchFamily="34" charset="0"/>
              </a:rPr>
              <a:t>cells to take in </a:t>
            </a:r>
          </a:p>
          <a:p>
            <a:pPr algn="ctr"/>
            <a:r>
              <a:rPr lang="en-US" altLang="en-US" sz="1600">
                <a:latin typeface="Tahoma" panose="020B0604030504040204" pitchFamily="34" charset="0"/>
              </a:rPr>
              <a:t>glucose </a:t>
            </a:r>
          </a:p>
          <a:p>
            <a:pPr algn="ctr"/>
            <a:r>
              <a:rPr lang="en-US" altLang="en-US" sz="1600">
                <a:latin typeface="Tahoma" panose="020B0604030504040204" pitchFamily="34" charset="0"/>
              </a:rPr>
              <a:t>and metabolize it. </a:t>
            </a:r>
          </a:p>
        </p:txBody>
      </p:sp>
      <p:sp>
        <p:nvSpPr>
          <p:cNvPr id="8201" name="Rectangle 11">
            <a:extLst>
              <a:ext uri="{FF2B5EF4-FFF2-40B4-BE49-F238E27FC236}">
                <a16:creationId xmlns:a16="http://schemas.microsoft.com/office/drawing/2014/main" id="{5B60F446-31D8-459D-908C-4A2116054C9B}"/>
              </a:ext>
            </a:extLst>
          </p:cNvPr>
          <p:cNvSpPr>
            <a:spLocks noChangeArrowheads="1"/>
          </p:cNvSpPr>
          <p:nvPr/>
        </p:nvSpPr>
        <p:spPr bwMode="auto">
          <a:xfrm>
            <a:off x="6400800" y="4038600"/>
            <a:ext cx="2133600" cy="2743200"/>
          </a:xfrm>
          <a:prstGeom prst="rect">
            <a:avLst/>
          </a:prstGeom>
          <a:solidFill>
            <a:srgbClr val="FF99FF"/>
          </a:solidFill>
          <a:ln w="9525">
            <a:solidFill>
              <a:schemeClr val="tx1"/>
            </a:solidFill>
            <a:miter lim="800000"/>
            <a:headEnd/>
            <a:tailEnd/>
          </a:ln>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600" dirty="0">
                <a:solidFill>
                  <a:srgbClr val="000000"/>
                </a:solidFill>
                <a:latin typeface="Tahoma" panose="020B0604030504040204" pitchFamily="34" charset="0"/>
              </a:rPr>
              <a:t>Here, insulin is </a:t>
            </a:r>
          </a:p>
          <a:p>
            <a:pPr algn="ctr"/>
            <a:r>
              <a:rPr lang="en-US" altLang="en-US" sz="1600" dirty="0">
                <a:solidFill>
                  <a:srgbClr val="000000"/>
                </a:solidFill>
                <a:latin typeface="Tahoma" panose="020B0604030504040204" pitchFamily="34" charset="0"/>
              </a:rPr>
              <a:t>present, but signal</a:t>
            </a:r>
          </a:p>
          <a:p>
            <a:pPr algn="ctr"/>
            <a:r>
              <a:rPr lang="en-US" altLang="en-US" sz="1600" dirty="0">
                <a:solidFill>
                  <a:srgbClr val="000000"/>
                </a:solidFill>
                <a:latin typeface="Tahoma" panose="020B0604030504040204" pitchFamily="34" charset="0"/>
              </a:rPr>
              <a:t> for proper glucose </a:t>
            </a:r>
          </a:p>
          <a:p>
            <a:pPr algn="ctr"/>
            <a:r>
              <a:rPr lang="en-US" altLang="en-US" sz="1600" dirty="0">
                <a:solidFill>
                  <a:srgbClr val="000000"/>
                </a:solidFill>
                <a:latin typeface="Tahoma" panose="020B0604030504040204" pitchFamily="34" charset="0"/>
              </a:rPr>
              <a:t>uptake &amp; metabolism </a:t>
            </a:r>
          </a:p>
          <a:p>
            <a:pPr algn="ctr"/>
            <a:r>
              <a:rPr lang="en-US" altLang="en-US" sz="1600" dirty="0">
                <a:solidFill>
                  <a:srgbClr val="000000"/>
                </a:solidFill>
                <a:latin typeface="Tahoma" panose="020B0604030504040204" pitchFamily="34" charset="0"/>
              </a:rPr>
              <a:t>is lost. The problem </a:t>
            </a:r>
          </a:p>
          <a:p>
            <a:pPr algn="ctr"/>
            <a:r>
              <a:rPr lang="en-US" altLang="en-US" sz="1600" dirty="0">
                <a:solidFill>
                  <a:srgbClr val="000000"/>
                </a:solidFill>
                <a:latin typeface="Tahoma" panose="020B0604030504040204" pitchFamily="34" charset="0"/>
              </a:rPr>
              <a:t>could be in the insulin</a:t>
            </a:r>
          </a:p>
          <a:p>
            <a:pPr algn="ctr"/>
            <a:r>
              <a:rPr lang="en-US" altLang="en-US" sz="1600" dirty="0">
                <a:solidFill>
                  <a:srgbClr val="000000"/>
                </a:solidFill>
                <a:latin typeface="Tahoma" panose="020B0604030504040204" pitchFamily="34" charset="0"/>
              </a:rPr>
              <a:t> itself or in any one</a:t>
            </a:r>
          </a:p>
          <a:p>
            <a:pPr algn="ctr"/>
            <a:r>
              <a:rPr lang="en-US" altLang="en-US" sz="1600" dirty="0">
                <a:solidFill>
                  <a:srgbClr val="000000"/>
                </a:solidFill>
                <a:latin typeface="Tahoma" panose="020B0604030504040204" pitchFamily="34" charset="0"/>
              </a:rPr>
              <a:t> of the proteins involved</a:t>
            </a:r>
          </a:p>
          <a:p>
            <a:pPr algn="ctr"/>
            <a:r>
              <a:rPr lang="en-US" altLang="en-US" sz="1600" dirty="0">
                <a:solidFill>
                  <a:srgbClr val="000000"/>
                </a:solidFill>
                <a:latin typeface="Tahoma" panose="020B0604030504040204" pitchFamily="34" charset="0"/>
              </a:rPr>
              <a:t> in glucose uptake and </a:t>
            </a:r>
          </a:p>
          <a:p>
            <a:pPr algn="ctr"/>
            <a:r>
              <a:rPr lang="en-US" altLang="en-US" sz="1600" dirty="0">
                <a:solidFill>
                  <a:srgbClr val="000000"/>
                </a:solidFill>
                <a:latin typeface="Tahoma" panose="020B0604030504040204" pitchFamily="34" charset="0"/>
              </a:rPr>
              <a:t>metabolism.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4" name="Rectangle 4">
            <a:extLst>
              <a:ext uri="{FF2B5EF4-FFF2-40B4-BE49-F238E27FC236}">
                <a16:creationId xmlns:a16="http://schemas.microsoft.com/office/drawing/2014/main" id="{CADAD19D-8C09-4BF7-917E-38DF56E15EB5}"/>
              </a:ext>
            </a:extLst>
          </p:cNvPr>
          <p:cNvSpPr>
            <a:spLocks noChangeArrowheads="1"/>
          </p:cNvSpPr>
          <p:nvPr/>
        </p:nvSpPr>
        <p:spPr bwMode="auto">
          <a:xfrm>
            <a:off x="214746" y="192163"/>
            <a:ext cx="8104909" cy="503802"/>
          </a:xfrm>
          <a:prstGeom prst="rect">
            <a:avLst/>
          </a:prstGeom>
          <a:solidFill>
            <a:schemeClr val="accent6">
              <a:lumMod val="20000"/>
              <a:lumOff val="80000"/>
            </a:schemeClr>
          </a:solidFill>
          <a:ln>
            <a:noFill/>
          </a:ln>
        </p:spPr>
        <p:txBody>
          <a:bodyPr anchor="ctr" anchorCtr="1"/>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3200" dirty="0">
                <a:solidFill>
                  <a:srgbClr val="9437FF"/>
                </a:solidFill>
              </a:rPr>
              <a:t>Gestational Diabetes- 3</a:t>
            </a:r>
            <a:r>
              <a:rPr lang="en-US" altLang="en-US" sz="3200" baseline="30000" dirty="0">
                <a:solidFill>
                  <a:srgbClr val="9437FF"/>
                </a:solidFill>
              </a:rPr>
              <a:t>rd</a:t>
            </a:r>
            <a:r>
              <a:rPr lang="en-US" altLang="en-US" sz="3200" dirty="0">
                <a:solidFill>
                  <a:srgbClr val="9437FF"/>
                </a:solidFill>
              </a:rPr>
              <a:t> Type of Diabetes</a:t>
            </a:r>
          </a:p>
        </p:txBody>
      </p:sp>
      <p:pic>
        <p:nvPicPr>
          <p:cNvPr id="9219" name="Picture 5" descr="ges dia">
            <a:extLst>
              <a:ext uri="{FF2B5EF4-FFF2-40B4-BE49-F238E27FC236}">
                <a16:creationId xmlns:a16="http://schemas.microsoft.com/office/drawing/2014/main" id="{98343E85-D12E-4913-A6F5-7834FBA89E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83622" y="2462831"/>
            <a:ext cx="4656137" cy="3592512"/>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9220" name="Rectangle 6">
            <a:extLst>
              <a:ext uri="{FF2B5EF4-FFF2-40B4-BE49-F238E27FC236}">
                <a16:creationId xmlns:a16="http://schemas.microsoft.com/office/drawing/2014/main" id="{641442A9-8A7A-48BB-AC30-F513D97427F3}"/>
              </a:ext>
            </a:extLst>
          </p:cNvPr>
          <p:cNvSpPr>
            <a:spLocks noChangeArrowheads="1"/>
          </p:cNvSpPr>
          <p:nvPr/>
        </p:nvSpPr>
        <p:spPr bwMode="auto">
          <a:xfrm>
            <a:off x="419893" y="868198"/>
            <a:ext cx="8324714" cy="142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90000"/>
              </a:lnSpc>
              <a:spcBef>
                <a:spcPct val="20000"/>
              </a:spcBef>
            </a:pPr>
            <a:r>
              <a:rPr lang="en-US" altLang="en-US" dirty="0"/>
              <a:t>Gestational diabetes is diabetes that happens for the first time when a woman is pregnant. Gestational diabetes goes away when any woman has her baby, but it increases her risk for having diabetes later.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0" presetClass="entr" presetSubtype="0" decel="100000" fill="hold" grpId="0" nodeType="withEffect">
                                  <p:stCondLst>
                                    <p:cond delay="0"/>
                                  </p:stCondLst>
                                  <p:childTnLst>
                                    <p:set>
                                      <p:cBhvr>
                                        <p:cTn id="6" dur="1" fill="hold">
                                          <p:stCondLst>
                                            <p:cond delay="0"/>
                                          </p:stCondLst>
                                        </p:cTn>
                                        <p:tgtEl>
                                          <p:spTgt spid="107524"/>
                                        </p:tgtEl>
                                        <p:attrNameLst>
                                          <p:attrName>style.visibility</p:attrName>
                                        </p:attrNameLst>
                                      </p:cBhvr>
                                      <p:to>
                                        <p:strVal val="visible"/>
                                      </p:to>
                                    </p:set>
                                    <p:anim calcmode="lin" valueType="num">
                                      <p:cBhvr>
                                        <p:cTn id="7" dur="1000" fill="hold"/>
                                        <p:tgtEl>
                                          <p:spTgt spid="107524"/>
                                        </p:tgtEl>
                                        <p:attrNameLst>
                                          <p:attrName>ppt_w</p:attrName>
                                        </p:attrNameLst>
                                      </p:cBhvr>
                                      <p:tavLst>
                                        <p:tav tm="0">
                                          <p:val>
                                            <p:strVal val="#ppt_w+.3"/>
                                          </p:val>
                                        </p:tav>
                                        <p:tav tm="100000">
                                          <p:val>
                                            <p:strVal val="#ppt_w"/>
                                          </p:val>
                                        </p:tav>
                                      </p:tavLst>
                                    </p:anim>
                                    <p:anim calcmode="lin" valueType="num">
                                      <p:cBhvr>
                                        <p:cTn id="8" dur="1000" fill="hold"/>
                                        <p:tgtEl>
                                          <p:spTgt spid="107524"/>
                                        </p:tgtEl>
                                        <p:attrNameLst>
                                          <p:attrName>ppt_h</p:attrName>
                                        </p:attrNameLst>
                                      </p:cBhvr>
                                      <p:tavLst>
                                        <p:tav tm="0">
                                          <p:val>
                                            <p:strVal val="#ppt_h"/>
                                          </p:val>
                                        </p:tav>
                                        <p:tav tm="100000">
                                          <p:val>
                                            <p:strVal val="#ppt_h"/>
                                          </p:val>
                                        </p:tav>
                                      </p:tavLst>
                                    </p:anim>
                                    <p:animEffect transition="in" filter="fade">
                                      <p:cBhvr>
                                        <p:cTn id="9" dur="1000"/>
                                        <p:tgtEl>
                                          <p:spTgt spid="1075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52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4">
            <a:extLst>
              <a:ext uri="{FF2B5EF4-FFF2-40B4-BE49-F238E27FC236}">
                <a16:creationId xmlns:a16="http://schemas.microsoft.com/office/drawing/2014/main" id="{09F03282-66A1-41F3-953E-4551E63E56CB}"/>
              </a:ext>
            </a:extLst>
          </p:cNvPr>
          <p:cNvSpPr>
            <a:spLocks noChangeArrowheads="1"/>
          </p:cNvSpPr>
          <p:nvPr/>
        </p:nvSpPr>
        <p:spPr bwMode="auto">
          <a:xfrm>
            <a:off x="392714" y="1434608"/>
            <a:ext cx="8499037" cy="3786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b="1" dirty="0">
                <a:solidFill>
                  <a:srgbClr val="FF9966"/>
                </a:solidFill>
              </a:rPr>
              <a:t>1) Macrosomia</a:t>
            </a:r>
            <a:r>
              <a:rPr lang="en-US" altLang="en-US" dirty="0">
                <a:solidFill>
                  <a:srgbClr val="FF9966"/>
                </a:solidFill>
              </a:rPr>
              <a:t> -</a:t>
            </a:r>
            <a:r>
              <a:rPr lang="en-US" altLang="en-US" dirty="0"/>
              <a:t> refers to a baby that is considerably larger than normal. </a:t>
            </a:r>
          </a:p>
          <a:p>
            <a:endParaRPr lang="en-US" altLang="en-US" dirty="0"/>
          </a:p>
          <a:p>
            <a:r>
              <a:rPr lang="en-US" altLang="en-US" b="1" dirty="0">
                <a:solidFill>
                  <a:srgbClr val="FF9966"/>
                </a:solidFill>
              </a:rPr>
              <a:t>2) Birth injury</a:t>
            </a:r>
            <a:r>
              <a:rPr lang="en-US" altLang="en-US" dirty="0">
                <a:solidFill>
                  <a:srgbClr val="FF9966"/>
                </a:solidFill>
              </a:rPr>
              <a:t> -</a:t>
            </a:r>
            <a:r>
              <a:rPr lang="en-US" altLang="en-US" dirty="0"/>
              <a:t> may occur due to the baby's large size and difficulty being born.</a:t>
            </a:r>
          </a:p>
          <a:p>
            <a:endParaRPr lang="en-US" altLang="en-US" b="1" dirty="0"/>
          </a:p>
          <a:p>
            <a:r>
              <a:rPr lang="en-US" altLang="en-US" b="1" dirty="0">
                <a:solidFill>
                  <a:srgbClr val="FF9966"/>
                </a:solidFill>
              </a:rPr>
              <a:t>3) Hypoglycemia</a:t>
            </a:r>
            <a:r>
              <a:rPr lang="en-US" altLang="en-US" dirty="0">
                <a:solidFill>
                  <a:srgbClr val="FF9966"/>
                </a:solidFill>
              </a:rPr>
              <a:t> – </a:t>
            </a:r>
            <a:r>
              <a:rPr lang="en-US" altLang="en-US" dirty="0"/>
              <a:t>refers to low blood sugar in the baby immediately after delivery. </a:t>
            </a:r>
          </a:p>
          <a:p>
            <a:endParaRPr lang="en-US" altLang="en-US" dirty="0"/>
          </a:p>
          <a:p>
            <a:r>
              <a:rPr lang="en-US" altLang="en-US" b="1" dirty="0">
                <a:solidFill>
                  <a:srgbClr val="FF9966"/>
                </a:solidFill>
              </a:rPr>
              <a:t>4) Respiratory distress- </a:t>
            </a:r>
            <a:r>
              <a:rPr lang="en-US" altLang="en-US" dirty="0"/>
              <a:t>difficulty in breathing.</a:t>
            </a:r>
          </a:p>
        </p:txBody>
      </p:sp>
      <p:sp>
        <p:nvSpPr>
          <p:cNvPr id="10243" name="Text Box 5">
            <a:extLst>
              <a:ext uri="{FF2B5EF4-FFF2-40B4-BE49-F238E27FC236}">
                <a16:creationId xmlns:a16="http://schemas.microsoft.com/office/drawing/2014/main" id="{E778D2A2-BD70-47DA-86B6-45DDA74E3394}"/>
              </a:ext>
            </a:extLst>
          </p:cNvPr>
          <p:cNvSpPr txBox="1">
            <a:spLocks noChangeArrowheads="1"/>
          </p:cNvSpPr>
          <p:nvPr/>
        </p:nvSpPr>
        <p:spPr bwMode="auto">
          <a:xfrm>
            <a:off x="392715" y="305128"/>
            <a:ext cx="8043677" cy="523220"/>
          </a:xfrm>
          <a:prstGeom prst="rect">
            <a:avLst/>
          </a:prstGeom>
          <a:solidFill>
            <a:schemeClr val="accent6">
              <a:lumMod val="20000"/>
              <a:lumOff val="80000"/>
            </a:schemeClr>
          </a:solidFill>
          <a:ln>
            <a:noFill/>
          </a:ln>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2800" b="1" dirty="0">
                <a:solidFill>
                  <a:srgbClr val="0000FF"/>
                </a:solidFill>
              </a:rPr>
              <a:t>Due to Gestational Diabetes, the baby has risks for-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4">
            <a:extLst>
              <a:ext uri="{FF2B5EF4-FFF2-40B4-BE49-F238E27FC236}">
                <a16:creationId xmlns:a16="http://schemas.microsoft.com/office/drawing/2014/main" id="{5DD16CDB-5766-496A-AEFA-0C64463E2109}"/>
              </a:ext>
            </a:extLst>
          </p:cNvPr>
          <p:cNvSpPr>
            <a:spLocks noChangeArrowheads="1"/>
          </p:cNvSpPr>
          <p:nvPr/>
        </p:nvSpPr>
        <p:spPr bwMode="auto">
          <a:xfrm>
            <a:off x="1295400" y="96819"/>
            <a:ext cx="6400800" cy="458002"/>
          </a:xfrm>
          <a:prstGeom prst="rect">
            <a:avLst/>
          </a:prstGeom>
          <a:solidFill>
            <a:schemeClr val="accent6">
              <a:lumMod val="20000"/>
              <a:lumOff val="80000"/>
            </a:schemeClr>
          </a:solidFill>
          <a:ln>
            <a:noFill/>
          </a:ln>
        </p:spPr>
        <p:txBody>
          <a:bodyPr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3200" dirty="0">
                <a:solidFill>
                  <a:srgbClr val="9437FF"/>
                </a:solidFill>
              </a:rPr>
              <a:t>Signs &amp; Symptoms</a:t>
            </a:r>
          </a:p>
        </p:txBody>
      </p:sp>
      <p:pic>
        <p:nvPicPr>
          <p:cNvPr id="11267" name="Picture 5" descr="Diabetes">
            <a:extLst>
              <a:ext uri="{FF2B5EF4-FFF2-40B4-BE49-F238E27FC236}">
                <a16:creationId xmlns:a16="http://schemas.microsoft.com/office/drawing/2014/main" id="{2A7FAFA9-382A-47D4-BA1B-7E055B13FD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52083"/>
          <a:stretch>
            <a:fillRect/>
          </a:stretch>
        </p:blipFill>
        <p:spPr bwMode="auto">
          <a:xfrm>
            <a:off x="381000" y="838200"/>
            <a:ext cx="5410200" cy="6019800"/>
          </a:xfrm>
          <a:prstGeom prst="rect">
            <a:avLst/>
          </a:prstGeom>
          <a:noFill/>
          <a:ln w="12700">
            <a:noFill/>
            <a:miter lim="800000"/>
            <a:headEnd/>
            <a:tailEnd/>
          </a:ln>
          <a:extLst>
            <a:ext uri="{909E8E84-426E-40DD-AFC4-6F175D3DCCD1}">
              <a14:hiddenFill xmlns:a14="http://schemas.microsoft.com/office/drawing/2010/main">
                <a:solidFill>
                  <a:srgbClr val="FFFFFF"/>
                </a:solidFill>
              </a14:hiddenFill>
            </a:ext>
          </a:extLst>
        </p:spPr>
      </p:pic>
      <p:sp>
        <p:nvSpPr>
          <p:cNvPr id="11268" name="Rectangle 6">
            <a:extLst>
              <a:ext uri="{FF2B5EF4-FFF2-40B4-BE49-F238E27FC236}">
                <a16:creationId xmlns:a16="http://schemas.microsoft.com/office/drawing/2014/main" id="{650B212F-A201-489B-AE97-887EC4E721C9}"/>
              </a:ext>
            </a:extLst>
          </p:cNvPr>
          <p:cNvSpPr>
            <a:spLocks noChangeArrowheads="1"/>
          </p:cNvSpPr>
          <p:nvPr/>
        </p:nvSpPr>
        <p:spPr bwMode="auto">
          <a:xfrm>
            <a:off x="698969" y="3200395"/>
            <a:ext cx="1952232" cy="304800"/>
          </a:xfrm>
          <a:prstGeom prst="rect">
            <a:avLst/>
          </a:prstGeom>
          <a:solidFill>
            <a:srgbClr val="FF0000"/>
          </a:solidFill>
          <a:ln w="9525">
            <a:solidFill>
              <a:schemeClr val="tx1"/>
            </a:solidFill>
            <a:miter lim="800000"/>
            <a:headEnd/>
            <a:tailEnd/>
          </a:ln>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1800" dirty="0">
                <a:solidFill>
                  <a:srgbClr val="FFFF00"/>
                </a:solidFill>
                <a:latin typeface="Arial" panose="020B0604020202020204" pitchFamily="34" charset="0"/>
              </a:rPr>
              <a:t>Dry Mouth</a:t>
            </a:r>
          </a:p>
        </p:txBody>
      </p:sp>
      <p:sp>
        <p:nvSpPr>
          <p:cNvPr id="11269" name="Rectangle 7">
            <a:extLst>
              <a:ext uri="{FF2B5EF4-FFF2-40B4-BE49-F238E27FC236}">
                <a16:creationId xmlns:a16="http://schemas.microsoft.com/office/drawing/2014/main" id="{E8DE4E3E-95AD-4EC6-A836-B76F4DE1A8D3}"/>
              </a:ext>
            </a:extLst>
          </p:cNvPr>
          <p:cNvSpPr>
            <a:spLocks noChangeArrowheads="1"/>
          </p:cNvSpPr>
          <p:nvPr/>
        </p:nvSpPr>
        <p:spPr bwMode="auto">
          <a:xfrm>
            <a:off x="3820513" y="3429000"/>
            <a:ext cx="2209800" cy="304800"/>
          </a:xfrm>
          <a:prstGeom prst="rect">
            <a:avLst/>
          </a:prstGeom>
          <a:solidFill>
            <a:srgbClr val="FF00FF"/>
          </a:solidFill>
          <a:ln w="9525">
            <a:solidFill>
              <a:schemeClr val="tx1"/>
            </a:solidFill>
            <a:miter lim="800000"/>
            <a:headEnd/>
            <a:tailEnd/>
          </a:ln>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1800" dirty="0">
                <a:solidFill>
                  <a:srgbClr val="FFFF00"/>
                </a:solidFill>
                <a:latin typeface="Arial" panose="020B0604020202020204" pitchFamily="34" charset="0"/>
              </a:rPr>
              <a:t>Extreme Thirst</a:t>
            </a:r>
          </a:p>
        </p:txBody>
      </p:sp>
      <p:sp>
        <p:nvSpPr>
          <p:cNvPr id="11270" name="Rectangle 8">
            <a:extLst>
              <a:ext uri="{FF2B5EF4-FFF2-40B4-BE49-F238E27FC236}">
                <a16:creationId xmlns:a16="http://schemas.microsoft.com/office/drawing/2014/main" id="{D7E57E9B-9CBE-44B8-919E-72ADA0F698C2}"/>
              </a:ext>
            </a:extLst>
          </p:cNvPr>
          <p:cNvSpPr>
            <a:spLocks noChangeArrowheads="1"/>
          </p:cNvSpPr>
          <p:nvPr/>
        </p:nvSpPr>
        <p:spPr bwMode="auto">
          <a:xfrm>
            <a:off x="193964" y="4640320"/>
            <a:ext cx="2355273" cy="304800"/>
          </a:xfrm>
          <a:prstGeom prst="rect">
            <a:avLst/>
          </a:prstGeom>
          <a:solidFill>
            <a:srgbClr val="FFFF00"/>
          </a:solidFill>
          <a:ln w="6350">
            <a:solidFill>
              <a:schemeClr val="tx1"/>
            </a:solidFill>
            <a:miter lim="800000"/>
            <a:headEnd/>
            <a:tailEnd/>
          </a:ln>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1800">
                <a:solidFill>
                  <a:srgbClr val="000000"/>
                </a:solidFill>
                <a:latin typeface="Arial" panose="020B0604020202020204" pitchFamily="34" charset="0"/>
              </a:rPr>
              <a:t>Frequent  Urination</a:t>
            </a:r>
          </a:p>
        </p:txBody>
      </p:sp>
      <p:sp>
        <p:nvSpPr>
          <p:cNvPr id="11271" name="Rectangle 9">
            <a:extLst>
              <a:ext uri="{FF2B5EF4-FFF2-40B4-BE49-F238E27FC236}">
                <a16:creationId xmlns:a16="http://schemas.microsoft.com/office/drawing/2014/main" id="{42BF90B1-B077-4614-A904-741410051049}"/>
              </a:ext>
            </a:extLst>
          </p:cNvPr>
          <p:cNvSpPr>
            <a:spLocks noChangeArrowheads="1"/>
          </p:cNvSpPr>
          <p:nvPr/>
        </p:nvSpPr>
        <p:spPr bwMode="auto">
          <a:xfrm>
            <a:off x="557043" y="6248400"/>
            <a:ext cx="2743200" cy="304800"/>
          </a:xfrm>
          <a:prstGeom prst="rect">
            <a:avLst/>
          </a:prstGeom>
          <a:solidFill>
            <a:srgbClr val="6666FF"/>
          </a:solidFill>
          <a:ln w="9525">
            <a:solidFill>
              <a:schemeClr val="tx1"/>
            </a:solidFill>
            <a:miter lim="800000"/>
            <a:headEnd/>
            <a:tailEnd/>
          </a:ln>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1800" dirty="0">
                <a:solidFill>
                  <a:schemeClr val="bg1"/>
                </a:solidFill>
                <a:latin typeface="Arial" panose="020B0604020202020204" pitchFamily="34" charset="0"/>
              </a:rPr>
              <a:t>Frequent Bed wetting</a:t>
            </a:r>
          </a:p>
        </p:txBody>
      </p:sp>
      <p:sp>
        <p:nvSpPr>
          <p:cNvPr id="11272" name="Rectangle 10">
            <a:extLst>
              <a:ext uri="{FF2B5EF4-FFF2-40B4-BE49-F238E27FC236}">
                <a16:creationId xmlns:a16="http://schemas.microsoft.com/office/drawing/2014/main" id="{8E174744-065D-49B3-94AA-F54D20A648A4}"/>
              </a:ext>
            </a:extLst>
          </p:cNvPr>
          <p:cNvSpPr>
            <a:spLocks noChangeArrowheads="1"/>
          </p:cNvSpPr>
          <p:nvPr/>
        </p:nvSpPr>
        <p:spPr bwMode="auto">
          <a:xfrm>
            <a:off x="3712781" y="6400800"/>
            <a:ext cx="2209800" cy="228600"/>
          </a:xfrm>
          <a:prstGeom prst="rect">
            <a:avLst/>
          </a:prstGeom>
          <a:solidFill>
            <a:srgbClr val="00FFFF"/>
          </a:solidFill>
          <a:ln w="9525">
            <a:solidFill>
              <a:schemeClr val="tx1"/>
            </a:solidFill>
            <a:miter lim="800000"/>
            <a:headEnd/>
            <a:tailEnd/>
          </a:ln>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1800">
                <a:solidFill>
                  <a:srgbClr val="0432FF"/>
                </a:solidFill>
                <a:latin typeface="Arial" panose="020B0604020202020204" pitchFamily="34" charset="0"/>
              </a:rPr>
              <a:t>Stomach Pain</a:t>
            </a:r>
          </a:p>
        </p:txBody>
      </p:sp>
      <p:sp>
        <p:nvSpPr>
          <p:cNvPr id="11273" name="Rectangle 11">
            <a:extLst>
              <a:ext uri="{FF2B5EF4-FFF2-40B4-BE49-F238E27FC236}">
                <a16:creationId xmlns:a16="http://schemas.microsoft.com/office/drawing/2014/main" id="{C7BFE0C3-73D2-441B-B04E-27F79A81A2F2}"/>
              </a:ext>
            </a:extLst>
          </p:cNvPr>
          <p:cNvSpPr>
            <a:spLocks noChangeArrowheads="1"/>
          </p:cNvSpPr>
          <p:nvPr/>
        </p:nvSpPr>
        <p:spPr bwMode="auto">
          <a:xfrm>
            <a:off x="3820154" y="5105400"/>
            <a:ext cx="2147455" cy="304800"/>
          </a:xfrm>
          <a:prstGeom prst="rect">
            <a:avLst/>
          </a:prstGeom>
          <a:solidFill>
            <a:srgbClr val="6600CC"/>
          </a:solidFill>
          <a:ln w="9525">
            <a:solidFill>
              <a:schemeClr val="tx1"/>
            </a:solidFill>
            <a:miter lim="800000"/>
            <a:headEnd/>
            <a:tailEnd/>
          </a:ln>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1800">
                <a:solidFill>
                  <a:schemeClr val="bg1"/>
                </a:solidFill>
                <a:latin typeface="Arial" panose="020B0604020202020204" pitchFamily="34" charset="0"/>
              </a:rPr>
              <a:t>Always Tired</a:t>
            </a:r>
          </a:p>
        </p:txBody>
      </p:sp>
      <p:sp>
        <p:nvSpPr>
          <p:cNvPr id="11274" name="Oval 12">
            <a:extLst>
              <a:ext uri="{FF2B5EF4-FFF2-40B4-BE49-F238E27FC236}">
                <a16:creationId xmlns:a16="http://schemas.microsoft.com/office/drawing/2014/main" id="{0550DFBF-06DF-4EB4-949D-17380A8E0504}"/>
              </a:ext>
            </a:extLst>
          </p:cNvPr>
          <p:cNvSpPr>
            <a:spLocks noChangeArrowheads="1"/>
          </p:cNvSpPr>
          <p:nvPr/>
        </p:nvSpPr>
        <p:spPr bwMode="auto">
          <a:xfrm>
            <a:off x="4648200" y="2057400"/>
            <a:ext cx="609600" cy="381000"/>
          </a:xfrm>
          <a:prstGeom prst="ellipse">
            <a:avLst/>
          </a:prstGeom>
          <a:solidFill>
            <a:schemeClr val="accent1"/>
          </a:solidFill>
          <a:ln w="9525">
            <a:solidFill>
              <a:schemeClr val="tx1"/>
            </a:solidFill>
            <a:round/>
            <a:headEnd/>
            <a:tailEnd/>
          </a:ln>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1800">
                <a:latin typeface="Arial" panose="020B0604020202020204" pitchFamily="34" charset="0"/>
              </a:rPr>
              <a:t>gulp</a:t>
            </a:r>
          </a:p>
        </p:txBody>
      </p:sp>
      <p:sp>
        <p:nvSpPr>
          <p:cNvPr id="11275" name="Oval 13">
            <a:extLst>
              <a:ext uri="{FF2B5EF4-FFF2-40B4-BE49-F238E27FC236}">
                <a16:creationId xmlns:a16="http://schemas.microsoft.com/office/drawing/2014/main" id="{D6DCD841-1766-47AF-BD68-082FCF659FCB}"/>
              </a:ext>
            </a:extLst>
          </p:cNvPr>
          <p:cNvSpPr>
            <a:spLocks noChangeArrowheads="1"/>
          </p:cNvSpPr>
          <p:nvPr/>
        </p:nvSpPr>
        <p:spPr bwMode="auto">
          <a:xfrm>
            <a:off x="5105400" y="2286000"/>
            <a:ext cx="609600" cy="381000"/>
          </a:xfrm>
          <a:prstGeom prst="ellipse">
            <a:avLst/>
          </a:prstGeom>
          <a:solidFill>
            <a:schemeClr val="accent1"/>
          </a:solidFill>
          <a:ln w="9525">
            <a:solidFill>
              <a:schemeClr val="tx1"/>
            </a:solidFill>
            <a:round/>
            <a:headEnd/>
            <a:tailEnd/>
          </a:ln>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1800">
                <a:latin typeface="Arial" panose="020B0604020202020204" pitchFamily="34" charset="0"/>
              </a:rPr>
              <a:t>gulp</a:t>
            </a:r>
          </a:p>
        </p:txBody>
      </p:sp>
      <p:sp>
        <p:nvSpPr>
          <p:cNvPr id="11276" name="Oval 14">
            <a:extLst>
              <a:ext uri="{FF2B5EF4-FFF2-40B4-BE49-F238E27FC236}">
                <a16:creationId xmlns:a16="http://schemas.microsoft.com/office/drawing/2014/main" id="{A5E9E39C-81BC-42A8-8910-CD9F50622445}"/>
              </a:ext>
            </a:extLst>
          </p:cNvPr>
          <p:cNvSpPr>
            <a:spLocks noChangeArrowheads="1"/>
          </p:cNvSpPr>
          <p:nvPr/>
        </p:nvSpPr>
        <p:spPr bwMode="auto">
          <a:xfrm>
            <a:off x="5181600" y="2667000"/>
            <a:ext cx="609600" cy="381000"/>
          </a:xfrm>
          <a:prstGeom prst="ellipse">
            <a:avLst/>
          </a:prstGeom>
          <a:solidFill>
            <a:schemeClr val="accent1"/>
          </a:solidFill>
          <a:ln w="9525">
            <a:solidFill>
              <a:schemeClr val="tx1"/>
            </a:solidFill>
            <a:round/>
            <a:headEnd/>
            <a:tailEnd/>
          </a:ln>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1800">
                <a:latin typeface="Arial" panose="020B0604020202020204" pitchFamily="34" charset="0"/>
              </a:rPr>
              <a:t>gulp</a:t>
            </a:r>
          </a:p>
        </p:txBody>
      </p:sp>
      <p:pic>
        <p:nvPicPr>
          <p:cNvPr id="11277" name="Picture 15" descr="diabetes sypmtoms">
            <a:extLst>
              <a:ext uri="{FF2B5EF4-FFF2-40B4-BE49-F238E27FC236}">
                <a16:creationId xmlns:a16="http://schemas.microsoft.com/office/drawing/2014/main" id="{2B6A3FE1-E020-4A08-89F6-5EA2156EF5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41637" t="24632" r="43260" b="56129"/>
          <a:stretch>
            <a:fillRect/>
          </a:stretch>
        </p:blipFill>
        <p:spPr bwMode="auto">
          <a:xfrm>
            <a:off x="6172200" y="990600"/>
            <a:ext cx="1143000"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78" name="Oval 16">
            <a:extLst>
              <a:ext uri="{FF2B5EF4-FFF2-40B4-BE49-F238E27FC236}">
                <a16:creationId xmlns:a16="http://schemas.microsoft.com/office/drawing/2014/main" id="{165977B7-4C2D-49C4-B573-21DD45B41AB6}"/>
              </a:ext>
            </a:extLst>
          </p:cNvPr>
          <p:cNvSpPr>
            <a:spLocks noChangeArrowheads="1"/>
          </p:cNvSpPr>
          <p:nvPr/>
        </p:nvSpPr>
        <p:spPr bwMode="auto">
          <a:xfrm>
            <a:off x="7124700" y="762000"/>
            <a:ext cx="1524000" cy="1219200"/>
          </a:xfrm>
          <a:prstGeom prst="ellipse">
            <a:avLst/>
          </a:prstGeom>
          <a:solidFill>
            <a:srgbClr val="990000"/>
          </a:solidFill>
          <a:ln w="9525">
            <a:solidFill>
              <a:schemeClr val="tx1"/>
            </a:solidFill>
            <a:round/>
            <a:headEnd/>
            <a:tailEnd/>
          </a:ln>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1800">
                <a:solidFill>
                  <a:schemeClr val="bg1"/>
                </a:solidFill>
                <a:latin typeface="Arial" panose="020B0604020202020204" pitchFamily="34" charset="0"/>
              </a:rPr>
              <a:t>Sudden </a:t>
            </a:r>
          </a:p>
          <a:p>
            <a:pPr algn="ctr" eaLnBrk="1" hangingPunct="1"/>
            <a:r>
              <a:rPr lang="en-US" altLang="en-US" sz="1800">
                <a:solidFill>
                  <a:schemeClr val="bg1"/>
                </a:solidFill>
                <a:latin typeface="Arial" panose="020B0604020202020204" pitchFamily="34" charset="0"/>
              </a:rPr>
              <a:t>Weight </a:t>
            </a:r>
          </a:p>
          <a:p>
            <a:pPr algn="ctr" eaLnBrk="1" hangingPunct="1"/>
            <a:r>
              <a:rPr lang="en-US" altLang="en-US" sz="1800">
                <a:solidFill>
                  <a:schemeClr val="bg1"/>
                </a:solidFill>
                <a:latin typeface="Arial" panose="020B0604020202020204" pitchFamily="34" charset="0"/>
              </a:rPr>
              <a:t>Loss</a:t>
            </a:r>
          </a:p>
        </p:txBody>
      </p:sp>
      <p:pic>
        <p:nvPicPr>
          <p:cNvPr id="11279" name="Picture 17" descr="diabetes sypmtoms">
            <a:extLst>
              <a:ext uri="{FF2B5EF4-FFF2-40B4-BE49-F238E27FC236}">
                <a16:creationId xmlns:a16="http://schemas.microsoft.com/office/drawing/2014/main" id="{D0738C5C-5F22-4EF7-9701-0D1DE8D183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6577" t="44234" r="57718" b="38753"/>
          <a:stretch>
            <a:fillRect/>
          </a:stretch>
        </p:blipFill>
        <p:spPr bwMode="auto">
          <a:xfrm>
            <a:off x="7010400" y="3048000"/>
            <a:ext cx="1600200" cy="145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80" name="Oval 18">
            <a:extLst>
              <a:ext uri="{FF2B5EF4-FFF2-40B4-BE49-F238E27FC236}">
                <a16:creationId xmlns:a16="http://schemas.microsoft.com/office/drawing/2014/main" id="{766833C3-1100-4033-B523-0FFDE95A961C}"/>
              </a:ext>
            </a:extLst>
          </p:cNvPr>
          <p:cNvSpPr>
            <a:spLocks noChangeArrowheads="1"/>
          </p:cNvSpPr>
          <p:nvPr/>
        </p:nvSpPr>
        <p:spPr bwMode="auto">
          <a:xfrm>
            <a:off x="6705600" y="2743200"/>
            <a:ext cx="1219200" cy="838200"/>
          </a:xfrm>
          <a:prstGeom prst="ellipse">
            <a:avLst/>
          </a:prstGeom>
          <a:solidFill>
            <a:srgbClr val="CC00FF"/>
          </a:solidFill>
          <a:ln w="28575">
            <a:solidFill>
              <a:schemeClr val="tx1"/>
            </a:solidFill>
            <a:round/>
            <a:headEnd/>
            <a:tailEnd/>
          </a:ln>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1800">
                <a:solidFill>
                  <a:schemeClr val="bg1"/>
                </a:solidFill>
                <a:latin typeface="Arial" panose="020B0604020202020204" pitchFamily="34" charset="0"/>
              </a:rPr>
              <a:t>Always </a:t>
            </a:r>
          </a:p>
          <a:p>
            <a:pPr algn="ctr" eaLnBrk="1" hangingPunct="1"/>
            <a:r>
              <a:rPr lang="en-US" altLang="en-US" sz="1800">
                <a:solidFill>
                  <a:schemeClr val="bg1"/>
                </a:solidFill>
                <a:latin typeface="Arial" panose="020B0604020202020204" pitchFamily="34" charset="0"/>
              </a:rPr>
              <a:t>Hungry</a:t>
            </a:r>
          </a:p>
        </p:txBody>
      </p:sp>
      <p:pic>
        <p:nvPicPr>
          <p:cNvPr id="11281" name="Picture 19" descr="diabetes sypmtoms">
            <a:extLst>
              <a:ext uri="{FF2B5EF4-FFF2-40B4-BE49-F238E27FC236}">
                <a16:creationId xmlns:a16="http://schemas.microsoft.com/office/drawing/2014/main" id="{1D55B7EE-D3C7-4CCF-96C7-08335AC460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62746" t="24982" r="15601" b="56264"/>
          <a:stretch>
            <a:fillRect/>
          </a:stretch>
        </p:blipFill>
        <p:spPr bwMode="auto">
          <a:xfrm>
            <a:off x="6553200" y="4800600"/>
            <a:ext cx="1209675"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82" name="Oval 20">
            <a:extLst>
              <a:ext uri="{FF2B5EF4-FFF2-40B4-BE49-F238E27FC236}">
                <a16:creationId xmlns:a16="http://schemas.microsoft.com/office/drawing/2014/main" id="{64B8113B-F008-488C-8A6B-B38FE6D554DE}"/>
              </a:ext>
            </a:extLst>
          </p:cNvPr>
          <p:cNvSpPr>
            <a:spLocks noChangeArrowheads="1"/>
          </p:cNvSpPr>
          <p:nvPr/>
        </p:nvSpPr>
        <p:spPr bwMode="auto">
          <a:xfrm>
            <a:off x="7124700" y="5452110"/>
            <a:ext cx="1676400" cy="754380"/>
          </a:xfrm>
          <a:prstGeom prst="ellipse">
            <a:avLst/>
          </a:prstGeom>
          <a:solidFill>
            <a:schemeClr val="accent6">
              <a:lumMod val="20000"/>
              <a:lumOff val="80000"/>
            </a:schemeClr>
          </a:solidFill>
          <a:ln w="9525">
            <a:solidFill>
              <a:schemeClr val="tx1"/>
            </a:solidFill>
            <a:round/>
            <a:headEnd/>
            <a:tailEnd/>
          </a:ln>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1800">
                <a:solidFill>
                  <a:srgbClr val="FF2F92"/>
                </a:solidFill>
                <a:latin typeface="Arial" panose="020B0604020202020204" pitchFamily="34" charset="0"/>
              </a:rPr>
              <a:t>Wounds that</a:t>
            </a:r>
          </a:p>
          <a:p>
            <a:pPr algn="ctr" eaLnBrk="1" hangingPunct="1"/>
            <a:r>
              <a:rPr lang="en-US" altLang="en-US" sz="1800">
                <a:solidFill>
                  <a:srgbClr val="FF2F92"/>
                </a:solidFill>
                <a:latin typeface="Arial" panose="020B0604020202020204" pitchFamily="34" charset="0"/>
              </a:rPr>
              <a:t>won’t heal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4">
            <a:extLst>
              <a:ext uri="{FF2B5EF4-FFF2-40B4-BE49-F238E27FC236}">
                <a16:creationId xmlns:a16="http://schemas.microsoft.com/office/drawing/2014/main" id="{029BFBD1-8040-490D-8902-D358F187F897}"/>
              </a:ext>
            </a:extLst>
          </p:cNvPr>
          <p:cNvSpPr>
            <a:spLocks noChangeArrowheads="1"/>
          </p:cNvSpPr>
          <p:nvPr/>
        </p:nvSpPr>
        <p:spPr bwMode="auto">
          <a:xfrm>
            <a:off x="304800" y="295120"/>
            <a:ext cx="8229600" cy="703848"/>
          </a:xfrm>
          <a:prstGeom prst="rect">
            <a:avLst/>
          </a:prstGeom>
          <a:solidFill>
            <a:schemeClr val="accent6">
              <a:lumMod val="20000"/>
              <a:lumOff val="80000"/>
            </a:schemeClr>
          </a:solidFill>
          <a:ln>
            <a:noFill/>
          </a:ln>
        </p:spPr>
        <p:txBody>
          <a:bodyPr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4400" dirty="0">
                <a:solidFill>
                  <a:srgbClr val="9437FF"/>
                </a:solidFill>
              </a:rPr>
              <a:t>Diagnosis</a:t>
            </a:r>
          </a:p>
        </p:txBody>
      </p:sp>
      <p:sp>
        <p:nvSpPr>
          <p:cNvPr id="12291" name="Rectangle 5">
            <a:extLst>
              <a:ext uri="{FF2B5EF4-FFF2-40B4-BE49-F238E27FC236}">
                <a16:creationId xmlns:a16="http://schemas.microsoft.com/office/drawing/2014/main" id="{F0D467B3-21D4-4ADD-8F0D-287663CBF4B2}"/>
              </a:ext>
            </a:extLst>
          </p:cNvPr>
          <p:cNvSpPr>
            <a:spLocks noChangeArrowheads="1"/>
          </p:cNvSpPr>
          <p:nvPr/>
        </p:nvSpPr>
        <p:spPr bwMode="auto">
          <a:xfrm>
            <a:off x="304800" y="1114578"/>
            <a:ext cx="4038600" cy="4897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20000"/>
              </a:spcBef>
            </a:pPr>
            <a:r>
              <a:rPr lang="en-US" altLang="en-US" dirty="0"/>
              <a:t>   Diabetes is diagnosed by measuring the blood glucose level during fasting (</a:t>
            </a:r>
            <a:r>
              <a:rPr lang="en-US" altLang="en-US" dirty="0">
                <a:solidFill>
                  <a:schemeClr val="hlink"/>
                </a:solidFill>
              </a:rPr>
              <a:t>Fasting plasma glucose test</a:t>
            </a:r>
            <a:r>
              <a:rPr lang="en-US" altLang="en-US" dirty="0"/>
              <a:t>) or an </a:t>
            </a:r>
            <a:r>
              <a:rPr lang="en-US" altLang="en-US" dirty="0">
                <a:solidFill>
                  <a:schemeClr val="hlink"/>
                </a:solidFill>
              </a:rPr>
              <a:t>oral glucose tolerance test. (OGTT)</a:t>
            </a:r>
            <a:r>
              <a:rPr lang="en-US" altLang="en-US" dirty="0"/>
              <a:t>. </a:t>
            </a:r>
          </a:p>
          <a:p>
            <a:pPr>
              <a:spcBef>
                <a:spcPct val="20000"/>
              </a:spcBef>
            </a:pPr>
            <a:r>
              <a:rPr lang="en-US" altLang="en-US" dirty="0"/>
              <a:t>   Three status associated with diabetes: </a:t>
            </a:r>
            <a:r>
              <a:rPr lang="en-US" altLang="en-US" dirty="0">
                <a:solidFill>
                  <a:schemeClr val="hlink"/>
                </a:solidFill>
              </a:rPr>
              <a:t>people who are not diabetic</a:t>
            </a:r>
            <a:r>
              <a:rPr lang="en-US" altLang="en-US" dirty="0"/>
              <a:t>; </a:t>
            </a:r>
            <a:r>
              <a:rPr lang="en-US" altLang="en-US" dirty="0">
                <a:solidFill>
                  <a:schemeClr val="hlink"/>
                </a:solidFill>
              </a:rPr>
              <a:t>those with Impaired Glucose Tolerance (IGT);</a:t>
            </a:r>
            <a:r>
              <a:rPr lang="en-US" altLang="en-US" dirty="0"/>
              <a:t> and </a:t>
            </a:r>
            <a:r>
              <a:rPr lang="en-US" altLang="en-US" dirty="0">
                <a:solidFill>
                  <a:schemeClr val="hlink"/>
                </a:solidFill>
              </a:rPr>
              <a:t>those with diabetes.</a:t>
            </a:r>
          </a:p>
        </p:txBody>
      </p:sp>
      <p:graphicFrame>
        <p:nvGraphicFramePr>
          <p:cNvPr id="9244" name="Group 28">
            <a:extLst>
              <a:ext uri="{FF2B5EF4-FFF2-40B4-BE49-F238E27FC236}">
                <a16:creationId xmlns:a16="http://schemas.microsoft.com/office/drawing/2014/main" id="{439B3A75-1195-4719-9F5C-03C6E7DDEAB6}"/>
              </a:ext>
            </a:extLst>
          </p:cNvPr>
          <p:cNvGraphicFramePr>
            <a:graphicFrameLocks noGrp="1"/>
          </p:cNvGraphicFramePr>
          <p:nvPr/>
        </p:nvGraphicFramePr>
        <p:xfrm>
          <a:off x="4572000" y="1865313"/>
          <a:ext cx="4305300" cy="3529514"/>
        </p:xfrm>
        <a:graphic>
          <a:graphicData uri="http://schemas.openxmlformats.org/drawingml/2006/table">
            <a:tbl>
              <a:tblPr/>
              <a:tblGrid>
                <a:gridCol w="1523414">
                  <a:extLst>
                    <a:ext uri="{9D8B030D-6E8A-4147-A177-3AD203B41FA5}">
                      <a16:colId xmlns:a16="http://schemas.microsoft.com/office/drawing/2014/main" val="20000"/>
                    </a:ext>
                  </a:extLst>
                </a:gridCol>
                <a:gridCol w="1192237">
                  <a:extLst>
                    <a:ext uri="{9D8B030D-6E8A-4147-A177-3AD203B41FA5}">
                      <a16:colId xmlns:a16="http://schemas.microsoft.com/office/drawing/2014/main" val="20001"/>
                    </a:ext>
                  </a:extLst>
                </a:gridCol>
                <a:gridCol w="1589649">
                  <a:extLst>
                    <a:ext uri="{9D8B030D-6E8A-4147-A177-3AD203B41FA5}">
                      <a16:colId xmlns:a16="http://schemas.microsoft.com/office/drawing/2014/main" val="20002"/>
                    </a:ext>
                  </a:extLst>
                </a:gridCol>
              </a:tblGrid>
              <a:tr h="822826">
                <a:tc rowSpan="2">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400" b="0" i="0" u="none" strike="noStrike" cap="none" normalizeH="0" baseline="0" dirty="0">
                        <a:ln>
                          <a:noFill/>
                        </a:ln>
                        <a:solidFill>
                          <a:srgbClr val="000000"/>
                        </a:solidFill>
                        <a:effectLst/>
                        <a:latin typeface="Times New Roman" pitchFamily="18" charset="0"/>
                      </a:endParaRP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400" b="0" i="0" u="none" strike="noStrike" cap="none" normalizeH="0" baseline="0" dirty="0">
                          <a:ln>
                            <a:noFill/>
                          </a:ln>
                          <a:solidFill>
                            <a:srgbClr val="000000"/>
                          </a:solidFill>
                          <a:effectLst/>
                          <a:latin typeface="Times New Roman" pitchFamily="18" charset="0"/>
                        </a:rPr>
                        <a:t>Category</a:t>
                      </a:r>
                    </a:p>
                  </a:txBody>
                  <a:tcPr marT="45713" marB="4571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FF"/>
                    </a:solidFill>
                  </a:tcPr>
                </a:tc>
                <a:tc gridSpan="2">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400" b="0" i="0" u="none" strike="noStrike" cap="none" normalizeH="0" baseline="0" dirty="0">
                          <a:ln>
                            <a:noFill/>
                          </a:ln>
                          <a:solidFill>
                            <a:srgbClr val="000000"/>
                          </a:solidFill>
                          <a:effectLst/>
                          <a:latin typeface="Times New Roman" pitchFamily="18" charset="0"/>
                        </a:rPr>
                        <a:t>Blood Glucose (mg/</a:t>
                      </a:r>
                      <a:r>
                        <a:rPr kumimoji="0" lang="en-US" sz="2400" b="0" i="0" u="none" strike="noStrike" cap="none" normalizeH="0" baseline="0" dirty="0" err="1">
                          <a:ln>
                            <a:noFill/>
                          </a:ln>
                          <a:solidFill>
                            <a:srgbClr val="000000"/>
                          </a:solidFill>
                          <a:effectLst/>
                          <a:latin typeface="Times New Roman" pitchFamily="18" charset="0"/>
                        </a:rPr>
                        <a:t>dL</a:t>
                      </a:r>
                      <a:r>
                        <a:rPr kumimoji="0" lang="en-US" sz="2400" b="0" i="0" u="none" strike="noStrike" cap="none" normalizeH="0" baseline="0" dirty="0">
                          <a:ln>
                            <a:noFill/>
                          </a:ln>
                          <a:solidFill>
                            <a:srgbClr val="000000"/>
                          </a:solidFill>
                          <a:effectLst/>
                          <a:latin typeface="Times New Roman" pitchFamily="18" charset="0"/>
                        </a:rPr>
                        <a:t>)</a:t>
                      </a:r>
                    </a:p>
                  </a:txBody>
                  <a:tcPr marT="45713" marB="4571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FF"/>
                    </a:solidFill>
                  </a:tcPr>
                </a:tc>
                <a:tc hMerge="1">
                  <a:txBody>
                    <a:bodyPr/>
                    <a:lstStyle/>
                    <a:p>
                      <a:endParaRPr lang="en-US"/>
                    </a:p>
                  </a:txBody>
                  <a:tcPr/>
                </a:tc>
                <a:extLst>
                  <a:ext uri="{0D108BD9-81ED-4DB2-BD59-A6C34878D82A}">
                    <a16:rowId xmlns:a16="http://schemas.microsoft.com/office/drawing/2014/main" val="10000"/>
                  </a:ext>
                </a:extLst>
              </a:tr>
              <a:tr h="457127">
                <a:tc v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400" b="0" i="0" u="none" strike="noStrike" cap="none" normalizeH="0" baseline="0">
                          <a:ln>
                            <a:noFill/>
                          </a:ln>
                          <a:solidFill>
                            <a:srgbClr val="000000"/>
                          </a:solidFill>
                          <a:effectLst/>
                          <a:latin typeface="Times New Roman" pitchFamily="18" charset="0"/>
                        </a:rPr>
                        <a:t>Fasting</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FF"/>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400" b="0" i="0" u="none" strike="noStrike" cap="none" normalizeH="0" baseline="0">
                          <a:ln>
                            <a:noFill/>
                          </a:ln>
                          <a:solidFill>
                            <a:srgbClr val="000000"/>
                          </a:solidFill>
                          <a:effectLst/>
                          <a:latin typeface="Times New Roman" pitchFamily="18" charset="0"/>
                        </a:rPr>
                        <a:t>After meal</a:t>
                      </a:r>
                    </a:p>
                  </a:txBody>
                  <a:tcPr marT="45713" marB="4571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FF"/>
                    </a:solidFill>
                  </a:tcPr>
                </a:tc>
                <a:extLst>
                  <a:ext uri="{0D108BD9-81ED-4DB2-BD59-A6C34878D82A}">
                    <a16:rowId xmlns:a16="http://schemas.microsoft.com/office/drawing/2014/main" val="10001"/>
                  </a:ext>
                </a:extLst>
              </a:tr>
              <a:tr h="457127">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400" b="0" i="0" u="none" strike="noStrike" cap="none" normalizeH="0" baseline="0">
                          <a:ln>
                            <a:noFill/>
                          </a:ln>
                          <a:solidFill>
                            <a:srgbClr val="000000"/>
                          </a:solidFill>
                          <a:effectLst/>
                          <a:latin typeface="Times New Roman" pitchFamily="18" charset="0"/>
                        </a:rPr>
                        <a:t>Normal</a:t>
                      </a:r>
                    </a:p>
                  </a:txBody>
                  <a:tcPr marT="45713" marB="4571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FF"/>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400" b="0" i="0" u="none" strike="noStrike" cap="none" normalizeH="0" baseline="0">
                          <a:ln>
                            <a:noFill/>
                          </a:ln>
                          <a:solidFill>
                            <a:srgbClr val="000000"/>
                          </a:solidFill>
                          <a:effectLst/>
                          <a:latin typeface="Times New Roman" pitchFamily="18" charset="0"/>
                        </a:rPr>
                        <a:t>&lt;115</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FF"/>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400" b="0" i="0" u="none" strike="noStrike" cap="none" normalizeH="0" baseline="0">
                          <a:ln>
                            <a:noFill/>
                          </a:ln>
                          <a:solidFill>
                            <a:srgbClr val="000000"/>
                          </a:solidFill>
                          <a:effectLst/>
                          <a:latin typeface="Times New Roman" pitchFamily="18" charset="0"/>
                        </a:rPr>
                        <a:t>&lt;140</a:t>
                      </a:r>
                    </a:p>
                  </a:txBody>
                  <a:tcPr marT="45713" marB="4571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FF"/>
                    </a:solidFill>
                  </a:tcPr>
                </a:tc>
                <a:extLst>
                  <a:ext uri="{0D108BD9-81ED-4DB2-BD59-A6C34878D82A}">
                    <a16:rowId xmlns:a16="http://schemas.microsoft.com/office/drawing/2014/main" val="10002"/>
                  </a:ext>
                </a:extLst>
              </a:tr>
              <a:tr h="457127">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400" b="0" i="0" u="none" strike="noStrike" cap="none" normalizeH="0" baseline="0">
                          <a:ln>
                            <a:noFill/>
                          </a:ln>
                          <a:solidFill>
                            <a:srgbClr val="000000"/>
                          </a:solidFill>
                          <a:effectLst/>
                          <a:latin typeface="Times New Roman" pitchFamily="18" charset="0"/>
                        </a:rPr>
                        <a:t>Diabetic</a:t>
                      </a:r>
                    </a:p>
                  </a:txBody>
                  <a:tcPr marT="45713" marB="4571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FF"/>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400" b="0" i="0" u="none" strike="noStrike" cap="none" normalizeH="0" baseline="0">
                          <a:ln>
                            <a:noFill/>
                          </a:ln>
                          <a:solidFill>
                            <a:srgbClr val="000000"/>
                          </a:solidFill>
                          <a:effectLst/>
                          <a:latin typeface="Times New Roman" pitchFamily="18" charset="0"/>
                        </a:rPr>
                        <a:t>&gt;140</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FF"/>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400" b="0" i="0" u="none" strike="noStrike" cap="none" normalizeH="0" baseline="0">
                          <a:ln>
                            <a:noFill/>
                          </a:ln>
                          <a:solidFill>
                            <a:srgbClr val="000000"/>
                          </a:solidFill>
                          <a:effectLst/>
                          <a:latin typeface="Times New Roman" pitchFamily="18" charset="0"/>
                        </a:rPr>
                        <a:t>&gt;200</a:t>
                      </a:r>
                    </a:p>
                  </a:txBody>
                  <a:tcPr marT="45713" marB="4571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00FF"/>
                    </a:solidFill>
                  </a:tcPr>
                </a:tc>
                <a:extLst>
                  <a:ext uri="{0D108BD9-81ED-4DB2-BD59-A6C34878D82A}">
                    <a16:rowId xmlns:a16="http://schemas.microsoft.com/office/drawing/2014/main" val="10003"/>
                  </a:ext>
                </a:extLst>
              </a:tr>
              <a:tr h="1334806">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400" b="0" i="0" u="none" strike="noStrike" cap="none" normalizeH="0" baseline="0">
                          <a:ln>
                            <a:noFill/>
                          </a:ln>
                          <a:solidFill>
                            <a:srgbClr val="000000"/>
                          </a:solidFill>
                          <a:effectLst/>
                          <a:latin typeface="Times New Roman" pitchFamily="18" charset="0"/>
                        </a:rPr>
                        <a:t>Impaired</a:t>
                      </a: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400" b="0" i="0" u="none" strike="noStrike" cap="none" normalizeH="0" baseline="0">
                          <a:ln>
                            <a:noFill/>
                          </a:ln>
                          <a:solidFill>
                            <a:srgbClr val="000000"/>
                          </a:solidFill>
                          <a:effectLst/>
                          <a:latin typeface="Times New Roman" pitchFamily="18" charset="0"/>
                        </a:rPr>
                        <a:t>Glucose</a:t>
                      </a: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400" b="0" i="0" u="none" strike="noStrike" cap="none" normalizeH="0" baseline="0">
                          <a:ln>
                            <a:noFill/>
                          </a:ln>
                          <a:solidFill>
                            <a:srgbClr val="000000"/>
                          </a:solidFill>
                          <a:effectLst/>
                          <a:latin typeface="Times New Roman" pitchFamily="18" charset="0"/>
                        </a:rPr>
                        <a:t>Tolerance</a:t>
                      </a:r>
                    </a:p>
                  </a:txBody>
                  <a:tcPr marT="45713" marB="4571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00FF"/>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400" b="0" i="0" u="none" strike="noStrike" cap="none" normalizeH="0" baseline="0">
                        <a:ln>
                          <a:noFill/>
                        </a:ln>
                        <a:solidFill>
                          <a:srgbClr val="000000"/>
                        </a:solidFill>
                        <a:effectLst/>
                        <a:latin typeface="Times New Roman" pitchFamily="18" charset="0"/>
                      </a:endParaRP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400" b="0" i="0" u="none" strike="noStrike" cap="none" normalizeH="0" baseline="0">
                          <a:ln>
                            <a:noFill/>
                          </a:ln>
                          <a:solidFill>
                            <a:srgbClr val="000000"/>
                          </a:solidFill>
                          <a:effectLst/>
                          <a:latin typeface="Times New Roman" pitchFamily="18" charset="0"/>
                        </a:rPr>
                        <a:t>&lt;140</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00FF"/>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400" b="0" i="0" u="none" strike="noStrike" cap="none" normalizeH="0" baseline="0" dirty="0">
                        <a:ln>
                          <a:noFill/>
                        </a:ln>
                        <a:solidFill>
                          <a:srgbClr val="000000"/>
                        </a:solidFill>
                        <a:effectLst/>
                        <a:latin typeface="Times New Roman" pitchFamily="18" charset="0"/>
                      </a:endParaRP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400" b="0" i="0" u="none" strike="noStrike" cap="none" normalizeH="0" baseline="0" dirty="0">
                          <a:ln>
                            <a:noFill/>
                          </a:ln>
                          <a:solidFill>
                            <a:srgbClr val="000000"/>
                          </a:solidFill>
                          <a:effectLst/>
                          <a:latin typeface="Times New Roman" pitchFamily="18" charset="0"/>
                        </a:rPr>
                        <a:t>140-199</a:t>
                      </a:r>
                    </a:p>
                  </a:txBody>
                  <a:tcPr marT="45713" marB="4571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00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ctrTitle"/>
          </p:nvPr>
        </p:nvSpPr>
        <p:spPr>
          <a:xfrm>
            <a:off x="685800" y="319087"/>
            <a:ext cx="7772400" cy="576779"/>
          </a:xfrm>
        </p:spPr>
        <p:txBody>
          <a:bodyPr>
            <a:noAutofit/>
          </a:bodyPr>
          <a:lstStyle/>
          <a:p>
            <a:r>
              <a:rPr lang="en-US" altLang="en-US" sz="3600" dirty="0"/>
              <a:t>Good News for Type 1 Diabetes</a:t>
            </a:r>
          </a:p>
        </p:txBody>
      </p:sp>
      <p:sp>
        <p:nvSpPr>
          <p:cNvPr id="70659" name="Rectangle 3"/>
          <p:cNvSpPr>
            <a:spLocks noGrp="1" noChangeArrowheads="1"/>
          </p:cNvSpPr>
          <p:nvPr>
            <p:ph type="subTitle" idx="1"/>
          </p:nvPr>
        </p:nvSpPr>
        <p:spPr bwMode="auto">
          <a:xfrm>
            <a:off x="703193" y="1210142"/>
            <a:ext cx="8308285" cy="576779"/>
          </a:xfrm>
          <a:solidFill>
            <a:schemeClr val="accent6">
              <a:lumMod val="20000"/>
              <a:lumOff val="80000"/>
            </a:schemeClr>
          </a:solidFill>
        </p:spPr>
        <p:txBody>
          <a:bodyPr wrap="square" numCol="1" anchor="t" anchorCtr="0" compatLnSpc="1">
            <a:prstTxWarp prst="textNoShape">
              <a:avLst/>
            </a:prstTxWarp>
            <a:noAutofit/>
          </a:bodyPr>
          <a:lstStyle/>
          <a:p>
            <a:pPr algn="l"/>
            <a:r>
              <a:rPr lang="en-US" altLang="en-US" sz="2800" dirty="0">
                <a:solidFill>
                  <a:srgbClr val="FF00FF"/>
                </a:solidFill>
              </a:rPr>
              <a:t>Nephropathy                  Neuropathy              Retinopathy</a:t>
            </a:r>
          </a:p>
        </p:txBody>
      </p:sp>
      <p:pic>
        <p:nvPicPr>
          <p:cNvPr id="70660" name="Picture 4"/>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4639" t="21836" r="7499" b="12850"/>
          <a:stretch/>
        </p:blipFill>
        <p:spPr bwMode="auto">
          <a:xfrm>
            <a:off x="840270" y="2059679"/>
            <a:ext cx="8034130" cy="4479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p:cNvSpPr>
            <a:spLocks noGrp="1"/>
          </p:cNvSpPr>
          <p:nvPr>
            <p:ph type="sldNum" sz="quarter" idx="12"/>
          </p:nvPr>
        </p:nvSpPr>
        <p:spPr/>
        <p:txBody>
          <a:bodyPr/>
          <a:lstStyle/>
          <a:p>
            <a:fld id="{24692594-9571-400C-AFC9-4934A70373E4}" type="slidenum">
              <a:rPr lang="en-US" smtClean="0"/>
              <a:pPr/>
              <a:t>13</a:t>
            </a:fld>
            <a:endParaRPr lang="en-US"/>
          </a:p>
        </p:txBody>
      </p:sp>
    </p:spTree>
    <p:extLst>
      <p:ext uri="{BB962C8B-B14F-4D97-AF65-F5344CB8AC3E}">
        <p14:creationId xmlns:p14="http://schemas.microsoft.com/office/powerpoint/2010/main" val="3507040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70660"/>
                                        </p:tgtEl>
                                        <p:attrNameLst>
                                          <p:attrName>style.visibility</p:attrName>
                                        </p:attrNameLst>
                                      </p:cBhvr>
                                      <p:to>
                                        <p:strVal val="visible"/>
                                      </p:to>
                                    </p:set>
                                    <p:animEffect transition="in" filter="circle(in)">
                                      <p:cBhvr>
                                        <p:cTn id="7" dur="2000"/>
                                        <p:tgtEl>
                                          <p:spTgt spid="706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WordArt 4">
            <a:extLst>
              <a:ext uri="{FF2B5EF4-FFF2-40B4-BE49-F238E27FC236}">
                <a16:creationId xmlns:a16="http://schemas.microsoft.com/office/drawing/2014/main" id="{D1986F42-24EC-4BCB-B006-C7B68C94DCB6}"/>
              </a:ext>
            </a:extLst>
          </p:cNvPr>
          <p:cNvSpPr>
            <a:spLocks noChangeArrowheads="1" noChangeShapeType="1" noTextEdit="1"/>
          </p:cNvSpPr>
          <p:nvPr/>
        </p:nvSpPr>
        <p:spPr bwMode="auto">
          <a:xfrm>
            <a:off x="2046412" y="2597414"/>
            <a:ext cx="5051176" cy="583345"/>
          </a:xfrm>
          <a:prstGeom prst="rect">
            <a:avLst/>
          </a:prstGeom>
          <a:solidFill>
            <a:schemeClr val="accent6">
              <a:lumMod val="20000"/>
              <a:lumOff val="80000"/>
            </a:schemeClr>
          </a:solidFill>
        </p:spPr>
        <p:txBody>
          <a:bodyPr wrap="none" fromWordArt="1">
            <a:prstTxWarp prst="textPlain">
              <a:avLst>
                <a:gd name="adj" fmla="val 50000"/>
              </a:avLst>
            </a:prstTxWarp>
          </a:bodyPr>
          <a:lstStyle/>
          <a:p>
            <a:pPr algn="ctr"/>
            <a:r>
              <a:rPr lang="en-MY" sz="3600" kern="10" dirty="0">
                <a:ln w="12700">
                  <a:solidFill>
                    <a:srgbClr val="3333CC"/>
                  </a:solidFill>
                  <a:round/>
                  <a:headEnd/>
                  <a:tailEnd/>
                </a:ln>
                <a:solidFill>
                  <a:srgbClr val="B2B2B2">
                    <a:alpha val="50195"/>
                  </a:srgbClr>
                </a:solidFill>
                <a:effectLst>
                  <a:outerShdw dist="45791" dir="2021404" algn="ctr" rotWithShape="0">
                    <a:srgbClr val="9999FF"/>
                  </a:outerShdw>
                </a:effectLst>
                <a:latin typeface="Arial Black" panose="020B0A04020102020204" pitchFamily="34" charset="0"/>
              </a:rPr>
              <a:t>Lipid profile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4">
            <a:extLst>
              <a:ext uri="{FF2B5EF4-FFF2-40B4-BE49-F238E27FC236}">
                <a16:creationId xmlns:a16="http://schemas.microsoft.com/office/drawing/2014/main" id="{35574F75-7FE7-45DF-B2B0-F2A5FD66AD1E}"/>
              </a:ext>
            </a:extLst>
          </p:cNvPr>
          <p:cNvSpPr>
            <a:spLocks noChangeArrowheads="1"/>
          </p:cNvSpPr>
          <p:nvPr/>
        </p:nvSpPr>
        <p:spPr bwMode="auto">
          <a:xfrm>
            <a:off x="511702" y="1063070"/>
            <a:ext cx="8331356" cy="341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dirty="0"/>
              <a:t>A </a:t>
            </a:r>
            <a:r>
              <a:rPr lang="en-GB" dirty="0">
                <a:solidFill>
                  <a:srgbClr val="FF00FF"/>
                </a:solidFill>
              </a:rPr>
              <a:t>lipid profile or lipid panel </a:t>
            </a:r>
            <a:r>
              <a:rPr lang="en-GB" dirty="0"/>
              <a:t>is a panel of blood tests used to find </a:t>
            </a:r>
            <a:r>
              <a:rPr lang="en-GB" dirty="0">
                <a:solidFill>
                  <a:srgbClr val="0432FF"/>
                </a:solidFill>
              </a:rPr>
              <a:t>abnormalities in blood lipid </a:t>
            </a:r>
            <a:r>
              <a:rPr lang="en-GB" dirty="0"/>
              <a:t>( such as cholesterol and triglycerides) concentrations. </a:t>
            </a:r>
            <a:r>
              <a:rPr lang="en-US" altLang="en-US" dirty="0"/>
              <a:t>The lipid profile is a group of tests that are often ordered together to determine risk of </a:t>
            </a:r>
            <a:r>
              <a:rPr lang="en-US" altLang="en-US" u="sng" dirty="0"/>
              <a:t>coronary heart disease</a:t>
            </a:r>
            <a:r>
              <a:rPr lang="en-US" altLang="en-US" dirty="0"/>
              <a:t>. The tests that make up a lipid profile are tests that have been shown to be good indicators of whether someone is </a:t>
            </a:r>
            <a:r>
              <a:rPr lang="en-US" altLang="en-US" b="1" dirty="0"/>
              <a:t>likely to have a heart attack or stroke </a:t>
            </a:r>
            <a:r>
              <a:rPr lang="en-US" altLang="en-US" dirty="0"/>
              <a:t>caused by blockage of blood vessels  </a:t>
            </a:r>
            <a:r>
              <a:rPr lang="en-US" altLang="en-US" dirty="0">
                <a:solidFill>
                  <a:srgbClr val="9437FF"/>
                </a:solidFill>
              </a:rPr>
              <a:t>(hardening of the arteries), </a:t>
            </a:r>
            <a:r>
              <a:rPr lang="en-GB" dirty="0"/>
              <a:t>can </a:t>
            </a:r>
            <a:r>
              <a:rPr lang="en-GB" dirty="0">
                <a:solidFill>
                  <a:srgbClr val="FF00FF"/>
                </a:solidFill>
              </a:rPr>
              <a:t>identify certain genetic diseases</a:t>
            </a:r>
            <a:r>
              <a:rPr lang="en-GB" dirty="0"/>
              <a:t>, certain forms of </a:t>
            </a:r>
            <a:r>
              <a:rPr lang="en-GB" dirty="0">
                <a:solidFill>
                  <a:srgbClr val="FF2F92"/>
                </a:solidFill>
              </a:rPr>
              <a:t>pancreatitis</a:t>
            </a:r>
            <a:r>
              <a:rPr lang="en-GB" dirty="0"/>
              <a:t>, and </a:t>
            </a:r>
            <a:r>
              <a:rPr lang="en-GB" b="1" dirty="0"/>
              <a:t>other diseases</a:t>
            </a:r>
            <a:r>
              <a:rPr lang="en-GB" dirty="0"/>
              <a:t>.</a:t>
            </a:r>
            <a:endParaRPr lang="en-US" altLang="en-US" dirty="0">
              <a:solidFill>
                <a:srgbClr val="9437FF"/>
              </a:solidFill>
            </a:endParaRPr>
          </a:p>
        </p:txBody>
      </p:sp>
      <p:sp>
        <p:nvSpPr>
          <p:cNvPr id="4" name="TextBox 3">
            <a:extLst>
              <a:ext uri="{FF2B5EF4-FFF2-40B4-BE49-F238E27FC236}">
                <a16:creationId xmlns:a16="http://schemas.microsoft.com/office/drawing/2014/main" id="{029D2AD9-06A5-D949-9B7B-500F9F0AC9F3}"/>
              </a:ext>
            </a:extLst>
          </p:cNvPr>
          <p:cNvSpPr txBox="1"/>
          <p:nvPr/>
        </p:nvSpPr>
        <p:spPr>
          <a:xfrm>
            <a:off x="511702" y="310452"/>
            <a:ext cx="8099577" cy="523220"/>
          </a:xfrm>
          <a:prstGeom prst="rect">
            <a:avLst/>
          </a:prstGeom>
          <a:solidFill>
            <a:schemeClr val="accent6">
              <a:lumMod val="20000"/>
              <a:lumOff val="80000"/>
            </a:schemeClr>
          </a:solidFill>
        </p:spPr>
        <p:txBody>
          <a:bodyPr wrap="square">
            <a:spAutoFit/>
          </a:bodyPr>
          <a:lstStyle/>
          <a:p>
            <a:pPr algn="ctr"/>
            <a:r>
              <a:rPr lang="en-US" altLang="en-US" sz="2800" b="1" dirty="0">
                <a:solidFill>
                  <a:srgbClr val="9437FF"/>
                </a:solidFill>
              </a:rPr>
              <a:t>What is a lipid profile?</a:t>
            </a:r>
            <a:r>
              <a:rPr lang="en-US" altLang="en-US" b="1" dirty="0">
                <a:solidFill>
                  <a:srgbClr val="9437FF"/>
                </a:solidFill>
              </a:rPr>
              <a:t> </a:t>
            </a:r>
          </a:p>
        </p:txBody>
      </p:sp>
      <p:sp>
        <p:nvSpPr>
          <p:cNvPr id="8" name="TextBox 7">
            <a:extLst>
              <a:ext uri="{FF2B5EF4-FFF2-40B4-BE49-F238E27FC236}">
                <a16:creationId xmlns:a16="http://schemas.microsoft.com/office/drawing/2014/main" id="{18554FBF-1E86-C54F-B414-4EA9A75546E1}"/>
              </a:ext>
            </a:extLst>
          </p:cNvPr>
          <p:cNvSpPr txBox="1"/>
          <p:nvPr/>
        </p:nvSpPr>
        <p:spPr>
          <a:xfrm>
            <a:off x="511703" y="4708788"/>
            <a:ext cx="8099576" cy="830997"/>
          </a:xfrm>
          <a:prstGeom prst="rect">
            <a:avLst/>
          </a:prstGeom>
          <a:noFill/>
        </p:spPr>
        <p:txBody>
          <a:bodyPr wrap="square">
            <a:spAutoFit/>
          </a:bodyPr>
          <a:lstStyle/>
          <a:p>
            <a:r>
              <a:rPr lang="en-US" altLang="en-US" dirty="0"/>
              <a:t>looking for information about the amounts of </a:t>
            </a:r>
            <a:r>
              <a:rPr lang="en-US" altLang="en-US" u="sng" dirty="0"/>
              <a:t>four types of fats</a:t>
            </a:r>
            <a:r>
              <a:rPr lang="en-US" altLang="en-US" dirty="0"/>
              <a:t> in the blood. </a:t>
            </a:r>
            <a:endParaRPr lang="en-BD"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6386" name="Rectangle 4">
            <a:extLst>
              <a:ext uri="{FF2B5EF4-FFF2-40B4-BE49-F238E27FC236}">
                <a16:creationId xmlns:a16="http://schemas.microsoft.com/office/drawing/2014/main" id="{2988CD3D-6879-41E7-A5EE-BBF38A21F7B8}"/>
              </a:ext>
            </a:extLst>
          </p:cNvPr>
          <p:cNvSpPr>
            <a:spLocks noChangeArrowheads="1"/>
          </p:cNvSpPr>
          <p:nvPr/>
        </p:nvSpPr>
        <p:spPr bwMode="auto">
          <a:xfrm>
            <a:off x="185195" y="281650"/>
            <a:ext cx="8796759" cy="4647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2800" b="1" dirty="0">
                <a:solidFill>
                  <a:srgbClr val="FF3300"/>
                </a:solidFill>
              </a:rPr>
              <a:t>What tests are included in a lipid profile? </a:t>
            </a:r>
          </a:p>
          <a:p>
            <a:endParaRPr lang="en-US" altLang="en-US" sz="2800" dirty="0">
              <a:solidFill>
                <a:srgbClr val="FF3300"/>
              </a:solidFill>
            </a:endParaRPr>
          </a:p>
          <a:p>
            <a:r>
              <a:rPr lang="en-US" altLang="en-US" dirty="0"/>
              <a:t>The lipid profile includes: </a:t>
            </a:r>
          </a:p>
          <a:p>
            <a:r>
              <a:rPr lang="en-US" altLang="en-US" b="1" u="sng" dirty="0"/>
              <a:t>Total cholesterol</a:t>
            </a:r>
            <a:r>
              <a:rPr lang="en-US" altLang="en-US" dirty="0"/>
              <a:t>, </a:t>
            </a:r>
          </a:p>
          <a:p>
            <a:r>
              <a:rPr lang="en-US" altLang="en-US" b="1" u="sng" dirty="0"/>
              <a:t>HDL-cholesterol</a:t>
            </a:r>
            <a:r>
              <a:rPr lang="en-US" altLang="en-US" dirty="0"/>
              <a:t> (often called good cholesterol), </a:t>
            </a:r>
          </a:p>
          <a:p>
            <a:r>
              <a:rPr lang="en-US" altLang="en-US" b="1" u="sng" dirty="0"/>
              <a:t>LDL-cholesterol</a:t>
            </a:r>
            <a:r>
              <a:rPr lang="en-US" altLang="en-US" dirty="0"/>
              <a:t> (often called bad cholesterol),</a:t>
            </a:r>
          </a:p>
          <a:p>
            <a:r>
              <a:rPr lang="en-US" altLang="en-US" b="1" dirty="0">
                <a:solidFill>
                  <a:schemeClr val="bg1">
                    <a:lumMod val="50000"/>
                  </a:schemeClr>
                </a:solidFill>
              </a:rPr>
              <a:t>VLDL-cholesterol</a:t>
            </a:r>
            <a:r>
              <a:rPr lang="en-US" altLang="en-US" dirty="0"/>
              <a:t> (</a:t>
            </a:r>
            <a:r>
              <a:rPr lang="en-GB" b="0" i="0" dirty="0">
                <a:solidFill>
                  <a:srgbClr val="0D0D0D"/>
                </a:solidFill>
                <a:effectLst/>
                <a:latin typeface="Söhne"/>
              </a:rPr>
              <a:t>This type of cholesterol carries triglycerides</a:t>
            </a:r>
            <a:r>
              <a:rPr lang="en-US" altLang="en-US" dirty="0"/>
              <a:t>) and </a:t>
            </a:r>
          </a:p>
          <a:p>
            <a:r>
              <a:rPr lang="en-US" altLang="en-US" b="1" u="sng" dirty="0"/>
              <a:t>Triglycerides (TG)</a:t>
            </a:r>
            <a:r>
              <a:rPr lang="en-US" altLang="en-US" dirty="0"/>
              <a:t>. </a:t>
            </a:r>
          </a:p>
          <a:p>
            <a:endParaRPr lang="en-US" altLang="en-US" dirty="0"/>
          </a:p>
          <a:p>
            <a:r>
              <a:rPr lang="en-US" altLang="en-US" dirty="0"/>
              <a:t>Sometimes the report will include additional calculated values such as the </a:t>
            </a:r>
            <a:r>
              <a:rPr lang="en-US" altLang="en-US" dirty="0" err="1"/>
              <a:t>Cholesterol:HDL</a:t>
            </a:r>
            <a:r>
              <a:rPr lang="en-US" altLang="en-US" dirty="0"/>
              <a:t> ratio or a risk score based on lipid profile results, age, sex, and other risk factors.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1EB016F-30EE-8A4C-8459-7037CC3C3294}"/>
              </a:ext>
            </a:extLst>
          </p:cNvPr>
          <p:cNvSpPr txBox="1"/>
          <p:nvPr/>
        </p:nvSpPr>
        <p:spPr>
          <a:xfrm>
            <a:off x="312516" y="254645"/>
            <a:ext cx="8518967" cy="6186309"/>
          </a:xfrm>
          <a:prstGeom prst="rect">
            <a:avLst/>
          </a:prstGeom>
          <a:noFill/>
        </p:spPr>
        <p:txBody>
          <a:bodyPr wrap="square">
            <a:spAutoFit/>
          </a:bodyPr>
          <a:lstStyle/>
          <a:p>
            <a:pPr algn="ctr"/>
            <a:r>
              <a:rPr lang="en-GB" sz="2200" b="0" i="0" dirty="0">
                <a:solidFill>
                  <a:srgbClr val="0432FF"/>
                </a:solidFill>
                <a:effectLst/>
                <a:latin typeface="Calibri" panose="020F0502020204030204" pitchFamily="34" charset="0"/>
                <a:cs typeface="Calibri" panose="020F0502020204030204" pitchFamily="34" charset="0"/>
              </a:rPr>
              <a:t>A lipid panel measures </a:t>
            </a:r>
            <a:r>
              <a:rPr lang="en-GB" sz="2200" b="1" i="0" dirty="0">
                <a:solidFill>
                  <a:srgbClr val="0432FF"/>
                </a:solidFill>
                <a:effectLst/>
                <a:latin typeface="Calibri" panose="020F0502020204030204" pitchFamily="34" charset="0"/>
                <a:cs typeface="Calibri" panose="020F0502020204030204" pitchFamily="34" charset="0"/>
              </a:rPr>
              <a:t>five different types </a:t>
            </a:r>
            <a:r>
              <a:rPr lang="en-GB" sz="2200" b="0" i="0" dirty="0">
                <a:solidFill>
                  <a:srgbClr val="0432FF"/>
                </a:solidFill>
                <a:effectLst/>
                <a:latin typeface="Calibri" panose="020F0502020204030204" pitchFamily="34" charset="0"/>
                <a:cs typeface="Calibri" panose="020F0502020204030204" pitchFamily="34" charset="0"/>
              </a:rPr>
              <a:t>of lipids from a blood sample, including:</a:t>
            </a:r>
          </a:p>
          <a:p>
            <a:pPr algn="l">
              <a:buFont typeface="Arial" panose="020B0604020202020204" pitchFamily="34" charset="0"/>
              <a:buChar char="•"/>
            </a:pPr>
            <a:r>
              <a:rPr lang="en-GB" sz="2200" b="1" i="0" dirty="0">
                <a:effectLst/>
                <a:latin typeface="Calibri" panose="020F0502020204030204" pitchFamily="34" charset="0"/>
                <a:cs typeface="Calibri" panose="020F0502020204030204" pitchFamily="34" charset="0"/>
              </a:rPr>
              <a:t>Total cholesterol</a:t>
            </a:r>
            <a:r>
              <a:rPr lang="en-GB" sz="2200" b="0" i="0" dirty="0">
                <a:effectLst/>
                <a:latin typeface="Calibri" panose="020F0502020204030204" pitchFamily="34" charset="0"/>
                <a:cs typeface="Calibri" panose="020F0502020204030204" pitchFamily="34" charset="0"/>
              </a:rPr>
              <a:t>: </a:t>
            </a:r>
            <a:r>
              <a:rPr lang="en-GB" sz="2200" b="0" i="0" dirty="0">
                <a:solidFill>
                  <a:srgbClr val="555555"/>
                </a:solidFill>
                <a:effectLst/>
                <a:latin typeface="Calibri" panose="020F0502020204030204" pitchFamily="34" charset="0"/>
                <a:cs typeface="Calibri" panose="020F0502020204030204" pitchFamily="34" charset="0"/>
              </a:rPr>
              <a:t>This is your overall cholesterol level — the  </a:t>
            </a:r>
          </a:p>
          <a:p>
            <a:pPr algn="l"/>
            <a:r>
              <a:rPr lang="en-GB" sz="2200" dirty="0">
                <a:solidFill>
                  <a:srgbClr val="555555"/>
                </a:solidFill>
                <a:latin typeface="Calibri" panose="020F0502020204030204" pitchFamily="34" charset="0"/>
                <a:cs typeface="Calibri" panose="020F0502020204030204" pitchFamily="34" charset="0"/>
              </a:rPr>
              <a:t>                 </a:t>
            </a:r>
            <a:r>
              <a:rPr lang="en-GB" sz="2200" b="0" i="0" dirty="0">
                <a:solidFill>
                  <a:srgbClr val="555555"/>
                </a:solidFill>
                <a:effectLst/>
                <a:latin typeface="Calibri" panose="020F0502020204030204" pitchFamily="34" charset="0"/>
                <a:cs typeface="Calibri" panose="020F0502020204030204" pitchFamily="34" charset="0"/>
              </a:rPr>
              <a:t>combination of LDL-C, VLDL-C and HDL-C.</a:t>
            </a:r>
          </a:p>
          <a:p>
            <a:pPr algn="l">
              <a:buFont typeface="Arial" panose="020B0604020202020204" pitchFamily="34" charset="0"/>
              <a:buChar char="•"/>
            </a:pPr>
            <a:r>
              <a:rPr lang="en-GB" sz="2200" b="1" i="0" dirty="0">
                <a:effectLst/>
                <a:latin typeface="Calibri" panose="020F0502020204030204" pitchFamily="34" charset="0"/>
                <a:cs typeface="Calibri" panose="020F0502020204030204" pitchFamily="34" charset="0"/>
              </a:rPr>
              <a:t>Low-density lipoprotein (LDL) cholesterol</a:t>
            </a:r>
            <a:r>
              <a:rPr lang="en-GB" sz="2200" b="0" i="0" dirty="0">
                <a:effectLst/>
                <a:latin typeface="Calibri" panose="020F0502020204030204" pitchFamily="34" charset="0"/>
                <a:cs typeface="Calibri" panose="020F0502020204030204" pitchFamily="34" charset="0"/>
              </a:rPr>
              <a:t>: </a:t>
            </a:r>
            <a:r>
              <a:rPr lang="en-GB" sz="2200" b="0" i="0" dirty="0">
                <a:solidFill>
                  <a:srgbClr val="555555"/>
                </a:solidFill>
                <a:effectLst/>
                <a:latin typeface="Calibri" panose="020F0502020204030204" pitchFamily="34" charset="0"/>
                <a:cs typeface="Calibri" panose="020F0502020204030204" pitchFamily="34" charset="0"/>
              </a:rPr>
              <a:t>This is the type of cholesterol that’s known as “bad cholesterol.” It can collect in your blood vessels and increase your risk of cardiovascular disease.</a:t>
            </a:r>
          </a:p>
          <a:p>
            <a:pPr algn="l">
              <a:buFont typeface="Arial" panose="020B0604020202020204" pitchFamily="34" charset="0"/>
              <a:buChar char="•"/>
            </a:pPr>
            <a:r>
              <a:rPr lang="en-GB" sz="2200" b="1" i="0" dirty="0">
                <a:effectLst/>
                <a:latin typeface="Calibri" panose="020F0502020204030204" pitchFamily="34" charset="0"/>
                <a:cs typeface="Calibri" panose="020F0502020204030204" pitchFamily="34" charset="0"/>
              </a:rPr>
              <a:t>Very low-density lipoprotein (VLDL) cholesterol:</a:t>
            </a:r>
            <a:r>
              <a:rPr lang="en-GB" sz="2200" b="0" i="0" dirty="0">
                <a:effectLst/>
                <a:latin typeface="Calibri" panose="020F0502020204030204" pitchFamily="34" charset="0"/>
                <a:cs typeface="Calibri" panose="020F0502020204030204" pitchFamily="34" charset="0"/>
              </a:rPr>
              <a:t> </a:t>
            </a:r>
            <a:r>
              <a:rPr lang="en-GB" sz="2200" b="0" i="0" dirty="0">
                <a:solidFill>
                  <a:srgbClr val="555555"/>
                </a:solidFill>
                <a:effectLst/>
                <a:latin typeface="Calibri" panose="020F0502020204030204" pitchFamily="34" charset="0"/>
                <a:cs typeface="Calibri" panose="020F0502020204030204" pitchFamily="34" charset="0"/>
              </a:rPr>
              <a:t>This is a type of cholesterol </a:t>
            </a:r>
            <a:r>
              <a:rPr lang="en-GB" sz="2200" b="0" i="0" dirty="0">
                <a:effectLst/>
                <a:latin typeface="Calibri" panose="020F0502020204030204" pitchFamily="34" charset="0"/>
                <a:cs typeface="Calibri" panose="020F0502020204030204" pitchFamily="34" charset="0"/>
              </a:rPr>
              <a:t>that’s</a:t>
            </a:r>
            <a:r>
              <a:rPr lang="en-GB" sz="2200" b="0" i="0" dirty="0">
                <a:solidFill>
                  <a:srgbClr val="555555"/>
                </a:solidFill>
                <a:effectLst/>
                <a:latin typeface="Calibri" panose="020F0502020204030204" pitchFamily="34" charset="0"/>
                <a:cs typeface="Calibri" panose="020F0502020204030204" pitchFamily="34" charset="0"/>
              </a:rPr>
              <a:t> usually present in very low amounts when the blood sample is a fasting samples since it’s mostly comes from food you’ve recently eaten. An increase in this type of cholesterol in a fasting sample may be a sign of abnormal lipid metabolism.</a:t>
            </a:r>
          </a:p>
          <a:p>
            <a:pPr algn="l">
              <a:buFont typeface="Arial" panose="020B0604020202020204" pitchFamily="34" charset="0"/>
              <a:buChar char="•"/>
            </a:pPr>
            <a:r>
              <a:rPr lang="en-GB" sz="2200" b="1" i="0" dirty="0">
                <a:effectLst/>
                <a:latin typeface="Calibri" panose="020F0502020204030204" pitchFamily="34" charset="0"/>
                <a:cs typeface="Calibri" panose="020F0502020204030204" pitchFamily="34" charset="0"/>
              </a:rPr>
              <a:t>High-density lipoprotein (HDL) cholesterol</a:t>
            </a:r>
            <a:r>
              <a:rPr lang="en-GB" sz="2200" b="0" i="0" dirty="0">
                <a:effectLst/>
                <a:latin typeface="Calibri" panose="020F0502020204030204" pitchFamily="34" charset="0"/>
                <a:cs typeface="Calibri" panose="020F0502020204030204" pitchFamily="34" charset="0"/>
              </a:rPr>
              <a:t>: </a:t>
            </a:r>
            <a:r>
              <a:rPr lang="en-GB" sz="2200" b="0" i="0" dirty="0">
                <a:solidFill>
                  <a:srgbClr val="555555"/>
                </a:solidFill>
                <a:effectLst/>
                <a:latin typeface="Calibri" panose="020F0502020204030204" pitchFamily="34" charset="0"/>
                <a:cs typeface="Calibri" panose="020F0502020204030204" pitchFamily="34" charset="0"/>
              </a:rPr>
              <a:t>This is the type of cholesterol that’s known as “good cholesterol.” It helps decrease the build-up of LDL in your blood vessels.</a:t>
            </a:r>
          </a:p>
          <a:p>
            <a:pPr algn="l">
              <a:buFont typeface="Arial" panose="020B0604020202020204" pitchFamily="34" charset="0"/>
              <a:buChar char="•"/>
            </a:pPr>
            <a:r>
              <a:rPr lang="en-GB" sz="2200" b="1" i="0" dirty="0">
                <a:effectLst/>
                <a:latin typeface="Calibri" panose="020F0502020204030204" pitchFamily="34" charset="0"/>
                <a:cs typeface="Calibri" panose="020F0502020204030204" pitchFamily="34" charset="0"/>
              </a:rPr>
              <a:t>Triglycerides</a:t>
            </a:r>
            <a:r>
              <a:rPr lang="en-GB" sz="2200" b="0" i="0" dirty="0">
                <a:effectLst/>
                <a:latin typeface="Calibri" panose="020F0502020204030204" pitchFamily="34" charset="0"/>
                <a:cs typeface="Calibri" panose="020F0502020204030204" pitchFamily="34" charset="0"/>
              </a:rPr>
              <a:t>: </a:t>
            </a:r>
            <a:r>
              <a:rPr lang="en-GB" sz="2200" b="0" i="0" dirty="0">
                <a:solidFill>
                  <a:srgbClr val="555555"/>
                </a:solidFill>
                <a:effectLst/>
                <a:latin typeface="Calibri" panose="020F0502020204030204" pitchFamily="34" charset="0"/>
                <a:cs typeface="Calibri" panose="020F0502020204030204" pitchFamily="34" charset="0"/>
              </a:rPr>
              <a:t>This is a type of fat from the food we eat. Excess amounts of triglycerides in your blood are associated with cardiovascular disease and pancreatic inflammation.</a:t>
            </a:r>
            <a:endParaRPr lang="en-BD" sz="22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6035120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410" name="Rectangle 4">
            <a:extLst>
              <a:ext uri="{FF2B5EF4-FFF2-40B4-BE49-F238E27FC236}">
                <a16:creationId xmlns:a16="http://schemas.microsoft.com/office/drawing/2014/main" id="{749B5C7F-3F29-471C-A249-CE18F3478F30}"/>
              </a:ext>
            </a:extLst>
          </p:cNvPr>
          <p:cNvSpPr>
            <a:spLocks noChangeArrowheads="1"/>
          </p:cNvSpPr>
          <p:nvPr/>
        </p:nvSpPr>
        <p:spPr bwMode="auto">
          <a:xfrm>
            <a:off x="381000" y="376897"/>
            <a:ext cx="8382000" cy="34470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2800" b="1" i="1" dirty="0">
                <a:solidFill>
                  <a:srgbClr val="FF3300"/>
                </a:solidFill>
              </a:rPr>
              <a:t>Cholesterol</a:t>
            </a:r>
            <a:r>
              <a:rPr lang="en-US" altLang="en-US" sz="2800" b="1" dirty="0">
                <a:solidFill>
                  <a:srgbClr val="FF3300"/>
                </a:solidFill>
              </a:rPr>
              <a:t> </a:t>
            </a:r>
            <a:r>
              <a:rPr lang="en-US" altLang="en-US" dirty="0"/>
              <a:t>helps the body form hormones, vitamin D and other important substances, but too much of it in the blood can clog and damage the blood vessels. Because it is a fat-like substance that doesn't mix with blood, cholesterol has to combine with proteins to form lipoproteins. Lipoproteins can travel in the blood to all the organs and tissues of the body. </a:t>
            </a:r>
          </a:p>
          <a:p>
            <a:endParaRPr lang="en-US" altLang="en-US" sz="1600" b="1" dirty="0"/>
          </a:p>
          <a:p>
            <a:r>
              <a:rPr lang="en-US" altLang="en-US" sz="2800" b="1" i="1" dirty="0">
                <a:solidFill>
                  <a:srgbClr val="FF3300"/>
                </a:solidFill>
              </a:rPr>
              <a:t>Low-density lipoproteins</a:t>
            </a:r>
            <a:r>
              <a:rPr lang="en-US" altLang="en-US" sz="2800" b="1" dirty="0"/>
              <a:t> </a:t>
            </a:r>
            <a:r>
              <a:rPr lang="en-US" altLang="en-US" dirty="0"/>
              <a:t>(LDLs, or "bad" cholesterol) build up in the blood and increase your risk of heart disease. </a:t>
            </a:r>
          </a:p>
        </p:txBody>
      </p:sp>
      <p:sp>
        <p:nvSpPr>
          <p:cNvPr id="3" name="Rectangle 4">
            <a:extLst>
              <a:ext uri="{FF2B5EF4-FFF2-40B4-BE49-F238E27FC236}">
                <a16:creationId xmlns:a16="http://schemas.microsoft.com/office/drawing/2014/main" id="{0F1E46CD-5457-6F4E-AC99-A135049CA655}"/>
              </a:ext>
            </a:extLst>
          </p:cNvPr>
          <p:cNvSpPr>
            <a:spLocks noChangeArrowheads="1"/>
          </p:cNvSpPr>
          <p:nvPr/>
        </p:nvSpPr>
        <p:spPr bwMode="auto">
          <a:xfrm>
            <a:off x="381000" y="4130763"/>
            <a:ext cx="8229600" cy="2285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2800" b="1" i="1" dirty="0">
                <a:solidFill>
                  <a:srgbClr val="FF3300"/>
                </a:solidFill>
              </a:rPr>
              <a:t>High-density lipoproteins</a:t>
            </a:r>
            <a:r>
              <a:rPr lang="en-US" altLang="en-US" sz="2800" b="1" dirty="0"/>
              <a:t> </a:t>
            </a:r>
            <a:r>
              <a:rPr lang="en-US" altLang="en-US" dirty="0"/>
              <a:t>(HDLs, or "good" cholesterol) carry cholesterol to the liver, where it is removed from the body. </a:t>
            </a:r>
          </a:p>
          <a:p>
            <a:endParaRPr lang="en-US" altLang="en-US" sz="1000" b="1" dirty="0"/>
          </a:p>
          <a:p>
            <a:r>
              <a:rPr lang="en-US" altLang="en-US" sz="2800" b="1" i="1" dirty="0">
                <a:solidFill>
                  <a:srgbClr val="FF3300"/>
                </a:solidFill>
              </a:rPr>
              <a:t>Triglycerides</a:t>
            </a:r>
            <a:r>
              <a:rPr lang="en-US" altLang="en-US" sz="2800" b="1" dirty="0"/>
              <a:t> </a:t>
            </a:r>
            <a:r>
              <a:rPr lang="en-US" altLang="en-US" dirty="0"/>
              <a:t>store energy for your body to use when it is needed. If there is too much, it can block blood vessels and cause other health problems such as abdominal pain and pancreatitis.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4">
            <a:extLst>
              <a:ext uri="{FF2B5EF4-FFF2-40B4-BE49-F238E27FC236}">
                <a16:creationId xmlns:a16="http://schemas.microsoft.com/office/drawing/2014/main" id="{CE30C9EA-70DC-4761-B4EC-2FC9183A382C}"/>
              </a:ext>
            </a:extLst>
          </p:cNvPr>
          <p:cNvSpPr>
            <a:spLocks noChangeArrowheads="1"/>
          </p:cNvSpPr>
          <p:nvPr/>
        </p:nvSpPr>
        <p:spPr bwMode="auto">
          <a:xfrm>
            <a:off x="533400" y="1524000"/>
            <a:ext cx="7848600" cy="2554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3200" b="1" dirty="0">
                <a:solidFill>
                  <a:srgbClr val="FF3300"/>
                </a:solidFill>
              </a:rPr>
              <a:t>How is a lipid profile used? </a:t>
            </a:r>
          </a:p>
          <a:p>
            <a:endParaRPr lang="en-US" altLang="en-US" sz="3200" dirty="0">
              <a:solidFill>
                <a:srgbClr val="FF3300"/>
              </a:solidFill>
            </a:endParaRPr>
          </a:p>
          <a:p>
            <a:r>
              <a:rPr lang="en-US" altLang="en-US" dirty="0"/>
              <a:t>The lipid profile is used to guide providers in deciding how a person at risk should be treated. The results of the lipid profile are considered along with other known risk factors of heart disease to develop a plan of treatment and follow-up.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0482" name="Rectangle 4">
            <a:extLst>
              <a:ext uri="{FF2B5EF4-FFF2-40B4-BE49-F238E27FC236}">
                <a16:creationId xmlns:a16="http://schemas.microsoft.com/office/drawing/2014/main" id="{70D7925C-9F4D-4BE8-967E-648004D1AF12}"/>
              </a:ext>
            </a:extLst>
          </p:cNvPr>
          <p:cNvSpPr>
            <a:spLocks noChangeArrowheads="1"/>
          </p:cNvSpPr>
          <p:nvPr/>
        </p:nvSpPr>
        <p:spPr bwMode="auto">
          <a:xfrm>
            <a:off x="332772" y="1029020"/>
            <a:ext cx="4239227" cy="31700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marL="342900" indent="-342900">
              <a:buFont typeface="Arial" pitchFamily="34" charset="0"/>
              <a:buChar char="•"/>
              <a:defRPr/>
            </a:pPr>
            <a:r>
              <a:rPr lang="en-US" sz="2000" b="1" dirty="0">
                <a:solidFill>
                  <a:srgbClr val="0432FF"/>
                </a:solidFill>
              </a:rPr>
              <a:t>Total Cholesterol </a:t>
            </a:r>
            <a:r>
              <a:rPr lang="en-US" sz="2000" dirty="0"/>
              <a:t>(</a:t>
            </a:r>
            <a:r>
              <a:rPr lang="en-US" sz="2000" dirty="0">
                <a:solidFill>
                  <a:schemeClr val="hlink"/>
                </a:solidFill>
              </a:rPr>
              <a:t>lower is better</a:t>
            </a:r>
            <a:r>
              <a:rPr lang="en-US" sz="2000" dirty="0"/>
              <a:t>) </a:t>
            </a:r>
          </a:p>
          <a:p>
            <a:pPr marL="342900" indent="-342900">
              <a:buFont typeface="Wingdings" pitchFamily="2" charset="2"/>
              <a:buChar char="Ø"/>
              <a:defRPr/>
            </a:pPr>
            <a:r>
              <a:rPr lang="en-US" sz="2000" dirty="0"/>
              <a:t>Best = &lt;200 mg/dL</a:t>
            </a:r>
          </a:p>
          <a:p>
            <a:pPr marL="342900" indent="-342900">
              <a:buFont typeface="Wingdings" pitchFamily="2" charset="2"/>
              <a:buChar char="Ø"/>
              <a:defRPr/>
            </a:pPr>
            <a:r>
              <a:rPr lang="en-US" sz="2000" dirty="0"/>
              <a:t>Borderline high = 200-239 mg/dL</a:t>
            </a:r>
          </a:p>
          <a:p>
            <a:pPr marL="342900" indent="-342900">
              <a:buFont typeface="Wingdings" pitchFamily="2" charset="2"/>
              <a:buChar char="Ø"/>
              <a:defRPr/>
            </a:pPr>
            <a:r>
              <a:rPr lang="en-US" sz="2000" dirty="0"/>
              <a:t>High = 240 mg/dL or higher </a:t>
            </a:r>
          </a:p>
          <a:p>
            <a:pPr>
              <a:defRPr/>
            </a:pPr>
            <a:endParaRPr lang="en-US" sz="2000" dirty="0"/>
          </a:p>
          <a:p>
            <a:pPr marL="342900" indent="-342900">
              <a:buFont typeface="Arial" pitchFamily="34" charset="0"/>
              <a:buChar char="•"/>
              <a:defRPr/>
            </a:pPr>
            <a:r>
              <a:rPr lang="en-US" sz="2000" b="1" dirty="0">
                <a:solidFill>
                  <a:srgbClr val="FF00FF"/>
                </a:solidFill>
              </a:rPr>
              <a:t>Triglycerides</a:t>
            </a:r>
            <a:r>
              <a:rPr lang="en-US" sz="2000" dirty="0"/>
              <a:t> (</a:t>
            </a:r>
            <a:r>
              <a:rPr lang="en-US" sz="2000" dirty="0">
                <a:solidFill>
                  <a:schemeClr val="hlink"/>
                </a:solidFill>
              </a:rPr>
              <a:t>lower is better</a:t>
            </a:r>
            <a:r>
              <a:rPr lang="en-US" sz="2000" dirty="0"/>
              <a:t>) </a:t>
            </a:r>
          </a:p>
          <a:p>
            <a:pPr marL="342900" indent="-342900">
              <a:buFont typeface="Wingdings" pitchFamily="2" charset="2"/>
              <a:buChar char="Ø"/>
              <a:defRPr/>
            </a:pPr>
            <a:r>
              <a:rPr lang="en-US" sz="2000" dirty="0"/>
              <a:t>Best = &lt;150 mg/dL</a:t>
            </a:r>
          </a:p>
          <a:p>
            <a:pPr marL="342900" indent="-342900">
              <a:buFont typeface="Wingdings" pitchFamily="2" charset="2"/>
              <a:buChar char="Ø"/>
              <a:defRPr/>
            </a:pPr>
            <a:r>
              <a:rPr lang="en-US" sz="2000" dirty="0"/>
              <a:t>Borderline high = 150-199 mg/dL</a:t>
            </a:r>
          </a:p>
          <a:p>
            <a:pPr marL="342900" indent="-342900">
              <a:buFont typeface="Wingdings" pitchFamily="2" charset="2"/>
              <a:buChar char="Ø"/>
              <a:defRPr/>
            </a:pPr>
            <a:r>
              <a:rPr lang="en-US" sz="2000" dirty="0"/>
              <a:t>High = 200-499 mg/dL</a:t>
            </a:r>
          </a:p>
          <a:p>
            <a:pPr marL="342900" indent="-342900">
              <a:buFont typeface="Wingdings" pitchFamily="2" charset="2"/>
              <a:buChar char="Ø"/>
              <a:defRPr/>
            </a:pPr>
            <a:r>
              <a:rPr lang="en-US" sz="2000" dirty="0"/>
              <a:t>Very high = 500 mg/dl or higher </a:t>
            </a:r>
          </a:p>
        </p:txBody>
      </p:sp>
      <p:sp>
        <p:nvSpPr>
          <p:cNvPr id="20483" name="Rectangle 5">
            <a:extLst>
              <a:ext uri="{FF2B5EF4-FFF2-40B4-BE49-F238E27FC236}">
                <a16:creationId xmlns:a16="http://schemas.microsoft.com/office/drawing/2014/main" id="{67F63961-2FDC-4F9F-B316-545D6896BC2C}"/>
              </a:ext>
            </a:extLst>
          </p:cNvPr>
          <p:cNvSpPr>
            <a:spLocks noChangeArrowheads="1"/>
          </p:cNvSpPr>
          <p:nvPr/>
        </p:nvSpPr>
        <p:spPr bwMode="auto">
          <a:xfrm>
            <a:off x="882944" y="169863"/>
            <a:ext cx="7684845" cy="522287"/>
          </a:xfrm>
          <a:prstGeom prst="rect">
            <a:avLst/>
          </a:prstGeom>
          <a:solidFill>
            <a:schemeClr val="accent6">
              <a:lumMod val="20000"/>
              <a:lumOff val="80000"/>
            </a:schemeClr>
          </a:solidFill>
          <a:ln>
            <a:noFill/>
          </a:ln>
        </p:spPr>
        <p:txBody>
          <a:bodyPr wrap="none" anchor="ct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2800" b="1" dirty="0">
                <a:solidFill>
                  <a:srgbClr val="336600"/>
                </a:solidFill>
              </a:rPr>
              <a:t>It's important to know the ranges.... </a:t>
            </a:r>
          </a:p>
        </p:txBody>
      </p:sp>
      <p:sp>
        <p:nvSpPr>
          <p:cNvPr id="4" name="Rectangle 4">
            <a:extLst>
              <a:ext uri="{FF2B5EF4-FFF2-40B4-BE49-F238E27FC236}">
                <a16:creationId xmlns:a16="http://schemas.microsoft.com/office/drawing/2014/main" id="{9AFF6C04-2DC9-7241-AAFA-4CB42629A5B1}"/>
              </a:ext>
            </a:extLst>
          </p:cNvPr>
          <p:cNvSpPr>
            <a:spLocks noChangeArrowheads="1"/>
          </p:cNvSpPr>
          <p:nvPr/>
        </p:nvSpPr>
        <p:spPr bwMode="auto">
          <a:xfrm>
            <a:off x="4725366" y="2471227"/>
            <a:ext cx="4178461" cy="31700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a:buFont typeface="Arial" pitchFamily="34" charset="0"/>
              <a:buChar char="•"/>
              <a:defRPr/>
            </a:pPr>
            <a:r>
              <a:rPr lang="en-US" sz="2000" b="1" dirty="0">
                <a:solidFill>
                  <a:srgbClr val="0432FF"/>
                </a:solidFill>
              </a:rPr>
              <a:t>LDL Cholesterol </a:t>
            </a:r>
            <a:r>
              <a:rPr lang="en-US" sz="2000" dirty="0"/>
              <a:t>(</a:t>
            </a:r>
            <a:r>
              <a:rPr lang="en-US" sz="2000" dirty="0">
                <a:solidFill>
                  <a:schemeClr val="hlink"/>
                </a:solidFill>
              </a:rPr>
              <a:t>lower is better</a:t>
            </a:r>
            <a:r>
              <a:rPr lang="en-US" sz="2000" dirty="0"/>
              <a:t>) </a:t>
            </a:r>
          </a:p>
          <a:p>
            <a:pPr marL="342900" indent="-342900">
              <a:buFont typeface="Wingdings" pitchFamily="2" charset="2"/>
              <a:buChar char="Ø"/>
              <a:defRPr/>
            </a:pPr>
            <a:r>
              <a:rPr lang="en-US" sz="2000" dirty="0"/>
              <a:t>Best = &lt;100 mg/dL</a:t>
            </a:r>
          </a:p>
          <a:p>
            <a:pPr marL="342900" indent="-342900">
              <a:buFont typeface="Wingdings" pitchFamily="2" charset="2"/>
              <a:buChar char="Ø"/>
              <a:defRPr/>
            </a:pPr>
            <a:r>
              <a:rPr lang="en-US" sz="2000" dirty="0"/>
              <a:t>Good = 100-129 mg/dL</a:t>
            </a:r>
          </a:p>
          <a:p>
            <a:pPr marL="342900" indent="-342900">
              <a:buFont typeface="Wingdings" pitchFamily="2" charset="2"/>
              <a:buChar char="Ø"/>
              <a:defRPr/>
            </a:pPr>
            <a:r>
              <a:rPr lang="en-US" sz="2000" dirty="0"/>
              <a:t>Borderline high = 130-159 mg/dL</a:t>
            </a:r>
          </a:p>
          <a:p>
            <a:pPr marL="342900" indent="-342900">
              <a:buFont typeface="Wingdings" pitchFamily="2" charset="2"/>
              <a:buChar char="Ø"/>
              <a:defRPr/>
            </a:pPr>
            <a:r>
              <a:rPr lang="en-US" sz="2000" dirty="0"/>
              <a:t>High = 160-189 mg/dL</a:t>
            </a:r>
          </a:p>
          <a:p>
            <a:pPr marL="342900" indent="-342900">
              <a:buFont typeface="Wingdings" pitchFamily="2" charset="2"/>
              <a:buChar char="Ø"/>
              <a:defRPr/>
            </a:pPr>
            <a:r>
              <a:rPr lang="en-US" sz="2000" dirty="0"/>
              <a:t>Very high = 190 mg/dL or higher </a:t>
            </a:r>
          </a:p>
          <a:p>
            <a:pPr>
              <a:defRPr/>
            </a:pPr>
            <a:endParaRPr lang="en-US" sz="2000" dirty="0"/>
          </a:p>
          <a:p>
            <a:pPr marL="342900" indent="-342900">
              <a:buFont typeface="Arial" pitchFamily="34" charset="0"/>
              <a:buChar char="•"/>
              <a:defRPr/>
            </a:pPr>
            <a:r>
              <a:rPr lang="en-US" sz="2000" b="1" dirty="0">
                <a:solidFill>
                  <a:srgbClr val="FF00FF"/>
                </a:solidFill>
              </a:rPr>
              <a:t>HDL Cholesterol </a:t>
            </a:r>
            <a:r>
              <a:rPr lang="en-US" sz="2000" dirty="0"/>
              <a:t>(</a:t>
            </a:r>
            <a:r>
              <a:rPr lang="en-US" sz="2000" dirty="0">
                <a:solidFill>
                  <a:schemeClr val="hlink"/>
                </a:solidFill>
              </a:rPr>
              <a:t>higher is better</a:t>
            </a:r>
            <a:r>
              <a:rPr lang="en-US" sz="2000" dirty="0"/>
              <a:t>) </a:t>
            </a:r>
          </a:p>
          <a:p>
            <a:pPr marL="342900" indent="-342900">
              <a:buFont typeface="Wingdings" pitchFamily="2" charset="2"/>
              <a:buChar char="Ø"/>
              <a:defRPr/>
            </a:pPr>
            <a:r>
              <a:rPr lang="en-US" sz="2000" dirty="0"/>
              <a:t>Low = &lt;40 mg/dL</a:t>
            </a:r>
          </a:p>
          <a:p>
            <a:pPr marL="342900" indent="-342900">
              <a:buFont typeface="Wingdings" pitchFamily="2" charset="2"/>
              <a:buChar char="Ø"/>
              <a:defRPr/>
            </a:pPr>
            <a:r>
              <a:rPr lang="en-US" sz="2000" dirty="0"/>
              <a:t>Best = 60 mg/dL or higher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762FE78-214A-494D-94D8-B4C17AB52EE8}"/>
              </a:ext>
            </a:extLst>
          </p:cNvPr>
          <p:cNvSpPr txBox="1"/>
          <p:nvPr/>
        </p:nvSpPr>
        <p:spPr>
          <a:xfrm>
            <a:off x="522212" y="156919"/>
            <a:ext cx="8099577" cy="461665"/>
          </a:xfrm>
          <a:prstGeom prst="rect">
            <a:avLst/>
          </a:prstGeom>
          <a:solidFill>
            <a:schemeClr val="accent6">
              <a:lumMod val="20000"/>
              <a:lumOff val="80000"/>
            </a:schemeClr>
          </a:solidFill>
        </p:spPr>
        <p:txBody>
          <a:bodyPr wrap="square">
            <a:spAutoFit/>
          </a:bodyPr>
          <a:lstStyle/>
          <a:p>
            <a:pPr algn="ctr"/>
            <a:r>
              <a:rPr lang="en-GB" b="1" i="0" dirty="0">
                <a:solidFill>
                  <a:srgbClr val="9437FF"/>
                </a:solidFill>
                <a:effectLst/>
                <a:latin typeface="Roboto Bold"/>
              </a:rPr>
              <a:t>What is cholesterol ratio?</a:t>
            </a:r>
          </a:p>
        </p:txBody>
      </p:sp>
      <p:sp>
        <p:nvSpPr>
          <p:cNvPr id="3" name="TextBox 2">
            <a:extLst>
              <a:ext uri="{FF2B5EF4-FFF2-40B4-BE49-F238E27FC236}">
                <a16:creationId xmlns:a16="http://schemas.microsoft.com/office/drawing/2014/main" id="{77C11FBF-BE23-AD4F-B3BE-E9B706CDEAE5}"/>
              </a:ext>
            </a:extLst>
          </p:cNvPr>
          <p:cNvSpPr txBox="1"/>
          <p:nvPr/>
        </p:nvSpPr>
        <p:spPr>
          <a:xfrm>
            <a:off x="289366" y="949124"/>
            <a:ext cx="8634714" cy="2308324"/>
          </a:xfrm>
          <a:prstGeom prst="rect">
            <a:avLst/>
          </a:prstGeom>
          <a:noFill/>
        </p:spPr>
        <p:txBody>
          <a:bodyPr wrap="square" rtlCol="0">
            <a:spAutoFit/>
          </a:bodyPr>
          <a:lstStyle/>
          <a:p>
            <a:r>
              <a:rPr lang="en-BD" dirty="0"/>
              <a:t>C</a:t>
            </a:r>
            <a:r>
              <a:rPr lang="en-GB" dirty="0" err="1"/>
              <a:t>holesterol</a:t>
            </a:r>
            <a:r>
              <a:rPr lang="en-GB" dirty="0"/>
              <a:t> ratio (CR) is calculated by</a:t>
            </a:r>
            <a:r>
              <a:rPr lang="en-GB" b="1" dirty="0"/>
              <a:t> dividing </a:t>
            </a:r>
            <a:r>
              <a:rPr lang="en-GB" dirty="0"/>
              <a:t>your </a:t>
            </a:r>
            <a:r>
              <a:rPr lang="en-GB" dirty="0">
                <a:solidFill>
                  <a:srgbClr val="0432FF"/>
                </a:solidFill>
              </a:rPr>
              <a:t>total cholesterol </a:t>
            </a:r>
            <a:r>
              <a:rPr lang="en-GB" dirty="0"/>
              <a:t>by the</a:t>
            </a:r>
            <a:r>
              <a:rPr lang="en-GB" dirty="0">
                <a:solidFill>
                  <a:srgbClr val="0432FF"/>
                </a:solidFill>
              </a:rPr>
              <a:t> amount of </a:t>
            </a:r>
            <a:r>
              <a:rPr lang="en-GB" b="1" dirty="0">
                <a:solidFill>
                  <a:srgbClr val="0432FF"/>
                </a:solidFill>
              </a:rPr>
              <a:t>high-density lipoproteins </a:t>
            </a:r>
            <a:r>
              <a:rPr lang="en-GB" dirty="0">
                <a:solidFill>
                  <a:srgbClr val="0432FF"/>
                </a:solidFill>
              </a:rPr>
              <a:t>(HDL) </a:t>
            </a:r>
            <a:r>
              <a:rPr lang="en-GB" dirty="0"/>
              <a:t>in your blood. It is recommended that your cholesterol ratio stays </a:t>
            </a:r>
            <a:r>
              <a:rPr lang="en-GB" b="1" dirty="0">
                <a:solidFill>
                  <a:srgbClr val="FF2F92"/>
                </a:solidFill>
              </a:rPr>
              <a:t>under 5</a:t>
            </a:r>
            <a:r>
              <a:rPr lang="en-GB" dirty="0"/>
              <a:t>, with the </a:t>
            </a:r>
            <a:r>
              <a:rPr lang="en-GB" dirty="0">
                <a:solidFill>
                  <a:srgbClr val="FF2F92"/>
                </a:solidFill>
              </a:rPr>
              <a:t>ideal value being 3.5</a:t>
            </a:r>
            <a:r>
              <a:rPr lang="en-GB" dirty="0"/>
              <a:t>. Essentially, as your cholesterol ratio increases, so does the risk of you getting a heart disease.</a:t>
            </a:r>
            <a:endParaRPr lang="en-BD" dirty="0"/>
          </a:p>
        </p:txBody>
      </p:sp>
      <p:pic>
        <p:nvPicPr>
          <p:cNvPr id="5" name="Picture 4">
            <a:extLst>
              <a:ext uri="{FF2B5EF4-FFF2-40B4-BE49-F238E27FC236}">
                <a16:creationId xmlns:a16="http://schemas.microsoft.com/office/drawing/2014/main" id="{AA05BD19-1F59-5F40-BA97-5768532AD75E}"/>
              </a:ext>
            </a:extLst>
          </p:cNvPr>
          <p:cNvPicPr>
            <a:picLocks noChangeAspect="1"/>
          </p:cNvPicPr>
          <p:nvPr/>
        </p:nvPicPr>
        <p:blipFill>
          <a:blip r:embed="rId2"/>
          <a:stretch>
            <a:fillRect/>
          </a:stretch>
        </p:blipFill>
        <p:spPr>
          <a:xfrm>
            <a:off x="3566290" y="3235125"/>
            <a:ext cx="4617012" cy="3219284"/>
          </a:xfrm>
          <a:prstGeom prst="rect">
            <a:avLst/>
          </a:prstGeom>
        </p:spPr>
      </p:pic>
      <p:sp>
        <p:nvSpPr>
          <p:cNvPr id="6" name="TextBox 5">
            <a:extLst>
              <a:ext uri="{FF2B5EF4-FFF2-40B4-BE49-F238E27FC236}">
                <a16:creationId xmlns:a16="http://schemas.microsoft.com/office/drawing/2014/main" id="{44A962B5-AE35-764A-BC6C-F40AA0425297}"/>
              </a:ext>
            </a:extLst>
          </p:cNvPr>
          <p:cNvSpPr txBox="1"/>
          <p:nvPr/>
        </p:nvSpPr>
        <p:spPr>
          <a:xfrm>
            <a:off x="388203" y="4167711"/>
            <a:ext cx="2806409" cy="1938992"/>
          </a:xfrm>
          <a:prstGeom prst="rect">
            <a:avLst/>
          </a:prstGeom>
          <a:noFill/>
        </p:spPr>
        <p:txBody>
          <a:bodyPr wrap="square" rtlCol="0">
            <a:spAutoFit/>
          </a:bodyPr>
          <a:lstStyle/>
          <a:p>
            <a:pPr algn="ctr"/>
            <a:r>
              <a:rPr lang="en-GB" sz="2000" b="0" i="0" dirty="0">
                <a:effectLst/>
                <a:latin typeface="Google Sans"/>
              </a:rPr>
              <a:t>A desirable ratio is 5:1, and an optimal ratio is 3.5:1. The lower this number is, the healthier a person's cholesterol levels are.</a:t>
            </a:r>
            <a:endParaRPr lang="en-BD" sz="2000" dirty="0"/>
          </a:p>
        </p:txBody>
      </p:sp>
      <p:sp>
        <p:nvSpPr>
          <p:cNvPr id="7" name="TextBox 6">
            <a:extLst>
              <a:ext uri="{FF2B5EF4-FFF2-40B4-BE49-F238E27FC236}">
                <a16:creationId xmlns:a16="http://schemas.microsoft.com/office/drawing/2014/main" id="{6243F23E-7695-6047-85C1-B85BBAC03291}"/>
              </a:ext>
            </a:extLst>
          </p:cNvPr>
          <p:cNvSpPr txBox="1"/>
          <p:nvPr/>
        </p:nvSpPr>
        <p:spPr>
          <a:xfrm>
            <a:off x="566583" y="3587988"/>
            <a:ext cx="2369559" cy="461665"/>
          </a:xfrm>
          <a:prstGeom prst="rect">
            <a:avLst/>
          </a:prstGeom>
          <a:solidFill>
            <a:schemeClr val="accent6">
              <a:lumMod val="20000"/>
              <a:lumOff val="80000"/>
            </a:schemeClr>
          </a:solidFill>
        </p:spPr>
        <p:txBody>
          <a:bodyPr wrap="none" rtlCol="0" anchor="ctr">
            <a:spAutoFit/>
          </a:bodyPr>
          <a:lstStyle/>
          <a:p>
            <a:pPr algn="ctr"/>
            <a:r>
              <a:rPr lang="en-GB" b="1" dirty="0">
                <a:solidFill>
                  <a:srgbClr val="C00000"/>
                </a:solidFill>
                <a:effectLst/>
                <a:latin typeface="Adobe Caslon Pro Bold" panose="0205050205050A020403" pitchFamily="18" charset="77"/>
              </a:rPr>
              <a:t>CR = </a:t>
            </a:r>
            <a:r>
              <a:rPr lang="en-GB" b="1" dirty="0">
                <a:solidFill>
                  <a:srgbClr val="C00000"/>
                </a:solidFill>
                <a:latin typeface="Adobe Caslon Pro Bold" panose="0205050205050A020403" pitchFamily="18" charset="77"/>
              </a:rPr>
              <a:t>TC</a:t>
            </a:r>
            <a:r>
              <a:rPr lang="en-GB" b="1" dirty="0">
                <a:solidFill>
                  <a:srgbClr val="C00000"/>
                </a:solidFill>
                <a:effectLst/>
                <a:latin typeface="Adobe Caslon Pro Bold" panose="0205050205050A020403" pitchFamily="18" charset="77"/>
              </a:rPr>
              <a:t> </a:t>
            </a:r>
            <a:r>
              <a:rPr lang="en-GB" b="1" dirty="0">
                <a:solidFill>
                  <a:srgbClr val="C00000"/>
                </a:solidFill>
                <a:latin typeface="Adobe Caslon Pro Bold" panose="0205050205050A020403" pitchFamily="18" charset="77"/>
              </a:rPr>
              <a:t>÷ HDL</a:t>
            </a:r>
            <a:endParaRPr lang="en-BD" b="1" dirty="0">
              <a:solidFill>
                <a:srgbClr val="C00000"/>
              </a:solidFill>
              <a:latin typeface="Adobe Caslon Pro Bold" panose="0205050205050A020403" pitchFamily="18" charset="77"/>
            </a:endParaRPr>
          </a:p>
        </p:txBody>
      </p:sp>
      <p:sp>
        <p:nvSpPr>
          <p:cNvPr id="8" name="TextBox 7">
            <a:extLst>
              <a:ext uri="{FF2B5EF4-FFF2-40B4-BE49-F238E27FC236}">
                <a16:creationId xmlns:a16="http://schemas.microsoft.com/office/drawing/2014/main" id="{4ECCC08A-54B1-E242-8038-D9CFCC239506}"/>
              </a:ext>
            </a:extLst>
          </p:cNvPr>
          <p:cNvSpPr txBox="1"/>
          <p:nvPr/>
        </p:nvSpPr>
        <p:spPr>
          <a:xfrm>
            <a:off x="6168761" y="6085077"/>
            <a:ext cx="605550" cy="369332"/>
          </a:xfrm>
          <a:prstGeom prst="rect">
            <a:avLst/>
          </a:prstGeom>
          <a:noFill/>
        </p:spPr>
        <p:txBody>
          <a:bodyPr wrap="none" rtlCol="0">
            <a:spAutoFit/>
          </a:bodyPr>
          <a:lstStyle/>
          <a:p>
            <a:r>
              <a:rPr lang="en-BD" sz="1800" dirty="0">
                <a:solidFill>
                  <a:schemeClr val="accent3"/>
                </a:solidFill>
                <a:latin typeface="Calibri" panose="020F0502020204030204" pitchFamily="34" charset="0"/>
                <a:cs typeface="Calibri" panose="020F0502020204030204" pitchFamily="34" charset="0"/>
              </a:rPr>
              <a:t>Very</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CF1CF98-EEAB-C147-9704-F8126868704F}"/>
              </a:ext>
            </a:extLst>
          </p:cNvPr>
          <p:cNvSpPr txBox="1"/>
          <p:nvPr/>
        </p:nvSpPr>
        <p:spPr>
          <a:xfrm>
            <a:off x="173621" y="1613768"/>
            <a:ext cx="8796758" cy="3334246"/>
          </a:xfrm>
          <a:prstGeom prst="rect">
            <a:avLst/>
          </a:prstGeom>
          <a:noFill/>
        </p:spPr>
        <p:txBody>
          <a:bodyPr wrap="square">
            <a:spAutoFit/>
          </a:bodyPr>
          <a:lstStyle/>
          <a:p>
            <a:pPr algn="ctr" fontAlgn="ctr">
              <a:spcBef>
                <a:spcPts val="2000"/>
              </a:spcBef>
              <a:spcAft>
                <a:spcPts val="2000"/>
              </a:spcAft>
            </a:pPr>
            <a:r>
              <a:rPr lang="en-GB" b="0" i="0" dirty="0">
                <a:solidFill>
                  <a:srgbClr val="212121"/>
                </a:solidFill>
                <a:effectLst/>
                <a:latin typeface="Cambria" panose="02040503050406030204" pitchFamily="18" charset="0"/>
              </a:rPr>
              <a:t>Cholesterol within VLDL particles are reported to be contained with triglycerides in a ratio of [triglycerides]:[cholesterol] = </a:t>
            </a:r>
            <a:r>
              <a:rPr lang="en-GB" b="0" i="0" dirty="0">
                <a:solidFill>
                  <a:srgbClr val="0432FF"/>
                </a:solidFill>
                <a:effectLst/>
                <a:latin typeface="Cambria" panose="02040503050406030204" pitchFamily="18" charset="0"/>
              </a:rPr>
              <a:t>5 (for mg/dL unit) </a:t>
            </a:r>
            <a:r>
              <a:rPr lang="en-GB" b="0" i="0" dirty="0">
                <a:solidFill>
                  <a:srgbClr val="212121"/>
                </a:solidFill>
                <a:effectLst/>
                <a:latin typeface="Cambria" panose="02040503050406030204" pitchFamily="18" charset="0"/>
              </a:rPr>
              <a:t>or </a:t>
            </a:r>
            <a:r>
              <a:rPr lang="en-GB" b="0" i="0" dirty="0">
                <a:solidFill>
                  <a:srgbClr val="0432FF"/>
                </a:solidFill>
                <a:effectLst/>
                <a:latin typeface="Cambria" panose="02040503050406030204" pitchFamily="18" charset="0"/>
              </a:rPr>
              <a:t>2.26 (for mmol/L)</a:t>
            </a:r>
          </a:p>
          <a:p>
            <a:pPr algn="ctr" fontAlgn="ctr">
              <a:spcBef>
                <a:spcPts val="2000"/>
              </a:spcBef>
              <a:spcAft>
                <a:spcPts val="2000"/>
              </a:spcAft>
            </a:pPr>
            <a:r>
              <a:rPr lang="en-GB" b="0" i="0" dirty="0">
                <a:solidFill>
                  <a:srgbClr val="212121"/>
                </a:solidFill>
                <a:effectLst/>
                <a:latin typeface="Cambria" panose="02040503050406030204" pitchFamily="18" charset="0"/>
              </a:rPr>
              <a:t>VLDL-C =[Triglycerides]/5</a:t>
            </a:r>
          </a:p>
          <a:p>
            <a:pPr algn="ctr" fontAlgn="ctr">
              <a:spcBef>
                <a:spcPts val="2000"/>
              </a:spcBef>
              <a:spcAft>
                <a:spcPts val="2000"/>
              </a:spcAft>
            </a:pPr>
            <a:r>
              <a:rPr lang="en-GB" b="0" i="0" dirty="0">
                <a:solidFill>
                  <a:srgbClr val="212121"/>
                </a:solidFill>
                <a:effectLst/>
                <a:latin typeface="Cambria" panose="02040503050406030204" pitchFamily="18" charset="0"/>
              </a:rPr>
              <a:t>LDL-C (</a:t>
            </a:r>
            <a:r>
              <a:rPr lang="en-GB" b="0" i="0" dirty="0">
                <a:solidFill>
                  <a:srgbClr val="0432FF"/>
                </a:solidFill>
                <a:effectLst/>
                <a:latin typeface="Cambria" panose="02040503050406030204" pitchFamily="18" charset="0"/>
              </a:rPr>
              <a:t>mg/dL </a:t>
            </a:r>
            <a:r>
              <a:rPr lang="en-GB" b="0" i="0" dirty="0">
                <a:solidFill>
                  <a:srgbClr val="212121"/>
                </a:solidFill>
                <a:effectLst/>
                <a:latin typeface="Cambria" panose="02040503050406030204" pitchFamily="18" charset="0"/>
              </a:rPr>
              <a:t>or </a:t>
            </a:r>
            <a:r>
              <a:rPr lang="en-GB" b="0" i="0" dirty="0">
                <a:solidFill>
                  <a:srgbClr val="FF00FF"/>
                </a:solidFill>
                <a:effectLst/>
                <a:latin typeface="Cambria" panose="02040503050406030204" pitchFamily="18" charset="0"/>
              </a:rPr>
              <a:t>mmol/L</a:t>
            </a:r>
            <a:r>
              <a:rPr lang="en-GB" b="0" i="0" dirty="0">
                <a:solidFill>
                  <a:srgbClr val="212121"/>
                </a:solidFill>
                <a:effectLst/>
                <a:latin typeface="Cambria" panose="02040503050406030204" pitchFamily="18" charset="0"/>
              </a:rPr>
              <a:t>) = [Total cholesterol] – [HDL-C] – [Triglycerides]/</a:t>
            </a:r>
            <a:r>
              <a:rPr lang="en-GB" b="1" i="0" dirty="0">
                <a:solidFill>
                  <a:srgbClr val="0432FF"/>
                </a:solidFill>
                <a:effectLst/>
                <a:latin typeface="Cambria" panose="02040503050406030204" pitchFamily="18" charset="0"/>
              </a:rPr>
              <a:t>5</a:t>
            </a:r>
            <a:r>
              <a:rPr lang="en-GB" b="0" i="0" dirty="0">
                <a:solidFill>
                  <a:srgbClr val="212121"/>
                </a:solidFill>
                <a:effectLst/>
                <a:latin typeface="Cambria" panose="02040503050406030204" pitchFamily="18" charset="0"/>
              </a:rPr>
              <a:t> or </a:t>
            </a:r>
            <a:r>
              <a:rPr lang="en-GB" b="0" i="0" dirty="0">
                <a:solidFill>
                  <a:srgbClr val="FF00FF"/>
                </a:solidFill>
                <a:effectLst/>
                <a:latin typeface="Cambria" panose="02040503050406030204" pitchFamily="18" charset="0"/>
              </a:rPr>
              <a:t>2.26</a:t>
            </a:r>
          </a:p>
        </p:txBody>
      </p:sp>
    </p:spTree>
  </p:cSld>
  <p:clrMapOvr>
    <a:masterClrMapping/>
  </p:clrMapOvr>
</p:sld>
</file>

<file path=ppt/theme/theme1.xml><?xml version="1.0" encoding="utf-8"?>
<a:theme xmlns:a="http://schemas.openxmlformats.org/drawingml/2006/main" name="Blank Presentation">
  <a:themeElements>
    <a:clrScheme name="Blank Presentatio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fontScheme name="Blank Presentatio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Blank Presentatio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lank Presentatio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Blank Presentatio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Office\Templates\Blank Presentation.pot</Template>
  <TotalTime>2514</TotalTime>
  <Words>1716</Words>
  <Application>Microsoft Office PowerPoint</Application>
  <PresentationFormat>On-screen Show (4:3)</PresentationFormat>
  <Paragraphs>198</Paragraphs>
  <Slides>22</Slides>
  <Notes>3</Notes>
  <HiddenSlides>4</HiddenSlides>
  <MMClips>0</MMClips>
  <ScaleCrop>false</ScaleCrop>
  <HeadingPairs>
    <vt:vector size="6" baseType="variant">
      <vt:variant>
        <vt:lpstr>Fonts Used</vt:lpstr>
      </vt:variant>
      <vt:variant>
        <vt:i4>13</vt:i4>
      </vt:variant>
      <vt:variant>
        <vt:lpstr>Theme</vt:lpstr>
      </vt:variant>
      <vt:variant>
        <vt:i4>2</vt:i4>
      </vt:variant>
      <vt:variant>
        <vt:lpstr>Slide Titles</vt:lpstr>
      </vt:variant>
      <vt:variant>
        <vt:i4>22</vt:i4>
      </vt:variant>
    </vt:vector>
  </HeadingPairs>
  <TitlesOfParts>
    <vt:vector size="37" baseType="lpstr">
      <vt:lpstr>Adobe Caslon Pro Bold</vt:lpstr>
      <vt:lpstr>Arial</vt:lpstr>
      <vt:lpstr>Arial Black</vt:lpstr>
      <vt:lpstr>Calibri</vt:lpstr>
      <vt:lpstr>Calibri Light</vt:lpstr>
      <vt:lpstr>Cambria</vt:lpstr>
      <vt:lpstr>Google Sans</vt:lpstr>
      <vt:lpstr>Roboto Bold</vt:lpstr>
      <vt:lpstr>Söhne</vt:lpstr>
      <vt:lpstr>Source Serif Pro</vt:lpstr>
      <vt:lpstr>Tahoma</vt:lpstr>
      <vt:lpstr>Times New Roman</vt:lpstr>
      <vt:lpstr>Wingdings</vt:lpstr>
      <vt:lpstr>Blank Presentation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Good News for Type 1 Diabetes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Northstar Drive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Carbohydrates</dc:title>
  <dc:creator>Joyce Diwan</dc:creator>
  <cp:lastModifiedBy>Md. Rakibul Islam</cp:lastModifiedBy>
  <cp:revision>361</cp:revision>
  <cp:lastPrinted>1999-06-15T18:58:41Z</cp:lastPrinted>
  <dcterms:created xsi:type="dcterms:W3CDTF">1999-06-07T01:47:47Z</dcterms:created>
  <dcterms:modified xsi:type="dcterms:W3CDTF">2025-12-03T17:18:21Z</dcterms:modified>
</cp:coreProperties>
</file>